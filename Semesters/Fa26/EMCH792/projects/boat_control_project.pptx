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8" r:id="rId1"/>
    <p:sldMasterId id="2147483674" r:id="rId2"/>
  </p:sldMasterIdLst>
  <p:notesMasterIdLst>
    <p:notesMasterId r:id="rId9"/>
  </p:notesMasterIdLst>
  <p:handoutMasterIdLst>
    <p:handoutMasterId r:id="rId10"/>
  </p:handoutMasterIdLst>
  <p:sldIdLst>
    <p:sldId id="293" r:id="rId3"/>
    <p:sldId id="325" r:id="rId4"/>
    <p:sldId id="326" r:id="rId5"/>
    <p:sldId id="327" r:id="rId6"/>
    <p:sldId id="328" r:id="rId7"/>
    <p:sldId id="309" r:id="rId8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00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 horzBarState="maximized">
    <p:restoredLeft sz="4938" autoAdjust="0"/>
    <p:restoredTop sz="96366" autoAdjust="0"/>
  </p:normalViewPr>
  <p:slideViewPr>
    <p:cSldViewPr snapToGrid="0">
      <p:cViewPr>
        <p:scale>
          <a:sx n="82" d="100"/>
          <a:sy n="82" d="100"/>
        </p:scale>
        <p:origin x="2712" y="1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7409F4-7E64-4179-BEB1-2FBEB1BB5D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615592-F86D-4581-AF51-0441BB5351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356D5-496E-4601-9467-AF85FBC5BAC0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115AC-0EC5-4EEF-92C0-6BB02761F4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6E7FA-FC68-4A74-B4F5-984B2DBAD0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CEEA0-975D-4349-9CD1-2FD71E27E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136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A3149F-C306-4332-9D1F-95BC64FEBABD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15C22-9F36-41AD-8A34-A0FFA8A78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7741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ustomShape 1"/>
          <p:cNvSpPr/>
          <p:nvPr/>
        </p:nvSpPr>
        <p:spPr>
          <a:xfrm>
            <a:off x="4398840" y="9555120"/>
            <a:ext cx="3371040" cy="500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EE8D11C3-8D5A-4D56-972F-5B7AB1B8FA2C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7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prstGeom prst="rect">
            <a:avLst/>
          </a:prstGeom>
        </p:spPr>
      </p:sp>
      <p:sp>
        <p:nvSpPr>
          <p:cNvPr id="373" name="PlaceHolder 3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7560" cy="45252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4134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Mass from water</a:t>
            </a:r>
          </a:p>
          <a:p>
            <a:r>
              <a:rPr lang="en-US" dirty="0"/>
              <a:t>Waves/periodic motion</a:t>
            </a:r>
          </a:p>
          <a:p>
            <a:r>
              <a:rPr lang="en-US" dirty="0"/>
              <a:t>Rol/pitch/heave</a:t>
            </a:r>
          </a:p>
          <a:p>
            <a:r>
              <a:rPr lang="en-US" dirty="0"/>
              <a:t>Hydrodynamics of thruster</a:t>
            </a:r>
          </a:p>
          <a:p>
            <a:r>
              <a:rPr lang="en-US" dirty="0"/>
              <a:t>Sensor latency</a:t>
            </a:r>
          </a:p>
          <a:p>
            <a:r>
              <a:rPr lang="en-US" dirty="0"/>
              <a:t>Combined wind/current </a:t>
            </a:r>
          </a:p>
          <a:p>
            <a:r>
              <a:rPr lang="en-US" dirty="0"/>
              <a:t>Wind yaw/moment</a:t>
            </a:r>
          </a:p>
          <a:p>
            <a:r>
              <a:rPr lang="en-US" dirty="0"/>
              <a:t>Quadratic sway and yaw…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15C22-9F36-41AD-8A34-A0FFA8A784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65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15C22-9F36-41AD-8A34-A0FFA8A784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46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5379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>
            <a:extLst>
              <a:ext uri="{FF2B5EF4-FFF2-40B4-BE49-F238E27FC236}">
                <a16:creationId xmlns:a16="http://schemas.microsoft.com/office/drawing/2014/main" id="{F403E87A-EA77-491D-A4C7-844C0E294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780" y="2637238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0" strike="noStrike" spc="-1" dirty="0">
                <a:latin typeface="Arial"/>
              </a:rPr>
              <a:t>Filler 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algn="ctr"/>
            <a:endParaRPr lang="en-US" sz="4400" b="0" strike="noStrike" spc="-1" dirty="0">
              <a:latin typeface="Arial"/>
            </a:endParaRP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72E2179B-F50E-4DF7-8341-74D67136222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480" y="1630399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08000" indent="0">
              <a:buFontTx/>
              <a:buNone/>
              <a:defRPr sz="2400">
                <a:solidFill>
                  <a:schemeClr val="bg1"/>
                </a:solidFill>
              </a:defRPr>
            </a:lvl1pPr>
            <a:lvl2pPr marL="540000" indent="0">
              <a:buFontTx/>
              <a:buNone/>
              <a:defRPr>
                <a:solidFill>
                  <a:schemeClr val="bg1"/>
                </a:solidFill>
              </a:defRPr>
            </a:lvl2pPr>
            <a:lvl3pPr marL="10080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5120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944000" indent="0">
              <a:buFontTx/>
              <a:buNone/>
              <a:defRPr>
                <a:solidFill>
                  <a:schemeClr val="bg1"/>
                </a:solidFill>
              </a:defRPr>
            </a:lvl5pPr>
            <a:lvl6pPr marL="2376000" indent="0">
              <a:buFontTx/>
              <a:buNone/>
              <a:defRPr>
                <a:solidFill>
                  <a:schemeClr val="bg1"/>
                </a:solidFill>
              </a:defRPr>
            </a:lvl6pPr>
            <a:lvl7pPr marL="2808000" indent="0">
              <a:buFontTx/>
              <a:buNone/>
              <a:defRPr>
                <a:solidFill>
                  <a:schemeClr val="bg1"/>
                </a:solidFill>
              </a:defRPr>
            </a:lvl7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 dirty="0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 dirty="0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 dirty="0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 dirty="0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latin typeface="Arial"/>
              </a:rPr>
              <a:t>Seventh Outline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33ED9-7D45-4723-97F2-0F60607BF54F}"/>
              </a:ext>
            </a:extLst>
          </p:cNvPr>
          <p:cNvSpPr txBox="1">
            <a:spLocks/>
          </p:cNvSpPr>
          <p:nvPr userDrawn="1"/>
        </p:nvSpPr>
        <p:spPr>
          <a:xfrm>
            <a:off x="145023" y="6400514"/>
            <a:ext cx="263533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E9AFF7-6653-6A4D-A979-64D2F5BECA26}" type="slidenum">
              <a:rPr lang="en-US" sz="1400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804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 dirty="0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 dirty="0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latin typeface="Arial"/>
              </a:rPr>
              <a:t>Seventh Outline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8EAAB7-F898-4FDC-BF9C-B41289F4D1A9}"/>
              </a:ext>
            </a:extLst>
          </p:cNvPr>
          <p:cNvSpPr txBox="1">
            <a:spLocks/>
          </p:cNvSpPr>
          <p:nvPr userDrawn="1"/>
        </p:nvSpPr>
        <p:spPr>
          <a:xfrm>
            <a:off x="145023" y="6394955"/>
            <a:ext cx="263533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E9AFF7-6653-6A4D-A979-64D2F5BECA26}" type="slidenum">
              <a:rPr lang="en-US" sz="1400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8CFFF-D90C-DE56-A71F-66060C0001AA}"/>
              </a:ext>
            </a:extLst>
          </p:cNvPr>
          <p:cNvSpPr txBox="1">
            <a:spLocks/>
          </p:cNvSpPr>
          <p:nvPr userDrawn="1"/>
        </p:nvSpPr>
        <p:spPr>
          <a:xfrm>
            <a:off x="831850" y="4867949"/>
            <a:ext cx="5493794" cy="1500187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Name</a:t>
            </a:r>
          </a:p>
          <a:p>
            <a:r>
              <a:rPr lang="en-US"/>
              <a:t>Title</a:t>
            </a:r>
          </a:p>
          <a:p>
            <a:r>
              <a:rPr lang="en-US"/>
              <a:t>Email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4C5723-A754-75F8-57CA-DC226BDFDF5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456901" y="5466436"/>
            <a:ext cx="4216400" cy="9017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7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ntsb/49920366253/" TargetMode="External"/><Relationship Id="rId7" Type="http://schemas.openxmlformats.org/officeDocument/2006/relationships/hyperlink" Target="https://contemplatingsnot.blogspot.com/2010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hyperlink" Target="https://www.flickr.com/photos/davehamster/4942660710/" TargetMode="External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4969161-B179-44EB-8C94-304EC313A638}"/>
              </a:ext>
            </a:extLst>
          </p:cNvPr>
          <p:cNvSpPr/>
          <p:nvPr/>
        </p:nvSpPr>
        <p:spPr>
          <a:xfrm>
            <a:off x="7619999" y="4830792"/>
            <a:ext cx="3306619" cy="1440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CCB70D-CECB-4BC9-9A31-1D8063C30949}"/>
              </a:ext>
            </a:extLst>
          </p:cNvPr>
          <p:cNvSpPr/>
          <p:nvPr/>
        </p:nvSpPr>
        <p:spPr>
          <a:xfrm>
            <a:off x="8525350" y="5002297"/>
            <a:ext cx="3306619" cy="1440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University of South Carolina">
            <a:extLst>
              <a:ext uri="{FF2B5EF4-FFF2-40B4-BE49-F238E27FC236}">
                <a16:creationId xmlns:a16="http://schemas.microsoft.com/office/drawing/2014/main" id="{FAC6A67E-BEDF-457E-832D-36912A60B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533" y="4049502"/>
            <a:ext cx="3976375" cy="2306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5">
            <a:extLst>
              <a:ext uri="{FF2B5EF4-FFF2-40B4-BE49-F238E27FC236}">
                <a16:creationId xmlns:a16="http://schemas.microsoft.com/office/drawing/2014/main" id="{55F6368C-0596-6C37-53D4-EE098E4352FB}"/>
              </a:ext>
            </a:extLst>
          </p:cNvPr>
          <p:cNvSpPr txBox="1">
            <a:spLocks/>
          </p:cNvSpPr>
          <p:nvPr/>
        </p:nvSpPr>
        <p:spPr>
          <a:xfrm>
            <a:off x="510632" y="410386"/>
            <a:ext cx="11170734" cy="14700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¿Something with boats?</a:t>
            </a: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6">
            <a:extLst>
              <a:ext uri="{FF2B5EF4-FFF2-40B4-BE49-F238E27FC236}">
                <a16:creationId xmlns:a16="http://schemas.microsoft.com/office/drawing/2014/main" id="{B6743549-3367-FBB2-34DE-3807308C09AF}"/>
              </a:ext>
            </a:extLst>
          </p:cNvPr>
          <p:cNvSpPr txBox="1">
            <a:spLocks/>
          </p:cNvSpPr>
          <p:nvPr/>
        </p:nvSpPr>
        <p:spPr>
          <a:xfrm>
            <a:off x="3944877" y="1130528"/>
            <a:ext cx="4302243" cy="83563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Vaught; Mech. Engr.; Dr. Yi Wang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5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5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552529-70F6-B986-8198-3D0EDD8D8458}"/>
              </a:ext>
            </a:extLst>
          </p:cNvPr>
          <p:cNvSpPr/>
          <p:nvPr/>
        </p:nvSpPr>
        <p:spPr>
          <a:xfrm>
            <a:off x="4469533" y="4049502"/>
            <a:ext cx="3976375" cy="2306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v2_docking_closeup.png">
            <a:extLst>
              <a:ext uri="{FF2B5EF4-FFF2-40B4-BE49-F238E27FC236}">
                <a16:creationId xmlns:a16="http://schemas.microsoft.com/office/drawing/2014/main" id="{24D5EACF-B3F8-283C-0DF7-83B27D6ACF5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rcRect t="19467"/>
          <a:stretch>
            <a:fillRect/>
          </a:stretch>
        </p:blipFill>
        <p:spPr>
          <a:xfrm>
            <a:off x="6229808" y="1984916"/>
            <a:ext cx="4696805" cy="4022217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8" name="Picture 7" descr="v2_week_course.png">
            <a:extLst>
              <a:ext uri="{FF2B5EF4-FFF2-40B4-BE49-F238E27FC236}">
                <a16:creationId xmlns:a16="http://schemas.microsoft.com/office/drawing/2014/main" id="{8F098FAC-6217-9305-939C-917ADFC5E77A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rcRect t="36889" r="39549"/>
          <a:stretch>
            <a:fillRect/>
          </a:stretch>
        </p:blipFill>
        <p:spPr>
          <a:xfrm>
            <a:off x="1265382" y="1984916"/>
            <a:ext cx="3740525" cy="402221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59298885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11FA1F1-E73D-3700-2011-93772E8899CE}"/>
              </a:ext>
            </a:extLst>
          </p:cNvPr>
          <p:cNvSpPr txBox="1">
            <a:spLocks/>
          </p:cNvSpPr>
          <p:nvPr/>
        </p:nvSpPr>
        <p:spPr>
          <a:xfrm>
            <a:off x="510632" y="410386"/>
            <a:ext cx="7856128" cy="14700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Project Overview</a:t>
            </a: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1208AB-ACCC-34FC-7BF6-640EB5061421}"/>
              </a:ext>
            </a:extLst>
          </p:cNvPr>
          <p:cNvSpPr txBox="1"/>
          <p:nvPr/>
        </p:nvSpPr>
        <p:spPr>
          <a:xfrm>
            <a:off x="761999" y="1312352"/>
            <a:ext cx="760476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Q: What system is being studied?</a:t>
            </a:r>
          </a:p>
          <a:p>
            <a:r>
              <a:rPr lang="en-US" sz="2800" dirty="0">
                <a:solidFill>
                  <a:srgbClr val="92D050"/>
                </a:solidFill>
              </a:rPr>
              <a:t>A: An autonomous boat system, specifically thrust control.</a:t>
            </a:r>
          </a:p>
          <a:p>
            <a:endParaRPr lang="en-US" sz="2800" dirty="0">
              <a:solidFill>
                <a:srgbClr val="0070C0"/>
              </a:solidFill>
            </a:endParaRPr>
          </a:p>
          <a:p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Q: Why does it matter?</a:t>
            </a:r>
          </a:p>
          <a:p>
            <a:r>
              <a:rPr lang="en-US" sz="2800" dirty="0">
                <a:solidFill>
                  <a:srgbClr val="00B050"/>
                </a:solidFill>
              </a:rPr>
              <a:t>A: Important for a boat to reject wind, water, and non-linear disturbances </a:t>
            </a:r>
          </a:p>
          <a:p>
            <a:endParaRPr lang="en-US" sz="2800" dirty="0">
              <a:solidFill>
                <a:srgbClr val="0070C0"/>
              </a:solidFill>
            </a:endParaRPr>
          </a:p>
          <a:p>
            <a:r>
              <a:rPr lang="en-US" sz="2800" dirty="0">
                <a:solidFill>
                  <a:schemeClr val="accent1"/>
                </a:solidFill>
              </a:rPr>
              <a:t>Q: What should it eventually do?</a:t>
            </a:r>
          </a:p>
          <a:p>
            <a:r>
              <a:rPr lang="en-US" sz="2800" dirty="0">
                <a:solidFill>
                  <a:schemeClr val="accent3"/>
                </a:solidFill>
              </a:rPr>
              <a:t>A: Reject disturbances and follow a defined target(moving or stationary) </a:t>
            </a:r>
          </a:p>
        </p:txBody>
      </p:sp>
      <p:pic>
        <p:nvPicPr>
          <p:cNvPr id="3" name="Picture 2" descr="Silver Lining partially submerged on the Hood Canal.docx | Flickr">
            <a:extLst>
              <a:ext uri="{FF2B5EF4-FFF2-40B4-BE49-F238E27FC236}">
                <a16:creationId xmlns:a16="http://schemas.microsoft.com/office/drawing/2014/main" id="{46EABAD3-5FB0-D2B0-E3A3-2DE1A0EA1F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8686" t="29544" r="6578" b="15875"/>
          <a:stretch>
            <a:fillRect/>
          </a:stretch>
        </p:blipFill>
        <p:spPr>
          <a:xfrm>
            <a:off x="8474074" y="4648200"/>
            <a:ext cx="3492500" cy="196302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Picture 4" descr="Capsized Boat | &quot;He's fallen in the water&quot; Dale, Pembrokeshi… | Flickr">
            <a:extLst>
              <a:ext uri="{FF2B5EF4-FFF2-40B4-BE49-F238E27FC236}">
                <a16:creationId xmlns:a16="http://schemas.microsoft.com/office/drawing/2014/main" id="{C12D899D-A390-E755-F935-64C006E53F2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2906" t="5612" r="5709" b="25411"/>
          <a:stretch>
            <a:fillRect/>
          </a:stretch>
        </p:blipFill>
        <p:spPr>
          <a:xfrm>
            <a:off x="8474074" y="2685179"/>
            <a:ext cx="3487945" cy="196302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Picture 9" descr="Manu's News: 2010">
            <a:extLst>
              <a:ext uri="{FF2B5EF4-FFF2-40B4-BE49-F238E27FC236}">
                <a16:creationId xmlns:a16="http://schemas.microsoft.com/office/drawing/2014/main" id="{1D634740-0A6B-3507-32DB-EC934E3052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474074" y="246779"/>
            <a:ext cx="3492500" cy="252730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351797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11FA1F1-E73D-3700-2011-93772E8899CE}"/>
              </a:ext>
            </a:extLst>
          </p:cNvPr>
          <p:cNvSpPr txBox="1">
            <a:spLocks/>
          </p:cNvSpPr>
          <p:nvPr/>
        </p:nvSpPr>
        <p:spPr>
          <a:xfrm>
            <a:off x="510632" y="410569"/>
            <a:ext cx="11170734" cy="55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to be Controlled</a:t>
            </a: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EC3B8C2-CC6E-23AB-0CD4-AF2D1AFD4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57" y="884906"/>
            <a:ext cx="10561284" cy="57201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E729B9F-0F8E-CDD9-C221-2273BFA7BA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57" y="884906"/>
            <a:ext cx="10561284" cy="57201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9996F7-5952-E94E-2DE7-2ACF6DB61D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57" y="884906"/>
            <a:ext cx="10561284" cy="57201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E0E7A00-787E-D9AE-B34F-11CBFF634E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56" y="894998"/>
            <a:ext cx="10561286" cy="57201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8E1D29D-2FBF-88E6-D6C1-63D4127757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56" y="894998"/>
            <a:ext cx="10561286" cy="5720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F3CD87-53B3-F3D5-4235-4093952BC4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65" y="1492421"/>
            <a:ext cx="11728069" cy="387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5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11FA1F1-E73D-3700-2011-93772E8899CE}"/>
              </a:ext>
            </a:extLst>
          </p:cNvPr>
          <p:cNvSpPr txBox="1">
            <a:spLocks/>
          </p:cNvSpPr>
          <p:nvPr/>
        </p:nvSpPr>
        <p:spPr>
          <a:xfrm>
            <a:off x="510633" y="215078"/>
            <a:ext cx="11170734" cy="51289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Open-Loop Dynamics Exploration</a:t>
            </a: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CB2198-29FB-EDE2-720E-7DCB1EB3FF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192" y="727970"/>
            <a:ext cx="9673616" cy="5914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E923D0-5889-8008-DC37-A29A9865A1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57" y="894611"/>
            <a:ext cx="11705085" cy="54356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E358DE-0912-EBBA-E02A-DA4C5AFE62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326" y="727970"/>
            <a:ext cx="6143348" cy="58848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4F489B-7284-B9B9-0B7E-E56946650F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191" y="697829"/>
            <a:ext cx="9673616" cy="59149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FAA77A-FB8C-7B03-A2B3-0B78934D06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43" y="920040"/>
            <a:ext cx="11658599" cy="52401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E6CEC6F-79F5-EF21-C8B0-191180ACE2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999" y="712899"/>
            <a:ext cx="9594486" cy="59149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B7126DD-DA70-6748-6A36-FCE3307A2A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56" y="864470"/>
            <a:ext cx="11705085" cy="544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8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11FA1F1-E73D-3700-2011-93772E8899CE}"/>
              </a:ext>
            </a:extLst>
          </p:cNvPr>
          <p:cNvSpPr txBox="1">
            <a:spLocks/>
          </p:cNvSpPr>
          <p:nvPr/>
        </p:nvSpPr>
        <p:spPr>
          <a:xfrm>
            <a:off x="221942" y="206200"/>
            <a:ext cx="11823409" cy="10100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Problem to be Solved</a:t>
            </a: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1208AB-ACCC-34FC-7BF6-640EB5061421}"/>
              </a:ext>
            </a:extLst>
          </p:cNvPr>
          <p:cNvSpPr txBox="1"/>
          <p:nvPr/>
        </p:nvSpPr>
        <p:spPr>
          <a:xfrm>
            <a:off x="221942" y="711221"/>
            <a:ext cx="11551920" cy="5300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60"/>
              </a:lnSpc>
            </a:pPr>
            <a:r>
              <a:rPr lang="en-US" sz="2800" dirty="0"/>
              <a:t>Q: Regulation or tracking? </a:t>
            </a:r>
            <a:r>
              <a:rPr lang="en-US" sz="2800" b="1" dirty="0">
                <a:solidFill>
                  <a:srgbClr val="00B050"/>
                </a:solidFill>
              </a:rPr>
              <a:t>A: Regulation? Depends. </a:t>
            </a:r>
          </a:p>
          <a:p>
            <a:pPr>
              <a:lnSpc>
                <a:spcPts val="4060"/>
              </a:lnSpc>
            </a:pPr>
            <a:r>
              <a:rPr lang="en-US" sz="2800" dirty="0"/>
              <a:t>Q: Linear or nonlinear? </a:t>
            </a:r>
            <a:r>
              <a:rPr lang="en-US" sz="2800" b="1" dirty="0">
                <a:solidFill>
                  <a:srgbClr val="00B050"/>
                </a:solidFill>
              </a:rPr>
              <a:t>A: Non-linear. (unfortunate.)</a:t>
            </a:r>
          </a:p>
          <a:p>
            <a:pPr>
              <a:lnSpc>
                <a:spcPts val="4060"/>
              </a:lnSpc>
            </a:pPr>
            <a:r>
              <a:rPr lang="en-US" sz="2800" dirty="0"/>
              <a:t>Q: Single or multi-input? </a:t>
            </a:r>
            <a:r>
              <a:rPr lang="en-US" sz="2800" b="1" dirty="0">
                <a:solidFill>
                  <a:srgbClr val="00B050"/>
                </a:solidFill>
              </a:rPr>
              <a:t>A: Multi-input and output</a:t>
            </a:r>
          </a:p>
          <a:p>
            <a:pPr>
              <a:lnSpc>
                <a:spcPts val="4060"/>
              </a:lnSpc>
            </a:pPr>
            <a:r>
              <a:rPr lang="en-US" sz="2800" dirty="0"/>
              <a:t>Q: Open-loop stable? </a:t>
            </a:r>
            <a:r>
              <a:rPr lang="en-US" sz="2800" b="1" dirty="0">
                <a:solidFill>
                  <a:srgbClr val="00B050"/>
                </a:solidFill>
              </a:rPr>
              <a:t>A: Marginally. Velocity decay but pos. drifts.</a:t>
            </a:r>
          </a:p>
          <a:p>
            <a:pPr>
              <a:lnSpc>
                <a:spcPts val="4060"/>
              </a:lnSpc>
            </a:pPr>
            <a:r>
              <a:rPr lang="en-US" sz="2800" dirty="0"/>
              <a:t>Q: Measured directly? </a:t>
            </a:r>
            <a:r>
              <a:rPr lang="en-US" sz="2800" b="1" dirty="0">
                <a:solidFill>
                  <a:srgbClr val="00B050"/>
                </a:solidFill>
              </a:rPr>
              <a:t>A: Not really. Simplify model via Estimator</a:t>
            </a:r>
          </a:p>
          <a:p>
            <a:pPr>
              <a:lnSpc>
                <a:spcPts val="4060"/>
              </a:lnSpc>
            </a:pPr>
            <a:r>
              <a:rPr lang="en-US" sz="2800" dirty="0"/>
              <a:t>Q: Settling time?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00B050"/>
                </a:solidFill>
              </a:rPr>
              <a:t>A: Under 30 s from 5 m, 30 degrees.</a:t>
            </a:r>
          </a:p>
          <a:p>
            <a:pPr>
              <a:lnSpc>
                <a:spcPts val="4060"/>
              </a:lnSpc>
            </a:pPr>
            <a:r>
              <a:rPr lang="en-US" sz="2800" dirty="0"/>
              <a:t>Q: Overshoot? </a:t>
            </a:r>
            <a:r>
              <a:rPr lang="en-US" sz="2800" b="1" dirty="0">
                <a:solidFill>
                  <a:srgbClr val="00B050"/>
                </a:solidFill>
              </a:rPr>
              <a:t>A: Under 10 percent.</a:t>
            </a:r>
          </a:p>
          <a:p>
            <a:pPr>
              <a:lnSpc>
                <a:spcPts val="4060"/>
              </a:lnSpc>
            </a:pPr>
            <a:r>
              <a:rPr lang="en-US" sz="2800" dirty="0"/>
              <a:t>Q: Steady-state error? </a:t>
            </a:r>
            <a:r>
              <a:rPr lang="en-US" sz="2800" b="1" dirty="0">
                <a:solidFill>
                  <a:srgbClr val="00B050"/>
                </a:solidFill>
              </a:rPr>
              <a:t>A: Under 0.3 m and 15 degrees in 5 m/s wind.</a:t>
            </a:r>
          </a:p>
          <a:p>
            <a:pPr>
              <a:lnSpc>
                <a:spcPts val="4060"/>
              </a:lnSpc>
            </a:pPr>
            <a:r>
              <a:rPr lang="en-US" sz="2800" dirty="0"/>
              <a:t>Q: Control effort? </a:t>
            </a:r>
            <a:r>
              <a:rPr lang="en-US" sz="2800" b="1" dirty="0">
                <a:solidFill>
                  <a:srgbClr val="00B050"/>
                </a:solidFill>
              </a:rPr>
              <a:t>A: Thrusters within limits</a:t>
            </a:r>
          </a:p>
          <a:p>
            <a:pPr>
              <a:lnSpc>
                <a:spcPts val="4060"/>
              </a:lnSpc>
            </a:pPr>
            <a:r>
              <a:rPr lang="en-US" sz="2800" dirty="0"/>
              <a:t>Q: Method? </a:t>
            </a:r>
            <a:r>
              <a:rPr lang="en-US" sz="2800" b="1" dirty="0">
                <a:solidFill>
                  <a:srgbClr val="00B050"/>
                </a:solidFill>
              </a:rPr>
              <a:t>A: LQR</a:t>
            </a:r>
            <a:endParaRPr lang="en-US" sz="2800" b="1" dirty="0">
              <a:solidFill>
                <a:srgbClr val="00B05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58005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494F1E8D-E89A-E7BB-4195-84491870926B}"/>
              </a:ext>
            </a:extLst>
          </p:cNvPr>
          <p:cNvSpPr/>
          <p:nvPr/>
        </p:nvSpPr>
        <p:spPr>
          <a:xfrm>
            <a:off x="838560" y="3013316"/>
            <a:ext cx="10514880" cy="12734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en-US" sz="6000" b="1" strike="noStrike" cap="all" spc="-1" dirty="0">
                <a:solidFill>
                  <a:srgbClr val="FFFFFF"/>
                </a:solidFill>
                <a:latin typeface="Garamond" panose="02020404030301010803" pitchFamily="18" charset="0"/>
              </a:rPr>
              <a:t>T</a:t>
            </a:r>
            <a:r>
              <a:rPr lang="en-US" sz="8800" b="1" strike="noStrike" cap="all" spc="-1" dirty="0">
                <a:solidFill>
                  <a:srgbClr val="FFFF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h</a:t>
            </a:r>
            <a:r>
              <a:rPr lang="en-US" sz="6000" b="1" strike="noStrike" cap="all" spc="-1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</a:t>
            </a:r>
            <a:r>
              <a:rPr lang="en-US" sz="6000" b="1" strike="noStrike" cap="all" spc="-1" dirty="0">
                <a:solidFill>
                  <a:srgbClr val="FFFFFF"/>
                </a:solidFill>
                <a:latin typeface="Hoefler Text" panose="02030602050506020203" pitchFamily="18" charset="77"/>
              </a:rPr>
              <a:t>n</a:t>
            </a:r>
            <a:r>
              <a:rPr lang="en-US" sz="7200" b="1" strike="noStrike" cap="all" spc="-1" dirty="0">
                <a:solidFill>
                  <a:srgbClr val="FFFFFF"/>
                </a:solidFill>
                <a:latin typeface="Perpetua" panose="02020502060401020303" pitchFamily="18" charset="77"/>
                <a:cs typeface="Didot" panose="02000503000000020003" pitchFamily="2" charset="-79"/>
              </a:rPr>
              <a:t>k</a:t>
            </a:r>
            <a:r>
              <a:rPr lang="en-US" sz="6000" b="1" strike="noStrike" cap="all" spc="-1" dirty="0">
                <a:solidFill>
                  <a:srgbClr val="FFFFFF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</a:t>
            </a:r>
            <a:r>
              <a:rPr lang="en-US" sz="6000" b="1" strike="noStrike" cap="all" spc="-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60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E4DEFC-4A4C-5B66-4AE1-EA967F8DA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60" y="4965351"/>
            <a:ext cx="1689100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326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uofsc_ppt_substitute_fonts_wide</Template>
  <TotalTime>7747</TotalTime>
  <Words>260</Words>
  <Application>Microsoft Macintosh PowerPoint</Application>
  <PresentationFormat>Widescreen</PresentationFormat>
  <Paragraphs>43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Angsana New</vt:lpstr>
      <vt:lpstr>Arial</vt:lpstr>
      <vt:lpstr>Baskerville</vt:lpstr>
      <vt:lpstr>Calibri</vt:lpstr>
      <vt:lpstr>Garamond</vt:lpstr>
      <vt:lpstr>Hoefler Text</vt:lpstr>
      <vt:lpstr>Mongolian Baiti</vt:lpstr>
      <vt:lpstr>Perpetua</vt:lpstr>
      <vt:lpstr>Symbol</vt:lpstr>
      <vt:lpstr>Times New Roman</vt:lpstr>
      <vt:lpstr>Wingdings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/>
  <dc:creator>DOWNEY, AUSTIN</dc:creator>
  <dc:description/>
  <cp:lastModifiedBy>Vaught, JC</cp:lastModifiedBy>
  <cp:revision>314</cp:revision>
  <dcterms:created xsi:type="dcterms:W3CDTF">2019-09-08T16:44:05Z</dcterms:created>
  <dcterms:modified xsi:type="dcterms:W3CDTF">2026-09-08T16:35:09Z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4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1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29</vt:i4>
  </property>
</Properties>
</file>