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034" r:id="rId2"/>
    <p:sldId id="1035" r:id="rId3"/>
    <p:sldId id="1037" r:id="rId4"/>
    <p:sldId id="1016" r:id="rId5"/>
    <p:sldId id="1017" r:id="rId6"/>
    <p:sldId id="1023" r:id="rId7"/>
    <p:sldId id="1024" r:id="rId8"/>
    <p:sldId id="1026" r:id="rId9"/>
    <p:sldId id="1019" r:id="rId10"/>
    <p:sldId id="1020" r:id="rId11"/>
    <p:sldId id="1021" r:id="rId12"/>
    <p:sldId id="1022" r:id="rId13"/>
    <p:sldId id="1028" r:id="rId14"/>
    <p:sldId id="1029" r:id="rId15"/>
    <p:sldId id="1030" r:id="rId16"/>
    <p:sldId id="1031" r:id="rId17"/>
    <p:sldId id="1038" r:id="rId18"/>
    <p:sldId id="1033" r:id="rId19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6600"/>
    <a:srgbClr val="008080"/>
    <a:srgbClr val="CC0066"/>
    <a:srgbClr val="CCFF99"/>
    <a:srgbClr val="008000"/>
    <a:srgbClr val="FFFFCC"/>
    <a:srgbClr val="FF0066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A19F0D-3F53-4EB9-85BD-91064557D843}" v="23" dt="2024-02-29T13:17:26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8" autoAdjust="0"/>
    <p:restoredTop sz="94164" autoAdjust="0"/>
  </p:normalViewPr>
  <p:slideViewPr>
    <p:cSldViewPr snapToGrid="0">
      <p:cViewPr varScale="1">
        <p:scale>
          <a:sx n="104" d="100"/>
          <a:sy n="104" d="100"/>
        </p:scale>
        <p:origin x="181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27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2604" y="9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BCA19F0D-3F53-4EB9-85BD-91064557D843}"/>
    <pc:docChg chg="undo custSel modSld">
      <pc:chgData name="Vaught, Jacob" userId="3948bc58-7b81-44a4-9cf0-22ebac0213b4" providerId="ADAL" clId="{BCA19F0D-3F53-4EB9-85BD-91064557D843}" dt="2024-02-29T13:17:28.259" v="55" actId="478"/>
      <pc:docMkLst>
        <pc:docMk/>
      </pc:docMkLst>
      <pc:sldChg chg="modSp mod">
        <pc:chgData name="Vaught, Jacob" userId="3948bc58-7b81-44a4-9cf0-22ebac0213b4" providerId="ADAL" clId="{BCA19F0D-3F53-4EB9-85BD-91064557D843}" dt="2024-02-29T13:10:42.955" v="53" actId="1076"/>
        <pc:sldMkLst>
          <pc:docMk/>
          <pc:sldMk cId="1594740882" sldId="1017"/>
        </pc:sldMkLst>
        <pc:spChg chg="mod">
          <ac:chgData name="Vaught, Jacob" userId="3948bc58-7b81-44a4-9cf0-22ebac0213b4" providerId="ADAL" clId="{BCA19F0D-3F53-4EB9-85BD-91064557D843}" dt="2024-02-29T13:10:42.955" v="53" actId="1076"/>
          <ac:spMkLst>
            <pc:docMk/>
            <pc:sldMk cId="1594740882" sldId="1017"/>
            <ac:spMk id="16" creationId="{CCC1837B-C897-4FDD-9FAF-1B8DEDA747A5}"/>
          </ac:spMkLst>
        </pc:spChg>
      </pc:sldChg>
      <pc:sldChg chg="delSp modSp mod">
        <pc:chgData name="Vaught, Jacob" userId="3948bc58-7b81-44a4-9cf0-22ebac0213b4" providerId="ADAL" clId="{BCA19F0D-3F53-4EB9-85BD-91064557D843}" dt="2024-02-29T13:17:28.259" v="55" actId="478"/>
        <pc:sldMkLst>
          <pc:docMk/>
          <pc:sldMk cId="2918072048" sldId="1033"/>
        </pc:sldMkLst>
        <pc:spChg chg="del mod">
          <ac:chgData name="Vaught, Jacob" userId="3948bc58-7b81-44a4-9cf0-22ebac0213b4" providerId="ADAL" clId="{BCA19F0D-3F53-4EB9-85BD-91064557D843}" dt="2024-02-29T13:17:28.259" v="55" actId="478"/>
          <ac:spMkLst>
            <pc:docMk/>
            <pc:sldMk cId="2918072048" sldId="1033"/>
            <ac:spMk id="62" creationId="{304E2B4E-3C89-4B47-9A9F-18A325AC05D7}"/>
          </ac:spMkLst>
        </pc:spChg>
      </pc:sldChg>
      <pc:sldChg chg="addSp modSp mod">
        <pc:chgData name="Vaught, Jacob" userId="3948bc58-7b81-44a4-9cf0-22ebac0213b4" providerId="ADAL" clId="{BCA19F0D-3F53-4EB9-85BD-91064557D843}" dt="2024-02-29T12:58:41.984" v="41" actId="1076"/>
        <pc:sldMkLst>
          <pc:docMk/>
          <pc:sldMk cId="1266145828" sldId="1034"/>
        </pc:sldMkLst>
        <pc:spChg chg="add mod">
          <ac:chgData name="Vaught, Jacob" userId="3948bc58-7b81-44a4-9cf0-22ebac0213b4" providerId="ADAL" clId="{BCA19F0D-3F53-4EB9-85BD-91064557D843}" dt="2024-02-29T12:58:30.673" v="40" actId="20577"/>
          <ac:spMkLst>
            <pc:docMk/>
            <pc:sldMk cId="1266145828" sldId="1034"/>
            <ac:spMk id="6" creationId="{EE38549A-0B9C-E0BC-0A52-C8D2D1CF3117}"/>
          </ac:spMkLst>
        </pc:spChg>
        <pc:spChg chg="mod">
          <ac:chgData name="Vaught, Jacob" userId="3948bc58-7b81-44a4-9cf0-22ebac0213b4" providerId="ADAL" clId="{BCA19F0D-3F53-4EB9-85BD-91064557D843}" dt="2024-02-29T12:58:41.984" v="41" actId="1076"/>
          <ac:spMkLst>
            <pc:docMk/>
            <pc:sldMk cId="1266145828" sldId="1034"/>
            <ac:spMk id="11" creationId="{B9E32F95-8384-465E-B118-070D8E3C6B2B}"/>
          </ac:spMkLst>
        </pc:spChg>
        <pc:spChg chg="mod">
          <ac:chgData name="Vaught, Jacob" userId="3948bc58-7b81-44a4-9cf0-22ebac0213b4" providerId="ADAL" clId="{BCA19F0D-3F53-4EB9-85BD-91064557D843}" dt="2024-02-29T12:58:41.984" v="41" actId="1076"/>
          <ac:spMkLst>
            <pc:docMk/>
            <pc:sldMk cId="1266145828" sldId="1034"/>
            <ac:spMk id="12" creationId="{CEBD8521-67BE-46E4-8B1C-9C04FB7328F2}"/>
          </ac:spMkLst>
        </pc:spChg>
        <pc:spChg chg="mod">
          <ac:chgData name="Vaught, Jacob" userId="3948bc58-7b81-44a4-9cf0-22ebac0213b4" providerId="ADAL" clId="{BCA19F0D-3F53-4EB9-85BD-91064557D843}" dt="2024-02-29T12:58:41.984" v="41" actId="1076"/>
          <ac:spMkLst>
            <pc:docMk/>
            <pc:sldMk cId="1266145828" sldId="1034"/>
            <ac:spMk id="13" creationId="{0354E6BF-1DC8-478D-B2AE-8C605B2C31C5}"/>
          </ac:spMkLst>
        </pc:spChg>
      </pc:sldChg>
      <pc:sldChg chg="addSp modSp mod">
        <pc:chgData name="Vaught, Jacob" userId="3948bc58-7b81-44a4-9cf0-22ebac0213b4" providerId="ADAL" clId="{BCA19F0D-3F53-4EB9-85BD-91064557D843}" dt="2024-02-29T13:01:55.172" v="50" actId="1076"/>
        <pc:sldMkLst>
          <pc:docMk/>
          <pc:sldMk cId="2795125379" sldId="1035"/>
        </pc:sldMkLst>
        <pc:spChg chg="mod">
          <ac:chgData name="Vaught, Jacob" userId="3948bc58-7b81-44a4-9cf0-22ebac0213b4" providerId="ADAL" clId="{BCA19F0D-3F53-4EB9-85BD-91064557D843}" dt="2024-02-29T12:58:47.128" v="42" actId="1076"/>
          <ac:spMkLst>
            <pc:docMk/>
            <pc:sldMk cId="2795125379" sldId="1035"/>
            <ac:spMk id="10" creationId="{EC2FFC48-EE6D-4843-A216-0465C2799593}"/>
          </ac:spMkLst>
        </pc:spChg>
        <pc:spChg chg="mod">
          <ac:chgData name="Vaught, Jacob" userId="3948bc58-7b81-44a4-9cf0-22ebac0213b4" providerId="ADAL" clId="{BCA19F0D-3F53-4EB9-85BD-91064557D843}" dt="2024-02-29T12:58:49.295" v="43" actId="1076"/>
          <ac:spMkLst>
            <pc:docMk/>
            <pc:sldMk cId="2795125379" sldId="1035"/>
            <ac:spMk id="11" creationId="{B9E32F95-8384-465E-B118-070D8E3C6B2B}"/>
          </ac:spMkLst>
        </pc:spChg>
        <pc:spChg chg="mod">
          <ac:chgData name="Vaught, Jacob" userId="3948bc58-7b81-44a4-9cf0-22ebac0213b4" providerId="ADAL" clId="{BCA19F0D-3F53-4EB9-85BD-91064557D843}" dt="2024-02-29T12:58:54.889" v="45" actId="1076"/>
          <ac:spMkLst>
            <pc:docMk/>
            <pc:sldMk cId="2795125379" sldId="1035"/>
            <ac:spMk id="13" creationId="{0354E6BF-1DC8-478D-B2AE-8C605B2C31C5}"/>
          </ac:spMkLst>
        </pc:spChg>
        <pc:spChg chg="mod">
          <ac:chgData name="Vaught, Jacob" userId="3948bc58-7b81-44a4-9cf0-22ebac0213b4" providerId="ADAL" clId="{BCA19F0D-3F53-4EB9-85BD-91064557D843}" dt="2024-02-29T12:58:52.380" v="44" actId="1076"/>
          <ac:spMkLst>
            <pc:docMk/>
            <pc:sldMk cId="2795125379" sldId="1035"/>
            <ac:spMk id="14" creationId="{9B6D37E5-2D7C-47BF-9D2A-2602628B4761}"/>
          </ac:spMkLst>
        </pc:spChg>
        <pc:picChg chg="add mod">
          <ac:chgData name="Vaught, Jacob" userId="3948bc58-7b81-44a4-9cf0-22ebac0213b4" providerId="ADAL" clId="{BCA19F0D-3F53-4EB9-85BD-91064557D843}" dt="2024-02-29T13:01:55.172" v="50" actId="1076"/>
          <ac:picMkLst>
            <pc:docMk/>
            <pc:sldMk cId="2795125379" sldId="1035"/>
            <ac:picMk id="6" creationId="{2BC3C652-DD64-673E-AA9B-281A950036A0}"/>
          </ac:picMkLst>
        </pc:picChg>
      </pc:sldChg>
      <pc:sldChg chg="modSp mod">
        <pc:chgData name="Vaught, Jacob" userId="3948bc58-7b81-44a4-9cf0-22ebac0213b4" providerId="ADAL" clId="{BCA19F0D-3F53-4EB9-85BD-91064557D843}" dt="2024-02-29T13:02:06.338" v="51" actId="1076"/>
        <pc:sldMkLst>
          <pc:docMk/>
          <pc:sldMk cId="3888643650" sldId="1037"/>
        </pc:sldMkLst>
        <pc:spChg chg="mod">
          <ac:chgData name="Vaught, Jacob" userId="3948bc58-7b81-44a4-9cf0-22ebac0213b4" providerId="ADAL" clId="{BCA19F0D-3F53-4EB9-85BD-91064557D843}" dt="2024-02-29T13:02:06.338" v="51" actId="1076"/>
          <ac:spMkLst>
            <pc:docMk/>
            <pc:sldMk cId="3888643650" sldId="1037"/>
            <ac:spMk id="12" creationId="{F3F45D2D-9464-49B2-ABF5-C242D490845A}"/>
          </ac:spMkLst>
        </pc:spChg>
        <pc:spChg chg="mod">
          <ac:chgData name="Vaught, Jacob" userId="3948bc58-7b81-44a4-9cf0-22ebac0213b4" providerId="ADAL" clId="{BCA19F0D-3F53-4EB9-85BD-91064557D843}" dt="2024-02-29T13:02:06.338" v="51" actId="1076"/>
          <ac:spMkLst>
            <pc:docMk/>
            <pc:sldMk cId="3888643650" sldId="1037"/>
            <ac:spMk id="15" creationId="{5332908A-F983-4827-8463-923BFCF54538}"/>
          </ac:spMkLst>
        </pc:spChg>
        <pc:spChg chg="mod">
          <ac:chgData name="Vaught, Jacob" userId="3948bc58-7b81-44a4-9cf0-22ebac0213b4" providerId="ADAL" clId="{BCA19F0D-3F53-4EB9-85BD-91064557D843}" dt="2024-02-29T13:02:06.338" v="51" actId="1076"/>
          <ac:spMkLst>
            <pc:docMk/>
            <pc:sldMk cId="3888643650" sldId="1037"/>
            <ac:spMk id="16" creationId="{C7B176BC-0E8F-4ED4-A921-A01F00AC32B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59AFBED8-890D-4DEE-BEFB-0488545E20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1ADDA890-5077-4EA9-8F76-A54221667AB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algn="r"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A1C1A6A4-1370-4F69-B9AB-156D4E20DF1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2DC9F7E7-6270-4F57-BB6E-DA77CAC33A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fld id="{27AB17D5-D2ED-4F11-965E-8E96BD20BB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CFB1F4C-293B-4A62-84B6-50A3B39542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2E68E41-DA1F-46FD-B48C-8C0BC706253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>
            <a:lvl1pPr algn="r"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FA56EB3-82FB-4917-B7F1-52DC1876F2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4B5EF17-F9C8-4897-9188-822EAC1B0D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F2E9BBA3-23EA-4A42-B60B-9C26219954D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defTabSz="873016">
              <a:defRPr sz="11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A2C109BE-A2D2-4DFA-AE3B-82C6DAC3F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06" tIns="43652" rIns="87306" bIns="43652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fld id="{6E88D29B-187B-4F39-82FE-ECF2963E24D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EECS Spare\Desktop\USC_Standard.jpg">
            <a:extLst>
              <a:ext uri="{FF2B5EF4-FFF2-40B4-BE49-F238E27FC236}">
                <a16:creationId xmlns:a16="http://schemas.microsoft.com/office/drawing/2014/main" id="{81A9397C-A49B-4A97-836C-C565F516D8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177" y="5511728"/>
            <a:ext cx="1799647" cy="98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268" y="4163436"/>
            <a:ext cx="8519465" cy="1212716"/>
          </a:xfrm>
        </p:spPr>
        <p:txBody>
          <a:bodyPr anchor="ctr"/>
          <a:lstStyle>
            <a:lvl1pPr marL="0" indent="0" algn="ctr">
              <a:buNone/>
              <a:defRPr lang="en-US" sz="2800" kern="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宋体" pitchFamily="2" charset="-122"/>
                <a:cs typeface="+mn-cs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Topics</a:t>
            </a: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7AD86E52-7848-46D4-989A-0E356CA250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096AE8-A258-461F-8B86-B942C70F70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2698024" y="3304947"/>
            <a:ext cx="3747952" cy="372108"/>
          </a:xfrm>
        </p:spPr>
        <p:txBody>
          <a:bodyPr/>
          <a:lstStyle>
            <a:lvl1pPr marL="0" indent="0" algn="ctr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None/>
              <a:defRPr lang="en-US" sz="2400" b="1" kern="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宋体" pitchFamily="2" charset="-122"/>
                <a:cs typeface="+mn-cs"/>
              </a:defRPr>
            </a:lvl1pPr>
          </a:lstStyle>
          <a:p>
            <a:pPr lvl="0"/>
            <a:r>
              <a:rPr lang="en-US" dirty="0"/>
              <a:t>Instructor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9BAC4B8B-17E5-45DA-A920-B890DD2D550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229648"/>
            <a:ext cx="8164513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5000"/>
              </a:lnSpc>
              <a:defRPr/>
            </a:pPr>
            <a:r>
              <a:rPr lang="en-US" altLang="zh-CN" sz="36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Enchanted" pitchFamily="18" charset="0"/>
                <a:ea typeface="宋体" charset="-122"/>
              </a:rPr>
              <a:t>UNIVERSITY of SOUTH CAROLINA</a:t>
            </a:r>
            <a:endParaRPr lang="en-US" altLang="zh-CN" sz="2000" b="1" dirty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  <a:p>
            <a:pPr algn="ctr" eaLnBrk="0" hangingPunct="0">
              <a:lnSpc>
                <a:spcPct val="95000"/>
              </a:lnSpc>
              <a:defRPr/>
            </a:pPr>
            <a:r>
              <a:rPr lang="en-US" altLang="zh-CN" sz="2000" b="1" i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Univers" pitchFamily="34" charset="0"/>
                <a:ea typeface="宋体" charset="-122"/>
              </a:rPr>
              <a:t>Department of Electrical Engineering</a:t>
            </a:r>
            <a:endParaRPr lang="en-US" altLang="zh-CN" sz="2000" b="1" dirty="0">
              <a:solidFill>
                <a:srgbClr val="99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53263" y="1308688"/>
            <a:ext cx="8837475" cy="1831671"/>
          </a:xfrm>
        </p:spPr>
        <p:txBody>
          <a:bodyPr anchor="ctr"/>
          <a:lstStyle>
            <a:lvl1pPr marL="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lang="en-US" sz="4000" b="1" kern="1200" dirty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Course 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698024" y="3657227"/>
            <a:ext cx="3747952" cy="372108"/>
          </a:xfrm>
        </p:spPr>
        <p:txBody>
          <a:bodyPr/>
          <a:lstStyle>
            <a:lvl1pPr marL="0" indent="0" algn="ctr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None/>
              <a:defRPr lang="en-US" sz="2000" b="1" dirty="0">
                <a:solidFill>
                  <a:schemeClr val="tx1"/>
                </a:solidFill>
                <a:latin typeface="Candara" pitchFamily="34" charset="0"/>
                <a:ea typeface="宋体" pitchFamily="2" charset="-122"/>
                <a:cs typeface="+mn-cs"/>
              </a:defRPr>
            </a:lvl1pPr>
          </a:lstStyle>
          <a:p>
            <a:pPr lvl="0"/>
            <a:r>
              <a:rPr lang="en-US" dirty="0"/>
              <a:t>Semester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516570-B16D-436D-BD44-A75CF9A5E591}"/>
              </a:ext>
            </a:extLst>
          </p:cNvPr>
          <p:cNvCxnSpPr/>
          <p:nvPr userDrawn="1"/>
        </p:nvCxnSpPr>
        <p:spPr bwMode="auto">
          <a:xfrm>
            <a:off x="274320" y="1115438"/>
            <a:ext cx="85953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971875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232749"/>
            <a:ext cx="8595360" cy="4845789"/>
          </a:xfrm>
        </p:spPr>
        <p:txBody>
          <a:bodyPr/>
          <a:lstStyle>
            <a:lvl1pPr algn="just">
              <a:defRPr sz="2400">
                <a:latin typeface="Candara" panose="020E0502030303020204" pitchFamily="34" charset="0"/>
                <a:ea typeface="Cambria Math" panose="02040503050406030204" pitchFamily="18" charset="0"/>
              </a:defRPr>
            </a:lvl1pPr>
            <a:lvl2pPr algn="just">
              <a:defRPr sz="2000">
                <a:latin typeface="Candara" panose="020E0502030303020204" pitchFamily="34" charset="0"/>
                <a:ea typeface="Cambria Math" panose="02040503050406030204" pitchFamily="18" charset="0"/>
              </a:defRPr>
            </a:lvl2pPr>
            <a:lvl3pPr algn="just">
              <a:defRPr sz="1800">
                <a:latin typeface="Candara" panose="020E0502030303020204" pitchFamily="34" charset="0"/>
                <a:ea typeface="Cambria Math" panose="02040503050406030204" pitchFamily="18" charset="0"/>
              </a:defRPr>
            </a:lvl3pPr>
            <a:lvl4pPr algn="just">
              <a:defRPr sz="1600">
                <a:latin typeface="Candara" panose="020E0502030303020204" pitchFamily="34" charset="0"/>
                <a:ea typeface="Cambria Math" panose="02040503050406030204" pitchFamily="18" charset="0"/>
              </a:defRPr>
            </a:lvl4pPr>
            <a:lvl5pPr algn="just">
              <a:defRPr sz="1600">
                <a:latin typeface="Candara" panose="020E0502030303020204" pitchFamily="34" charset="0"/>
                <a:ea typeface="Cambria Math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ECC5AA75-D92B-4806-925A-D2B469C1C8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473177-3522-4150-8F21-AD833F444AD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Text Box 23">
            <a:extLst>
              <a:ext uri="{FF2B5EF4-FFF2-40B4-BE49-F238E27FC236}">
                <a16:creationId xmlns:a16="http://schemas.microsoft.com/office/drawing/2014/main" id="{072EE79F-FA2A-4022-9FE3-8EB2EC3F1C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05213" y="6523511"/>
            <a:ext cx="1933575" cy="2619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100" dirty="0">
                <a:solidFill>
                  <a:schemeClr val="bg2"/>
                </a:solidFill>
              </a:rPr>
              <a:t>University of South Carolina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5C45BD-71F4-4162-AB17-8E119CAC9F64}"/>
              </a:ext>
            </a:extLst>
          </p:cNvPr>
          <p:cNvCxnSpPr/>
          <p:nvPr userDrawn="1"/>
        </p:nvCxnSpPr>
        <p:spPr bwMode="auto">
          <a:xfrm>
            <a:off x="274320" y="1115438"/>
            <a:ext cx="85953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2417867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757488"/>
            <a:ext cx="8595360" cy="78898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43976313-865B-476E-B29F-A6564FF871C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8A1152-1B24-48B6-A8F7-3C21D48C32A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Text Box 23">
            <a:extLst>
              <a:ext uri="{FF2B5EF4-FFF2-40B4-BE49-F238E27FC236}">
                <a16:creationId xmlns:a16="http://schemas.microsoft.com/office/drawing/2014/main" id="{072EE79F-FA2A-4022-9FE3-8EB2EC3F1C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05213" y="6523511"/>
            <a:ext cx="1933575" cy="2619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100" dirty="0">
                <a:solidFill>
                  <a:schemeClr val="bg2"/>
                </a:solidFill>
              </a:rPr>
              <a:t>University of South Carolina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52B522-386B-4AC0-B082-81C301B6411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57175" y="3543300"/>
            <a:ext cx="86106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Picture 5" descr="C:\Users\EECS Spare\Desktop\USC_Standard.jpg">
            <a:extLst>
              <a:ext uri="{FF2B5EF4-FFF2-40B4-BE49-F238E27FC236}">
                <a16:creationId xmlns:a16="http://schemas.microsoft.com/office/drawing/2014/main" id="{7E6F4812-401C-46DD-92F1-1C8C4C8DA1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177" y="3682928"/>
            <a:ext cx="1799647" cy="98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42586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2F303764-D5D6-455B-9638-9E960271F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4320" y="300038"/>
            <a:ext cx="859536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2406315-6FEF-4E05-BCCB-A41D7D3C0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320" y="1346200"/>
            <a:ext cx="8595360" cy="473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49" name="Rectangle 25">
            <a:extLst>
              <a:ext uri="{FF2B5EF4-FFF2-40B4-BE49-F238E27FC236}">
                <a16:creationId xmlns:a16="http://schemas.microsoft.com/office/drawing/2014/main" id="{1BE26198-4F48-4EAA-B724-79C874B4D3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6725" y="6523510"/>
            <a:ext cx="2133600" cy="302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5E7D811-F171-449D-BBFC-39D1E76868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2" r:id="rId2"/>
    <p:sldLayoutId id="2147484113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build="p">
        <p:tmplLst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ndara" panose="020E0502030303020204" pitchFamily="34" charset="0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Candara" panose="020E0502030303020204" pitchFamily="34" charset="0"/>
        </a:defRPr>
      </a:lvl3pPr>
      <a:lvl4pPr marL="1600200" indent="-228600" algn="just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ndara" panose="020E0502030303020204" pitchFamily="34" charset="0"/>
        </a:defRPr>
      </a:lvl4pPr>
      <a:lvl5pPr marL="2057400" indent="-228600" algn="just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Candara" panose="020E0502030303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.jpeg"/><Relationship Id="rId7" Type="http://schemas.openxmlformats.org/officeDocument/2006/relationships/image" Target="../media/image1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2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jpeg"/><Relationship Id="rId7" Type="http://schemas.openxmlformats.org/officeDocument/2006/relationships/image" Target="../media/image2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7CB1-A1BE-4B58-AA39-D53CF72A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4095-8266-4514-942D-88E7415B3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1454780"/>
              </a:xfrm>
            </p:spPr>
            <p:txBody>
              <a:bodyPr/>
              <a:lstStyle/>
              <a:p>
                <a:r>
                  <a:rPr lang="en-US" dirty="0"/>
                  <a:t>Assume that the path loss measured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 m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dB </a:t>
                </a:r>
              </a:p>
              <a:p>
                <a:pPr lvl="1"/>
                <a:r>
                  <a:rPr lang="en-US" dirty="0"/>
                  <a:t>Shadowing variance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dB</a:t>
                </a:r>
              </a:p>
              <a:p>
                <a:pPr lvl="1"/>
                <a:r>
                  <a:rPr lang="en-US" dirty="0"/>
                  <a:t>Path loss exponent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4095-8266-4514-942D-88E7415B3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1454780"/>
              </a:xfrm>
              <a:blipFill>
                <a:blip r:embed="rId2"/>
                <a:stretch>
                  <a:fillRect l="-1135" t="-3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F3A4-5936-4598-8B7B-7F8083719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</a:t>
            </a:fld>
            <a:endParaRPr lang="en-US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091F41-D701-47FA-8AB3-CBE5547983E6}"/>
              </a:ext>
            </a:extLst>
          </p:cNvPr>
          <p:cNvCxnSpPr/>
          <p:nvPr/>
        </p:nvCxnSpPr>
        <p:spPr bwMode="auto">
          <a:xfrm>
            <a:off x="494453" y="2411307"/>
            <a:ext cx="82905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2FFC48-EE6D-4843-A216-0465C2799593}"/>
              </a:ext>
            </a:extLst>
          </p:cNvPr>
          <p:cNvSpPr txBox="1"/>
          <p:nvPr/>
        </p:nvSpPr>
        <p:spPr>
          <a:xfrm>
            <a:off x="354965" y="2527938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Express the simplified path loss model including shadowing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32F95-8384-465E-B118-070D8E3C6B2B}"/>
                  </a:ext>
                </a:extLst>
              </p:cNvPr>
              <p:cNvSpPr txBox="1"/>
              <p:nvPr/>
            </p:nvSpPr>
            <p:spPr>
              <a:xfrm>
                <a:off x="1229155" y="3212098"/>
                <a:ext cx="4148315" cy="619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+10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p>
                        </m:sSup>
                      </m:e>
                    </m:func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ndara" pitchFamily="34" charset="0"/>
                  </a:rPr>
                  <a:t> [dB]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32F95-8384-465E-B118-070D8E3C6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155" y="3212098"/>
                <a:ext cx="4148315" cy="619465"/>
              </a:xfrm>
              <a:prstGeom prst="rect">
                <a:avLst/>
              </a:prstGeom>
              <a:blipFill>
                <a:blip r:embed="rId3"/>
                <a:stretch>
                  <a:fillRect r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BD8521-67BE-46E4-8B1C-9C04FB7328F2}"/>
                  </a:ext>
                </a:extLst>
              </p:cNvPr>
              <p:cNvSpPr txBox="1"/>
              <p:nvPr/>
            </p:nvSpPr>
            <p:spPr>
              <a:xfrm>
                <a:off x="1857125" y="3984317"/>
                <a:ext cx="49606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+40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40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20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ndar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ndara" pitchFamily="34" charset="0"/>
                  </a:rPr>
                  <a:t> [dB]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BD8521-67BE-46E4-8B1C-9C04FB732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125" y="3984317"/>
                <a:ext cx="4960653" cy="400110"/>
              </a:xfrm>
              <a:prstGeom prst="rect">
                <a:avLst/>
              </a:prstGeom>
              <a:blipFill>
                <a:blip r:embed="rId4"/>
                <a:stretch>
                  <a:fillRect t="-9231" r="-49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54E6BF-1DC8-478D-B2AE-8C605B2C31C5}"/>
                  </a:ext>
                </a:extLst>
              </p:cNvPr>
              <p:cNvSpPr/>
              <p:nvPr/>
            </p:nvSpPr>
            <p:spPr>
              <a:xfrm>
                <a:off x="6127072" y="3337164"/>
                <a:ext cx="19033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54E6BF-1DC8-478D-B2AE-8C605B2C3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072" y="3337164"/>
                <a:ext cx="1903342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38549A-0B9C-E0BC-0A52-C8D2D1CF3117}"/>
                  </a:ext>
                </a:extLst>
              </p:cNvPr>
              <p:cNvSpPr txBox="1"/>
              <p:nvPr/>
            </p:nvSpPr>
            <p:spPr>
              <a:xfrm>
                <a:off x="274320" y="4609587"/>
                <a:ext cx="8359647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b="0" i="0" dirty="0">
                    <a:effectLst/>
                    <a:latin typeface="Söhne"/>
                  </a:rPr>
                  <a:t>Here: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dirty="0">
                        <a:effectLst/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b="0" i="1" dirty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dirty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effectLst/>
                    <a:latin typeface="Söhne"/>
                  </a:rPr>
                  <a:t>is the path loss at a distance </a:t>
                </a:r>
                <a:r>
                  <a:rPr lang="en-US" b="0" i="1" dirty="0">
                    <a:effectLst/>
                    <a:latin typeface="KaTeX_Math"/>
                  </a:rPr>
                  <a:t>d</a:t>
                </a:r>
                <a:r>
                  <a:rPr lang="en-US" b="0" i="0" dirty="0">
                    <a:effectLst/>
                    <a:latin typeface="Söhne"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1" dirty="0">
                    <a:effectLst/>
                    <a:latin typeface="KaTeX_Math"/>
                  </a:rPr>
                  <a:t>K</a:t>
                </a:r>
                <a:r>
                  <a:rPr lang="en-US" b="0" i="0" dirty="0">
                    <a:effectLst/>
                    <a:latin typeface="Söhne"/>
                  </a:rPr>
                  <a:t> is the path loss measured at the reference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i="0" dirty="0">
                    <a:effectLst/>
                    <a:latin typeface="KaTeX_Main"/>
                  </a:rPr>
                  <a:t>​</a:t>
                </a:r>
                <a:r>
                  <a:rPr lang="en-US" b="0" i="0" dirty="0">
                    <a:effectLst/>
                    <a:latin typeface="Söhne"/>
                  </a:rPr>
                  <a:t>, which in this case is 80 </a:t>
                </a:r>
                <a:r>
                  <a:rPr lang="en-US" b="0" i="0" dirty="0" err="1">
                    <a:effectLst/>
                    <a:latin typeface="Söhne"/>
                  </a:rPr>
                  <a:t>dB.</a:t>
                </a:r>
                <a:endParaRPr lang="en-US" b="0" i="0" dirty="0">
                  <a:effectLst/>
                  <a:latin typeface="Söhn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b="0" i="0" dirty="0">
                    <a:effectLst/>
                    <a:latin typeface="Söhne"/>
                  </a:rPr>
                  <a:t> is the path loss exponent, which is 4 in this scenario.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i="0" dirty="0">
                    <a:effectLst/>
                    <a:latin typeface="KaTeX_Main"/>
                  </a:rPr>
                  <a:t>​</a:t>
                </a:r>
                <a:r>
                  <a:rPr lang="en-US" b="0" i="0" dirty="0">
                    <a:effectLst/>
                    <a:latin typeface="Söhne"/>
                  </a:rPr>
                  <a:t> is the reference distance, set to 20 m.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b="0" i="0" dirty="0">
                    <a:effectLst/>
                    <a:latin typeface="Söhne"/>
                  </a:rPr>
                  <a:t> represents the shadowing effect, modeled as a random variable with a normal (Gaussian) distribution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>
                        <a:effectLst/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b="0" i="0" dirty="0">
                    <a:effectLst/>
                    <a:latin typeface="Söhne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b="0" i="0" dirty="0">
                    <a:effectLst/>
                    <a:latin typeface="Söhne"/>
                  </a:rPr>
                  <a:t> dB (variance).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38549A-0B9C-E0BC-0A52-C8D2D1CF3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4609587"/>
                <a:ext cx="8359647" cy="2031325"/>
              </a:xfrm>
              <a:prstGeom prst="rect">
                <a:avLst/>
              </a:prstGeom>
              <a:blipFill>
                <a:blip r:embed="rId6"/>
                <a:stretch>
                  <a:fillRect l="-584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1458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7CB1-A1BE-4B58-AA39-D53CF72A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4095-8266-4514-942D-88E7415B3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1205649"/>
              </a:xfrm>
            </p:spPr>
            <p:txBody>
              <a:bodyPr/>
              <a:lstStyle/>
              <a:p>
                <a:r>
                  <a:rPr lang="en-US" dirty="0"/>
                  <a:t>Assume that the path loss measured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 m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dB </a:t>
                </a:r>
              </a:p>
              <a:p>
                <a:pPr lvl="1"/>
                <a:r>
                  <a:rPr lang="en-US" dirty="0"/>
                  <a:t>Shadowing variance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dB</a:t>
                </a:r>
              </a:p>
              <a:p>
                <a:pPr lvl="1"/>
                <a:r>
                  <a:rPr lang="en-US" dirty="0"/>
                  <a:t>Path loss exponent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4095-8266-4514-942D-88E7415B3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1205649"/>
              </a:xfrm>
              <a:blipFill>
                <a:blip r:embed="rId2"/>
                <a:stretch>
                  <a:fillRect l="-1135" t="-4545" b="-8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F3A4-5936-4598-8B7B-7F8083719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2</a:t>
            </a:fld>
            <a:endParaRPr lang="en-US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091F41-D701-47FA-8AB3-CBE5547983E6}"/>
              </a:ext>
            </a:extLst>
          </p:cNvPr>
          <p:cNvCxnSpPr/>
          <p:nvPr/>
        </p:nvCxnSpPr>
        <p:spPr bwMode="auto">
          <a:xfrm>
            <a:off x="426720" y="2506133"/>
            <a:ext cx="82905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2FFC48-EE6D-4843-A216-0465C2799593}"/>
                  </a:ext>
                </a:extLst>
              </p:cNvPr>
              <p:cNvSpPr txBox="1"/>
              <p:nvPr/>
            </p:nvSpPr>
            <p:spPr>
              <a:xfrm>
                <a:off x="354965" y="2652743"/>
                <a:ext cx="859536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Assume that the transmit power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Watts and the receiver sensitivity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−80</m:t>
                    </m:r>
                  </m:oMath>
                </a14:m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dBm. What is </a:t>
                </a:r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  <a:ea typeface="Times New Roman" panose="02020603050405020304" pitchFamily="18" charset="0"/>
                  </a:rPr>
                  <a:t>the outage probability 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=100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  <a:ea typeface="Times New Roman" panose="02020603050405020304" pitchFamily="18" charset="0"/>
                  </a:rPr>
                  <a:t> meters?</a:t>
                </a:r>
                <a:endParaRPr lang="en-US" sz="1800" dirty="0">
                  <a:solidFill>
                    <a:srgbClr val="0000FF"/>
                  </a:solidFill>
                  <a:effectLst/>
                  <a:latin typeface="Candara" panose="020E050203030302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2FFC48-EE6D-4843-A216-0465C2799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2652743"/>
                <a:ext cx="8595360" cy="646331"/>
              </a:xfrm>
              <a:prstGeom prst="rect">
                <a:avLst/>
              </a:prstGeom>
              <a:blipFill>
                <a:blip r:embed="rId3"/>
                <a:stretch>
                  <a:fillRect l="-567" t="-4717" r="-63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32F95-8384-465E-B118-070D8E3C6B2B}"/>
                  </a:ext>
                </a:extLst>
              </p:cNvPr>
              <p:cNvSpPr txBox="1"/>
              <p:nvPr/>
            </p:nvSpPr>
            <p:spPr>
              <a:xfrm>
                <a:off x="487869" y="3445683"/>
                <a:ext cx="8168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𝑟𝑥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e>
                      </m:func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80+40</m:t>
                          </m:r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−40</m:t>
                          </m:r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  <a:latin typeface="Candara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32F95-8384-465E-B118-070D8E3C6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69" y="3445683"/>
                <a:ext cx="8168262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54E6BF-1DC8-478D-B2AE-8C605B2C31C5}"/>
                  </a:ext>
                </a:extLst>
              </p:cNvPr>
              <p:cNvSpPr/>
              <p:nvPr/>
            </p:nvSpPr>
            <p:spPr>
              <a:xfrm>
                <a:off x="7632838" y="4165077"/>
                <a:ext cx="9339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54E6BF-1DC8-478D-B2AE-8C605B2C3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838" y="4165077"/>
                <a:ext cx="93390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6D37E5-2D7C-47BF-9D2A-2602628B4761}"/>
                  </a:ext>
                </a:extLst>
              </p:cNvPr>
              <p:cNvSpPr/>
              <p:nvPr/>
            </p:nvSpPr>
            <p:spPr>
              <a:xfrm>
                <a:off x="577253" y="3992402"/>
                <a:ext cx="7014421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outage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rx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=0.1807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6D37E5-2D7C-47BF-9D2A-2602628B47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53" y="3992402"/>
                <a:ext cx="7014421" cy="7146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BC3C652-DD64-673E-AA9B-281A950036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98" y="4777027"/>
            <a:ext cx="7869003" cy="156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2537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7CB1-A1BE-4B58-AA39-D53CF72A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4095-8266-4514-942D-88E7415B3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1205649"/>
              </a:xfrm>
            </p:spPr>
            <p:txBody>
              <a:bodyPr/>
              <a:lstStyle/>
              <a:p>
                <a:r>
                  <a:rPr lang="en-US" dirty="0"/>
                  <a:t>Assume that the path loss measured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 m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dB </a:t>
                </a:r>
              </a:p>
              <a:p>
                <a:pPr lvl="1"/>
                <a:r>
                  <a:rPr lang="en-US" dirty="0"/>
                  <a:t>Shadowing variance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dB</a:t>
                </a:r>
              </a:p>
              <a:p>
                <a:pPr lvl="1"/>
                <a:r>
                  <a:rPr lang="en-US" dirty="0"/>
                  <a:t>Path loss exponent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4095-8266-4514-942D-88E7415B3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1205649"/>
              </a:xfrm>
              <a:blipFill>
                <a:blip r:embed="rId2"/>
                <a:stretch>
                  <a:fillRect l="-1135" t="-4545" b="-8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F3A4-5936-4598-8B7B-7F8083719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3</a:t>
            </a:fld>
            <a:endParaRPr lang="en-US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091F41-D701-47FA-8AB3-CBE5547983E6}"/>
              </a:ext>
            </a:extLst>
          </p:cNvPr>
          <p:cNvCxnSpPr/>
          <p:nvPr/>
        </p:nvCxnSpPr>
        <p:spPr bwMode="auto">
          <a:xfrm>
            <a:off x="426720" y="2506133"/>
            <a:ext cx="82905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2FFC48-EE6D-4843-A216-0465C2799593}"/>
              </a:ext>
            </a:extLst>
          </p:cNvPr>
          <p:cNvSpPr txBox="1"/>
          <p:nvPr/>
        </p:nvSpPr>
        <p:spPr>
          <a:xfrm>
            <a:off x="354965" y="274468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Propose three methods that can improve the coverage rate?</a:t>
            </a:r>
            <a:endParaRPr lang="en-US" sz="1800" dirty="0">
              <a:solidFill>
                <a:srgbClr val="0000FF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45D2D-9464-49B2-ABF5-C242D490845A}"/>
              </a:ext>
            </a:extLst>
          </p:cNvPr>
          <p:cNvSpPr txBox="1"/>
          <p:nvPr/>
        </p:nvSpPr>
        <p:spPr>
          <a:xfrm>
            <a:off x="941493" y="3059668"/>
            <a:ext cx="7775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Increase the receiver and the transmitter heights (i.e., lower the exponent) </a:t>
            </a:r>
            <a:endParaRPr lang="en-US" sz="1800" dirty="0">
              <a:solidFill>
                <a:srgbClr val="00B050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32908A-F983-4827-8463-923BFCF54538}"/>
              </a:ext>
            </a:extLst>
          </p:cNvPr>
          <p:cNvSpPr txBox="1"/>
          <p:nvPr/>
        </p:nvSpPr>
        <p:spPr>
          <a:xfrm>
            <a:off x="941493" y="3357796"/>
            <a:ext cx="7775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Decrease the carrier frequency </a:t>
            </a:r>
            <a:endParaRPr lang="en-US" sz="1800" dirty="0">
              <a:solidFill>
                <a:srgbClr val="00B050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B176BC-0E8F-4ED4-A921-A01F00AC32B4}"/>
              </a:ext>
            </a:extLst>
          </p:cNvPr>
          <p:cNvSpPr txBox="1"/>
          <p:nvPr/>
        </p:nvSpPr>
        <p:spPr>
          <a:xfrm>
            <a:off x="941493" y="3653749"/>
            <a:ext cx="7775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Decrease the receiver sensitivity with a better modulation</a:t>
            </a:r>
            <a:endParaRPr lang="en-US" sz="1800" dirty="0">
              <a:solidFill>
                <a:srgbClr val="00B050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6436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is the transmit power in dBm?</a:t>
            </a:r>
            <a:endParaRPr lang="en-US" dirty="0">
              <a:solidFill>
                <a:srgbClr val="0000FF"/>
              </a:solidFill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5A3B17-4ECC-4CEB-A2F7-F80DD1BEF7D1}"/>
                  </a:ext>
                </a:extLst>
              </p:cNvPr>
              <p:cNvSpPr txBox="1"/>
              <p:nvPr/>
            </p:nvSpPr>
            <p:spPr>
              <a:xfrm>
                <a:off x="2374053" y="4306054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mW</m:t>
                          </m:r>
                        </m:e>
                      </m:func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27</m:t>
                      </m:r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dBm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5A3B17-4ECC-4CEB-A2F7-F80DD1BEF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53" y="4306054"/>
                <a:ext cx="457200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9229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3"/>
            <a:ext cx="8516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is the received signal power in dBm based on the free-space path loss model?</a:t>
            </a:r>
            <a:endParaRPr lang="en-US" dirty="0">
              <a:solidFill>
                <a:srgbClr val="0000FF"/>
              </a:solidFill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3AD7FC-8812-46EF-905F-BC4A2ADD85AB}"/>
                  </a:ext>
                </a:extLst>
              </p:cNvPr>
              <p:cNvSpPr txBox="1"/>
              <p:nvPr/>
            </p:nvSpPr>
            <p:spPr>
              <a:xfrm>
                <a:off x="133480" y="4029740"/>
                <a:ext cx="7162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1148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𝑟𝑥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dBm</m:t>
                        </m:r>
                      </m:e>
                    </m:d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dBm</m:t>
                        </m:r>
                      </m:e>
                    </m:d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𝑃𝐿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dB</m:t>
                        </m:r>
                      </m:e>
                    </m:d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=30[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dBm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]−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𝑃𝐿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1800" i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dB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r>
                  <a:rPr lang="en-US" sz="18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18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3AD7FC-8812-46EF-905F-BC4A2ADD8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0" y="4029740"/>
                <a:ext cx="716280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C1837B-C897-4FDD-9FAF-1B8DEDA747A5}"/>
                  </a:ext>
                </a:extLst>
              </p:cNvPr>
              <p:cNvSpPr txBox="1"/>
              <p:nvPr/>
            </p:nvSpPr>
            <p:spPr>
              <a:xfrm>
                <a:off x="861559" y="4378981"/>
                <a:ext cx="72521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1148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𝑃𝐿</m:t>
                      </m:r>
                      <m:r>
                        <a:rPr lang="en-US" sz="180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=20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d</m:t>
                              </m:r>
                            </m:e>
                          </m:d>
                        </m:e>
                      </m:func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+20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−147.55−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  <m:t>tx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  <m:t>rx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11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6</m:t>
                      </m:r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800" i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dB</m:t>
                      </m:r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en-US" sz="18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C1837B-C897-4FDD-9FAF-1B8DEDA7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59" y="4378981"/>
                <a:ext cx="7252103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F629A9-1BE1-411C-BB51-0E303DF7752E}"/>
                  </a:ext>
                </a:extLst>
              </p:cNvPr>
              <p:cNvSpPr txBox="1"/>
              <p:nvPr/>
            </p:nvSpPr>
            <p:spPr>
              <a:xfrm>
                <a:off x="861559" y="4768238"/>
                <a:ext cx="68925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dBm</m:t>
                          </m:r>
                        </m:e>
                      </m:d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27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dBm</m:t>
                          </m:r>
                        </m:e>
                      </m:d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11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6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dB</m:t>
                          </m:r>
                        </m:e>
                      </m:d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9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i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dBm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F629A9-1BE1-411C-BB51-0E303DF77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59" y="4768238"/>
                <a:ext cx="689255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7408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3"/>
            <a:ext cx="8516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is the noise power in dBm? (</a:t>
            </a:r>
            <a:r>
              <a:rPr lang="en-US" sz="1800" dirty="0" err="1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kT</a:t>
            </a: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 = -174 dBm/Hz)</a:t>
            </a:r>
            <a:endParaRPr lang="en-US" dirty="0">
              <a:solidFill>
                <a:srgbClr val="0000FF"/>
              </a:solidFill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3AD7FC-8812-46EF-905F-BC4A2ADD85AB}"/>
                  </a:ext>
                </a:extLst>
              </p:cNvPr>
              <p:cNvSpPr txBox="1"/>
              <p:nvPr/>
            </p:nvSpPr>
            <p:spPr>
              <a:xfrm>
                <a:off x="783885" y="4340494"/>
                <a:ext cx="77523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1148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𝐵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MHz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𝑛𝑜𝑖𝑠𝑒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dBm</m:t>
                          </m:r>
                        </m:e>
                      </m:d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𝑘𝑇</m:t>
                      </m:r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+10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𝐵</m:t>
                          </m:r>
                        </m:e>
                      </m:func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𝑁𝐹</m:t>
                      </m:r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−96</m:t>
                      </m:r>
                      <m:r>
                        <a:rPr lang="en-US" sz="1800" b="0" i="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dBm</m:t>
                      </m:r>
                    </m:oMath>
                  </m:oMathPara>
                </a14:m>
                <a:endParaRPr lang="en-US" sz="18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3AD7FC-8812-46EF-905F-BC4A2ADD8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85" y="4340494"/>
                <a:ext cx="775233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4590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3"/>
            <a:ext cx="8516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is the SNR in dB? </a:t>
            </a:r>
            <a:endParaRPr lang="en-US" dirty="0">
              <a:solidFill>
                <a:srgbClr val="0000FF"/>
              </a:solidFill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3AD7FC-8812-46EF-905F-BC4A2ADD85AB}"/>
                  </a:ext>
                </a:extLst>
              </p:cNvPr>
              <p:cNvSpPr txBox="1"/>
              <p:nvPr/>
            </p:nvSpPr>
            <p:spPr>
              <a:xfrm>
                <a:off x="433493" y="4350755"/>
                <a:ext cx="81459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1148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𝑆𝑁𝑅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𝑑𝐵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𝑑𝐵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𝑛𝑜𝑖𝑠𝑒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dBm</m:t>
                          </m:r>
                        </m:e>
                      </m:d>
                      <m:r>
                        <a:rPr lang="en-US" sz="1800" i="1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−8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9</m:t>
                      </m:r>
                      <m: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dBm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+9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6</m:t>
                      </m:r>
                      <m: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dBm</m:t>
                      </m:r>
                      <m: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=7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dB</m:t>
                      </m:r>
                    </m:oMath>
                  </m:oMathPara>
                </a14:m>
                <a:endParaRPr lang="en-US" sz="1800" dirty="0">
                  <a:solidFill>
                    <a:srgbClr val="00B05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3AD7FC-8812-46EF-905F-BC4A2ADD8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93" y="4350755"/>
                <a:ext cx="8145994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2847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3"/>
            <a:ext cx="8516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is the channel capacity?</a:t>
            </a:r>
            <a:endParaRPr lang="en-US" dirty="0">
              <a:solidFill>
                <a:srgbClr val="0000FF"/>
              </a:solidFill>
              <a:latin typeface="Candara" panose="020E05020303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/>
              <p:nvPr/>
            </p:nvSpPr>
            <p:spPr>
              <a:xfrm>
                <a:off x="1201948" y="4301875"/>
                <a:ext cx="6979921" cy="499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SNR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lin</m:t>
                              </m:r>
                            </m:e>
                          </m:d>
                        </m:e>
                      </m:d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b="0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=51.2 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𝑀𝑏𝑖𝑡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48" y="4301875"/>
                <a:ext cx="6979921" cy="4994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63793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3E473E-35F1-4F88-A42D-EFCC302F3400}"/>
                  </a:ext>
                </a:extLst>
              </p:cNvPr>
              <p:cNvSpPr txBox="1"/>
              <p:nvPr/>
            </p:nvSpPr>
            <p:spPr>
              <a:xfrm>
                <a:off x="433493" y="3631653"/>
                <a:ext cx="8516832" cy="672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  <a:ea typeface="Times New Roman" panose="02020603050405020304" pitchFamily="18" charset="0"/>
                  </a:rPr>
                  <a:t>If the pulse shape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  <a:ea typeface="Times New Roman" panose="02020603050405020304" pitchFamily="18" charset="0"/>
                  </a:rPr>
                  <a:t> is root-raised cosine with the roll-off factor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0.2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  <a:ea typeface="Times New Roman" panose="02020603050405020304" pitchFamily="18" charset="0"/>
                  </a:rPr>
                  <a:t>, </a:t>
                </a:r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</a:rPr>
                  <a:t>what should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3E473E-35F1-4F88-A42D-EFCC302F3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93" y="3631653"/>
                <a:ext cx="8516832" cy="672556"/>
              </a:xfrm>
              <a:prstGeom prst="rect">
                <a:avLst/>
              </a:prstGeom>
              <a:blipFill>
                <a:blip r:embed="rId6"/>
                <a:stretch>
                  <a:fillRect l="-573" t="-5455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/>
              <p:nvPr/>
            </p:nvSpPr>
            <p:spPr>
              <a:xfrm>
                <a:off x="1446105" y="4420946"/>
                <a:ext cx="5970693" cy="694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spacing</m:t>
                          </m:r>
                        </m:sub>
                      </m:sSub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1+0.2</m:t>
                          </m:r>
                        </m:num>
                        <m:den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Hz</m:t>
                          </m:r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105" y="4420946"/>
                <a:ext cx="5970693" cy="6947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4253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3E473E-35F1-4F88-A42D-EFCC302F3400}"/>
                  </a:ext>
                </a:extLst>
              </p:cNvPr>
              <p:cNvSpPr txBox="1"/>
              <p:nvPr/>
            </p:nvSpPr>
            <p:spPr>
              <a:xfrm>
                <a:off x="433493" y="3631653"/>
                <a:ext cx="85168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If the pulse shape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is root-raised cosine with the roll-off factor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0.2</m:t>
                    </m:r>
                  </m:oMath>
                </a14:m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, w</a:t>
                </a:r>
                <a:r>
                  <a:rPr lang="en-US" dirty="0">
                    <a:solidFill>
                      <a:srgbClr val="0000FF"/>
                    </a:solidFill>
                    <a:latin typeface="Candara" panose="020E0502030303020204" pitchFamily="34" charset="0"/>
                    <a:ea typeface="Times New Roman" panose="02020603050405020304" pitchFamily="18" charset="0"/>
                  </a:rPr>
                  <a:t>hat is the symbol rate?</a:t>
                </a:r>
                <a:endParaRPr lang="en-US" dirty="0">
                  <a:solidFill>
                    <a:srgbClr val="0000FF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3E473E-35F1-4F88-A42D-EFCC302F3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93" y="3631653"/>
                <a:ext cx="8516832" cy="646331"/>
              </a:xfrm>
              <a:prstGeom prst="rect">
                <a:avLst/>
              </a:prstGeom>
              <a:blipFill>
                <a:blip r:embed="rId6"/>
                <a:stretch>
                  <a:fillRect l="-573" t="-5660" r="-35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/>
              <p:nvPr/>
            </p:nvSpPr>
            <p:spPr>
              <a:xfrm>
                <a:off x="1452879" y="4326322"/>
                <a:ext cx="5970693" cy="694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symbol</m:t>
                          </m:r>
                        </m:sub>
                      </m:sSub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=16.67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6 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symbols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sec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879" y="4326322"/>
                <a:ext cx="5970693" cy="6948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0352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3E473E-35F1-4F88-A42D-EFCC302F3400}"/>
                  </a:ext>
                </a:extLst>
              </p:cNvPr>
              <p:cNvSpPr txBox="1"/>
              <p:nvPr/>
            </p:nvSpPr>
            <p:spPr>
              <a:xfrm>
                <a:off x="433493" y="3631653"/>
                <a:ext cx="85168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If we want to reach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sz="1800" dirty="0">
                    <a:solidFill>
                      <a:srgbClr val="0000FF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Mbps for the bit rate, how many bits need to be carried per data symbol?</a:t>
                </a:r>
                <a:endParaRPr lang="en-US" dirty="0">
                  <a:solidFill>
                    <a:srgbClr val="0000FF"/>
                  </a:solidFill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3E473E-35F1-4F88-A42D-EFCC302F3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93" y="3631653"/>
                <a:ext cx="8516832" cy="646331"/>
              </a:xfrm>
              <a:prstGeom prst="rect">
                <a:avLst/>
              </a:prstGeom>
              <a:blipFill>
                <a:blip r:embed="rId6"/>
                <a:stretch>
                  <a:fillRect l="-573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/>
              <p:nvPr/>
            </p:nvSpPr>
            <p:spPr>
              <a:xfrm>
                <a:off x="1452879" y="4302042"/>
                <a:ext cx="5970693" cy="703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𝑠𝑦𝑚𝑏𝑜𝑙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bits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symbol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1.67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bit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sym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879" y="4302042"/>
                <a:ext cx="5970693" cy="7033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7160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3"/>
            <a:ext cx="8516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Calculate the energy received per data symbol and the noise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/>
              <p:nvPr/>
            </p:nvSpPr>
            <p:spPr>
              <a:xfrm>
                <a:off x="469984" y="4049545"/>
                <a:ext cx="8443851" cy="995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rx</m:t>
                          </m:r>
                        </m:sub>
                      </m:sSub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lin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dBm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rx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dBm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dBmJoule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84" y="4049545"/>
                <a:ext cx="8443851" cy="9955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30D1AA-1C69-4DA5-BFEF-A6A26B6D6542}"/>
                  </a:ext>
                </a:extLst>
              </p:cNvPr>
              <p:cNvSpPr txBox="1"/>
              <p:nvPr/>
            </p:nvSpPr>
            <p:spPr>
              <a:xfrm>
                <a:off x="133081" y="4731272"/>
                <a:ext cx="8877838" cy="692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noise</m:t>
                          </m:r>
                        </m:sub>
                      </m:sSub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lin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dBm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noise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dBm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dBmJoule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30D1AA-1C69-4DA5-BFEF-A6A26B6D6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1" y="4731272"/>
                <a:ext cx="8877838" cy="6928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87542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4"/>
            <a:ext cx="8595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are the bit error rate &amp; data rate if we use on-off keying? Give an example bit mapping for OOK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/>
              <p:nvPr/>
            </p:nvSpPr>
            <p:spPr>
              <a:xfrm>
                <a:off x="363191" y="4241263"/>
                <a:ext cx="4766334" cy="657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−16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71D91C-2DA0-4DFE-B420-E60D5FB3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91" y="4241263"/>
                <a:ext cx="4766334" cy="657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3A8895-4AB2-408A-A8F7-D79AB2F5077D}"/>
                  </a:ext>
                </a:extLst>
              </p:cNvPr>
              <p:cNvSpPr txBox="1"/>
              <p:nvPr/>
            </p:nvSpPr>
            <p:spPr>
              <a:xfrm>
                <a:off x="124874" y="4687179"/>
                <a:ext cx="5242967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err</m:t>
                          </m:r>
                        </m:sub>
                      </m:sSub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7/10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0.013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3A8895-4AB2-408A-A8F7-D79AB2F50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74" y="4687179"/>
                <a:ext cx="5242967" cy="9840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AAEC94-E036-4262-BCA5-BC010D0722D4}"/>
                  </a:ext>
                </a:extLst>
              </p:cNvPr>
              <p:cNvSpPr txBox="1"/>
              <p:nvPr/>
            </p:nvSpPr>
            <p:spPr>
              <a:xfrm>
                <a:off x="6048860" y="4346865"/>
                <a:ext cx="2478767" cy="40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𝐵𝑖𝑡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0⇒0, 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𝐵𝑖𝑡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1⇒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AAEC94-E036-4262-BCA5-BC010D072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860" y="4346865"/>
                <a:ext cx="2478767" cy="4019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C1DBE1-0915-40F0-9D60-13A9E0E374AA}"/>
                  </a:ext>
                </a:extLst>
              </p:cNvPr>
              <p:cNvSpPr txBox="1"/>
              <p:nvPr/>
            </p:nvSpPr>
            <p:spPr>
              <a:xfrm>
                <a:off x="5606158" y="4829975"/>
                <a:ext cx="3443016" cy="694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𝑏𝑖𝑡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=16.67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Mbit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C1DBE1-0915-40F0-9D60-13A9E0E37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158" y="4829975"/>
                <a:ext cx="3443016" cy="6947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53385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Would the shadowing variance be large or small for this communication channel? Why?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64974-667B-4D2F-8FC7-B707F4C2272A}"/>
              </a:ext>
            </a:extLst>
          </p:cNvPr>
          <p:cNvSpPr txBox="1"/>
          <p:nvPr/>
        </p:nvSpPr>
        <p:spPr>
          <a:xfrm>
            <a:off x="1422923" y="4418878"/>
            <a:ext cx="7203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Most likely low because there are less obstacles between the drones</a:t>
            </a:r>
            <a:endParaRPr lang="en-US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47498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Is it better to model the small-scale fading with Rayleigh or Rician? Why?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64974-667B-4D2F-8FC7-B707F4C2272A}"/>
              </a:ext>
            </a:extLst>
          </p:cNvPr>
          <p:cNvSpPr txBox="1"/>
          <p:nvPr/>
        </p:nvSpPr>
        <p:spPr>
          <a:xfrm>
            <a:off x="1900207" y="4383480"/>
            <a:ext cx="577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B050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Rician because it is likely that there is line-of-sight path</a:t>
            </a:r>
            <a:endParaRPr lang="en-US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39804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lvl="1"/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, 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3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9" name="Picture 2" descr="930 Drone Clipart Illustrations &amp; Clip Art - iStock">
            <a:extLst>
              <a:ext uri="{FF2B5EF4-FFF2-40B4-BE49-F238E27FC236}">
                <a16:creationId xmlns:a16="http://schemas.microsoft.com/office/drawing/2014/main" id="{1D4BECBF-111F-4F73-AFEE-87E24714D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" t="35275" r="2971" b="35275"/>
          <a:stretch/>
        </p:blipFill>
        <p:spPr bwMode="auto">
          <a:xfrm>
            <a:off x="740430" y="5553197"/>
            <a:ext cx="2633623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930 Drone Clipart Illustrations &amp; Clip Art - iStock">
            <a:extLst>
              <a:ext uri="{FF2B5EF4-FFF2-40B4-BE49-F238E27FC236}">
                <a16:creationId xmlns:a16="http://schemas.microsoft.com/office/drawing/2014/main" id="{41B2A545-0273-4AB8-9A5A-18DF6B6E09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1" t="35275" r="4431" b="35275"/>
          <a:stretch/>
        </p:blipFill>
        <p:spPr bwMode="auto">
          <a:xfrm>
            <a:off x="6048860" y="5553197"/>
            <a:ext cx="2577504" cy="83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A758AF-5980-481A-86F6-62F8473F04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374053" y="5971089"/>
            <a:ext cx="2674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/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EEADF-976F-46AA-9B94-1DD1D560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35" y="5601757"/>
                <a:ext cx="148604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/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9A6F7-8EFD-4167-AB31-26B8D92A6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529" y="5971088"/>
                <a:ext cx="1466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4"/>
            <a:ext cx="8595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Assume that drones are approaching each other. The speed of each drone is 200 meters/sec. What is the carrier frequency that the receiver observes?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164974-667B-4D2F-8FC7-B707F4C2272A}"/>
                  </a:ext>
                </a:extLst>
              </p:cNvPr>
              <p:cNvSpPr txBox="1"/>
              <p:nvPr/>
            </p:nvSpPr>
            <p:spPr>
              <a:xfrm>
                <a:off x="603749" y="4412515"/>
                <a:ext cx="8112606" cy="4939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>
                    <a:solidFill>
                      <a:srgbClr val="00B05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If the total velocity is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2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𝑣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=400 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𝑚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/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𝑠</m:t>
                    </m:r>
                  </m:oMath>
                </a14:m>
                <a:r>
                  <a:rPr lang="en-US" sz="1800" dirty="0">
                    <a:solidFill>
                      <a:srgbClr val="00B05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, the Doppler shift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𝑑</m:t>
                        </m:r>
                      </m:sub>
                    </m:sSub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400</m:t>
                    </m:r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×</m:t>
                    </m:r>
                    <m:f>
                      <m:fPr>
                        <m:ctrlP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 Light" panose="020F03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 Light" panose="020F030202020403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 Light" panose="020F0302020204030204" pitchFamily="34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𝑐</m:t>
                        </m:r>
                      </m:den>
                    </m:f>
                    <m:r>
                      <a:rPr lang="en-US" sz="18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3.2</m:t>
                    </m:r>
                  </m:oMath>
                </a14:m>
                <a:r>
                  <a:rPr lang="en-US" sz="1800" dirty="0">
                    <a:solidFill>
                      <a:srgbClr val="00B050"/>
                    </a:solidFill>
                    <a:effectLst/>
                    <a:latin typeface="Candara" panose="020E0502030303020204" pitchFamily="34" charset="0"/>
                    <a:ea typeface="Times New Roman" panose="02020603050405020304" pitchFamily="18" charset="0"/>
                  </a:rPr>
                  <a:t> kHz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164974-667B-4D2F-8FC7-B707F4C22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49" y="4412515"/>
                <a:ext cx="8112606" cy="493981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42F2D6-7FB2-4104-98E7-0685011055BE}"/>
                  </a:ext>
                </a:extLst>
              </p:cNvPr>
              <p:cNvSpPr txBox="1"/>
              <p:nvPr/>
            </p:nvSpPr>
            <p:spPr>
              <a:xfrm>
                <a:off x="3540595" y="5018441"/>
                <a:ext cx="20628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rx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GHz</m:t>
                      </m:r>
                      <m:r>
                        <a:rPr lang="en-US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 Light" panose="020F0302020204030204" pitchFamily="34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42F2D6-7FB2-4104-98E7-06850110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595" y="5018441"/>
                <a:ext cx="2062809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2933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94A5-5BE6-4526-A597-8EF57E5D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</p:spPr>
            <p:txBody>
              <a:bodyPr/>
              <a:lstStyle/>
              <a:p>
                <a:r>
                  <a:rPr lang="en-US" sz="1800" dirty="0"/>
                  <a:t>Consider a communication link between two drones at a high altitude. The complex baseband signal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tx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spacing</m:t>
                              </m:r>
                            </m:sub>
                          </m:s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spacing</m:t>
                        </m:r>
                      </m:sub>
                    </m:sSub>
                  </m:oMath>
                </a14:m>
                <a:r>
                  <a:rPr lang="en-US" sz="1600" dirty="0"/>
                  <a:t> is the symbol spacing,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tx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a RRC pulse,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600" dirty="0"/>
                  <a:t> is a complex signal</a:t>
                </a:r>
              </a:p>
              <a:p>
                <a:pPr lvl="1"/>
                <a:r>
                  <a:rPr lang="en-US" sz="1600" dirty="0"/>
                  <a:t>The maximum distance between drones: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 km, the receiver noise figure: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/>
                  <a:t> dB</a:t>
                </a:r>
              </a:p>
              <a:p>
                <a:pPr lvl="1"/>
                <a:r>
                  <a:rPr lang="en-US" sz="1600" dirty="0"/>
                  <a:t>The transmit power: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1600" dirty="0"/>
                  <a:t> Watts, t</a:t>
                </a:r>
                <a:r>
                  <a:rPr lang="en-US" sz="1600" dirty="0">
                    <a:effectLst/>
                    <a:cs typeface="Calibri Light" panose="020F0302020204030204" pitchFamily="34" charset="0"/>
                  </a:rPr>
                  <a:t>he antenna gains at the TX and RX: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tx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 Light" panose="020F0302020204030204" pitchFamily="34" charset="0"/>
                          </a:rPr>
                          <m:t>rx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 Light" panose="020F0302020204030204" pitchFamily="34" charset="0"/>
                      </a:rPr>
                      <m:t>5</m:t>
                    </m:r>
                  </m:oMath>
                </a14:m>
                <a:r>
                  <a:rPr lang="en-US" sz="1600" dirty="0">
                    <a:effectLst/>
                    <a:latin typeface="Calibri Light" panose="020F0302020204030204" pitchFamily="34" charset="0"/>
                    <a:ea typeface="Times New Roman" panose="02020603050405020304" pitchFamily="18" charset="0"/>
                  </a:rPr>
                  <a:t> dBi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DC5F99-6BEE-4502-824D-23563E514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2350343"/>
              </a:xfrm>
              <a:blipFill>
                <a:blip r:embed="rId2"/>
                <a:stretch>
                  <a:fillRect l="-567" t="-1295" r="-567" b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4E63A-A026-4FA8-9493-A04AC4D6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A1152-1B24-48B6-A8F7-3C21D48C32AA}" type="slidenum">
              <a:rPr lang="en-US" altLang="en-US" smtClean="0"/>
              <a:pPr/>
              <a:t>17</a:t>
            </a:fld>
            <a:endParaRPr lang="en-US" alt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3329BF-7AE4-45CD-B894-BB01E4C0BEFB}"/>
              </a:ext>
            </a:extLst>
          </p:cNvPr>
          <p:cNvCxnSpPr/>
          <p:nvPr/>
        </p:nvCxnSpPr>
        <p:spPr bwMode="auto">
          <a:xfrm>
            <a:off x="433493" y="3562773"/>
            <a:ext cx="845312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3E473E-35F1-4F88-A42D-EFCC302F3400}"/>
              </a:ext>
            </a:extLst>
          </p:cNvPr>
          <p:cNvSpPr txBox="1"/>
          <p:nvPr/>
        </p:nvSpPr>
        <p:spPr>
          <a:xfrm>
            <a:off x="433493" y="363165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Assume that the drones flying in an area where the PDP is characterized as follow: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F3771FD-7F95-47DD-9F44-65D3DCD45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48139"/>
              </p:ext>
            </p:extLst>
          </p:nvPr>
        </p:nvGraphicFramePr>
        <p:xfrm>
          <a:off x="6216226" y="4345698"/>
          <a:ext cx="2594187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493">
                  <a:extLst>
                    <a:ext uri="{9D8B030D-6E8A-4147-A177-3AD203B41FA5}">
                      <a16:colId xmlns:a16="http://schemas.microsoft.com/office/drawing/2014/main" val="2015375838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4251220804"/>
                    </a:ext>
                  </a:extLst>
                </a:gridCol>
                <a:gridCol w="1437851">
                  <a:extLst>
                    <a:ext uri="{9D8B030D-6E8A-4147-A177-3AD203B41FA5}">
                      <a16:colId xmlns:a16="http://schemas.microsoft.com/office/drawing/2014/main" val="1573413377"/>
                    </a:ext>
                  </a:extLst>
                </a:gridCol>
              </a:tblGrid>
              <a:tr h="118243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Relative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55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0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17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200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andara" panose="020E0502030303020204" pitchFamily="34" charset="0"/>
                        </a:rPr>
                        <a:t>-5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09165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85DB536-AA33-47AB-A1B2-A0D225ACB95F}"/>
              </a:ext>
            </a:extLst>
          </p:cNvPr>
          <p:cNvSpPr txBox="1"/>
          <p:nvPr/>
        </p:nvSpPr>
        <p:spPr>
          <a:xfrm>
            <a:off x="433493" y="3901267"/>
            <a:ext cx="7659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What is maximum excess delay? </a:t>
            </a:r>
            <a:r>
              <a:rPr lang="en-US" dirty="0">
                <a:solidFill>
                  <a:srgbClr val="0000FF"/>
                </a:solidFill>
                <a:latin typeface="Candara" panose="020E0502030303020204" pitchFamily="34" charset="0"/>
                <a:ea typeface="Times New Roman" panose="02020603050405020304" pitchFamily="18" charset="0"/>
              </a:rPr>
              <a:t>What is the coherence bandwidth?</a:t>
            </a:r>
            <a:endParaRPr lang="en-US" sz="1800" dirty="0">
              <a:solidFill>
                <a:srgbClr val="0000FF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41F01F-BED8-4EC4-A0E4-97F32B9FB0DF}"/>
                  </a:ext>
                </a:extLst>
              </p:cNvPr>
              <p:cNvSpPr txBox="1"/>
              <p:nvPr/>
            </p:nvSpPr>
            <p:spPr>
              <a:xfrm>
                <a:off x="746760" y="4457293"/>
                <a:ext cx="4713278" cy="774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average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dirty="0" smtClean="0">
                                          <a:latin typeface="Cambria Math" panose="02040503050406030204" pitchFamily="18" charset="0"/>
                                        </a:rPr>
                                        <m:t>db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db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0×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+200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ns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=48</m:t>
                      </m:r>
                      <m:r>
                        <m:rPr>
                          <m:nor/>
                        </m:rPr>
                        <a:rPr lang="en-US" sz="1400" dirty="0">
                          <a:latin typeface="Candara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latin typeface="Candara" pitchFamily="34" charset="0"/>
                        </a:rPr>
                        <m:t>ns</m:t>
                      </m:r>
                    </m:oMath>
                  </m:oMathPara>
                </a14:m>
                <a:endParaRPr lang="en-US" sz="14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41F01F-BED8-4EC4-A0E4-97F32B9FB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" y="4457293"/>
                <a:ext cx="4713278" cy="7741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988172-F68D-48C7-8FC5-C45F0E61A8F2}"/>
                  </a:ext>
                </a:extLst>
              </p:cNvPr>
              <p:cNvSpPr txBox="1"/>
              <p:nvPr/>
            </p:nvSpPr>
            <p:spPr>
              <a:xfrm>
                <a:off x="831738" y="5176659"/>
                <a:ext cx="7214091" cy="783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average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dirty="0" smtClean="0">
                                          <a:latin typeface="Cambria Math" panose="02040503050406030204" pitchFamily="18" charset="0"/>
                                        </a:rPr>
                                        <m:t>db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db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0−</m:t>
                                  </m:r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average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0−</m:t>
                                  </m:r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average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+…</m:t>
                          </m:r>
                        </m:den>
                      </m:f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=85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m:rPr>
                          <m:nor/>
                        </m:rPr>
                        <a:rPr lang="en-US" sz="1400" dirty="0">
                          <a:latin typeface="Candara" pitchFamily="34" charset="0"/>
                        </a:rPr>
                        <m:t>ns</m:t>
                      </m:r>
                    </m:oMath>
                  </m:oMathPara>
                </a14:m>
                <a:endParaRPr lang="en-US" sz="14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988172-F68D-48C7-8FC5-C45F0E61A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38" y="5176659"/>
                <a:ext cx="7214091" cy="783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83E42B-C9C9-44E4-A0ED-F63233F32644}"/>
                  </a:ext>
                </a:extLst>
              </p:cNvPr>
              <p:cNvSpPr txBox="1"/>
              <p:nvPr/>
            </p:nvSpPr>
            <p:spPr>
              <a:xfrm>
                <a:off x="831738" y="4238079"/>
                <a:ext cx="13236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=200</m:t>
                      </m:r>
                      <m:r>
                        <m:rPr>
                          <m:nor/>
                        </m:rPr>
                        <a:rPr lang="en-US" sz="1400" dirty="0">
                          <a:latin typeface="Candara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latin typeface="Candara" pitchFamily="34" charset="0"/>
                        </a:rPr>
                        <m:t>ns</m:t>
                      </m:r>
                    </m:oMath>
                  </m:oMathPara>
                </a14:m>
                <a:endParaRPr lang="en-US" sz="14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83E42B-C9C9-44E4-A0ED-F63233F32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38" y="4238079"/>
                <a:ext cx="132369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FF67BC1-4475-47E2-A8FF-A37E6FDED5C6}"/>
                  </a:ext>
                </a:extLst>
              </p:cNvPr>
              <p:cNvSpPr/>
              <p:nvPr/>
            </p:nvSpPr>
            <p:spPr>
              <a:xfrm>
                <a:off x="831738" y="5950782"/>
                <a:ext cx="6778587" cy="519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rms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=2.34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𝑀𝐻𝑧</m:t>
                    </m:r>
                  </m:oMath>
                </a14:m>
                <a:r>
                  <a:rPr lang="en-US" dirty="0">
                    <a:latin typeface="Candara" panose="020E0502030303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=0.5⇒</m:t>
                    </m:r>
                  </m:oMath>
                </a14:m>
                <a:r>
                  <a:rPr lang="en-US" dirty="0">
                    <a:latin typeface="Candara" panose="020E0502030303020204" pitchFamily="34" charset="0"/>
                  </a:rPr>
                  <a:t> Channel is frequency-selective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FF67BC1-4475-47E2-A8FF-A37E6FDED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38" y="5950782"/>
                <a:ext cx="6778587" cy="519181"/>
              </a:xfrm>
              <a:prstGeom prst="rect">
                <a:avLst/>
              </a:prstGeom>
              <a:blipFill>
                <a:blip r:embed="rId6"/>
                <a:stretch>
                  <a:fillRect r="-360"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56768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9E63-0CFA-4636-B3B1-498F7EEE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37F87E-D27F-49DA-A96B-1BAAE0E68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1232750"/>
                <a:ext cx="8595360" cy="1068492"/>
              </a:xfrm>
            </p:spPr>
            <p:txBody>
              <a:bodyPr/>
              <a:lstStyle/>
              <a:p>
                <a:r>
                  <a:rPr lang="en-US" dirty="0"/>
                  <a:t>Assume that Wi-Fi router transmit a signal where its bandwidth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 MHz signal around carrier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duration</a:t>
                </a:r>
              </a:p>
              <a:p>
                <a:pPr lvl="1"/>
                <a:r>
                  <a:rPr lang="en-US" dirty="0"/>
                  <a:t>What are the minimum sample rates at I and Q branches with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𝑀𝐻𝑧</m:t>
                    </m:r>
                  </m:oMath>
                </a14:m>
                <a:r>
                  <a:rPr lang="en-US" dirty="0"/>
                  <a:t> guard band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37F87E-D27F-49DA-A96B-1BAAE0E68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1232750"/>
                <a:ext cx="8595360" cy="1068492"/>
              </a:xfrm>
              <a:blipFill>
                <a:blip r:embed="rId2"/>
                <a:stretch>
                  <a:fillRect l="-1135" t="-5114" r="-1064" b="-49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07029-F57F-4182-BCB1-F8B3691B9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73177-3522-4150-8F21-AD833F444AD4}" type="slidenum">
              <a:rPr lang="en-US" altLang="en-US" smtClean="0"/>
              <a:pPr/>
              <a:t>18</a:t>
            </a:fld>
            <a:endParaRPr lang="en-US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0EA326-8687-4F97-AFDA-89790EEF006B}"/>
              </a:ext>
            </a:extLst>
          </p:cNvPr>
          <p:cNvCxnSpPr/>
          <p:nvPr/>
        </p:nvCxnSpPr>
        <p:spPr bwMode="auto">
          <a:xfrm>
            <a:off x="609600" y="2743199"/>
            <a:ext cx="8114453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B4F21D2-EE08-4FCE-95AD-FD23CC67E8EB}"/>
              </a:ext>
            </a:extLst>
          </p:cNvPr>
          <p:cNvSpPr/>
          <p:nvPr/>
        </p:nvSpPr>
        <p:spPr bwMode="auto">
          <a:xfrm>
            <a:off x="6834165" y="4193776"/>
            <a:ext cx="213151" cy="327237"/>
          </a:xfrm>
          <a:prstGeom prst="triangle">
            <a:avLst/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93C36A2-DEFE-4C21-80FE-C61532A19363}"/>
              </a:ext>
            </a:extLst>
          </p:cNvPr>
          <p:cNvSpPr/>
          <p:nvPr/>
        </p:nvSpPr>
        <p:spPr bwMode="auto">
          <a:xfrm>
            <a:off x="7076417" y="4186815"/>
            <a:ext cx="213151" cy="327237"/>
          </a:xfrm>
          <a:prstGeom prst="triangle">
            <a:avLst/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51C58A-EB28-425F-8703-4A18B3513FC0}"/>
                  </a:ext>
                </a:extLst>
              </p:cNvPr>
              <p:cNvSpPr txBox="1"/>
              <p:nvPr/>
            </p:nvSpPr>
            <p:spPr>
              <a:xfrm>
                <a:off x="3242551" y="3172619"/>
                <a:ext cx="4104337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6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en-US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en-US" sz="16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600" b="1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51C58A-EB28-425F-8703-4A18B351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51" y="3172619"/>
                <a:ext cx="4104337" cy="374526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0285C9-644C-494C-81F7-CE1F5F3A0560}"/>
              </a:ext>
            </a:extLst>
          </p:cNvPr>
          <p:cNvCxnSpPr>
            <a:cxnSpLocks/>
          </p:cNvCxnSpPr>
          <p:nvPr/>
        </p:nvCxnSpPr>
        <p:spPr bwMode="auto">
          <a:xfrm>
            <a:off x="403860" y="4212681"/>
            <a:ext cx="218059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1889F-DFE1-42C0-8432-5AB85B1BED5B}"/>
              </a:ext>
            </a:extLst>
          </p:cNvPr>
          <p:cNvCxnSpPr>
            <a:cxnSpLocks/>
          </p:cNvCxnSpPr>
          <p:nvPr/>
        </p:nvCxnSpPr>
        <p:spPr bwMode="auto">
          <a:xfrm flipV="1">
            <a:off x="910590" y="3748191"/>
            <a:ext cx="0" cy="58641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96584DEC-0A48-41B3-8BCB-7A0EE1A44D00}"/>
              </a:ext>
            </a:extLst>
          </p:cNvPr>
          <p:cNvSpPr/>
          <p:nvPr/>
        </p:nvSpPr>
        <p:spPr bwMode="auto">
          <a:xfrm>
            <a:off x="1699260" y="3885444"/>
            <a:ext cx="457200" cy="327237"/>
          </a:xfrm>
          <a:prstGeom prst="triangl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CDBC93-5397-40BD-997A-E075D983A107}"/>
              </a:ext>
            </a:extLst>
          </p:cNvPr>
          <p:cNvCxnSpPr>
            <a:cxnSpLocks/>
          </p:cNvCxnSpPr>
          <p:nvPr/>
        </p:nvCxnSpPr>
        <p:spPr bwMode="auto">
          <a:xfrm flipV="1">
            <a:off x="1925001" y="3659279"/>
            <a:ext cx="0" cy="56461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7ECC7C88-ED5C-45C7-9BB0-7D54A6617ACD}"/>
              </a:ext>
            </a:extLst>
          </p:cNvPr>
          <p:cNvSpPr/>
          <p:nvPr/>
        </p:nvSpPr>
        <p:spPr bwMode="auto">
          <a:xfrm rot="5400000">
            <a:off x="1878326" y="4071714"/>
            <a:ext cx="99054" cy="457188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271B4DE-2A4B-4E24-9FCB-BDEDAADC2CB6}"/>
                  </a:ext>
                </a:extLst>
              </p:cNvPr>
              <p:cNvSpPr txBox="1"/>
              <p:nvPr/>
            </p:nvSpPr>
            <p:spPr>
              <a:xfrm>
                <a:off x="1723315" y="4357216"/>
                <a:ext cx="3697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6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271B4DE-2A4B-4E24-9FCB-BDEDAADC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15" y="4357216"/>
                <a:ext cx="36971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97E32310-B53A-45B1-B56C-306DF658756A}"/>
              </a:ext>
            </a:extLst>
          </p:cNvPr>
          <p:cNvSpPr/>
          <p:nvPr/>
        </p:nvSpPr>
        <p:spPr>
          <a:xfrm>
            <a:off x="2242034" y="4201607"/>
            <a:ext cx="8515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Frequency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01367A-7BC8-491B-A3DA-110266A453A4}"/>
              </a:ext>
            </a:extLst>
          </p:cNvPr>
          <p:cNvCxnSpPr>
            <a:cxnSpLocks/>
          </p:cNvCxnSpPr>
          <p:nvPr/>
        </p:nvCxnSpPr>
        <p:spPr bwMode="auto">
          <a:xfrm>
            <a:off x="487201" y="5101733"/>
            <a:ext cx="218059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5557716-941A-4B5D-A431-032C68702162}"/>
              </a:ext>
            </a:extLst>
          </p:cNvPr>
          <p:cNvCxnSpPr>
            <a:cxnSpLocks/>
          </p:cNvCxnSpPr>
          <p:nvPr/>
        </p:nvCxnSpPr>
        <p:spPr bwMode="auto">
          <a:xfrm flipV="1">
            <a:off x="919480" y="4605441"/>
            <a:ext cx="0" cy="58641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3DEE7BB-7A2B-4075-8193-CF0CF069D8E4}"/>
              </a:ext>
            </a:extLst>
          </p:cNvPr>
          <p:cNvSpPr/>
          <p:nvPr/>
        </p:nvSpPr>
        <p:spPr bwMode="auto">
          <a:xfrm>
            <a:off x="469900" y="4794341"/>
            <a:ext cx="2216165" cy="342900"/>
          </a:xfrm>
          <a:custGeom>
            <a:avLst/>
            <a:gdLst>
              <a:gd name="connsiteX0" fmla="*/ 0 w 2216165"/>
              <a:gd name="connsiteY0" fmla="*/ 304800 h 342900"/>
              <a:gd name="connsiteX1" fmla="*/ 31750 w 2216165"/>
              <a:gd name="connsiteY1" fmla="*/ 298450 h 342900"/>
              <a:gd name="connsiteX2" fmla="*/ 82550 w 2216165"/>
              <a:gd name="connsiteY2" fmla="*/ 273050 h 342900"/>
              <a:gd name="connsiteX3" fmla="*/ 95250 w 2216165"/>
              <a:gd name="connsiteY3" fmla="*/ 292100 h 342900"/>
              <a:gd name="connsiteX4" fmla="*/ 107950 w 2216165"/>
              <a:gd name="connsiteY4" fmla="*/ 330200 h 342900"/>
              <a:gd name="connsiteX5" fmla="*/ 222250 w 2216165"/>
              <a:gd name="connsiteY5" fmla="*/ 323850 h 342900"/>
              <a:gd name="connsiteX6" fmla="*/ 247650 w 2216165"/>
              <a:gd name="connsiteY6" fmla="*/ 285750 h 342900"/>
              <a:gd name="connsiteX7" fmla="*/ 279400 w 2216165"/>
              <a:gd name="connsiteY7" fmla="*/ 292100 h 342900"/>
              <a:gd name="connsiteX8" fmla="*/ 317500 w 2216165"/>
              <a:gd name="connsiteY8" fmla="*/ 298450 h 342900"/>
              <a:gd name="connsiteX9" fmla="*/ 330200 w 2216165"/>
              <a:gd name="connsiteY9" fmla="*/ 317500 h 342900"/>
              <a:gd name="connsiteX10" fmla="*/ 368300 w 2216165"/>
              <a:gd name="connsiteY10" fmla="*/ 342900 h 342900"/>
              <a:gd name="connsiteX11" fmla="*/ 406400 w 2216165"/>
              <a:gd name="connsiteY11" fmla="*/ 336550 h 342900"/>
              <a:gd name="connsiteX12" fmla="*/ 431800 w 2216165"/>
              <a:gd name="connsiteY12" fmla="*/ 298450 h 342900"/>
              <a:gd name="connsiteX13" fmla="*/ 469900 w 2216165"/>
              <a:gd name="connsiteY13" fmla="*/ 266700 h 342900"/>
              <a:gd name="connsiteX14" fmla="*/ 476250 w 2216165"/>
              <a:gd name="connsiteY14" fmla="*/ 247650 h 342900"/>
              <a:gd name="connsiteX15" fmla="*/ 488950 w 2216165"/>
              <a:gd name="connsiteY15" fmla="*/ 228600 h 342900"/>
              <a:gd name="connsiteX16" fmla="*/ 514350 w 2216165"/>
              <a:gd name="connsiteY16" fmla="*/ 171450 h 342900"/>
              <a:gd name="connsiteX17" fmla="*/ 520700 w 2216165"/>
              <a:gd name="connsiteY17" fmla="*/ 146050 h 342900"/>
              <a:gd name="connsiteX18" fmla="*/ 539750 w 2216165"/>
              <a:gd name="connsiteY18" fmla="*/ 63500 h 342900"/>
              <a:gd name="connsiteX19" fmla="*/ 577850 w 2216165"/>
              <a:gd name="connsiteY19" fmla="*/ 25400 h 342900"/>
              <a:gd name="connsiteX20" fmla="*/ 635000 w 2216165"/>
              <a:gd name="connsiteY20" fmla="*/ 6350 h 342900"/>
              <a:gd name="connsiteX21" fmla="*/ 654050 w 2216165"/>
              <a:gd name="connsiteY21" fmla="*/ 0 h 342900"/>
              <a:gd name="connsiteX22" fmla="*/ 711200 w 2216165"/>
              <a:gd name="connsiteY22" fmla="*/ 6350 h 342900"/>
              <a:gd name="connsiteX23" fmla="*/ 730250 w 2216165"/>
              <a:gd name="connsiteY23" fmla="*/ 19050 h 342900"/>
              <a:gd name="connsiteX24" fmla="*/ 762000 w 2216165"/>
              <a:gd name="connsiteY24" fmla="*/ 57150 h 342900"/>
              <a:gd name="connsiteX25" fmla="*/ 882650 w 2216165"/>
              <a:gd name="connsiteY25" fmla="*/ 38100 h 342900"/>
              <a:gd name="connsiteX26" fmla="*/ 939800 w 2216165"/>
              <a:gd name="connsiteY26" fmla="*/ 31750 h 342900"/>
              <a:gd name="connsiteX27" fmla="*/ 990600 w 2216165"/>
              <a:gd name="connsiteY27" fmla="*/ 25400 h 342900"/>
              <a:gd name="connsiteX28" fmla="*/ 1016000 w 2216165"/>
              <a:gd name="connsiteY28" fmla="*/ 19050 h 342900"/>
              <a:gd name="connsiteX29" fmla="*/ 1060450 w 2216165"/>
              <a:gd name="connsiteY29" fmla="*/ 12700 h 342900"/>
              <a:gd name="connsiteX30" fmla="*/ 1079500 w 2216165"/>
              <a:gd name="connsiteY30" fmla="*/ 19050 h 342900"/>
              <a:gd name="connsiteX31" fmla="*/ 1104900 w 2216165"/>
              <a:gd name="connsiteY31" fmla="*/ 44450 h 342900"/>
              <a:gd name="connsiteX32" fmla="*/ 1149350 w 2216165"/>
              <a:gd name="connsiteY32" fmla="*/ 95250 h 342900"/>
              <a:gd name="connsiteX33" fmla="*/ 1212850 w 2216165"/>
              <a:gd name="connsiteY33" fmla="*/ 120650 h 342900"/>
              <a:gd name="connsiteX34" fmla="*/ 1257300 w 2216165"/>
              <a:gd name="connsiteY34" fmla="*/ 139700 h 342900"/>
              <a:gd name="connsiteX35" fmla="*/ 1301750 w 2216165"/>
              <a:gd name="connsiteY35" fmla="*/ 107950 h 342900"/>
              <a:gd name="connsiteX36" fmla="*/ 1327150 w 2216165"/>
              <a:gd name="connsiteY36" fmla="*/ 63500 h 342900"/>
              <a:gd name="connsiteX37" fmla="*/ 1346200 w 2216165"/>
              <a:gd name="connsiteY37" fmla="*/ 57150 h 342900"/>
              <a:gd name="connsiteX38" fmla="*/ 1384300 w 2216165"/>
              <a:gd name="connsiteY38" fmla="*/ 95250 h 342900"/>
              <a:gd name="connsiteX39" fmla="*/ 1409700 w 2216165"/>
              <a:gd name="connsiteY39" fmla="*/ 88900 h 342900"/>
              <a:gd name="connsiteX40" fmla="*/ 1428750 w 2216165"/>
              <a:gd name="connsiteY40" fmla="*/ 69850 h 342900"/>
              <a:gd name="connsiteX41" fmla="*/ 1447800 w 2216165"/>
              <a:gd name="connsiteY41" fmla="*/ 57150 h 342900"/>
              <a:gd name="connsiteX42" fmla="*/ 1466850 w 2216165"/>
              <a:gd name="connsiteY42" fmla="*/ 31750 h 342900"/>
              <a:gd name="connsiteX43" fmla="*/ 1555750 w 2216165"/>
              <a:gd name="connsiteY43" fmla="*/ 25400 h 342900"/>
              <a:gd name="connsiteX44" fmla="*/ 1619250 w 2216165"/>
              <a:gd name="connsiteY44" fmla="*/ 19050 h 342900"/>
              <a:gd name="connsiteX45" fmla="*/ 1651000 w 2216165"/>
              <a:gd name="connsiteY45" fmla="*/ 57150 h 342900"/>
              <a:gd name="connsiteX46" fmla="*/ 1670050 w 2216165"/>
              <a:gd name="connsiteY46" fmla="*/ 69850 h 342900"/>
              <a:gd name="connsiteX47" fmla="*/ 1701800 w 2216165"/>
              <a:gd name="connsiteY47" fmla="*/ 127000 h 342900"/>
              <a:gd name="connsiteX48" fmla="*/ 1720850 w 2216165"/>
              <a:gd name="connsiteY48" fmla="*/ 190500 h 342900"/>
              <a:gd name="connsiteX49" fmla="*/ 1727200 w 2216165"/>
              <a:gd name="connsiteY49" fmla="*/ 209550 h 342900"/>
              <a:gd name="connsiteX50" fmla="*/ 1765300 w 2216165"/>
              <a:gd name="connsiteY50" fmla="*/ 260350 h 342900"/>
              <a:gd name="connsiteX51" fmla="*/ 1790700 w 2216165"/>
              <a:gd name="connsiteY51" fmla="*/ 292100 h 342900"/>
              <a:gd name="connsiteX52" fmla="*/ 1797050 w 2216165"/>
              <a:gd name="connsiteY52" fmla="*/ 311150 h 342900"/>
              <a:gd name="connsiteX53" fmla="*/ 1816100 w 2216165"/>
              <a:gd name="connsiteY53" fmla="*/ 317500 h 342900"/>
              <a:gd name="connsiteX54" fmla="*/ 1835150 w 2216165"/>
              <a:gd name="connsiteY54" fmla="*/ 330200 h 342900"/>
              <a:gd name="connsiteX55" fmla="*/ 1854200 w 2216165"/>
              <a:gd name="connsiteY55" fmla="*/ 323850 h 342900"/>
              <a:gd name="connsiteX56" fmla="*/ 1885950 w 2216165"/>
              <a:gd name="connsiteY56" fmla="*/ 292100 h 342900"/>
              <a:gd name="connsiteX57" fmla="*/ 1943100 w 2216165"/>
              <a:gd name="connsiteY57" fmla="*/ 266700 h 342900"/>
              <a:gd name="connsiteX58" fmla="*/ 1962150 w 2216165"/>
              <a:gd name="connsiteY58" fmla="*/ 285750 h 342900"/>
              <a:gd name="connsiteX59" fmla="*/ 1987550 w 2216165"/>
              <a:gd name="connsiteY59" fmla="*/ 330200 h 342900"/>
              <a:gd name="connsiteX60" fmla="*/ 2012950 w 2216165"/>
              <a:gd name="connsiteY60" fmla="*/ 336550 h 342900"/>
              <a:gd name="connsiteX61" fmla="*/ 2032000 w 2216165"/>
              <a:gd name="connsiteY61" fmla="*/ 330200 h 342900"/>
              <a:gd name="connsiteX62" fmla="*/ 2051050 w 2216165"/>
              <a:gd name="connsiteY62" fmla="*/ 311150 h 342900"/>
              <a:gd name="connsiteX63" fmla="*/ 2114550 w 2216165"/>
              <a:gd name="connsiteY63" fmla="*/ 304800 h 342900"/>
              <a:gd name="connsiteX64" fmla="*/ 2139950 w 2216165"/>
              <a:gd name="connsiteY64" fmla="*/ 311150 h 342900"/>
              <a:gd name="connsiteX65" fmla="*/ 2159000 w 2216165"/>
              <a:gd name="connsiteY65" fmla="*/ 317500 h 342900"/>
              <a:gd name="connsiteX66" fmla="*/ 2178050 w 2216165"/>
              <a:gd name="connsiteY66" fmla="*/ 311150 h 342900"/>
              <a:gd name="connsiteX67" fmla="*/ 2184400 w 2216165"/>
              <a:gd name="connsiteY67" fmla="*/ 292100 h 342900"/>
              <a:gd name="connsiteX68" fmla="*/ 2197100 w 2216165"/>
              <a:gd name="connsiteY68" fmla="*/ 273050 h 342900"/>
              <a:gd name="connsiteX69" fmla="*/ 2216150 w 2216165"/>
              <a:gd name="connsiteY69" fmla="*/ 3048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216165" h="342900">
                <a:moveTo>
                  <a:pt x="0" y="304800"/>
                </a:moveTo>
                <a:cubicBezTo>
                  <a:pt x="10583" y="302683"/>
                  <a:pt x="21676" y="302324"/>
                  <a:pt x="31750" y="298450"/>
                </a:cubicBezTo>
                <a:cubicBezTo>
                  <a:pt x="49420" y="291654"/>
                  <a:pt x="82550" y="273050"/>
                  <a:pt x="82550" y="273050"/>
                </a:cubicBezTo>
                <a:cubicBezTo>
                  <a:pt x="86783" y="279400"/>
                  <a:pt x="92150" y="285126"/>
                  <a:pt x="95250" y="292100"/>
                </a:cubicBezTo>
                <a:cubicBezTo>
                  <a:pt x="100687" y="304333"/>
                  <a:pt x="107950" y="330200"/>
                  <a:pt x="107950" y="330200"/>
                </a:cubicBezTo>
                <a:cubicBezTo>
                  <a:pt x="146050" y="328083"/>
                  <a:pt x="185888" y="335420"/>
                  <a:pt x="222250" y="323850"/>
                </a:cubicBezTo>
                <a:cubicBezTo>
                  <a:pt x="236795" y="319222"/>
                  <a:pt x="247650" y="285750"/>
                  <a:pt x="247650" y="285750"/>
                </a:cubicBezTo>
                <a:lnTo>
                  <a:pt x="279400" y="292100"/>
                </a:lnTo>
                <a:cubicBezTo>
                  <a:pt x="292068" y="294403"/>
                  <a:pt x="305984" y="292692"/>
                  <a:pt x="317500" y="298450"/>
                </a:cubicBezTo>
                <a:cubicBezTo>
                  <a:pt x="324326" y="301863"/>
                  <a:pt x="324457" y="312474"/>
                  <a:pt x="330200" y="317500"/>
                </a:cubicBezTo>
                <a:cubicBezTo>
                  <a:pt x="341687" y="327551"/>
                  <a:pt x="368300" y="342900"/>
                  <a:pt x="368300" y="342900"/>
                </a:cubicBezTo>
                <a:cubicBezTo>
                  <a:pt x="381000" y="340783"/>
                  <a:pt x="395852" y="343933"/>
                  <a:pt x="406400" y="336550"/>
                </a:cubicBezTo>
                <a:cubicBezTo>
                  <a:pt x="418904" y="327797"/>
                  <a:pt x="421007" y="309243"/>
                  <a:pt x="431800" y="298450"/>
                </a:cubicBezTo>
                <a:cubicBezTo>
                  <a:pt x="456246" y="274004"/>
                  <a:pt x="443378" y="284381"/>
                  <a:pt x="469900" y="266700"/>
                </a:cubicBezTo>
                <a:cubicBezTo>
                  <a:pt x="472017" y="260350"/>
                  <a:pt x="473257" y="253637"/>
                  <a:pt x="476250" y="247650"/>
                </a:cubicBezTo>
                <a:cubicBezTo>
                  <a:pt x="479663" y="240824"/>
                  <a:pt x="485850" y="235574"/>
                  <a:pt x="488950" y="228600"/>
                </a:cubicBezTo>
                <a:cubicBezTo>
                  <a:pt x="519177" y="160590"/>
                  <a:pt x="485608" y="214563"/>
                  <a:pt x="514350" y="171450"/>
                </a:cubicBezTo>
                <a:cubicBezTo>
                  <a:pt x="516467" y="162983"/>
                  <a:pt x="519373" y="154676"/>
                  <a:pt x="520700" y="146050"/>
                </a:cubicBezTo>
                <a:cubicBezTo>
                  <a:pt x="525464" y="115086"/>
                  <a:pt x="519778" y="88465"/>
                  <a:pt x="539750" y="63500"/>
                </a:cubicBezTo>
                <a:cubicBezTo>
                  <a:pt x="550970" y="49475"/>
                  <a:pt x="560811" y="31080"/>
                  <a:pt x="577850" y="25400"/>
                </a:cubicBezTo>
                <a:lnTo>
                  <a:pt x="635000" y="6350"/>
                </a:lnTo>
                <a:lnTo>
                  <a:pt x="654050" y="0"/>
                </a:lnTo>
                <a:cubicBezTo>
                  <a:pt x="673100" y="2117"/>
                  <a:pt x="692605" y="1701"/>
                  <a:pt x="711200" y="6350"/>
                </a:cubicBezTo>
                <a:cubicBezTo>
                  <a:pt x="718604" y="8201"/>
                  <a:pt x="724387" y="14164"/>
                  <a:pt x="730250" y="19050"/>
                </a:cubicBezTo>
                <a:cubicBezTo>
                  <a:pt x="748585" y="34329"/>
                  <a:pt x="749513" y="38419"/>
                  <a:pt x="762000" y="57150"/>
                </a:cubicBezTo>
                <a:cubicBezTo>
                  <a:pt x="933816" y="41530"/>
                  <a:pt x="746021" y="62211"/>
                  <a:pt x="882650" y="38100"/>
                </a:cubicBezTo>
                <a:cubicBezTo>
                  <a:pt x="901526" y="34769"/>
                  <a:pt x="920764" y="33990"/>
                  <a:pt x="939800" y="31750"/>
                </a:cubicBezTo>
                <a:cubicBezTo>
                  <a:pt x="956748" y="29756"/>
                  <a:pt x="973767" y="28205"/>
                  <a:pt x="990600" y="25400"/>
                </a:cubicBezTo>
                <a:cubicBezTo>
                  <a:pt x="999208" y="23965"/>
                  <a:pt x="1007414" y="20611"/>
                  <a:pt x="1016000" y="19050"/>
                </a:cubicBezTo>
                <a:cubicBezTo>
                  <a:pt x="1030726" y="16373"/>
                  <a:pt x="1045633" y="14817"/>
                  <a:pt x="1060450" y="12700"/>
                </a:cubicBezTo>
                <a:cubicBezTo>
                  <a:pt x="1066800" y="14817"/>
                  <a:pt x="1074053" y="15159"/>
                  <a:pt x="1079500" y="19050"/>
                </a:cubicBezTo>
                <a:cubicBezTo>
                  <a:pt x="1089243" y="26010"/>
                  <a:pt x="1097108" y="35359"/>
                  <a:pt x="1104900" y="44450"/>
                </a:cubicBezTo>
                <a:cubicBezTo>
                  <a:pt x="1124886" y="67767"/>
                  <a:pt x="1114196" y="74158"/>
                  <a:pt x="1149350" y="95250"/>
                </a:cubicBezTo>
                <a:cubicBezTo>
                  <a:pt x="1168898" y="106979"/>
                  <a:pt x="1191896" y="111670"/>
                  <a:pt x="1212850" y="120650"/>
                </a:cubicBezTo>
                <a:cubicBezTo>
                  <a:pt x="1267777" y="144190"/>
                  <a:pt x="1212624" y="124808"/>
                  <a:pt x="1257300" y="139700"/>
                </a:cubicBezTo>
                <a:cubicBezTo>
                  <a:pt x="1278672" y="129014"/>
                  <a:pt x="1287448" y="127973"/>
                  <a:pt x="1301750" y="107950"/>
                </a:cubicBezTo>
                <a:cubicBezTo>
                  <a:pt x="1308000" y="99200"/>
                  <a:pt x="1317151" y="71499"/>
                  <a:pt x="1327150" y="63500"/>
                </a:cubicBezTo>
                <a:cubicBezTo>
                  <a:pt x="1332377" y="59319"/>
                  <a:pt x="1339850" y="59267"/>
                  <a:pt x="1346200" y="57150"/>
                </a:cubicBezTo>
                <a:cubicBezTo>
                  <a:pt x="1352832" y="65993"/>
                  <a:pt x="1368701" y="93022"/>
                  <a:pt x="1384300" y="95250"/>
                </a:cubicBezTo>
                <a:cubicBezTo>
                  <a:pt x="1392940" y="96484"/>
                  <a:pt x="1401233" y="91017"/>
                  <a:pt x="1409700" y="88900"/>
                </a:cubicBezTo>
                <a:cubicBezTo>
                  <a:pt x="1416050" y="82550"/>
                  <a:pt x="1421851" y="75599"/>
                  <a:pt x="1428750" y="69850"/>
                </a:cubicBezTo>
                <a:cubicBezTo>
                  <a:pt x="1434613" y="64964"/>
                  <a:pt x="1442404" y="62546"/>
                  <a:pt x="1447800" y="57150"/>
                </a:cubicBezTo>
                <a:cubicBezTo>
                  <a:pt x="1455284" y="49666"/>
                  <a:pt x="1456697" y="34736"/>
                  <a:pt x="1466850" y="31750"/>
                </a:cubicBezTo>
                <a:cubicBezTo>
                  <a:pt x="1495352" y="23367"/>
                  <a:pt x="1526117" y="27517"/>
                  <a:pt x="1555750" y="25400"/>
                </a:cubicBezTo>
                <a:cubicBezTo>
                  <a:pt x="1602129" y="9940"/>
                  <a:pt x="1580863" y="9453"/>
                  <a:pt x="1619250" y="19050"/>
                </a:cubicBezTo>
                <a:cubicBezTo>
                  <a:pt x="1631737" y="37781"/>
                  <a:pt x="1632665" y="41871"/>
                  <a:pt x="1651000" y="57150"/>
                </a:cubicBezTo>
                <a:cubicBezTo>
                  <a:pt x="1656863" y="62036"/>
                  <a:pt x="1663700" y="65617"/>
                  <a:pt x="1670050" y="69850"/>
                </a:cubicBezTo>
                <a:cubicBezTo>
                  <a:pt x="1692791" y="103962"/>
                  <a:pt x="1693417" y="97661"/>
                  <a:pt x="1701800" y="127000"/>
                </a:cubicBezTo>
                <a:cubicBezTo>
                  <a:pt x="1720994" y="194178"/>
                  <a:pt x="1690669" y="99958"/>
                  <a:pt x="1720850" y="190500"/>
                </a:cubicBezTo>
                <a:cubicBezTo>
                  <a:pt x="1722967" y="196850"/>
                  <a:pt x="1723487" y="203981"/>
                  <a:pt x="1727200" y="209550"/>
                </a:cubicBezTo>
                <a:cubicBezTo>
                  <a:pt x="1747418" y="239877"/>
                  <a:pt x="1735132" y="222641"/>
                  <a:pt x="1765300" y="260350"/>
                </a:cubicBezTo>
                <a:cubicBezTo>
                  <a:pt x="1781261" y="308233"/>
                  <a:pt x="1757874" y="251068"/>
                  <a:pt x="1790700" y="292100"/>
                </a:cubicBezTo>
                <a:cubicBezTo>
                  <a:pt x="1794881" y="297327"/>
                  <a:pt x="1792317" y="306417"/>
                  <a:pt x="1797050" y="311150"/>
                </a:cubicBezTo>
                <a:cubicBezTo>
                  <a:pt x="1801783" y="315883"/>
                  <a:pt x="1810113" y="314507"/>
                  <a:pt x="1816100" y="317500"/>
                </a:cubicBezTo>
                <a:cubicBezTo>
                  <a:pt x="1822926" y="320913"/>
                  <a:pt x="1828800" y="325967"/>
                  <a:pt x="1835150" y="330200"/>
                </a:cubicBezTo>
                <a:cubicBezTo>
                  <a:pt x="1841500" y="328083"/>
                  <a:pt x="1848973" y="328031"/>
                  <a:pt x="1854200" y="323850"/>
                </a:cubicBezTo>
                <a:cubicBezTo>
                  <a:pt x="1888596" y="296333"/>
                  <a:pt x="1843088" y="311150"/>
                  <a:pt x="1885950" y="292100"/>
                </a:cubicBezTo>
                <a:cubicBezTo>
                  <a:pt x="1953960" y="261873"/>
                  <a:pt x="1899987" y="295442"/>
                  <a:pt x="1943100" y="266700"/>
                </a:cubicBezTo>
                <a:cubicBezTo>
                  <a:pt x="1949450" y="273050"/>
                  <a:pt x="1956930" y="278442"/>
                  <a:pt x="1962150" y="285750"/>
                </a:cubicBezTo>
                <a:cubicBezTo>
                  <a:pt x="1966145" y="291343"/>
                  <a:pt x="1979369" y="324746"/>
                  <a:pt x="1987550" y="330200"/>
                </a:cubicBezTo>
                <a:cubicBezTo>
                  <a:pt x="1994812" y="335041"/>
                  <a:pt x="2004483" y="334433"/>
                  <a:pt x="2012950" y="336550"/>
                </a:cubicBezTo>
                <a:cubicBezTo>
                  <a:pt x="2019300" y="334433"/>
                  <a:pt x="2026431" y="333913"/>
                  <a:pt x="2032000" y="330200"/>
                </a:cubicBezTo>
                <a:cubicBezTo>
                  <a:pt x="2039472" y="325219"/>
                  <a:pt x="2042467" y="313791"/>
                  <a:pt x="2051050" y="311150"/>
                </a:cubicBezTo>
                <a:cubicBezTo>
                  <a:pt x="2071382" y="304894"/>
                  <a:pt x="2093383" y="306917"/>
                  <a:pt x="2114550" y="304800"/>
                </a:cubicBezTo>
                <a:cubicBezTo>
                  <a:pt x="2151159" y="280394"/>
                  <a:pt x="2120671" y="291871"/>
                  <a:pt x="2139950" y="311150"/>
                </a:cubicBezTo>
                <a:cubicBezTo>
                  <a:pt x="2144683" y="315883"/>
                  <a:pt x="2152650" y="315383"/>
                  <a:pt x="2159000" y="317500"/>
                </a:cubicBezTo>
                <a:cubicBezTo>
                  <a:pt x="2165350" y="315383"/>
                  <a:pt x="2173317" y="315883"/>
                  <a:pt x="2178050" y="311150"/>
                </a:cubicBezTo>
                <a:cubicBezTo>
                  <a:pt x="2182783" y="306417"/>
                  <a:pt x="2181407" y="298087"/>
                  <a:pt x="2184400" y="292100"/>
                </a:cubicBezTo>
                <a:cubicBezTo>
                  <a:pt x="2187813" y="285274"/>
                  <a:pt x="2192867" y="279400"/>
                  <a:pt x="2197100" y="273050"/>
                </a:cubicBezTo>
                <a:cubicBezTo>
                  <a:pt x="2217420" y="300143"/>
                  <a:pt x="2216150" y="287867"/>
                  <a:pt x="2216150" y="304800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B69A9B-8F7D-460A-94FD-4CE309425BAC}"/>
              </a:ext>
            </a:extLst>
          </p:cNvPr>
          <p:cNvCxnSpPr>
            <a:cxnSpLocks/>
          </p:cNvCxnSpPr>
          <p:nvPr/>
        </p:nvCxnSpPr>
        <p:spPr bwMode="auto">
          <a:xfrm flipV="1">
            <a:off x="2156447" y="4671222"/>
            <a:ext cx="0" cy="56461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142C5320-31D3-46C2-86A7-993148ACBFBC}"/>
              </a:ext>
            </a:extLst>
          </p:cNvPr>
          <p:cNvSpPr/>
          <p:nvPr/>
        </p:nvSpPr>
        <p:spPr bwMode="auto">
          <a:xfrm rot="5400000">
            <a:off x="1516216" y="4550750"/>
            <a:ext cx="61591" cy="1218845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231F68-41C5-414E-B362-1C4B72173FAB}"/>
                  </a:ext>
                </a:extLst>
              </p:cNvPr>
              <p:cNvSpPr txBox="1"/>
              <p:nvPr/>
            </p:nvSpPr>
            <p:spPr>
              <a:xfrm>
                <a:off x="1389727" y="5141291"/>
                <a:ext cx="3558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16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8231F68-41C5-414E-B362-1C4B72173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727" y="5141291"/>
                <a:ext cx="355867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D3FA576C-A235-48F5-8E1C-0A0756E73AB4}"/>
              </a:ext>
            </a:extLst>
          </p:cNvPr>
          <p:cNvSpPr/>
          <p:nvPr/>
        </p:nvSpPr>
        <p:spPr>
          <a:xfrm>
            <a:off x="2551606" y="5074653"/>
            <a:ext cx="48442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E5B8E86-B3B3-48D7-9392-CA770294CF72}"/>
                  </a:ext>
                </a:extLst>
              </p:cNvPr>
              <p:cNvSpPr/>
              <p:nvPr/>
            </p:nvSpPr>
            <p:spPr>
              <a:xfrm>
                <a:off x="4181167" y="3568151"/>
                <a:ext cx="4330866" cy="390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en-US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en-US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E5B8E86-B3B3-48D7-9392-CA770294CF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167" y="3568151"/>
                <a:ext cx="4330866" cy="390043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38B2E0A-F202-4D98-B1C6-83B61317AF7C}"/>
              </a:ext>
            </a:extLst>
          </p:cNvPr>
          <p:cNvCxnSpPr>
            <a:cxnSpLocks/>
          </p:cNvCxnSpPr>
          <p:nvPr/>
        </p:nvCxnSpPr>
        <p:spPr bwMode="auto">
          <a:xfrm>
            <a:off x="4313362" y="4514052"/>
            <a:ext cx="11177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E337D2E-25CF-4878-B3D7-A92779345900}"/>
              </a:ext>
            </a:extLst>
          </p:cNvPr>
          <p:cNvCxnSpPr>
            <a:cxnSpLocks/>
          </p:cNvCxnSpPr>
          <p:nvPr/>
        </p:nvCxnSpPr>
        <p:spPr bwMode="auto">
          <a:xfrm flipV="1">
            <a:off x="4820092" y="4049562"/>
            <a:ext cx="0" cy="58641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AE2B528-F549-48ED-8371-A08DEA7F7ABA}"/>
                  </a:ext>
                </a:extLst>
              </p:cNvPr>
              <p:cNvSpPr txBox="1"/>
              <p:nvPr/>
            </p:nvSpPr>
            <p:spPr>
              <a:xfrm>
                <a:off x="4860375" y="4499287"/>
                <a:ext cx="5845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16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AE2B528-F549-48ED-8371-A08DEA7F7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375" y="4499287"/>
                <a:ext cx="584519" cy="338554"/>
              </a:xfrm>
              <a:prstGeom prst="rect">
                <a:avLst/>
              </a:prstGeom>
              <a:blipFill>
                <a:blip r:embed="rId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0D8550F7-6AD6-4649-A068-233F927E212A}"/>
              </a:ext>
            </a:extLst>
          </p:cNvPr>
          <p:cNvSpPr/>
          <p:nvPr/>
        </p:nvSpPr>
        <p:spPr>
          <a:xfrm>
            <a:off x="5419641" y="4383247"/>
            <a:ext cx="8515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Frequency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11F7D4-10FD-41AF-BE5B-B01A5C3DBE68}"/>
              </a:ext>
            </a:extLst>
          </p:cNvPr>
          <p:cNvCxnSpPr>
            <a:cxnSpLocks/>
          </p:cNvCxnSpPr>
          <p:nvPr/>
        </p:nvCxnSpPr>
        <p:spPr bwMode="auto">
          <a:xfrm flipV="1">
            <a:off x="5064139" y="4373921"/>
            <a:ext cx="0" cy="1930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C74084A-1BFF-4D18-96FB-E8F2E66C9FC3}"/>
              </a:ext>
            </a:extLst>
          </p:cNvPr>
          <p:cNvCxnSpPr>
            <a:cxnSpLocks/>
          </p:cNvCxnSpPr>
          <p:nvPr/>
        </p:nvCxnSpPr>
        <p:spPr bwMode="auto">
          <a:xfrm>
            <a:off x="6554239" y="4521013"/>
            <a:ext cx="11177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30FA7E3-DD32-441D-A5C1-A03EDA450819}"/>
              </a:ext>
            </a:extLst>
          </p:cNvPr>
          <p:cNvCxnSpPr>
            <a:cxnSpLocks/>
          </p:cNvCxnSpPr>
          <p:nvPr/>
        </p:nvCxnSpPr>
        <p:spPr bwMode="auto">
          <a:xfrm flipV="1">
            <a:off x="7060969" y="4056523"/>
            <a:ext cx="0" cy="58641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49092D-5A25-404B-A99F-1DF10EE217F2}"/>
                  </a:ext>
                </a:extLst>
              </p:cNvPr>
              <p:cNvSpPr txBox="1"/>
              <p:nvPr/>
            </p:nvSpPr>
            <p:spPr>
              <a:xfrm>
                <a:off x="7101252" y="4506248"/>
                <a:ext cx="5845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1600" dirty="0">
                  <a:latin typeface="Candara" pitchFamily="34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49092D-5A25-404B-A99F-1DF10EE21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252" y="4506248"/>
                <a:ext cx="584519" cy="338554"/>
              </a:xfrm>
              <a:prstGeom prst="rect">
                <a:avLst/>
              </a:prstGeom>
              <a:blipFill>
                <a:blip r:embed="rId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C85864CB-D959-41AC-8ADA-AF3BA150E35E}"/>
              </a:ext>
            </a:extLst>
          </p:cNvPr>
          <p:cNvSpPr/>
          <p:nvPr/>
        </p:nvSpPr>
        <p:spPr>
          <a:xfrm>
            <a:off x="7660518" y="4390208"/>
            <a:ext cx="8515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Frequency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F468E4-7504-45BB-A4B7-C832FC9C0CF3}"/>
              </a:ext>
            </a:extLst>
          </p:cNvPr>
          <p:cNvCxnSpPr>
            <a:cxnSpLocks/>
          </p:cNvCxnSpPr>
          <p:nvPr/>
        </p:nvCxnSpPr>
        <p:spPr bwMode="auto">
          <a:xfrm flipV="1">
            <a:off x="7305016" y="4380882"/>
            <a:ext cx="0" cy="1930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rapezoid 58">
            <a:extLst>
              <a:ext uri="{FF2B5EF4-FFF2-40B4-BE49-F238E27FC236}">
                <a16:creationId xmlns:a16="http://schemas.microsoft.com/office/drawing/2014/main" id="{852BF7EE-CEA6-4DD0-964F-EB093ABF8C93}"/>
              </a:ext>
            </a:extLst>
          </p:cNvPr>
          <p:cNvSpPr/>
          <p:nvPr/>
        </p:nvSpPr>
        <p:spPr bwMode="auto">
          <a:xfrm>
            <a:off x="4601262" y="4232832"/>
            <a:ext cx="218830" cy="271767"/>
          </a:xfrm>
          <a:prstGeom prst="trapezoid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rapezoid 59">
            <a:extLst>
              <a:ext uri="{FF2B5EF4-FFF2-40B4-BE49-F238E27FC236}">
                <a16:creationId xmlns:a16="http://schemas.microsoft.com/office/drawing/2014/main" id="{A6721849-815F-4850-B93C-73321C938815}"/>
              </a:ext>
            </a:extLst>
          </p:cNvPr>
          <p:cNvSpPr/>
          <p:nvPr/>
        </p:nvSpPr>
        <p:spPr bwMode="auto">
          <a:xfrm>
            <a:off x="4829861" y="4232832"/>
            <a:ext cx="218830" cy="271767"/>
          </a:xfrm>
          <a:prstGeom prst="trapezoid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204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Candara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29825</TotalTime>
  <Words>2285</Words>
  <Application>Microsoft Office PowerPoint</Application>
  <PresentationFormat>On-screen Show (4:3)</PresentationFormat>
  <Paragraphs>220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Candara</vt:lpstr>
      <vt:lpstr>Enchanted</vt:lpstr>
      <vt:lpstr>KaTeX_Main</vt:lpstr>
      <vt:lpstr>KaTeX_Math</vt:lpstr>
      <vt:lpstr>Söhne</vt:lpstr>
      <vt:lpstr>Times New Roman</vt:lpstr>
      <vt:lpstr>Univers</vt:lpstr>
      <vt:lpstr>Default Design</vt:lpstr>
      <vt:lpstr>Question 1</vt:lpstr>
      <vt:lpstr>Question 1</vt:lpstr>
      <vt:lpstr>Question 1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2</vt:lpstr>
      <vt:lpstr>Question 3</vt:lpstr>
    </vt:vector>
  </TitlesOfParts>
  <Company>OU/EECS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Loss &amp; Fading</dc:title>
  <dc:creator>EECS</dc:creator>
  <cp:lastModifiedBy>Vaught, Jacob</cp:lastModifiedBy>
  <cp:revision>1303</cp:revision>
  <cp:lastPrinted>2012-06-04T16:07:19Z</cp:lastPrinted>
  <dcterms:created xsi:type="dcterms:W3CDTF">2006-09-08T16:46:55Z</dcterms:created>
  <dcterms:modified xsi:type="dcterms:W3CDTF">2024-02-29T13:17:39Z</dcterms:modified>
</cp:coreProperties>
</file>