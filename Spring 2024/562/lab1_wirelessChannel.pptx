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646" r:id="rId2"/>
    <p:sldId id="844" r:id="rId3"/>
    <p:sldId id="779" r:id="rId4"/>
    <p:sldId id="775" r:id="rId5"/>
    <p:sldId id="780" r:id="rId6"/>
    <p:sldId id="781" r:id="rId7"/>
    <p:sldId id="782" r:id="rId8"/>
    <p:sldId id="783" r:id="rId9"/>
    <p:sldId id="785" r:id="rId10"/>
    <p:sldId id="786" r:id="rId11"/>
    <p:sldId id="787" r:id="rId12"/>
    <p:sldId id="788" r:id="rId13"/>
    <p:sldId id="790" r:id="rId14"/>
    <p:sldId id="791" r:id="rId15"/>
    <p:sldId id="793" r:id="rId16"/>
    <p:sldId id="792" r:id="rId17"/>
    <p:sldId id="794" r:id="rId18"/>
    <p:sldId id="795" r:id="rId19"/>
    <p:sldId id="796" r:id="rId20"/>
    <p:sldId id="830" r:id="rId21"/>
    <p:sldId id="845" r:id="rId22"/>
    <p:sldId id="831" r:id="rId23"/>
    <p:sldId id="833" r:id="rId24"/>
    <p:sldId id="834" r:id="rId25"/>
    <p:sldId id="837" r:id="rId26"/>
    <p:sldId id="838" r:id="rId27"/>
    <p:sldId id="839" r:id="rId28"/>
    <p:sldId id="840" r:id="rId29"/>
    <p:sldId id="847" r:id="rId30"/>
    <p:sldId id="846" r:id="rId31"/>
    <p:sldId id="848" r:id="rId32"/>
  </p:sldIdLst>
  <p:sldSz cx="9144000" cy="6858000" type="screen4x3"/>
  <p:notesSz cx="68580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008000"/>
    <a:srgbClr val="FF0066"/>
    <a:srgbClr val="FF6600"/>
    <a:srgbClr val="CC0066"/>
    <a:srgbClr val="008080"/>
    <a:srgbClr val="FFCCFF"/>
    <a:srgbClr val="CCFF99"/>
    <a:srgbClr val="FFFFCC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35" autoAdjust="0"/>
    <p:restoredTop sz="94705" autoAdjust="0"/>
  </p:normalViewPr>
  <p:slideViewPr>
    <p:cSldViewPr snapToGrid="0">
      <p:cViewPr varScale="1">
        <p:scale>
          <a:sx n="104" d="100"/>
          <a:sy n="104" d="100"/>
        </p:scale>
        <p:origin x="1992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10" d="100"/>
          <a:sy n="110" d="100"/>
        </p:scale>
        <p:origin x="2604" y="90"/>
      </p:cViewPr>
      <p:guideLst>
        <p:guide orient="horz" pos="2928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>
            <a:extLst>
              <a:ext uri="{FF2B5EF4-FFF2-40B4-BE49-F238E27FC236}">
                <a16:creationId xmlns:a16="http://schemas.microsoft.com/office/drawing/2014/main" id="{59AFBED8-890D-4DEE-BEFB-0488545E205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06" tIns="43652" rIns="87306" bIns="43652" numCol="1" anchor="t" anchorCtr="0" compatLnSpc="1">
            <a:prstTxWarp prst="textNoShape">
              <a:avLst/>
            </a:prstTxWarp>
          </a:bodyPr>
          <a:lstStyle>
            <a:lvl1pPr defTabSz="873016">
              <a:defRPr sz="11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3107" name="Rectangle 3">
            <a:extLst>
              <a:ext uri="{FF2B5EF4-FFF2-40B4-BE49-F238E27FC236}">
                <a16:creationId xmlns:a16="http://schemas.microsoft.com/office/drawing/2014/main" id="{1ADDA890-5077-4EA9-8F76-A54221667AB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06" tIns="43652" rIns="87306" bIns="43652" numCol="1" anchor="t" anchorCtr="0" compatLnSpc="1">
            <a:prstTxWarp prst="textNoShape">
              <a:avLst/>
            </a:prstTxWarp>
          </a:bodyPr>
          <a:lstStyle>
            <a:lvl1pPr algn="r" defTabSz="873016">
              <a:defRPr sz="11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3108" name="Rectangle 4">
            <a:extLst>
              <a:ext uri="{FF2B5EF4-FFF2-40B4-BE49-F238E27FC236}">
                <a16:creationId xmlns:a16="http://schemas.microsoft.com/office/drawing/2014/main" id="{A1C1A6A4-1370-4F69-B9AB-156D4E20DF1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06" tIns="43652" rIns="87306" bIns="43652" numCol="1" anchor="b" anchorCtr="0" compatLnSpc="1">
            <a:prstTxWarp prst="textNoShape">
              <a:avLst/>
            </a:prstTxWarp>
          </a:bodyPr>
          <a:lstStyle>
            <a:lvl1pPr defTabSz="873016">
              <a:defRPr sz="11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3109" name="Rectangle 5">
            <a:extLst>
              <a:ext uri="{FF2B5EF4-FFF2-40B4-BE49-F238E27FC236}">
                <a16:creationId xmlns:a16="http://schemas.microsoft.com/office/drawing/2014/main" id="{2DC9F7E7-6270-4F57-BB6E-DA77CAC33A5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83126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06" tIns="43652" rIns="87306" bIns="43652" numCol="1" anchor="b" anchorCtr="0" compatLnSpc="1">
            <a:prstTxWarp prst="textNoShape">
              <a:avLst/>
            </a:prstTxWarp>
          </a:bodyPr>
          <a:lstStyle>
            <a:lvl1pPr algn="r" defTabSz="871538">
              <a:defRPr sz="1100"/>
            </a:lvl1pPr>
          </a:lstStyle>
          <a:p>
            <a:fld id="{27AB17D5-D2ED-4F11-965E-8E96BD20BB6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CCFB1F4C-293B-4A62-84B6-50A3B395422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06" tIns="43652" rIns="87306" bIns="43652" numCol="1" anchor="t" anchorCtr="0" compatLnSpc="1">
            <a:prstTxWarp prst="textNoShape">
              <a:avLst/>
            </a:prstTxWarp>
          </a:bodyPr>
          <a:lstStyle>
            <a:lvl1pPr defTabSz="873016">
              <a:defRPr sz="11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52E68E41-DA1F-46FD-B48C-8C0BC706253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06" tIns="43652" rIns="87306" bIns="43652" numCol="1" anchor="t" anchorCtr="0" compatLnSpc="1">
            <a:prstTxWarp prst="textNoShape">
              <a:avLst/>
            </a:prstTxWarp>
          </a:bodyPr>
          <a:lstStyle>
            <a:lvl1pPr algn="r" defTabSz="873016">
              <a:defRPr sz="11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1FA56EB3-82FB-4917-B7F1-52DC1876F2E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064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>
            <a:extLst>
              <a:ext uri="{FF2B5EF4-FFF2-40B4-BE49-F238E27FC236}">
                <a16:creationId xmlns:a16="http://schemas.microsoft.com/office/drawing/2014/main" id="{E4B5EF17-F9C8-4897-9188-822EAC1B0D3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416425"/>
            <a:ext cx="5486400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06" tIns="43652" rIns="87306" bIns="4365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3254" name="Rectangle 6">
            <a:extLst>
              <a:ext uri="{FF2B5EF4-FFF2-40B4-BE49-F238E27FC236}">
                <a16:creationId xmlns:a16="http://schemas.microsoft.com/office/drawing/2014/main" id="{F2E9BBA3-23EA-4A42-B60B-9C26219954D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06" tIns="43652" rIns="87306" bIns="43652" numCol="1" anchor="b" anchorCtr="0" compatLnSpc="1">
            <a:prstTxWarp prst="textNoShape">
              <a:avLst/>
            </a:prstTxWarp>
          </a:bodyPr>
          <a:lstStyle>
            <a:lvl1pPr defTabSz="873016">
              <a:defRPr sz="11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5" name="Rectangle 7">
            <a:extLst>
              <a:ext uri="{FF2B5EF4-FFF2-40B4-BE49-F238E27FC236}">
                <a16:creationId xmlns:a16="http://schemas.microsoft.com/office/drawing/2014/main" id="{A2C109BE-A2D2-4DFA-AE3B-82C6DAC3F4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83126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06" tIns="43652" rIns="87306" bIns="43652" numCol="1" anchor="b" anchorCtr="0" compatLnSpc="1">
            <a:prstTxWarp prst="textNoShape">
              <a:avLst/>
            </a:prstTxWarp>
          </a:bodyPr>
          <a:lstStyle>
            <a:lvl1pPr algn="r" defTabSz="871538">
              <a:defRPr sz="1100"/>
            </a:lvl1pPr>
          </a:lstStyle>
          <a:p>
            <a:fld id="{6E88D29B-187B-4F39-82FE-ECF2963E24D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88D29B-187B-4F39-82FE-ECF2963E24DF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430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C:\Users\EECS Spare\Desktop\USC_Standard.jpg">
            <a:extLst>
              <a:ext uri="{FF2B5EF4-FFF2-40B4-BE49-F238E27FC236}">
                <a16:creationId xmlns:a16="http://schemas.microsoft.com/office/drawing/2014/main" id="{81A9397C-A49B-4A97-836C-C565F516D8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2177" y="5511728"/>
            <a:ext cx="1799647" cy="982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2268" y="4163436"/>
            <a:ext cx="8519465" cy="1212716"/>
          </a:xfrm>
        </p:spPr>
        <p:txBody>
          <a:bodyPr anchor="ctr"/>
          <a:lstStyle>
            <a:lvl1pPr marL="0" indent="0" algn="ctr">
              <a:buNone/>
              <a:defRPr lang="en-US" sz="2800" kern="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宋体" pitchFamily="2" charset="-122"/>
                <a:cs typeface="+mn-cs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Topics</a:t>
            </a:r>
          </a:p>
        </p:txBody>
      </p:sp>
      <p:sp>
        <p:nvSpPr>
          <p:cNvPr id="5" name="Rectangle 25">
            <a:extLst>
              <a:ext uri="{FF2B5EF4-FFF2-40B4-BE49-F238E27FC236}">
                <a16:creationId xmlns:a16="http://schemas.microsoft.com/office/drawing/2014/main" id="{7AD86E52-7848-46D4-989A-0E356CA2501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7096AE8-A258-461F-8B86-B942C70F709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2698024" y="3304947"/>
            <a:ext cx="3747952" cy="372108"/>
          </a:xfrm>
        </p:spPr>
        <p:txBody>
          <a:bodyPr/>
          <a:lstStyle>
            <a:lvl1pPr marL="0" indent="0" algn="ctr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None/>
              <a:defRPr lang="en-US" sz="2400" b="1" kern="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宋体" pitchFamily="2" charset="-122"/>
                <a:cs typeface="+mn-cs"/>
              </a:defRPr>
            </a:lvl1pPr>
          </a:lstStyle>
          <a:p>
            <a:pPr lvl="0"/>
            <a:r>
              <a:rPr lang="en-US" dirty="0"/>
              <a:t>Instructor</a:t>
            </a: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9BAC4B8B-17E5-45DA-A920-B890DD2D550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229648"/>
            <a:ext cx="8164513" cy="91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lnSpc>
                <a:spcPct val="95000"/>
              </a:lnSpc>
              <a:defRPr/>
            </a:pPr>
            <a:r>
              <a:rPr lang="en-US" altLang="zh-CN" sz="3600" b="1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Enchanted" pitchFamily="18" charset="0"/>
                <a:ea typeface="宋体" charset="-122"/>
              </a:rPr>
              <a:t>UNIVERSITY of SOUTH CAROLINA</a:t>
            </a:r>
            <a:endParaRPr lang="en-US" altLang="zh-CN" sz="2000" b="1">
              <a:solidFill>
                <a:srgbClr val="99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宋体" charset="-122"/>
            </a:endParaRPr>
          </a:p>
          <a:p>
            <a:pPr algn="ctr" eaLnBrk="0" hangingPunct="0">
              <a:lnSpc>
                <a:spcPct val="95000"/>
              </a:lnSpc>
              <a:defRPr/>
            </a:pPr>
            <a:r>
              <a:rPr lang="en-US" altLang="zh-CN" sz="2000" b="1" i="1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Univers" pitchFamily="34" charset="0"/>
                <a:ea typeface="宋体" charset="-122"/>
              </a:rPr>
              <a:t>Department of Electrical Engineering</a:t>
            </a:r>
            <a:endParaRPr lang="en-US" altLang="zh-CN" sz="2000" b="1">
              <a:solidFill>
                <a:srgbClr val="99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153263" y="1308688"/>
            <a:ext cx="8837475" cy="1831671"/>
          </a:xfrm>
        </p:spPr>
        <p:txBody>
          <a:bodyPr anchor="ctr"/>
          <a:lstStyle>
            <a:lvl1pPr marL="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lang="en-US" sz="4000" b="1" kern="1200" dirty="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Course Title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2698024" y="3657227"/>
            <a:ext cx="3747952" cy="372108"/>
          </a:xfrm>
        </p:spPr>
        <p:txBody>
          <a:bodyPr/>
          <a:lstStyle>
            <a:lvl1pPr marL="0" indent="0" algn="ctr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None/>
              <a:defRPr lang="en-US" sz="2000" b="1" dirty="0">
                <a:solidFill>
                  <a:schemeClr val="tx1"/>
                </a:solidFill>
                <a:latin typeface="Candara" pitchFamily="34" charset="0"/>
                <a:ea typeface="宋体" pitchFamily="2" charset="-122"/>
                <a:cs typeface="+mn-cs"/>
              </a:defRPr>
            </a:lvl1pPr>
          </a:lstStyle>
          <a:p>
            <a:pPr lvl="0"/>
            <a:r>
              <a:rPr lang="en-US" dirty="0"/>
              <a:t>Semester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516570-B16D-436D-BD44-A75CF9A5E591}"/>
              </a:ext>
            </a:extLst>
          </p:cNvPr>
          <p:cNvCxnSpPr/>
          <p:nvPr userDrawn="1"/>
        </p:nvCxnSpPr>
        <p:spPr bwMode="auto">
          <a:xfrm>
            <a:off x="274320" y="1115438"/>
            <a:ext cx="859536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597187538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20" y="1231899"/>
            <a:ext cx="8595360" cy="4846637"/>
          </a:xfrm>
        </p:spPr>
        <p:txBody>
          <a:bodyPr/>
          <a:lstStyle>
            <a:lvl1pPr>
              <a:defRPr sz="2400">
                <a:latin typeface="Candara" panose="020E0502030303020204" pitchFamily="34" charset="0"/>
              </a:defRPr>
            </a:lvl1pPr>
            <a:lvl2pPr>
              <a:defRPr sz="2000">
                <a:latin typeface="Candara" panose="020E0502030303020204" pitchFamily="34" charset="0"/>
              </a:defRPr>
            </a:lvl2pPr>
            <a:lvl3pPr>
              <a:defRPr sz="1800">
                <a:latin typeface="Candara" panose="020E0502030303020204" pitchFamily="34" charset="0"/>
              </a:defRPr>
            </a:lvl3pPr>
            <a:lvl4pPr>
              <a:defRPr sz="1600">
                <a:latin typeface="Candara" panose="020E0502030303020204" pitchFamily="34" charset="0"/>
              </a:defRPr>
            </a:lvl4pPr>
            <a:lvl5pPr>
              <a:defRPr sz="1600">
                <a:latin typeface="Candara" panose="020E05020303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25">
            <a:extLst>
              <a:ext uri="{FF2B5EF4-FFF2-40B4-BE49-F238E27FC236}">
                <a16:creationId xmlns:a16="http://schemas.microsoft.com/office/drawing/2014/main" id="{ECC5AA75-D92B-4806-925A-D2B469C1C8A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473177-3522-4150-8F21-AD833F444AD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Text Box 23">
            <a:extLst>
              <a:ext uri="{FF2B5EF4-FFF2-40B4-BE49-F238E27FC236}">
                <a16:creationId xmlns:a16="http://schemas.microsoft.com/office/drawing/2014/main" id="{072EE79F-FA2A-4022-9FE3-8EB2EC3F1C9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05213" y="6523511"/>
            <a:ext cx="1933575" cy="26193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100">
                <a:solidFill>
                  <a:schemeClr val="bg2"/>
                </a:solidFill>
              </a:rPr>
              <a:t>University of South Carolina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35C45BD-71F4-4162-AB17-8E119CAC9F64}"/>
              </a:ext>
            </a:extLst>
          </p:cNvPr>
          <p:cNvCxnSpPr/>
          <p:nvPr userDrawn="1"/>
        </p:nvCxnSpPr>
        <p:spPr bwMode="auto">
          <a:xfrm>
            <a:off x="274320" y="1115438"/>
            <a:ext cx="859536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024178672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Rectangle 25">
            <a:extLst>
              <a:ext uri="{FF2B5EF4-FFF2-40B4-BE49-F238E27FC236}">
                <a16:creationId xmlns:a16="http://schemas.microsoft.com/office/drawing/2014/main" id="{ECC5AA75-D92B-4806-925A-D2B469C1C8A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473177-3522-4150-8F21-AD833F444AD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Text Box 23">
            <a:extLst>
              <a:ext uri="{FF2B5EF4-FFF2-40B4-BE49-F238E27FC236}">
                <a16:creationId xmlns:a16="http://schemas.microsoft.com/office/drawing/2014/main" id="{072EE79F-FA2A-4022-9FE3-8EB2EC3F1C9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05213" y="6523511"/>
            <a:ext cx="1933575" cy="26193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100">
                <a:solidFill>
                  <a:schemeClr val="bg2"/>
                </a:solidFill>
              </a:rPr>
              <a:t>University of South Carolina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35C45BD-71F4-4162-AB17-8E119CAC9F64}"/>
              </a:ext>
            </a:extLst>
          </p:cNvPr>
          <p:cNvCxnSpPr/>
          <p:nvPr userDrawn="1"/>
        </p:nvCxnSpPr>
        <p:spPr bwMode="auto">
          <a:xfrm>
            <a:off x="274320" y="1115438"/>
            <a:ext cx="859536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59745963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2744788"/>
            <a:ext cx="8595360" cy="78898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25">
            <a:extLst>
              <a:ext uri="{FF2B5EF4-FFF2-40B4-BE49-F238E27FC236}">
                <a16:creationId xmlns:a16="http://schemas.microsoft.com/office/drawing/2014/main" id="{43976313-865B-476E-B29F-A6564FF871C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8A1152-1B24-48B6-A8F7-3C21D48C32A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Text Box 23">
            <a:extLst>
              <a:ext uri="{FF2B5EF4-FFF2-40B4-BE49-F238E27FC236}">
                <a16:creationId xmlns:a16="http://schemas.microsoft.com/office/drawing/2014/main" id="{072EE79F-FA2A-4022-9FE3-8EB2EC3F1C9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05213" y="6523511"/>
            <a:ext cx="1933575" cy="26193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100">
                <a:solidFill>
                  <a:schemeClr val="bg2"/>
                </a:solidFill>
              </a:rPr>
              <a:t>University of South Carolina</a:t>
            </a:r>
          </a:p>
        </p:txBody>
      </p:sp>
      <p:pic>
        <p:nvPicPr>
          <p:cNvPr id="5" name="Picture 4" descr="C:\Users\EECS Spare\Desktop\USC_Standard.jpg">
            <a:extLst>
              <a:ext uri="{FF2B5EF4-FFF2-40B4-BE49-F238E27FC236}">
                <a16:creationId xmlns:a16="http://schemas.microsoft.com/office/drawing/2014/main" id="{8429D608-0D33-432D-B6EC-F9B08C91959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2177" y="3682928"/>
            <a:ext cx="1799647" cy="982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EB2FE83-4AFA-40AD-A07E-59D04002484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57175" y="3543300"/>
            <a:ext cx="86106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04425868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8">
            <a:extLst>
              <a:ext uri="{FF2B5EF4-FFF2-40B4-BE49-F238E27FC236}">
                <a16:creationId xmlns:a16="http://schemas.microsoft.com/office/drawing/2014/main" id="{2F303764-D5D6-455B-9638-9E960271FD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74320" y="300038"/>
            <a:ext cx="8595360" cy="788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D2406315-6FEF-4E05-BCCB-A41D7D3C0C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74320" y="1346200"/>
            <a:ext cx="8595360" cy="473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49" name="Rectangle 25">
            <a:extLst>
              <a:ext uri="{FF2B5EF4-FFF2-40B4-BE49-F238E27FC236}">
                <a16:creationId xmlns:a16="http://schemas.microsoft.com/office/drawing/2014/main" id="{1BE26198-4F48-4EAA-B724-79C874B4D35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16725" y="6523510"/>
            <a:ext cx="2133600" cy="302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5E7D811-F171-449D-BBFC-39D1E76868C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12" r:id="rId2"/>
    <p:sldLayoutId id="2147484120" r:id="rId3"/>
    <p:sldLayoutId id="2147484113" r:id="rId4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3" grpId="0" build="p">
        <p:tmplLst>
          <p:tmpl lvl="1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3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3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3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3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3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3" Type="http://schemas.openxmlformats.org/officeDocument/2006/relationships/image" Target="../media/image120.png"/><Relationship Id="rId7" Type="http://schemas.openxmlformats.org/officeDocument/2006/relationships/image" Target="../media/image123.png"/><Relationship Id="rId2" Type="http://schemas.openxmlformats.org/officeDocument/2006/relationships/image" Target="../media/image9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.png"/><Relationship Id="rId5" Type="http://schemas.openxmlformats.org/officeDocument/2006/relationships/image" Target="../media/image23.emf"/><Relationship Id="rId4" Type="http://schemas.openxmlformats.org/officeDocument/2006/relationships/image" Target="../media/image121.png"/><Relationship Id="rId9" Type="http://schemas.openxmlformats.org/officeDocument/2006/relationships/image" Target="../media/image12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2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312267" y="4163436"/>
            <a:ext cx="8519465" cy="1212716"/>
          </a:xfrm>
        </p:spPr>
        <p:txBody>
          <a:bodyPr/>
          <a:lstStyle/>
          <a:p>
            <a:r>
              <a:rPr lang="en-US" altLang="zh-CN" dirty="0"/>
              <a:t>Wireless Channel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E7D811-F171-449D-BBFC-39D1E76868C4}" type="slidenum">
              <a:rPr lang="en-US" altLang="en-US" smtClean="0"/>
              <a:pPr/>
              <a:t>1</a:t>
            </a:fld>
            <a:endParaRPr lang="en-US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Alphan Şahin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RF Lab – Experiments with SDRs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79110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A9D2059-4AFF-6763-A68B-7FC0A1A5C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1 - Multipath Channel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BE6B0-9063-2BDB-82DE-B3D269C63C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473177-3522-4150-8F21-AD833F444AD4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84142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96144-8278-49A2-E235-5030AB6F7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300038"/>
            <a:ext cx="8595360" cy="788987"/>
          </a:xfrm>
        </p:spPr>
        <p:txBody>
          <a:bodyPr/>
          <a:lstStyle/>
          <a:p>
            <a:r>
              <a:rPr lang="en-US" dirty="0"/>
              <a:t>Task 1 – Multipath Channel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1DF547-7CE4-243A-304D-BFBBCDD6CE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4320" y="1231900"/>
                <a:ext cx="8595360" cy="2570556"/>
              </a:xfrm>
            </p:spPr>
            <p:txBody>
              <a:bodyPr/>
              <a:lstStyle/>
              <a:p>
                <a:r>
                  <a:rPr lang="en-US" dirty="0"/>
                  <a:t>Your goal is to analyze wireless multi-path channels, in particular, channel impulse response (CIR) and channel frequency response (CFR) with SDRs</a:t>
                </a:r>
              </a:p>
              <a:p>
                <a:r>
                  <a:rPr lang="en-US" dirty="0"/>
                  <a:t>You will repeat the experiment for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different configurations: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=915</m:t>
                    </m:r>
                  </m:oMath>
                </a14:m>
                <a:r>
                  <a:rPr lang="en-US" dirty="0"/>
                  <a:t> MHz without directional antennas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=915</m:t>
                    </m:r>
                  </m:oMath>
                </a14:m>
                <a:r>
                  <a:rPr lang="en-US" dirty="0"/>
                  <a:t> MHz with directional antennas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Please use the codes uploaded to Blackboard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1DF547-7CE4-243A-304D-BFBBCDD6CE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320" y="1231900"/>
                <a:ext cx="8595360" cy="2570556"/>
              </a:xfrm>
              <a:blipFill>
                <a:blip r:embed="rId2"/>
                <a:stretch>
                  <a:fillRect l="-1135" t="-2133" b="-74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672F6-7271-450D-E307-D362C8ADBB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16725" y="6523510"/>
            <a:ext cx="2133600" cy="302739"/>
          </a:xfrm>
        </p:spPr>
        <p:txBody>
          <a:bodyPr/>
          <a:lstStyle/>
          <a:p>
            <a:fld id="{9A473177-3522-4150-8F21-AD833F444AD4}" type="slidenum">
              <a:rPr lang="en-US" altLang="en-US" smtClean="0"/>
              <a:pPr/>
              <a:t>3</a:t>
            </a:fld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2129A7-3649-4552-5F0F-9D07E0918BDF}"/>
              </a:ext>
            </a:extLst>
          </p:cNvPr>
          <p:cNvSpPr txBox="1"/>
          <p:nvPr/>
        </p:nvSpPr>
        <p:spPr>
          <a:xfrm>
            <a:off x="2446973" y="5725495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Please take snapshots and your notes for your justifications in your lab report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601968-3A32-72ED-B9D8-F0DD0ACBDD17}"/>
              </a:ext>
            </a:extLst>
          </p:cNvPr>
          <p:cNvSpPr txBox="1"/>
          <p:nvPr/>
        </p:nvSpPr>
        <p:spPr>
          <a:xfrm>
            <a:off x="905747" y="4240755"/>
            <a:ext cx="45720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https://www.tupavco.com/products/yagi-directional-antenna-3g4glte-9dbi-800mhz-960mhz-and-17-25ghz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44A1BB0-0694-9BF4-312E-DEA3CBAE5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5925" y="2292664"/>
            <a:ext cx="1332640" cy="888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4B55B80-43BD-31EE-E79F-734BA6E4A3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2253" y="3588312"/>
            <a:ext cx="3027344" cy="1677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625921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A9D2059-4AFF-6763-A68B-7FC0A1A5C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BE6B0-9063-2BDB-82DE-B3D269C63C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473177-3522-4150-8F21-AD833F444AD4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268197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E5919-EAB6-89CF-7AF1-DA21C9CEF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1: Generating an Impulse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79014D-3973-00C5-F9F5-8AC0DC81CC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4320" y="1231900"/>
                <a:ext cx="8595360" cy="2714458"/>
              </a:xfrm>
            </p:spPr>
            <p:txBody>
              <a:bodyPr/>
              <a:lstStyle/>
              <a:p>
                <a:r>
                  <a:rPr lang="en-US" dirty="0"/>
                  <a:t>Your first goal is to write a MATLAB script to transmit a pulse to observe CIR under the following conditions:</a:t>
                </a:r>
              </a:p>
              <a:p>
                <a:pPr lvl="1"/>
                <a:r>
                  <a:rPr lang="en-US" dirty="0"/>
                  <a:t>The sample rate of the SDR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dirty="0"/>
                  <a:t> Msps</a:t>
                </a:r>
              </a:p>
              <a:p>
                <a:pPr lvl="1"/>
                <a:r>
                  <a:rPr lang="en-US" dirty="0"/>
                  <a:t>Transmit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lang="en-US" dirty="0"/>
                  <a:t> randomly modulated sinc pulse </a:t>
                </a:r>
              </a:p>
              <a:p>
                <a:pPr lvl="2"/>
                <a:r>
                  <a:rPr lang="en-US" dirty="0"/>
                  <a:t>The bandwidth of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sinc</m:t>
                    </m:r>
                  </m:oMath>
                </a14:m>
                <a:r>
                  <a:rPr lang="en-US" dirty="0"/>
                  <a:t> pulse will be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dirty="0"/>
                  <a:t> MHz</a:t>
                </a:r>
              </a:p>
              <a:p>
                <a:pPr lvl="2"/>
                <a:r>
                  <a:rPr lang="en-US" dirty="0"/>
                  <a:t>The modulation symbols 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0,1,2,3</m:t>
                        </m:r>
                      </m:e>
                    </m:d>
                  </m:oMath>
                </a14:m>
                <a:r>
                  <a:rPr lang="en-US" dirty="0"/>
                  <a:t> and random</a:t>
                </a:r>
              </a:p>
              <a:p>
                <a:pPr lvl="1"/>
                <a:r>
                  <a:rPr lang="en-US" dirty="0"/>
                  <a:t>The pulse repetition rate will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pulseRepRate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79014D-3973-00C5-F9F5-8AC0DC81CC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320" y="1231900"/>
                <a:ext cx="8595360" cy="2714458"/>
              </a:xfrm>
              <a:blipFill>
                <a:blip r:embed="rId2"/>
                <a:stretch>
                  <a:fillRect l="-1135" t="-2022" b="-40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7CD28-5A67-2D5C-21ED-0A79DCC99E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473177-3522-4150-8F21-AD833F444AD4}" type="slidenum">
              <a:rPr lang="en-US" altLang="en-US" smtClean="0"/>
              <a:pPr/>
              <a:t>5</a:t>
            </a:fld>
            <a:endParaRPr lang="en-US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F90D00-15D1-DD48-658A-C65FFCB24526}"/>
              </a:ext>
            </a:extLst>
          </p:cNvPr>
          <p:cNvSpPr/>
          <p:nvPr/>
        </p:nvSpPr>
        <p:spPr bwMode="auto">
          <a:xfrm>
            <a:off x="7196972" y="4756311"/>
            <a:ext cx="812348" cy="597813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US" dirty="0">
                <a:latin typeface="Candara" panose="020E0502030303020204" pitchFamily="34" charset="0"/>
              </a:rPr>
              <a:t>SDR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DC5A541-57EE-ADCB-43E4-ED899A78B754}"/>
              </a:ext>
            </a:extLst>
          </p:cNvPr>
          <p:cNvCxnSpPr>
            <a:cxnSpLocks/>
            <a:stCxn id="17" idx="3"/>
            <a:endCxn id="5" idx="1"/>
          </p:cNvCxnSpPr>
          <p:nvPr/>
        </p:nvCxnSpPr>
        <p:spPr bwMode="auto">
          <a:xfrm>
            <a:off x="5512143" y="5055218"/>
            <a:ext cx="1684829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CB4163B-A91A-C1A7-9983-E2C0798DF84E}"/>
              </a:ext>
            </a:extLst>
          </p:cNvPr>
          <p:cNvCxnSpPr>
            <a:cxnSpLocks/>
            <a:stCxn id="5" idx="3"/>
          </p:cNvCxnSpPr>
          <p:nvPr/>
        </p:nvCxnSpPr>
        <p:spPr bwMode="auto">
          <a:xfrm>
            <a:off x="8009320" y="5055217"/>
            <a:ext cx="305573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5CF55F7-6F69-08C4-4B00-61C846F94BBB}"/>
              </a:ext>
            </a:extLst>
          </p:cNvPr>
          <p:cNvSpPr/>
          <p:nvPr/>
        </p:nvSpPr>
        <p:spPr bwMode="auto">
          <a:xfrm>
            <a:off x="4529202" y="4756311"/>
            <a:ext cx="982941" cy="597813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US" dirty="0">
                <a:latin typeface="Candara" panose="020E0502030303020204" pitchFamily="34" charset="0"/>
              </a:rPr>
              <a:t>Pulse</a:t>
            </a:r>
          </a:p>
          <a:p>
            <a:pPr algn="ctr"/>
            <a:r>
              <a:rPr lang="en-US" dirty="0">
                <a:latin typeface="Candara" panose="020E0502030303020204" pitchFamily="34" charset="0"/>
              </a:rPr>
              <a:t>Shape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3D2237F-F236-6CCE-2313-20597A310FCC}"/>
              </a:ext>
            </a:extLst>
          </p:cNvPr>
          <p:cNvCxnSpPr>
            <a:cxnSpLocks/>
          </p:cNvCxnSpPr>
          <p:nvPr/>
        </p:nvCxnSpPr>
        <p:spPr bwMode="auto">
          <a:xfrm>
            <a:off x="1070446" y="5055217"/>
            <a:ext cx="1393415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6AC9E90-E9A2-B2DC-43F6-2761FDBABC1D}"/>
                  </a:ext>
                </a:extLst>
              </p:cNvPr>
              <p:cNvSpPr txBox="1"/>
              <p:nvPr/>
            </p:nvSpPr>
            <p:spPr>
              <a:xfrm>
                <a:off x="795581" y="5034819"/>
                <a:ext cx="1239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1,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>
                  <a:latin typeface="Candara" pitchFamily="34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6AC9E90-E9A2-B2DC-43F6-2761FDBAB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581" y="5034819"/>
                <a:ext cx="1239378" cy="369332"/>
              </a:xfrm>
              <a:prstGeom prst="rect">
                <a:avLst/>
              </a:prstGeom>
              <a:blipFill>
                <a:blip r:embed="rId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D56D49EB-9280-5044-8FC0-89B5DD0979BA}"/>
              </a:ext>
            </a:extLst>
          </p:cNvPr>
          <p:cNvSpPr txBox="1"/>
          <p:nvPr/>
        </p:nvSpPr>
        <p:spPr>
          <a:xfrm>
            <a:off x="971592" y="4631822"/>
            <a:ext cx="1356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ndara" pitchFamily="34" charset="0"/>
              </a:rPr>
              <a:t>Symbols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018EF8-6FD0-9530-FB39-0A63C06C0EFB}"/>
              </a:ext>
            </a:extLst>
          </p:cNvPr>
          <p:cNvSpPr txBox="1"/>
          <p:nvPr/>
        </p:nvSpPr>
        <p:spPr>
          <a:xfrm>
            <a:off x="5648278" y="4690139"/>
            <a:ext cx="1253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ndara" pitchFamily="34" charset="0"/>
              </a:rPr>
              <a:t>IQ samples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0D73C52-4BBC-CD8C-A4E3-9223F488B395}"/>
              </a:ext>
            </a:extLst>
          </p:cNvPr>
          <p:cNvSpPr/>
          <p:nvPr/>
        </p:nvSpPr>
        <p:spPr bwMode="auto">
          <a:xfrm>
            <a:off x="2484203" y="4769417"/>
            <a:ext cx="1392834" cy="597813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US" dirty="0" err="1">
                <a:latin typeface="Candara" panose="020E0502030303020204" pitchFamily="34" charset="0"/>
              </a:rPr>
              <a:t>Upsample</a:t>
            </a:r>
            <a:endParaRPr lang="en-US" dirty="0">
              <a:latin typeface="Candara" panose="020E0502030303020204" pitchFamily="34" charset="0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483C4B5-61FE-CBA4-F213-4D1CCB822344}"/>
              </a:ext>
            </a:extLst>
          </p:cNvPr>
          <p:cNvCxnSpPr>
            <a:cxnSpLocks/>
            <a:stCxn id="34" idx="3"/>
            <a:endCxn id="17" idx="1"/>
          </p:cNvCxnSpPr>
          <p:nvPr/>
        </p:nvCxnSpPr>
        <p:spPr bwMode="auto">
          <a:xfrm flipV="1">
            <a:off x="3877038" y="5055217"/>
            <a:ext cx="652164" cy="13107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5ADFB2F-923D-C84A-01C3-30019ABEB1BB}"/>
              </a:ext>
            </a:extLst>
          </p:cNvPr>
          <p:cNvCxnSpPr/>
          <p:nvPr/>
        </p:nvCxnSpPr>
        <p:spPr bwMode="auto">
          <a:xfrm>
            <a:off x="7041111" y="4172165"/>
            <a:ext cx="0" cy="165797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1AC9202-31D6-D0AF-AF5A-8404EDDAC066}"/>
              </a:ext>
            </a:extLst>
          </p:cNvPr>
          <p:cNvCxnSpPr>
            <a:cxnSpLocks/>
          </p:cNvCxnSpPr>
          <p:nvPr/>
        </p:nvCxnSpPr>
        <p:spPr bwMode="auto">
          <a:xfrm flipV="1">
            <a:off x="7622800" y="5354124"/>
            <a:ext cx="0" cy="38183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3E356A8-CF9A-6B5F-20D7-CA872965D798}"/>
                  </a:ext>
                </a:extLst>
              </p:cNvPr>
              <p:cNvSpPr txBox="1"/>
              <p:nvPr/>
            </p:nvSpPr>
            <p:spPr>
              <a:xfrm>
                <a:off x="7041111" y="5838046"/>
                <a:ext cx="168482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r>
                  <a:rPr lang="en-US" dirty="0">
                    <a:latin typeface="Candara" panose="020E0502030303020204" pitchFamily="34" charset="0"/>
                  </a:rPr>
                  <a:t> Msps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3E356A8-CF9A-6B5F-20D7-CA872965D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1111" y="5838046"/>
                <a:ext cx="1684827" cy="369332"/>
              </a:xfrm>
              <a:prstGeom prst="rect">
                <a:avLst/>
              </a:prstGeom>
              <a:blipFill>
                <a:blip r:embed="rId4"/>
                <a:stretch>
                  <a:fillRect l="-1087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F3F95B6-7ABE-6B0B-B612-A6B6B4E296E5}"/>
              </a:ext>
            </a:extLst>
          </p:cNvPr>
          <p:cNvCxnSpPr>
            <a:cxnSpLocks/>
          </p:cNvCxnSpPr>
          <p:nvPr/>
        </p:nvCxnSpPr>
        <p:spPr bwMode="auto">
          <a:xfrm flipV="1">
            <a:off x="5011903" y="5360336"/>
            <a:ext cx="0" cy="38183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7B2D3AA-E5FD-A356-E6BC-B3BEDD494DD2}"/>
                  </a:ext>
                </a:extLst>
              </p:cNvPr>
              <p:cNvSpPr txBox="1"/>
              <p:nvPr/>
            </p:nvSpPr>
            <p:spPr>
              <a:xfrm>
                <a:off x="3520381" y="5746045"/>
                <a:ext cx="32832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=20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MHz</m:t>
                      </m:r>
                    </m:oMath>
                  </m:oMathPara>
                </a14:m>
                <a:endParaRPr lang="en-US" dirty="0">
                  <a:latin typeface="Candara" panose="020E0502030303020204" pitchFamily="34" charset="0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7B2D3AA-E5FD-A356-E6BC-B3BEDD494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0381" y="5746045"/>
                <a:ext cx="328325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2D01046-CAFC-F2A5-D150-407932A62D39}"/>
                  </a:ext>
                </a:extLst>
              </p:cNvPr>
              <p:cNvSpPr txBox="1"/>
              <p:nvPr/>
            </p:nvSpPr>
            <p:spPr>
              <a:xfrm>
                <a:off x="4022165" y="4262490"/>
                <a:ext cx="213287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sinc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𝐵𝑡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2D01046-CAFC-F2A5-D150-407932A62D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165" y="4262490"/>
                <a:ext cx="2132872" cy="369332"/>
              </a:xfrm>
              <a:prstGeom prst="rect">
                <a:avLst/>
              </a:prstGeom>
              <a:blipFill>
                <a:blip r:embed="rId6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4448129-BA4E-E2AB-C372-B9ED7C6DF350}"/>
              </a:ext>
            </a:extLst>
          </p:cNvPr>
          <p:cNvCxnSpPr>
            <a:cxnSpLocks/>
          </p:cNvCxnSpPr>
          <p:nvPr/>
        </p:nvCxnSpPr>
        <p:spPr bwMode="auto">
          <a:xfrm flipV="1">
            <a:off x="3214416" y="5362677"/>
            <a:ext cx="0" cy="38183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C782057-05C2-367A-BBC2-87AD7AAFED2B}"/>
                  </a:ext>
                </a:extLst>
              </p:cNvPr>
              <p:cNvSpPr txBox="1"/>
              <p:nvPr/>
            </p:nvSpPr>
            <p:spPr>
              <a:xfrm>
                <a:off x="1587911" y="5752010"/>
                <a:ext cx="3283253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pulseRepRate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=1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dirty="0">
                  <a:latin typeface="Candara" panose="020E0502030303020204" pitchFamily="34" charset="0"/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C782057-05C2-367A-BBC2-87AD7AAFE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7911" y="5752010"/>
                <a:ext cx="3283253" cy="390748"/>
              </a:xfrm>
              <a:prstGeom prst="rect">
                <a:avLst/>
              </a:prstGeom>
              <a:blipFill>
                <a:blip r:embed="rId7"/>
                <a:stretch>
                  <a:fillRect b="-10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913477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E5919-EAB6-89CF-7AF1-DA21C9CEF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1: Generating an Impulse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9014D-3973-00C5-F9F5-8AC0DC81C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231900"/>
            <a:ext cx="8595360" cy="2714458"/>
          </a:xfrm>
        </p:spPr>
        <p:txBody>
          <a:bodyPr/>
          <a:lstStyle/>
          <a:p>
            <a:r>
              <a:rPr lang="en-US" dirty="0"/>
              <a:t>Show that the waveform in time and frequency</a:t>
            </a:r>
          </a:p>
          <a:p>
            <a:pPr lvl="1"/>
            <a:r>
              <a:rPr lang="en-US" dirty="0"/>
              <a:t>You can use </a:t>
            </a:r>
            <a:r>
              <a:rPr lang="en-US" dirty="0" err="1"/>
              <a:t>analyzeIQdata</a:t>
            </a:r>
            <a:r>
              <a:rPr lang="en-US" dirty="0"/>
              <a:t> script or your own codes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\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In the report, discuss why this waveform can be used for observing CIR and CFR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7CD28-5A67-2D5C-21ED-0A79DCC99E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473177-3522-4150-8F21-AD833F444AD4}" type="slidenum">
              <a:rPr lang="en-US" altLang="en-US" smtClean="0"/>
              <a:pPr/>
              <a:t>6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311837-9481-37C5-3770-2A3DF8DD1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520" y="2123127"/>
            <a:ext cx="3086100" cy="3086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CA5C0F-DC10-D45F-724C-5191D95B9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8381" y="2123127"/>
            <a:ext cx="30861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45096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0BFFE-AA5B-C904-90C2-F593C99A4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1: Generating an Impulse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30E5C-61E2-7045-1276-88F615872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Transmit the waveform from the SDR that is connected to the Wi-Fi router (not a USB port)</a:t>
            </a:r>
          </a:p>
          <a:p>
            <a:pPr lvl="1"/>
            <a:r>
              <a:rPr lang="en-US" dirty="0"/>
              <a:t>Make sure that carrier frequency and the gain are set properly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6A0B91-4E36-6A58-0E94-DC3E2FD086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473177-3522-4150-8F21-AD833F444AD4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7BC624-7080-4839-F2FD-74D2DF6D18A7}"/>
              </a:ext>
            </a:extLst>
          </p:cNvPr>
          <p:cNvSpPr txBox="1"/>
          <p:nvPr/>
        </p:nvSpPr>
        <p:spPr>
          <a:xfrm>
            <a:off x="540217" y="2662216"/>
            <a:ext cx="806356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 One last step common for all signals: Normalization is needed for remote</a:t>
            </a:r>
            <a:endParaRPr lang="en-US" sz="1800" b="0" i="0" dirty="0">
              <a:effectLst/>
              <a:latin typeface="Menlo"/>
            </a:endParaRPr>
          </a:p>
          <a:p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 SDRs' operation: maximum of abs(</a:t>
            </a:r>
            <a:r>
              <a:rPr lang="en-US" sz="1800" b="0" i="0" dirty="0" err="1">
                <a:solidFill>
                  <a:srgbClr val="008013"/>
                </a:solidFill>
                <a:effectLst/>
                <a:latin typeface="Menlo"/>
              </a:rPr>
              <a:t>IQdataTX</a:t>
            </a:r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) should be 1 be less than 1.</a:t>
            </a:r>
            <a:endParaRPr lang="en-US" sz="1800" b="0" i="0" dirty="0">
              <a:effectLst/>
              <a:latin typeface="Menlo"/>
            </a:endParaRPr>
          </a:p>
          <a:p>
            <a:r>
              <a:rPr lang="en-US" sz="1800" b="0" i="0" dirty="0">
                <a:solidFill>
                  <a:srgbClr val="0E00FF"/>
                </a:solidFill>
                <a:effectLst/>
                <a:latin typeface="Menlo"/>
              </a:rPr>
              <a:t>if </a:t>
            </a:r>
            <a:r>
              <a:rPr lang="en-US" sz="1800" b="0" i="0" dirty="0">
                <a:effectLst/>
                <a:latin typeface="Menlo"/>
              </a:rPr>
              <a:t>max(</a:t>
            </a:r>
            <a:r>
              <a:rPr lang="en-US" sz="1800" b="0" i="0" dirty="0" err="1">
                <a:effectLst/>
                <a:latin typeface="Menlo"/>
              </a:rPr>
              <a:t>IQdataTX</a:t>
            </a:r>
            <a:r>
              <a:rPr lang="en-US" sz="1800" b="0" i="0" dirty="0">
                <a:effectLst/>
                <a:latin typeface="Menlo"/>
              </a:rPr>
              <a:t>)~=0</a:t>
            </a:r>
          </a:p>
          <a:p>
            <a:r>
              <a:rPr lang="en-US" sz="1800" b="0" i="0" dirty="0">
                <a:effectLst/>
                <a:latin typeface="Menlo"/>
              </a:rPr>
              <a:t>	</a:t>
            </a:r>
            <a:r>
              <a:rPr lang="en-US" sz="1800" b="0" i="0" dirty="0" err="1">
                <a:effectLst/>
                <a:latin typeface="Menlo"/>
              </a:rPr>
              <a:t>IQdataTX</a:t>
            </a:r>
            <a:r>
              <a:rPr lang="en-US" sz="1800" b="0" i="0" dirty="0">
                <a:effectLst/>
                <a:latin typeface="Menlo"/>
              </a:rPr>
              <a:t> = complex(</a:t>
            </a:r>
            <a:r>
              <a:rPr lang="en-US" sz="1800" b="0" i="0" dirty="0" err="1">
                <a:effectLst/>
                <a:latin typeface="Menlo"/>
              </a:rPr>
              <a:t>IQdataTX</a:t>
            </a:r>
            <a:r>
              <a:rPr lang="en-US" sz="1800" b="0" i="0" dirty="0">
                <a:effectLst/>
                <a:latin typeface="Menlo"/>
              </a:rPr>
              <a:t>/max(abs(</a:t>
            </a:r>
            <a:r>
              <a:rPr lang="en-US" sz="1800" b="0" i="0" dirty="0" err="1">
                <a:effectLst/>
                <a:latin typeface="Menlo"/>
              </a:rPr>
              <a:t>IQdataTX</a:t>
            </a:r>
            <a:r>
              <a:rPr lang="en-US" sz="1800" b="0" i="0" dirty="0">
                <a:effectLst/>
                <a:latin typeface="Menlo"/>
              </a:rPr>
              <a:t>)));</a:t>
            </a:r>
          </a:p>
          <a:p>
            <a:r>
              <a:rPr lang="en-US" sz="18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sz="1800" b="0" i="0" dirty="0">
              <a:effectLst/>
              <a:latin typeface="Menlo"/>
            </a:endParaRPr>
          </a:p>
          <a:p>
            <a:r>
              <a:rPr lang="en-US" sz="1800" b="0" i="0" dirty="0" err="1">
                <a:effectLst/>
                <a:latin typeface="Menlo"/>
              </a:rPr>
              <a:t>txPluto</a:t>
            </a:r>
            <a:r>
              <a:rPr lang="en-US" sz="1800" b="0" i="0" dirty="0">
                <a:effectLst/>
                <a:latin typeface="Menlo"/>
              </a:rPr>
              <a:t> = </a:t>
            </a:r>
            <a:r>
              <a:rPr lang="en-US" sz="1800" b="0" i="0" dirty="0" err="1">
                <a:effectLst/>
                <a:latin typeface="Menlo"/>
              </a:rPr>
              <a:t>sdrtx</a:t>
            </a:r>
            <a:r>
              <a:rPr lang="en-US" sz="1800" b="0" i="0" dirty="0">
                <a:effectLst/>
                <a:latin typeface="Menlo"/>
              </a:rPr>
              <a:t>(</a:t>
            </a:r>
            <a:r>
              <a:rPr lang="en-US" sz="1800" b="0" i="0" dirty="0">
                <a:solidFill>
                  <a:srgbClr val="A709F5"/>
                </a:solidFill>
                <a:effectLst/>
                <a:latin typeface="Menlo"/>
              </a:rPr>
              <a:t>'Pluto'</a:t>
            </a:r>
            <a:r>
              <a:rPr lang="en-US" sz="1800" b="0" i="0" dirty="0">
                <a:effectLst/>
                <a:latin typeface="Menlo"/>
              </a:rPr>
              <a:t>, </a:t>
            </a:r>
            <a:r>
              <a:rPr lang="en-US" sz="1800" b="0" i="0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sz="1800" b="0" i="0" dirty="0">
              <a:effectLst/>
              <a:latin typeface="Menlo"/>
            </a:endParaRPr>
          </a:p>
          <a:p>
            <a:pPr lvl="1"/>
            <a:r>
              <a:rPr lang="en-US" b="0" i="0" dirty="0">
                <a:solidFill>
                  <a:srgbClr val="A709F5"/>
                </a:solidFill>
                <a:effectLst/>
                <a:latin typeface="Menlo"/>
              </a:rPr>
              <a:t>'RadioID'</a:t>
            </a:r>
            <a:r>
              <a:rPr lang="en-US" b="0" i="0" dirty="0">
                <a:effectLst/>
                <a:latin typeface="Menlo"/>
              </a:rPr>
              <a:t>,</a:t>
            </a:r>
            <a:r>
              <a:rPr lang="en-US" b="0" i="0" dirty="0">
                <a:solidFill>
                  <a:srgbClr val="A709F5"/>
                </a:solidFill>
                <a:effectLst/>
                <a:latin typeface="Menlo"/>
              </a:rPr>
              <a:t>'ip:169.254.27.XXX'</a:t>
            </a:r>
            <a:r>
              <a:rPr lang="en-US" b="0" i="0" dirty="0">
                <a:effectLst/>
                <a:latin typeface="Menlo"/>
              </a:rPr>
              <a:t>, </a:t>
            </a:r>
            <a:r>
              <a:rPr lang="en-US" b="0" i="0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effectLst/>
              <a:latin typeface="Menlo"/>
            </a:endParaRPr>
          </a:p>
          <a:p>
            <a:pPr lvl="1"/>
            <a:r>
              <a:rPr lang="en-US" b="0" i="0" dirty="0">
                <a:solidFill>
                  <a:srgbClr val="A709F5"/>
                </a:solidFill>
                <a:effectLst/>
                <a:latin typeface="Menlo"/>
              </a:rPr>
              <a:t>'Gain'</a:t>
            </a:r>
            <a:r>
              <a:rPr lang="en-US" b="0" i="0" dirty="0">
                <a:effectLst/>
                <a:latin typeface="Menlo"/>
              </a:rPr>
              <a:t>, -5,</a:t>
            </a:r>
            <a:r>
              <a:rPr lang="en-US" b="0" i="0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effectLst/>
              <a:latin typeface="Menlo"/>
            </a:endParaRPr>
          </a:p>
          <a:p>
            <a:pPr lvl="1"/>
            <a:r>
              <a:rPr lang="en-US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 err="1">
                <a:solidFill>
                  <a:srgbClr val="A709F5"/>
                </a:solidFill>
                <a:effectLst/>
                <a:latin typeface="Menlo"/>
              </a:rPr>
              <a:t>CenterFrequency</a:t>
            </a:r>
            <a:r>
              <a:rPr lang="en-US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effectLst/>
                <a:latin typeface="Menlo"/>
              </a:rPr>
              <a:t>,fc, </a:t>
            </a:r>
            <a:r>
              <a:rPr lang="en-US" b="0" i="0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effectLst/>
              <a:latin typeface="Menlo"/>
            </a:endParaRPr>
          </a:p>
          <a:p>
            <a:pPr lvl="1"/>
            <a:r>
              <a:rPr lang="en-US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 err="1">
                <a:solidFill>
                  <a:srgbClr val="A709F5"/>
                </a:solidFill>
                <a:effectLst/>
                <a:latin typeface="Menlo"/>
              </a:rPr>
              <a:t>BasebandSampleRate</a:t>
            </a:r>
            <a:r>
              <a:rPr lang="en-US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effectLst/>
                <a:latin typeface="Menlo"/>
              </a:rPr>
              <a:t>,</a:t>
            </a:r>
            <a:r>
              <a:rPr lang="en-US" b="0" i="0" dirty="0" err="1">
                <a:effectLst/>
                <a:latin typeface="Menlo"/>
              </a:rPr>
              <a:t>fsample</a:t>
            </a:r>
            <a:r>
              <a:rPr lang="en-US" b="0" i="0" dirty="0">
                <a:effectLst/>
                <a:latin typeface="Menlo"/>
              </a:rPr>
              <a:t>);</a:t>
            </a:r>
          </a:p>
          <a:p>
            <a:pPr lvl="1"/>
            <a:r>
              <a:rPr lang="en-US" b="0" i="0" dirty="0" err="1">
                <a:effectLst/>
                <a:latin typeface="Menlo"/>
              </a:rPr>
              <a:t>txPluto.ShowAdvancedProperties</a:t>
            </a:r>
            <a:r>
              <a:rPr lang="en-US" b="0" i="0" dirty="0">
                <a:effectLst/>
                <a:latin typeface="Menlo"/>
              </a:rPr>
              <a:t> = true;</a:t>
            </a:r>
          </a:p>
          <a:p>
            <a:pPr lvl="1"/>
            <a:r>
              <a:rPr lang="en-US" b="0" i="0" dirty="0" err="1">
                <a:effectLst/>
                <a:latin typeface="Menlo"/>
              </a:rPr>
              <a:t>transmitRepeat</a:t>
            </a:r>
            <a:r>
              <a:rPr lang="en-US" b="0" i="0" dirty="0">
                <a:effectLst/>
                <a:latin typeface="Menlo"/>
              </a:rPr>
              <a:t>(</a:t>
            </a:r>
            <a:r>
              <a:rPr lang="en-US" b="0" i="0" dirty="0" err="1">
                <a:effectLst/>
                <a:latin typeface="Menlo"/>
              </a:rPr>
              <a:t>txPluto,IQdataTX</a:t>
            </a:r>
            <a:r>
              <a:rPr lang="en-US" b="0" i="0" dirty="0">
                <a:effectLst/>
                <a:latin typeface="Menl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0309584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A9D2059-4AFF-6763-A68B-7FC0A1A5C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BE6B0-9063-2BDB-82DE-B3D269C63C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473177-3522-4150-8F21-AD833F444AD4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985392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E5919-EAB6-89CF-7AF1-DA21C9CEF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2: Observing CIR and CFR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9014D-3973-00C5-F9F5-8AC0DC81C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231900"/>
            <a:ext cx="8595360" cy="560805"/>
          </a:xfrm>
        </p:spPr>
        <p:txBody>
          <a:bodyPr/>
          <a:lstStyle/>
          <a:p>
            <a:r>
              <a:rPr lang="en-US" dirty="0"/>
              <a:t>By using GNU Radio, your next goal is to create a flowgraph with the following blocks: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7CD28-5A67-2D5C-21ED-0A79DCC99E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473177-3522-4150-8F21-AD833F444AD4}" type="slidenum">
              <a:rPr lang="en-US" altLang="en-US" smtClean="0"/>
              <a:pPr/>
              <a:t>9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0E2D38-62A8-4500-8C83-961C74AE9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757" y="2291775"/>
            <a:ext cx="7592485" cy="342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39675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CFF74-1547-A177-EE69-962029EE8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Several Settings: SDR Source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0078D-0190-5C43-5D4F-9DDE76EB79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473177-3522-4150-8F21-AD833F444AD4}" type="slidenum">
              <a:rPr lang="en-US" altLang="en-US" smtClean="0"/>
              <a:pPr/>
              <a:t>10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838A79B-2162-DA9B-5E72-E2DAC0B5E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15" y="1952534"/>
            <a:ext cx="3943657" cy="37003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DF9627C-48FF-7854-9AD8-B8D68020D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053" y="1945377"/>
            <a:ext cx="3929343" cy="3707467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22FBBE3-225E-80B7-D157-517C78CF5263}"/>
              </a:ext>
            </a:extLst>
          </p:cNvPr>
          <p:cNvCxnSpPr>
            <a:cxnSpLocks/>
          </p:cNvCxnSpPr>
          <p:nvPr/>
        </p:nvCxnSpPr>
        <p:spPr bwMode="auto">
          <a:xfrm flipH="1">
            <a:off x="2194560" y="1779514"/>
            <a:ext cx="1124712" cy="108255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47A90DC-2616-8448-1489-0A1F124BEC1E}"/>
              </a:ext>
            </a:extLst>
          </p:cNvPr>
          <p:cNvSpPr txBox="1"/>
          <p:nvPr/>
        </p:nvSpPr>
        <p:spPr>
          <a:xfrm>
            <a:off x="1577457" y="1256294"/>
            <a:ext cx="53719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ndara" pitchFamily="34" charset="0"/>
              </a:rPr>
              <a:t>Change the IP based on your SDRs</a:t>
            </a:r>
          </a:p>
        </p:txBody>
      </p:sp>
    </p:spTree>
    <p:extLst>
      <p:ext uri="{BB962C8B-B14F-4D97-AF65-F5344CB8AC3E}">
        <p14:creationId xmlns:p14="http://schemas.microsoft.com/office/powerpoint/2010/main" val="74813686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4F0D5-E95D-961C-F658-0EAF92BB4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Several Settings: QT GUI Sink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0A7D74-1AF2-CB3A-E29D-0391F4CAD4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473177-3522-4150-8F21-AD833F444AD4}" type="slidenum">
              <a:rPr lang="en-US" altLang="en-US" smtClean="0"/>
              <a:pPr/>
              <a:t>11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8A922B-5451-7C65-B694-BDB9247F4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328" y="1583934"/>
            <a:ext cx="3929343" cy="444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72019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4F0D5-E95D-961C-F658-0EAF92BB4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Several Settings: Log10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0A7D74-1AF2-CB3A-E29D-0391F4CAD4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473177-3522-4150-8F21-AD833F444AD4}" type="slidenum">
              <a:rPr lang="en-US" altLang="en-US" smtClean="0"/>
              <a:pPr/>
              <a:t>12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F49F68-A856-F98B-CDC2-9C4E2E67D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417" y="1571829"/>
            <a:ext cx="5220429" cy="4267796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89F40B4-2993-D272-C6C4-1F3B2E24A6A9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4009644" y="2493722"/>
            <a:ext cx="1054725" cy="1212005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FA5AB1-77DA-C3FF-D0E0-D528E43B21E8}"/>
                  </a:ext>
                </a:extLst>
              </p:cNvPr>
              <p:cNvSpPr txBox="1"/>
              <p:nvPr/>
            </p:nvSpPr>
            <p:spPr>
              <a:xfrm>
                <a:off x="4009644" y="3786059"/>
                <a:ext cx="236321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dirty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e>
                          </m:d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func>
                    </m:oMath>
                  </m:oMathPara>
                </a14:m>
                <a:endParaRPr lang="en-US" sz="2800" dirty="0">
                  <a:latin typeface="Candara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FA5AB1-77DA-C3FF-D0E0-D528E43B2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9644" y="3786059"/>
                <a:ext cx="236321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0077164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4F0D5-E95D-961C-F658-0EAF92BB4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Several Settings: QT GUI Time Sink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0A7D74-1AF2-CB3A-E29D-0391F4CAD4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473177-3522-4150-8F21-AD833F444AD4}" type="slidenum">
              <a:rPr lang="en-US" altLang="en-US" smtClean="0"/>
              <a:pPr/>
              <a:t>13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B3E3FE-48D2-9CA5-F87E-C446BFEB2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534" y="1569619"/>
            <a:ext cx="3936500" cy="44732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B9429F-16AC-7C51-E3D7-4336C66B0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1967" y="2015160"/>
            <a:ext cx="4369515" cy="358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110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48C6-783B-F21E-BAAF-D5B6445D7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2: Observing CIR and CFR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F56BE-B2FF-FBE9-1667-1DE19D5FD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231900"/>
            <a:ext cx="8595360" cy="572838"/>
          </a:xfrm>
        </p:spPr>
        <p:txBody>
          <a:bodyPr/>
          <a:lstStyle/>
          <a:p>
            <a:r>
              <a:rPr lang="en-US" dirty="0"/>
              <a:t>In the lab, move the TX SDR by placing it on the cart and observe the changes in CIR and CFR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8F500-38A0-7494-6FF0-E44B4A43CF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473177-3522-4150-8F21-AD833F444AD4}" type="slidenum">
              <a:rPr lang="en-US" altLang="en-US" smtClean="0"/>
              <a:pPr/>
              <a:t>14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78B11F-66A3-F5C3-AF95-048845E41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514" y="2088290"/>
            <a:ext cx="3970421" cy="43566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595C10-BF2A-3618-ECE5-73B00E3203AD}"/>
              </a:ext>
            </a:extLst>
          </p:cNvPr>
          <p:cNvSpPr txBox="1"/>
          <p:nvPr/>
        </p:nvSpPr>
        <p:spPr>
          <a:xfrm>
            <a:off x="274320" y="2209780"/>
            <a:ext cx="437144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ndara" panose="020E0502030303020204" pitchFamily="34" charset="0"/>
              </a:rPr>
              <a:t>When do you observe a frequency-selective fading by relating it to CIR?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ndara" panose="020E0502030303020204" pitchFamily="34" charset="0"/>
              </a:rPr>
              <a:t>Identify the conditions when the CFR is more flat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ndara" panose="020E0502030303020204" pitchFamily="34" charset="0"/>
              </a:rPr>
              <a:t>If you use the directional antenna at the transmitter, what kind of changes do you observe in the channel? Interpret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84535A-799F-5253-33D8-6D8916EDB99C}"/>
              </a:ext>
            </a:extLst>
          </p:cNvPr>
          <p:cNvSpPr txBox="1"/>
          <p:nvPr/>
        </p:nvSpPr>
        <p:spPr>
          <a:xfrm>
            <a:off x="259514" y="5302934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Please take snapshots and your notes for your justifications in your lab report</a:t>
            </a:r>
          </a:p>
        </p:txBody>
      </p:sp>
    </p:spTree>
    <p:extLst>
      <p:ext uri="{BB962C8B-B14F-4D97-AF65-F5344CB8AC3E}">
        <p14:creationId xmlns:p14="http://schemas.microsoft.com/office/powerpoint/2010/main" val="382116730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A9D2059-4AFF-6763-A68B-7FC0A1A5C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BE6B0-9063-2BDB-82DE-B3D269C63C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473177-3522-4150-8F21-AD833F444AD4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133596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35FB5-51A3-AF09-4A3D-EF5EFAD75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3: CIR/CFR in MATLAB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AB3CF0-6932-6FBA-777B-E1D4AA0CFF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Write a MATLAB script to receive the pulses from the SDR that is connected to the USB port under the following constraints</a:t>
                </a:r>
              </a:p>
              <a:p>
                <a:pPr lvl="1"/>
                <a:r>
                  <a:rPr lang="en-US" dirty="0"/>
                  <a:t>Set the sample rate of the SDR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Msps</a:t>
                </a:r>
                <a:endParaRPr lang="en-US" dirty="0"/>
              </a:p>
              <a:p>
                <a:pPr lvl="1"/>
                <a:r>
                  <a:rPr lang="en-US" dirty="0"/>
                  <a:t>Set the gain of the SDR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r>
                  <a:rPr lang="en-US" dirty="0"/>
                  <a:t> dB</a:t>
                </a:r>
              </a:p>
              <a:p>
                <a:r>
                  <a:rPr lang="en-US" dirty="0"/>
                  <a:t>Calculate the number of samples to acquire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dirty="0"/>
                  <a:t> pulses by using the pulse repetition interval, i.e.,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After you receive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dirty="0"/>
                  <a:t> pulses</a:t>
                </a:r>
              </a:p>
              <a:p>
                <a:pPr lvl="2"/>
                <a:r>
                  <a:rPr lang="en-US" dirty="0">
                    <a:solidFill>
                      <a:srgbClr val="FF0000"/>
                    </a:solidFill>
                  </a:rPr>
                  <a:t>Save the </a:t>
                </a:r>
                <a:r>
                  <a:rPr lang="en-US" dirty="0" err="1">
                    <a:solidFill>
                      <a:srgbClr val="FF0000"/>
                    </a:solidFill>
                  </a:rPr>
                  <a:t>IQdata</a:t>
                </a:r>
                <a:r>
                  <a:rPr lang="en-US" dirty="0">
                    <a:solidFill>
                      <a:srgbClr val="FF0000"/>
                    </a:solidFill>
                  </a:rPr>
                  <a:t> for your report</a:t>
                </a:r>
              </a:p>
              <a:p>
                <a:pPr lvl="2"/>
                <a:r>
                  <a:rPr lang="en-US" dirty="0"/>
                  <a:t>Plot the CIR as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10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r>
                  <a:rPr lang="en-US" dirty="0"/>
                  <a:t> such that the maximum value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Plot the CFR as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10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r>
                  <a:rPr lang="en-US" dirty="0"/>
                  <a:t> such that the maximum value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 CFR calculation, you will use DFT with the size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256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 averaging, you will use arithmetic mean over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dirty="0"/>
                  <a:t> pulses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AB3CF0-6932-6FBA-777B-E1D4AA0CFF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35" t="-1132" r="-1206" b="-54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ACBDD-3A17-3C23-13AA-0CFA0FE204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473177-3522-4150-8F21-AD833F444AD4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4844675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713DC-A51F-47EE-BB24-0E954A88A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3: CIR/CFR in MATLAB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6348E-3EF7-7683-C4D5-57B449CD8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231899"/>
            <a:ext cx="8595360" cy="584869"/>
          </a:xfrm>
        </p:spPr>
        <p:txBody>
          <a:bodyPr/>
          <a:lstStyle/>
          <a:p>
            <a:r>
              <a:rPr lang="en-US" dirty="0"/>
              <a:t>Your results should look like the plots below in the end: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FDB403-5ABD-814D-B7DF-BDA93194FC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473177-3522-4150-8F21-AD833F444AD4}" type="slidenum">
              <a:rPr lang="en-US" altLang="en-US" smtClean="0"/>
              <a:pPr/>
              <a:t>17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6251F6-342E-F1E0-BE9C-AEEE26116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009" y="2134022"/>
            <a:ext cx="4459316" cy="33444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AC9EAFB-9703-0325-7BEC-6B914C425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35" y="2153167"/>
            <a:ext cx="4408265" cy="33061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DFA25F7-DF49-4A02-8F1C-48EB5FB4E011}"/>
              </a:ext>
            </a:extLst>
          </p:cNvPr>
          <p:cNvSpPr txBox="1"/>
          <p:nvPr/>
        </p:nvSpPr>
        <p:spPr>
          <a:xfrm>
            <a:off x="2113786" y="5364491"/>
            <a:ext cx="6992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ndara" pitchFamily="34" charset="0"/>
              </a:rPr>
              <a:t>CIR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C75711-D94E-EC53-A473-7A557BF1E49A}"/>
              </a:ext>
            </a:extLst>
          </p:cNvPr>
          <p:cNvSpPr txBox="1"/>
          <p:nvPr/>
        </p:nvSpPr>
        <p:spPr>
          <a:xfrm>
            <a:off x="6522051" y="5413757"/>
            <a:ext cx="776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ndara" pitchFamily="34" charset="0"/>
              </a:rPr>
              <a:t>CFR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74A5D5D-B6E1-8EEA-2C77-59221BE6B05D}"/>
              </a:ext>
            </a:extLst>
          </p:cNvPr>
          <p:cNvCxnSpPr>
            <a:cxnSpLocks/>
          </p:cNvCxnSpPr>
          <p:nvPr/>
        </p:nvCxnSpPr>
        <p:spPr bwMode="auto">
          <a:xfrm flipH="1">
            <a:off x="1212005" y="1904382"/>
            <a:ext cx="2103347" cy="414582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992E8AF-8F9C-603E-B93B-6D531D37AC19}"/>
                  </a:ext>
                </a:extLst>
              </p:cNvPr>
              <p:cNvSpPr txBox="1"/>
              <p:nvPr/>
            </p:nvSpPr>
            <p:spPr>
              <a:xfrm>
                <a:off x="3543719" y="1719716"/>
                <a:ext cx="203292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latin typeface="Candara" pitchFamily="34" charset="0"/>
                  </a:rPr>
                  <a:t>The peak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>
                    <a:latin typeface="Candara" pitchFamily="34" charset="0"/>
                  </a:rPr>
                  <a:t> dB</a:t>
                </a:r>
              </a:p>
              <a:p>
                <a:pPr algn="ctr"/>
                <a:r>
                  <a:rPr lang="en-US" dirty="0">
                    <a:latin typeface="Candara" pitchFamily="34" charset="0"/>
                  </a:rPr>
                  <a:t>(for normalization)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992E8AF-8F9C-603E-B93B-6D531D37A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3719" y="1719716"/>
                <a:ext cx="2032929" cy="646331"/>
              </a:xfrm>
              <a:prstGeom prst="rect">
                <a:avLst/>
              </a:prstGeom>
              <a:blipFill>
                <a:blip r:embed="rId4"/>
                <a:stretch>
                  <a:fillRect l="-2395" t="-4717" r="-2395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9D3B4A9-6F71-0473-D08F-E992CB30654F}"/>
              </a:ext>
            </a:extLst>
          </p:cNvPr>
          <p:cNvCxnSpPr>
            <a:cxnSpLocks/>
          </p:cNvCxnSpPr>
          <p:nvPr/>
        </p:nvCxnSpPr>
        <p:spPr bwMode="auto">
          <a:xfrm>
            <a:off x="5747657" y="1982566"/>
            <a:ext cx="1069067" cy="33639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913CFE4-01BB-3993-3F22-5BAB58A0A2A2}"/>
              </a:ext>
            </a:extLst>
          </p:cNvPr>
          <p:cNvSpPr txBox="1"/>
          <p:nvPr/>
        </p:nvSpPr>
        <p:spPr>
          <a:xfrm>
            <a:off x="2141622" y="6096855"/>
            <a:ext cx="52469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ndara" pitchFamily="34" charset="0"/>
              </a:rPr>
              <a:t>What is maximum-excess delay of the channel?</a:t>
            </a:r>
          </a:p>
        </p:txBody>
      </p:sp>
    </p:spTree>
    <p:extLst>
      <p:ext uri="{BB962C8B-B14F-4D97-AF65-F5344CB8AC3E}">
        <p14:creationId xmlns:p14="http://schemas.microsoft.com/office/powerpoint/2010/main" val="2565346853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A9D2059-4AFF-6763-A68B-7FC0A1A5C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BE6B0-9063-2BDB-82DE-B3D269C63C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473177-3522-4150-8F21-AD833F444AD4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1983223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C37E84-69B4-678B-9FDB-BB99C9402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4 – Measuring Coherence BW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8D5DF76-000C-2BF4-88C1-3BA02218A7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4320" y="1231900"/>
                <a:ext cx="8595360" cy="1932406"/>
              </a:xfrm>
            </p:spPr>
            <p:txBody>
              <a:bodyPr/>
              <a:lstStyle/>
              <a:p>
                <a:r>
                  <a:rPr lang="en-US" dirty="0"/>
                  <a:t>By using CFR plot, calculate the correlation in the frequency domain</a:t>
                </a:r>
              </a:p>
              <a:p>
                <a:pPr lvl="1"/>
                <a:r>
                  <a:rPr lang="en-US" dirty="0"/>
                  <a:t>Since we do not make coherent aggregation, use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n-US" dirty="0"/>
                  <a:t> (without the square) as an approximation</a:t>
                </a:r>
              </a:p>
              <a:p>
                <a:pPr lvl="1"/>
                <a:r>
                  <a:rPr lang="en-US" sz="1800" b="0" i="0" dirty="0">
                    <a:effectLst/>
                    <a:latin typeface="Menlo"/>
                  </a:rPr>
                  <a:t>You can use normalized correlation: </a:t>
                </a:r>
                <a:r>
                  <a:rPr lang="en-US" sz="1800" b="0" i="0" dirty="0" err="1">
                    <a:effectLst/>
                    <a:latin typeface="Menlo"/>
                  </a:rPr>
                  <a:t>xcorr</a:t>
                </a:r>
                <a:r>
                  <a:rPr lang="en-US" sz="1800" b="0" i="0" dirty="0">
                    <a:effectLst/>
                    <a:latin typeface="Menlo"/>
                  </a:rPr>
                  <a:t>(</a:t>
                </a:r>
                <a:r>
                  <a:rPr lang="en-US" sz="1800" b="0" i="0" dirty="0" err="1">
                    <a:effectLst/>
                    <a:latin typeface="Menlo"/>
                  </a:rPr>
                  <a:t>hCFR</a:t>
                </a:r>
                <a:r>
                  <a:rPr lang="en-US" sz="1800" b="0" i="0" dirty="0">
                    <a:effectLst/>
                    <a:latin typeface="Menlo"/>
                  </a:rPr>
                  <a:t>,</a:t>
                </a:r>
                <a:r>
                  <a:rPr lang="en-US" sz="1800" b="0" i="0" dirty="0">
                    <a:solidFill>
                      <a:srgbClr val="A709F5"/>
                    </a:solidFill>
                    <a:effectLst/>
                    <a:latin typeface="Menlo"/>
                  </a:rPr>
                  <a:t>'normalized’</a:t>
                </a:r>
                <a:r>
                  <a:rPr lang="en-US" sz="1800" b="0" i="0" dirty="0">
                    <a:effectLst/>
                    <a:latin typeface="Menlo"/>
                  </a:rPr>
                  <a:t>)</a:t>
                </a:r>
              </a:p>
              <a:p>
                <a:pPr lvl="1"/>
                <a:r>
                  <a:rPr lang="en-US" sz="1800" dirty="0">
                    <a:latin typeface="Menlo"/>
                  </a:rPr>
                  <a:t>Find where the correlation crosses 0.5 to obtain the coherence BW</a:t>
                </a:r>
                <a:endParaRPr lang="en-US" sz="1800" b="0" i="0" dirty="0">
                  <a:effectLst/>
                  <a:latin typeface="Menlo"/>
                </a:endParaRP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8D5DF76-000C-2BF4-88C1-3BA02218A7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320" y="1231900"/>
                <a:ext cx="8595360" cy="1932406"/>
              </a:xfrm>
              <a:blipFill>
                <a:blip r:embed="rId2"/>
                <a:stretch>
                  <a:fillRect l="-1135" t="-2839" b="-16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990509-67D4-5F4D-79BA-20D6C9DC20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8A1152-1B24-48B6-A8F7-3C21D48C32AA}" type="slidenum">
              <a:rPr lang="en-US" altLang="en-US" smtClean="0"/>
              <a:pPr/>
              <a:t>19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AA78D2-3C40-A15C-2CD5-1B22AF3F7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1647" y="3307181"/>
            <a:ext cx="4007514" cy="30056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1CE98FC-364A-8AC9-92CC-F8F8CA568477}"/>
              </a:ext>
            </a:extLst>
          </p:cNvPr>
          <p:cNvSpPr txBox="1"/>
          <p:nvPr/>
        </p:nvSpPr>
        <p:spPr>
          <a:xfrm>
            <a:off x="854839" y="4520741"/>
            <a:ext cx="26944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Please take snapshots and your notes for your justifications in your lab report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73DD488-EF09-9C61-E6A7-34BFDAE6BBA3}"/>
              </a:ext>
            </a:extLst>
          </p:cNvPr>
          <p:cNvCxnSpPr>
            <a:cxnSpLocks/>
          </p:cNvCxnSpPr>
          <p:nvPr/>
        </p:nvCxnSpPr>
        <p:spPr bwMode="auto">
          <a:xfrm>
            <a:off x="6364224" y="4754880"/>
            <a:ext cx="131826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2D808C3-7207-486A-1A05-9D95151710D9}"/>
              </a:ext>
            </a:extLst>
          </p:cNvPr>
          <p:cNvCxnSpPr>
            <a:cxnSpLocks/>
          </p:cNvCxnSpPr>
          <p:nvPr/>
        </p:nvCxnSpPr>
        <p:spPr bwMode="auto">
          <a:xfrm>
            <a:off x="6495796" y="4749800"/>
            <a:ext cx="0" cy="123952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888498184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7FDC0-19D3-4613-B8E5-CBB415572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Coherence Bandwidth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595423-E511-47DC-8314-CEB0E8DF53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4320" y="1346200"/>
                <a:ext cx="8595360" cy="1130300"/>
              </a:xfrm>
            </p:spPr>
            <p:txBody>
              <a:bodyPr/>
              <a:lstStyle/>
              <a:p>
                <a:r>
                  <a:rPr lang="en-US" dirty="0"/>
                  <a:t>The range where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highly-correlated is </a:t>
                </a:r>
                <a:r>
                  <a:rPr lang="en-US" dirty="0">
                    <a:solidFill>
                      <a:srgbClr val="0000FF"/>
                    </a:solidFill>
                  </a:rPr>
                  <a:t>coherence bandwidth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en-US" dirty="0"/>
                  <a:t> (e.g., normalized correlation coefficient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≥0.5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It determines if the signal obverses flat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en-US" dirty="0"/>
                  <a:t>) or frequency selective channel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en-US" dirty="0"/>
                  <a:t>),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is the signal bandwidth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sz="16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595423-E511-47DC-8314-CEB0E8DF53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320" y="1346200"/>
                <a:ext cx="8595360" cy="1130300"/>
              </a:xfrm>
              <a:blipFill>
                <a:blip r:embed="rId2"/>
                <a:stretch>
                  <a:fillRect l="-1135" t="-4865" r="-1064" b="-421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CF3F3-A6D9-492F-AFD1-112F2DA403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473177-3522-4150-8F21-AD833F444AD4}" type="slidenum">
              <a:rPr lang="en-US" altLang="en-US" smtClean="0"/>
              <a:pPr/>
              <a:t>20</a:t>
            </a:fld>
            <a:r>
              <a:rPr lang="en-US" altLang="en-US" dirty="0"/>
              <a:t>`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AC279C2-D277-42C7-A85C-AC9964FA59AB}"/>
                  </a:ext>
                </a:extLst>
              </p:cNvPr>
              <p:cNvSpPr/>
              <p:nvPr/>
            </p:nvSpPr>
            <p:spPr>
              <a:xfrm>
                <a:off x="1302178" y="3039046"/>
                <a:ext cx="2940420" cy="7858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f>
                            <m:f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p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d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  <m:d>
                                    <m:dPr>
                                      <m:ctrlP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000">
                                              <a:latin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20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 dirty="0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den>
                          </m:f>
                        </m:fName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fun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AC279C2-D277-42C7-A85C-AC9964FA59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2178" y="3039046"/>
                <a:ext cx="2940420" cy="7858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0994455-442E-4EBB-94E2-95EDAE9CCA2D}"/>
                  </a:ext>
                </a:extLst>
              </p:cNvPr>
              <p:cNvSpPr/>
              <p:nvPr/>
            </p:nvSpPr>
            <p:spPr>
              <a:xfrm>
                <a:off x="5093637" y="3118384"/>
                <a:ext cx="2522101" cy="5666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 dirty="0">
                                <a:latin typeface="Cambria Math" panose="02040503050406030204" pitchFamily="18" charset="0"/>
                              </a:rPr>
                              <m:t>rms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000" dirty="0">
                    <a:latin typeface="Candara" panose="020E050203030302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2000" dirty="0">
                  <a:latin typeface="Candara" panose="020E0502030303020204" pitchFamily="34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0994455-442E-4EBB-94E2-95EDAE9CCA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3637" y="3118384"/>
                <a:ext cx="2522101" cy="566694"/>
              </a:xfrm>
              <a:prstGeom prst="rect">
                <a:avLst/>
              </a:prstGeom>
              <a:blipFill>
                <a:blip r:embed="rId4"/>
                <a:stretch>
                  <a:fillRect b="-1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0432D3F6-3774-4780-A2BD-E7E244675883}"/>
              </a:ext>
            </a:extLst>
          </p:cNvPr>
          <p:cNvSpPr/>
          <p:nvPr/>
        </p:nvSpPr>
        <p:spPr bwMode="auto">
          <a:xfrm>
            <a:off x="4921460" y="3054370"/>
            <a:ext cx="2940420" cy="747852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B75EA5E-E562-D833-1AFC-EB3AA513E5B8}"/>
              </a:ext>
            </a:extLst>
          </p:cNvPr>
          <p:cNvGrpSpPr/>
          <p:nvPr/>
        </p:nvGrpSpPr>
        <p:grpSpPr>
          <a:xfrm>
            <a:off x="814048" y="3841491"/>
            <a:ext cx="3549639" cy="2642750"/>
            <a:chOff x="110088" y="4108631"/>
            <a:chExt cx="4724569" cy="351750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B2DCBF5-2F83-C4FE-0AD9-19930DAF488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0088" y="4108631"/>
              <a:ext cx="4688373" cy="3517500"/>
            </a:xfrm>
            <a:prstGeom prst="rect">
              <a:avLst/>
            </a:prstGeom>
          </p:spPr>
        </p:pic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2B52089-CBE3-A1D4-555C-91C44630A9D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09317" y="7233739"/>
              <a:ext cx="4625340" cy="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0322D60-FE7E-130B-E64C-872F7CDDDBCF}"/>
                    </a:ext>
                  </a:extLst>
                </p:cNvPr>
                <p:cNvSpPr txBox="1"/>
                <p:nvPr/>
              </p:nvSpPr>
              <p:spPr>
                <a:xfrm>
                  <a:off x="1215269" y="5505477"/>
                  <a:ext cx="1091059" cy="5325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0322D60-FE7E-130B-E64C-872F7CDDDB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5269" y="5505477"/>
                  <a:ext cx="1091059" cy="532546"/>
                </a:xfrm>
                <a:prstGeom prst="rect">
                  <a:avLst/>
                </a:prstGeom>
                <a:blipFill>
                  <a:blip r:embed="rId6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2001137-93CD-95B2-7DCA-46725EF68FFA}"/>
                </a:ext>
              </a:extLst>
            </p:cNvPr>
            <p:cNvSpPr/>
            <p:nvPr/>
          </p:nvSpPr>
          <p:spPr bwMode="auto">
            <a:xfrm>
              <a:off x="2181308" y="5764256"/>
              <a:ext cx="91440" cy="9144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670B6F2-65EA-B9B8-F22D-C3D8D6F26824}"/>
                    </a:ext>
                  </a:extLst>
                </p:cNvPr>
                <p:cNvSpPr txBox="1"/>
                <p:nvPr/>
              </p:nvSpPr>
              <p:spPr>
                <a:xfrm>
                  <a:off x="2312287" y="5017790"/>
                  <a:ext cx="1774765" cy="93272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670B6F2-65EA-B9B8-F22D-C3D8D6F268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2287" y="5017790"/>
                  <a:ext cx="1774765" cy="93272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36243F9-C2D6-7F69-E11A-2B511BAA69FC}"/>
                </a:ext>
              </a:extLst>
            </p:cNvPr>
            <p:cNvSpPr/>
            <p:nvPr/>
          </p:nvSpPr>
          <p:spPr bwMode="auto">
            <a:xfrm>
              <a:off x="2300369" y="5251555"/>
              <a:ext cx="91440" cy="9144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E0CCB72-E339-9E96-6526-9D4086482BD7}"/>
                    </a:ext>
                  </a:extLst>
                </p:cNvPr>
                <p:cNvSpPr txBox="1"/>
                <p:nvPr/>
              </p:nvSpPr>
              <p:spPr>
                <a:xfrm>
                  <a:off x="1152236" y="6485843"/>
                  <a:ext cx="2839841" cy="5325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  <m: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000" b="0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sz="2000" b="0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E0CCB72-E339-9E96-6526-9D4086482B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2236" y="6485843"/>
                  <a:ext cx="2839841" cy="532546"/>
                </a:xfrm>
                <a:prstGeom prst="rect">
                  <a:avLst/>
                </a:prstGeom>
                <a:blipFill>
                  <a:blip r:embed="rId8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54DDB87-A8EF-6DD1-B6F9-FE3928F7A6C7}"/>
              </a:ext>
            </a:extLst>
          </p:cNvPr>
          <p:cNvCxnSpPr>
            <a:cxnSpLocks/>
          </p:cNvCxnSpPr>
          <p:nvPr/>
        </p:nvCxnSpPr>
        <p:spPr bwMode="auto">
          <a:xfrm>
            <a:off x="6438900" y="3860709"/>
            <a:ext cx="0" cy="749956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AF99C4C-F92A-B7BA-AB67-CFCFB89B26CC}"/>
                  </a:ext>
                </a:extLst>
              </p:cNvPr>
              <p:cNvSpPr txBox="1"/>
              <p:nvPr/>
            </p:nvSpPr>
            <p:spPr>
              <a:xfrm>
                <a:off x="4884477" y="4610665"/>
                <a:ext cx="294042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Candara" pitchFamily="34" charset="0"/>
                  </a:rPr>
                  <a:t>is inversely proportional to RMS delay spread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AF99C4C-F92A-B7BA-AB67-CFCFB89B26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4477" y="4610665"/>
                <a:ext cx="2940420" cy="1015663"/>
              </a:xfrm>
              <a:prstGeom prst="rect">
                <a:avLst/>
              </a:prstGeom>
              <a:blipFill>
                <a:blip r:embed="rId9"/>
                <a:stretch>
                  <a:fillRect t="-2994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395089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A9D2059-4AFF-6763-A68B-7FC0A1A5C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2 – Doppler Spread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BE6B0-9063-2BDB-82DE-B3D269C63C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473177-3522-4150-8F21-AD833F444AD4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8059422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96144-8278-49A2-E235-5030AB6F7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300038"/>
            <a:ext cx="8595360" cy="788987"/>
          </a:xfrm>
        </p:spPr>
        <p:txBody>
          <a:bodyPr/>
          <a:lstStyle/>
          <a:p>
            <a:r>
              <a:rPr lang="en-US" dirty="0"/>
              <a:t>Task 2 – Doppler Spread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1DF547-7CE4-243A-304D-BFBBCDD6CE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4320" y="1231900"/>
                <a:ext cx="8595360" cy="601234"/>
              </a:xfrm>
            </p:spPr>
            <p:txBody>
              <a:bodyPr/>
              <a:lstStyle/>
              <a:p>
                <a:r>
                  <a:rPr lang="en-US" dirty="0"/>
                  <a:t>Your goal is to estimate the speed of the fan blade with the following setup: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Before you start, discuss what the maximum velocity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would be because of the rotation of the fan blades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tr-TR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: Blade radius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𝑅𝑃𝑀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Revolution per minute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?[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𝑠𝑒𝑐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1DF547-7CE4-243A-304D-BFBBCDD6CE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320" y="1231900"/>
                <a:ext cx="8595360" cy="601234"/>
              </a:xfrm>
              <a:blipFill>
                <a:blip r:embed="rId3"/>
                <a:stretch>
                  <a:fillRect l="-1135" t="-9091" b="-731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672F6-7271-450D-E307-D362C8ADBB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16725" y="6523510"/>
            <a:ext cx="2133600" cy="302739"/>
          </a:xfrm>
        </p:spPr>
        <p:txBody>
          <a:bodyPr/>
          <a:lstStyle/>
          <a:p>
            <a:fld id="{9A473177-3522-4150-8F21-AD833F444AD4}" type="slidenum">
              <a:rPr lang="en-US" altLang="en-US" smtClean="0"/>
              <a:pPr/>
              <a:t>22</a:t>
            </a:fld>
            <a:endParaRPr lang="en-US" altLang="en-US"/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548D9DF6-7E96-4C85-37E7-AB9E6FB02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6673" y="2112899"/>
            <a:ext cx="1657822" cy="1685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ADALM-PLUTO Analog Devices Inc. | Maker/DIY, Educational | DigiKey">
            <a:extLst>
              <a:ext uri="{FF2B5EF4-FFF2-40B4-BE49-F238E27FC236}">
                <a16:creationId xmlns:a16="http://schemas.microsoft.com/office/drawing/2014/main" id="{BF47D6B7-8F78-1D54-5C79-78FFE6FAC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88845" y="2455996"/>
            <a:ext cx="908840" cy="99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380F6E5-74F7-2178-1BB2-B12474BB7DA4}"/>
                  </a:ext>
                </a:extLst>
              </p:cNvPr>
              <p:cNvSpPr txBox="1"/>
              <p:nvPr/>
            </p:nvSpPr>
            <p:spPr>
              <a:xfrm>
                <a:off x="1684975" y="3750185"/>
                <a:ext cx="3041217" cy="493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b="0" dirty="0">
                    <a:latin typeface="Candara" panose="020E0502030303020204" pitchFamily="34" charset="0"/>
                  </a:rPr>
                  <a:t>Doppler shift: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dirty="0">
                  <a:latin typeface="Candara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380F6E5-74F7-2178-1BB2-B12474BB7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4975" y="3750185"/>
                <a:ext cx="3041217" cy="493981"/>
              </a:xfrm>
              <a:prstGeom prst="rect">
                <a:avLst/>
              </a:prstGeom>
              <a:blipFill>
                <a:blip r:embed="rId6"/>
                <a:stretch>
                  <a:fillRect l="-1603"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767F431-BEB6-5A2A-85EF-837CCE9909B1}"/>
              </a:ext>
            </a:extLst>
          </p:cNvPr>
          <p:cNvCxnSpPr>
            <a:cxnSpLocks/>
          </p:cNvCxnSpPr>
          <p:nvPr/>
        </p:nvCxnSpPr>
        <p:spPr bwMode="auto">
          <a:xfrm>
            <a:off x="1982124" y="2935936"/>
            <a:ext cx="318453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4A75CBE-8CA8-2F93-AB43-C83BCED2A26C}"/>
              </a:ext>
            </a:extLst>
          </p:cNvPr>
          <p:cNvCxnSpPr>
            <a:cxnSpLocks/>
          </p:cNvCxnSpPr>
          <p:nvPr/>
        </p:nvCxnSpPr>
        <p:spPr bwMode="auto">
          <a:xfrm>
            <a:off x="4089621" y="2894373"/>
            <a:ext cx="2286000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468B998-C9B3-6F91-0944-897F761189DF}"/>
              </a:ext>
            </a:extLst>
          </p:cNvPr>
          <p:cNvGrpSpPr/>
          <p:nvPr/>
        </p:nvGrpSpPr>
        <p:grpSpPr>
          <a:xfrm>
            <a:off x="5682846" y="2266935"/>
            <a:ext cx="2791731" cy="1188787"/>
            <a:chOff x="-405899" y="4854480"/>
            <a:chExt cx="2791731" cy="1188787"/>
          </a:xfrm>
        </p:grpSpPr>
        <p:pic>
          <p:nvPicPr>
            <p:cNvPr id="26" name="Picture 2" descr="ADALM-PLUTO Analog Devices Inc. | Maker/DIY, Educational | DigiKey">
              <a:extLst>
                <a:ext uri="{FF2B5EF4-FFF2-40B4-BE49-F238E27FC236}">
                  <a16:creationId xmlns:a16="http://schemas.microsoft.com/office/drawing/2014/main" id="{9FF1C67F-C07D-B7C0-B724-CE59F7DA58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05899" y="4854480"/>
              <a:ext cx="1080713" cy="11887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8">
              <a:extLst>
                <a:ext uri="{FF2B5EF4-FFF2-40B4-BE49-F238E27FC236}">
                  <a16:creationId xmlns:a16="http://schemas.microsoft.com/office/drawing/2014/main" id="{199A9C4C-A5F4-76DE-54C2-7C4E49E04B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2744" y="5356554"/>
              <a:ext cx="374856" cy="1846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150A22D5-25BB-6350-6568-8627D5ECC75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625530" y="5112645"/>
              <a:ext cx="760302" cy="675757"/>
            </a:xfrm>
            <a:prstGeom prst="rect">
              <a:avLst/>
            </a:prstGeom>
          </p:spPr>
        </p:pic>
        <p:cxnSp>
          <p:nvCxnSpPr>
            <p:cNvPr id="29" name="Connector: Elbow 28">
              <a:extLst>
                <a:ext uri="{FF2B5EF4-FFF2-40B4-BE49-F238E27FC236}">
                  <a16:creationId xmlns:a16="http://schemas.microsoft.com/office/drawing/2014/main" id="{09D823AE-01E9-695F-69CA-ABD8F947295B}"/>
                </a:ext>
              </a:extLst>
            </p:cNvPr>
            <p:cNvCxnSpPr>
              <a:cxnSpLocks/>
              <a:stCxn id="28" idx="1"/>
              <a:endCxn id="27" idx="3"/>
            </p:cNvCxnSpPr>
            <p:nvPr/>
          </p:nvCxnSpPr>
          <p:spPr bwMode="auto">
            <a:xfrm rot="10800000">
              <a:off x="1337600" y="5448876"/>
              <a:ext cx="287930" cy="1649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" name="Connector: Elbow 29">
              <a:extLst>
                <a:ext uri="{FF2B5EF4-FFF2-40B4-BE49-F238E27FC236}">
                  <a16:creationId xmlns:a16="http://schemas.microsoft.com/office/drawing/2014/main" id="{3F990B29-7943-70B2-E4FA-8C5E9E89DE4E}"/>
                </a:ext>
              </a:extLst>
            </p:cNvPr>
            <p:cNvCxnSpPr>
              <a:cxnSpLocks/>
              <a:stCxn id="27" idx="1"/>
              <a:endCxn id="26" idx="1"/>
            </p:cNvCxnSpPr>
            <p:nvPr/>
          </p:nvCxnSpPr>
          <p:spPr bwMode="auto">
            <a:xfrm rot="10800000">
              <a:off x="674814" y="5448875"/>
              <a:ext cx="287930" cy="1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15B7ECA5-1D84-16D8-9364-F072556D1372}"/>
              </a:ext>
            </a:extLst>
          </p:cNvPr>
          <p:cNvSpPr txBox="1"/>
          <p:nvPr/>
        </p:nvSpPr>
        <p:spPr>
          <a:xfrm>
            <a:off x="924951" y="3301405"/>
            <a:ext cx="5677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ndara" pitchFamily="34" charset="0"/>
              </a:rPr>
              <a:t>TX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56B108F-F84D-D0F4-F630-A3EC646E86EF}"/>
              </a:ext>
            </a:extLst>
          </p:cNvPr>
          <p:cNvSpPr txBox="1"/>
          <p:nvPr/>
        </p:nvSpPr>
        <p:spPr>
          <a:xfrm>
            <a:off x="5881333" y="3307697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ndara" pitchFamily="34" charset="0"/>
              </a:rPr>
              <a:t>RX</a:t>
            </a:r>
          </a:p>
        </p:txBody>
      </p:sp>
    </p:spTree>
    <p:extLst>
      <p:ext uri="{BB962C8B-B14F-4D97-AF65-F5344CB8AC3E}">
        <p14:creationId xmlns:p14="http://schemas.microsoft.com/office/powerpoint/2010/main" val="1565805136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A9D2059-4AFF-6763-A68B-7FC0A1A5C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BE6B0-9063-2BDB-82DE-B3D269C63C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473177-3522-4150-8F21-AD833F444AD4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3856123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E5919-EAB6-89CF-7AF1-DA21C9CEF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1: Preparation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79014D-3973-00C5-F9F5-8AC0DC81CC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4320" y="1231900"/>
                <a:ext cx="8595360" cy="2714458"/>
              </a:xfrm>
            </p:spPr>
            <p:txBody>
              <a:bodyPr/>
              <a:lstStyle/>
              <a:p>
                <a:r>
                  <a:rPr lang="en-US" dirty="0"/>
                  <a:t>Transmitter: Your first goal is to write a MATLAB script to transmit a tone 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5.9</m:t>
                    </m:r>
                  </m:oMath>
                </a14:m>
                <a:r>
                  <a:rPr lang="en-US" dirty="0"/>
                  <a:t> GHz  +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dirty="0"/>
                  <a:t> kHz</a:t>
                </a:r>
              </a:p>
              <a:p>
                <a:pPr lvl="1"/>
                <a:r>
                  <a:rPr lang="en-US" dirty="0"/>
                  <a:t>The sample rate of the SDR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Msps</a:t>
                </a:r>
              </a:p>
              <a:p>
                <a:pPr lvl="1"/>
                <a:r>
                  <a:rPr lang="en-US" dirty="0"/>
                  <a:t>The duration of the packet will be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 ms</a:t>
                </a:r>
              </a:p>
              <a:p>
                <a:pPr lvl="1"/>
                <a:r>
                  <a:rPr lang="en-US" dirty="0"/>
                  <a:t>Update MATLAB script uploaded to Blackboard</a:t>
                </a:r>
              </a:p>
              <a:p>
                <a:r>
                  <a:rPr lang="en-US" dirty="0"/>
                  <a:t>Receiver: By using GNU Radio, your next goal is to create a flowgraph with the following blocks: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79014D-3973-00C5-F9F5-8AC0DC81CC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320" y="1231900"/>
                <a:ext cx="8595360" cy="2714458"/>
              </a:xfrm>
              <a:blipFill>
                <a:blip r:embed="rId2"/>
                <a:stretch>
                  <a:fillRect l="-1135" t="-2022" b="-5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7CD28-5A67-2D5C-21ED-0A79DCC99E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473177-3522-4150-8F21-AD833F444AD4}" type="slidenum">
              <a:rPr lang="en-US" altLang="en-US" smtClean="0"/>
              <a:pPr/>
              <a:t>24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EFE5EC-724F-8252-8089-2200179BF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6007" y="4062856"/>
            <a:ext cx="3351987" cy="2487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098548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C651EA3-5568-92F2-81BE-3C923BEE7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05" y="2055338"/>
            <a:ext cx="3585143" cy="34875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7CFF74-1547-A177-EE69-962029EE8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Several Settings: SDR Source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0078D-0190-5C43-5D4F-9DDE76EB79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473177-3522-4150-8F21-AD833F444AD4}" type="slidenum">
              <a:rPr lang="en-US" altLang="en-US" smtClean="0"/>
              <a:pPr/>
              <a:t>25</a:t>
            </a:fld>
            <a:endParaRPr lang="en-US" alt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22FBBE3-225E-80B7-D157-517C78CF5263}"/>
              </a:ext>
            </a:extLst>
          </p:cNvPr>
          <p:cNvCxnSpPr>
            <a:cxnSpLocks/>
          </p:cNvCxnSpPr>
          <p:nvPr/>
        </p:nvCxnSpPr>
        <p:spPr bwMode="auto">
          <a:xfrm flipH="1">
            <a:off x="2194560" y="1779514"/>
            <a:ext cx="1124712" cy="108255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47A90DC-2616-8448-1489-0A1F124BEC1E}"/>
              </a:ext>
            </a:extLst>
          </p:cNvPr>
          <p:cNvSpPr txBox="1"/>
          <p:nvPr/>
        </p:nvSpPr>
        <p:spPr>
          <a:xfrm>
            <a:off x="1577457" y="1256294"/>
            <a:ext cx="53719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ndara" pitchFamily="34" charset="0"/>
              </a:rPr>
              <a:t>Change the IP based on your SDRs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F2274A2-E5A5-9614-DF38-D7D18EE9C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502" y="2069002"/>
            <a:ext cx="3578636" cy="3474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94311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44963-0FCA-95A0-99CF-7D12DC5AF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Several Settings: QT GUI Sink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BAB7E-D490-F995-5B6B-7BEDE06050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473177-3522-4150-8F21-AD833F444AD4}" type="slidenum">
              <a:rPr lang="en-US" altLang="en-US" smtClean="0"/>
              <a:pPr/>
              <a:t>26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A91410-6EBA-1407-76DA-571EE4C76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907" y="1476301"/>
            <a:ext cx="3922186" cy="450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062584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44963-0FCA-95A0-99CF-7D12DC5AF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Several Settings: QT GUI Freq. Sink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BAB7E-D490-F995-5B6B-7BEDE06050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473177-3522-4150-8F21-AD833F444AD4}" type="slidenum">
              <a:rPr lang="en-US" altLang="en-US" smtClean="0"/>
              <a:pPr/>
              <a:t>27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D53764-CCFA-FD85-7BBE-F07644562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278" y="1185125"/>
            <a:ext cx="3615142" cy="52422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E7B2B9-8F45-63F2-7780-E78450129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0878" y="1185125"/>
            <a:ext cx="3615594" cy="5242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106127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A9D2059-4AFF-6763-A68B-7FC0A1A5C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BE6B0-9063-2BDB-82DE-B3D269C63C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473177-3522-4150-8F21-AD833F444AD4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7078891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E920EC-59D2-8101-866D-7E4F6E21C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2: Observing Doppler Spread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5EF606-2A4D-1587-705E-7E0EE2823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you run both MATLAB code and flowgraph, observe the followings: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F06023-0A3D-4641-3E56-A3747909B0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8A1152-1B24-48B6-A8F7-3C21D48C32AA}" type="slidenum">
              <a:rPr lang="en-US" altLang="en-US" smtClean="0"/>
              <a:pPr/>
              <a:t>29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EDC9CA-627A-A592-FDF1-1D8C99A66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82" y="2147286"/>
            <a:ext cx="6498998" cy="4284585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FDC76A6-921B-278F-5D4F-1127E2457369}"/>
              </a:ext>
            </a:extLst>
          </p:cNvPr>
          <p:cNvCxnSpPr>
            <a:cxnSpLocks/>
          </p:cNvCxnSpPr>
          <p:nvPr/>
        </p:nvCxnSpPr>
        <p:spPr bwMode="auto">
          <a:xfrm flipH="1">
            <a:off x="4144064" y="4488873"/>
            <a:ext cx="2792445" cy="803563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3FEBF55-1A49-38B6-8C4F-34E0FBC06950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4758283" y="3144981"/>
            <a:ext cx="2252117" cy="765457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1998E96-6F47-664A-CFB6-B5D59105FFDF}"/>
              </a:ext>
            </a:extLst>
          </p:cNvPr>
          <p:cNvSpPr txBox="1"/>
          <p:nvPr/>
        </p:nvSpPr>
        <p:spPr>
          <a:xfrm>
            <a:off x="7010400" y="3782638"/>
            <a:ext cx="2133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ndara" pitchFamily="34" charset="0"/>
              </a:rPr>
              <a:t>The tone transmitted</a:t>
            </a:r>
          </a:p>
        </p:txBody>
      </p:sp>
    </p:spTree>
    <p:extLst>
      <p:ext uri="{BB962C8B-B14F-4D97-AF65-F5344CB8AC3E}">
        <p14:creationId xmlns:p14="http://schemas.microsoft.com/office/powerpoint/2010/main" val="3032689031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E920EC-59D2-8101-866D-7E4F6E21C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2: Observing Doppler Spread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5EF606-2A4D-1587-705E-7E0EE2823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Zoom in the region where you receive the tone</a:t>
            </a:r>
          </a:p>
          <a:p>
            <a:pPr lvl="1"/>
            <a:r>
              <a:rPr lang="en-US" dirty="0"/>
              <a:t>Click “Auto Scale” to adjust the colors</a:t>
            </a:r>
          </a:p>
          <a:p>
            <a:r>
              <a:rPr lang="en-US" dirty="0"/>
              <a:t>Move your TX SDR to nearby the fan and turn-off the fan…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F06023-0A3D-4641-3E56-A3747909B0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8A1152-1B24-48B6-A8F7-3C21D48C32AA}" type="slidenum">
              <a:rPr lang="en-US" altLang="en-US" smtClean="0"/>
              <a:pPr/>
              <a:t>30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B072D1-2BDD-EAFD-B850-12D87B555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487" y="2430122"/>
            <a:ext cx="7557025" cy="409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629200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AB8362A-4E10-21E8-F899-889DE93A5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262" y="3174997"/>
            <a:ext cx="6245475" cy="338296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4E920EC-59D2-8101-866D-7E4F6E21C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2: Observing Doppler Spread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A5EF606-2A4D-1587-705E-7E0EE28230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Turn on the fan at the full speed and discuss the behavior in the frequency domain</a:t>
                </a:r>
              </a:p>
              <a:p>
                <a:pPr lvl="1"/>
                <a:r>
                  <a:rPr lang="en-US" dirty="0"/>
                  <a:t>Is the spread in the frequency similar to Jake’s spectrum? Why?</a:t>
                </a:r>
              </a:p>
              <a:p>
                <a:pPr lvl="1"/>
                <a:r>
                  <a:rPr lang="en-US" dirty="0"/>
                  <a:t>What is the maximum Doppler shift? </a:t>
                </a:r>
              </a:p>
              <a:p>
                <a:pPr lvl="1"/>
                <a:r>
                  <a:rPr lang="en-US" dirty="0"/>
                  <a:t>Calculate the RPM of the fan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=27</m:t>
                    </m:r>
                  </m:oMath>
                </a14:m>
                <a:r>
                  <a:rPr lang="en-US" dirty="0"/>
                  <a:t> cm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A5EF606-2A4D-1587-705E-7E0EE28230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35" t="-11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F06023-0A3D-4641-3E56-A3747909B0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8A1152-1B24-48B6-A8F7-3C21D48C32AA}" type="slidenum">
              <a:rPr lang="en-US" altLang="en-US" smtClean="0"/>
              <a:pPr/>
              <a:t>31</a:t>
            </a:fld>
            <a:endParaRPr lang="en-US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F2CDC6-D0C5-4D61-4E63-A23EAC4FC3DA}"/>
              </a:ext>
            </a:extLst>
          </p:cNvPr>
          <p:cNvSpPr txBox="1"/>
          <p:nvPr/>
        </p:nvSpPr>
        <p:spPr>
          <a:xfrm>
            <a:off x="6278439" y="2693569"/>
            <a:ext cx="21492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>
                <a:latin typeface="Candara" panose="020E0502030303020204" pitchFamily="34" charset="0"/>
              </a:rPr>
              <a:t>Fan specs: https://m.media-amazon.com/images/I/C15ymxknabL.pdf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F8CDAB-86BB-FF3F-685C-9BD69EB49FAB}"/>
              </a:ext>
            </a:extLst>
          </p:cNvPr>
          <p:cNvSpPr txBox="1"/>
          <p:nvPr/>
        </p:nvSpPr>
        <p:spPr>
          <a:xfrm>
            <a:off x="6278438" y="2360691"/>
            <a:ext cx="21492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/>
              <a:t>For more information: https://www.ncbi.nlm.nih.gov/pmc/articles/PMC9824501/pdf/sensors-23-00038.pdf</a:t>
            </a:r>
          </a:p>
        </p:txBody>
      </p:sp>
    </p:spTree>
    <p:extLst>
      <p:ext uri="{BB962C8B-B14F-4D97-AF65-F5344CB8AC3E}">
        <p14:creationId xmlns:p14="http://schemas.microsoft.com/office/powerpoint/2010/main" val="278280759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spAutoFit/>
      </a:bodyPr>
      <a:lstStyle>
        <a:defPPr>
          <a:defRPr sz="2800" smtClean="0">
            <a:latin typeface="Candara" pitchFamily="34" charset="0"/>
          </a:defRPr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27818</TotalTime>
  <Words>1221</Words>
  <Application>Microsoft Office PowerPoint</Application>
  <PresentationFormat>On-screen Show (4:3)</PresentationFormat>
  <Paragraphs>195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Arial</vt:lpstr>
      <vt:lpstr>Cambria Math</vt:lpstr>
      <vt:lpstr>Candara</vt:lpstr>
      <vt:lpstr>Enchanted</vt:lpstr>
      <vt:lpstr>Menlo</vt:lpstr>
      <vt:lpstr>Times New Roman</vt:lpstr>
      <vt:lpstr>Univers</vt:lpstr>
      <vt:lpstr>Default Design</vt:lpstr>
      <vt:lpstr>PowerPoint Presentation</vt:lpstr>
      <vt:lpstr>Task 1 - Multipath Channel</vt:lpstr>
      <vt:lpstr>Task 1 – Multipath Channel</vt:lpstr>
      <vt:lpstr>Part 1</vt:lpstr>
      <vt:lpstr>Part 1: Generating an Impulse</vt:lpstr>
      <vt:lpstr>Part 1: Generating an Impulse</vt:lpstr>
      <vt:lpstr>Part 1: Generating an Impulse</vt:lpstr>
      <vt:lpstr>Part 2</vt:lpstr>
      <vt:lpstr>Part 2: Observing CIR and CFR</vt:lpstr>
      <vt:lpstr>Several Settings: SDR Source</vt:lpstr>
      <vt:lpstr>Several Settings: QT GUI Sink</vt:lpstr>
      <vt:lpstr>Several Settings: Log10</vt:lpstr>
      <vt:lpstr>Several Settings: QT GUI Time Sink</vt:lpstr>
      <vt:lpstr>Part 2: Observing CIR and CFR</vt:lpstr>
      <vt:lpstr>Part 3</vt:lpstr>
      <vt:lpstr>Part 3: CIR/CFR in MATLAB</vt:lpstr>
      <vt:lpstr>Part 3: CIR/CFR in MATLAB</vt:lpstr>
      <vt:lpstr>Part 4</vt:lpstr>
      <vt:lpstr>Part 4 – Measuring Coherence BW</vt:lpstr>
      <vt:lpstr>Recap: Coherence Bandwidth</vt:lpstr>
      <vt:lpstr>Task 2 – Doppler Spread</vt:lpstr>
      <vt:lpstr>Task 2 – Doppler Spread</vt:lpstr>
      <vt:lpstr>Part 1</vt:lpstr>
      <vt:lpstr>Part 1: Preparation </vt:lpstr>
      <vt:lpstr>Several Settings: SDR Source</vt:lpstr>
      <vt:lpstr>Several Settings: QT GUI Sink</vt:lpstr>
      <vt:lpstr>Several Settings: QT GUI Freq. Sink</vt:lpstr>
      <vt:lpstr>Part 2</vt:lpstr>
      <vt:lpstr>Part 2: Observing Doppler Spread</vt:lpstr>
      <vt:lpstr>Part 2: Observing Doppler Spread</vt:lpstr>
      <vt:lpstr>Part 2: Observing Doppler Spread</vt:lpstr>
    </vt:vector>
  </TitlesOfParts>
  <Company>OU/EECS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 Loss &amp; Fading</dc:title>
  <dc:creator>EECS</dc:creator>
  <cp:lastModifiedBy>Sahin, Alphan</cp:lastModifiedBy>
  <cp:revision>1090</cp:revision>
  <cp:lastPrinted>2012-06-04T16:07:19Z</cp:lastPrinted>
  <dcterms:created xsi:type="dcterms:W3CDTF">2006-09-08T16:46:55Z</dcterms:created>
  <dcterms:modified xsi:type="dcterms:W3CDTF">2024-01-22T21:04:05Z</dcterms:modified>
</cp:coreProperties>
</file>