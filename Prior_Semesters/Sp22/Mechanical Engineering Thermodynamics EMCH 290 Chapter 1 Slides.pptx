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8" r:id="rId6"/>
    <p:sldId id="259" r:id="rId7"/>
    <p:sldId id="257"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4" r:id="rId22"/>
    <p:sldId id="275" r:id="rId23"/>
    <p:sldId id="273" r:id="rId24"/>
    <p:sldId id="276" r:id="rId25"/>
    <p:sldId id="277" r:id="rId26"/>
    <p:sldId id="278" r:id="rId27"/>
    <p:sldId id="27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111" d="100"/>
          <a:sy n="111" d="100"/>
        </p:scale>
        <p:origin x="222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ught, Jacob" userId="100320015f432055" providerId="None" clId="Web-{B16F1E5E-01E8-48DC-84B5-D0D2BA3E8067}"/>
    <pc:docChg chg="modSld">
      <pc:chgData name="Vaught, Jacob" userId="100320015f432055" providerId="None" clId="Web-{B16F1E5E-01E8-48DC-84B5-D0D2BA3E8067}" dt="2022-03-19T01:48:39.157" v="39" actId="20577"/>
      <pc:docMkLst>
        <pc:docMk/>
      </pc:docMkLst>
      <pc:sldChg chg="modSp">
        <pc:chgData name="Vaught, Jacob" userId="100320015f432055" providerId="None" clId="Web-{B16F1E5E-01E8-48DC-84B5-D0D2BA3E8067}" dt="2022-03-19T01:48:39.157" v="39" actId="20577"/>
        <pc:sldMkLst>
          <pc:docMk/>
          <pc:sldMk cId="2902193620" sldId="268"/>
        </pc:sldMkLst>
        <pc:spChg chg="mod">
          <ac:chgData name="Vaught, Jacob" userId="100320015f432055" providerId="None" clId="Web-{B16F1E5E-01E8-48DC-84B5-D0D2BA3E8067}" dt="2022-03-19T01:48:39.157" v="39" actId="20577"/>
          <ac:spMkLst>
            <pc:docMk/>
            <pc:sldMk cId="2902193620" sldId="268"/>
            <ac:spMk id="6" creationId="{8FD45163-752E-4581-8720-F09F648ACC48}"/>
          </ac:spMkLst>
        </pc:spChg>
      </pc:sldChg>
    </pc:docChg>
  </pc:docChgLst>
  <pc:docChgLst>
    <pc:chgData name="Vaught, Jacob" userId="3948bc58-7b81-44a4-9cf0-22ebac0213b4" providerId="ADAL" clId="{3441F301-E8D3-45F6-9558-7857CCEF05C9}"/>
    <pc:docChg chg="modSld">
      <pc:chgData name="Vaught, Jacob" userId="3948bc58-7b81-44a4-9cf0-22ebac0213b4" providerId="ADAL" clId="{3441F301-E8D3-45F6-9558-7857CCEF05C9}" dt="2023-05-07T16:16:56.437" v="20" actId="403"/>
      <pc:docMkLst>
        <pc:docMk/>
      </pc:docMkLst>
      <pc:sldChg chg="modSp mod">
        <pc:chgData name="Vaught, Jacob" userId="3948bc58-7b81-44a4-9cf0-22ebac0213b4" providerId="ADAL" clId="{3441F301-E8D3-45F6-9558-7857CCEF05C9}" dt="2023-05-07T16:16:56.437" v="20" actId="403"/>
        <pc:sldMkLst>
          <pc:docMk/>
          <pc:sldMk cId="3945068725" sldId="260"/>
        </pc:sldMkLst>
        <pc:spChg chg="mod">
          <ac:chgData name="Vaught, Jacob" userId="3948bc58-7b81-44a4-9cf0-22ebac0213b4" providerId="ADAL" clId="{3441F301-E8D3-45F6-9558-7857CCEF05C9}" dt="2023-05-07T16:16:56.437" v="20" actId="403"/>
          <ac:spMkLst>
            <pc:docMk/>
            <pc:sldMk cId="3945068725" sldId="260"/>
            <ac:spMk id="3" creationId="{9FF4E07F-9B6E-4BC9-AA96-221B92C8C8A8}"/>
          </ac:spMkLst>
        </pc:spChg>
      </pc:sldChg>
      <pc:sldChg chg="modSp mod">
        <pc:chgData name="Vaught, Jacob" userId="3948bc58-7b81-44a4-9cf0-22ebac0213b4" providerId="ADAL" clId="{3441F301-E8D3-45F6-9558-7857CCEF05C9}" dt="2023-05-07T16:16:04.998" v="17" actId="20577"/>
        <pc:sldMkLst>
          <pc:docMk/>
          <pc:sldMk cId="2833349806" sldId="263"/>
        </pc:sldMkLst>
        <pc:spChg chg="mod">
          <ac:chgData name="Vaught, Jacob" userId="3948bc58-7b81-44a4-9cf0-22ebac0213b4" providerId="ADAL" clId="{3441F301-E8D3-45F6-9558-7857CCEF05C9}" dt="2023-05-07T16:16:04.998" v="17" actId="20577"/>
          <ac:spMkLst>
            <pc:docMk/>
            <pc:sldMk cId="2833349806" sldId="263"/>
            <ac:spMk id="2" creationId="{5A3BF5AC-DE00-4B65-B356-EE7520799D8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8CBE75-626A-49A4-A266-C990EC3EE02D}" type="datetimeFigureOut">
              <a:rPr lang="en-US" smtClean="0"/>
              <a:t>5/7/2023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9F0E8-040E-47FC-AFD8-0E6DC5BF77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036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8CBE75-626A-49A4-A266-C990EC3EE02D}" type="datetimeFigureOut">
              <a:rPr lang="en-US" smtClean="0"/>
              <a:t>5/7/2023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9F0E8-040E-47FC-AFD8-0E6DC5BF7751}" type="slidenum">
              <a:rPr lang="en-US" smtClean="0"/>
              <a:t>‹#›</a:t>
            </a:fld>
            <a:endParaRPr lang="en-US"/>
          </a:p>
        </p:txBody>
      </p:sp>
    </p:spTree>
    <p:extLst>
      <p:ext uri="{BB962C8B-B14F-4D97-AF65-F5344CB8AC3E}">
        <p14:creationId xmlns:p14="http://schemas.microsoft.com/office/powerpoint/2010/main" val="518603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8CBE75-626A-49A4-A266-C990EC3EE02D}" type="datetimeFigureOut">
              <a:rPr lang="en-US" smtClean="0"/>
              <a:t>5/7/2023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9F0E8-040E-47FC-AFD8-0E6DC5BF77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6314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8CBE75-626A-49A4-A266-C990EC3EE02D}" type="datetimeFigureOut">
              <a:rPr lang="en-US" smtClean="0"/>
              <a:t>5/7/2023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9F0E8-040E-47FC-AFD8-0E6DC5BF7751}" type="slidenum">
              <a:rPr lang="en-US" smtClean="0"/>
              <a:t>‹#›</a:t>
            </a:fld>
            <a:endParaRPr lang="en-US"/>
          </a:p>
        </p:txBody>
      </p:sp>
    </p:spTree>
    <p:extLst>
      <p:ext uri="{BB962C8B-B14F-4D97-AF65-F5344CB8AC3E}">
        <p14:creationId xmlns:p14="http://schemas.microsoft.com/office/powerpoint/2010/main" val="334578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8CBE75-626A-49A4-A266-C990EC3EE02D}" type="datetimeFigureOut">
              <a:rPr lang="en-US" smtClean="0"/>
              <a:t>5/7/2023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D39F0E8-040E-47FC-AFD8-0E6DC5BF7751}" type="slidenum">
              <a:rPr lang="en-US" smtClean="0"/>
              <a:t>‹#›</a:t>
            </a:fld>
            <a:endParaRPr lang="en-US"/>
          </a:p>
        </p:txBody>
      </p:sp>
    </p:spTree>
    <p:extLst>
      <p:ext uri="{BB962C8B-B14F-4D97-AF65-F5344CB8AC3E}">
        <p14:creationId xmlns:p14="http://schemas.microsoft.com/office/powerpoint/2010/main" val="4002510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8CBE75-626A-49A4-A266-C990EC3EE02D}" type="datetimeFigureOut">
              <a:rPr lang="en-US" smtClean="0"/>
              <a:t>5/7/2023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D39F0E8-040E-47FC-AFD8-0E6DC5BF7751}" type="slidenum">
              <a:rPr lang="en-US" smtClean="0"/>
              <a:t>‹#›</a:t>
            </a:fld>
            <a:endParaRPr lang="en-US"/>
          </a:p>
        </p:txBody>
      </p:sp>
    </p:spTree>
    <p:extLst>
      <p:ext uri="{BB962C8B-B14F-4D97-AF65-F5344CB8AC3E}">
        <p14:creationId xmlns:p14="http://schemas.microsoft.com/office/powerpoint/2010/main" val="2732679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48CBE75-626A-49A4-A266-C990EC3EE02D}" type="datetimeFigureOut">
              <a:rPr lang="en-US" smtClean="0"/>
              <a:t>5/7/2023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D39F0E8-040E-47FC-AFD8-0E6DC5BF7751}" type="slidenum">
              <a:rPr lang="en-US" smtClean="0"/>
              <a:t>‹#›</a:t>
            </a:fld>
            <a:endParaRPr lang="en-US"/>
          </a:p>
        </p:txBody>
      </p:sp>
    </p:spTree>
    <p:extLst>
      <p:ext uri="{BB962C8B-B14F-4D97-AF65-F5344CB8AC3E}">
        <p14:creationId xmlns:p14="http://schemas.microsoft.com/office/powerpoint/2010/main" val="2409179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48CBE75-626A-49A4-A266-C990EC3EE02D}" type="datetimeFigureOut">
              <a:rPr lang="en-US" smtClean="0"/>
              <a:t>5/7/2023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D39F0E8-040E-47FC-AFD8-0E6DC5BF7751}" type="slidenum">
              <a:rPr lang="en-US" smtClean="0"/>
              <a:t>‹#›</a:t>
            </a:fld>
            <a:endParaRPr lang="en-US"/>
          </a:p>
        </p:txBody>
      </p:sp>
    </p:spTree>
    <p:extLst>
      <p:ext uri="{BB962C8B-B14F-4D97-AF65-F5344CB8AC3E}">
        <p14:creationId xmlns:p14="http://schemas.microsoft.com/office/powerpoint/2010/main" val="904177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8CBE75-626A-49A4-A266-C990EC3EE02D}" type="datetimeFigureOut">
              <a:rPr lang="en-US" smtClean="0"/>
              <a:t>5/7/2023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D39F0E8-040E-47FC-AFD8-0E6DC5BF7751}" type="slidenum">
              <a:rPr lang="en-US" smtClean="0"/>
              <a:t>‹#›</a:t>
            </a:fld>
            <a:endParaRPr lang="en-US"/>
          </a:p>
        </p:txBody>
      </p:sp>
    </p:spTree>
    <p:extLst>
      <p:ext uri="{BB962C8B-B14F-4D97-AF65-F5344CB8AC3E}">
        <p14:creationId xmlns:p14="http://schemas.microsoft.com/office/powerpoint/2010/main" val="1565482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8CBE75-626A-49A4-A266-C990EC3EE02D}" type="datetimeFigureOut">
              <a:rPr lang="en-US" smtClean="0"/>
              <a:t>5/7/2023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9F0E8-040E-47FC-AFD8-0E6DC5BF7751}" type="slidenum">
              <a:rPr lang="en-US" smtClean="0"/>
              <a:t>‹#›</a:t>
            </a:fld>
            <a:endParaRPr lang="en-US"/>
          </a:p>
        </p:txBody>
      </p:sp>
    </p:spTree>
    <p:extLst>
      <p:ext uri="{BB962C8B-B14F-4D97-AF65-F5344CB8AC3E}">
        <p14:creationId xmlns:p14="http://schemas.microsoft.com/office/powerpoint/2010/main" val="653932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8CBE75-626A-49A4-A266-C990EC3EE02D}" type="datetimeFigureOut">
              <a:rPr lang="en-US" smtClean="0"/>
              <a:t>5/7/2023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D39F0E8-040E-47FC-AFD8-0E6DC5BF7751}" type="slidenum">
              <a:rPr lang="en-US" smtClean="0"/>
              <a:t>‹#›</a:t>
            </a:fld>
            <a:endParaRPr lang="en-US"/>
          </a:p>
        </p:txBody>
      </p:sp>
    </p:spTree>
    <p:extLst>
      <p:ext uri="{BB962C8B-B14F-4D97-AF65-F5344CB8AC3E}">
        <p14:creationId xmlns:p14="http://schemas.microsoft.com/office/powerpoint/2010/main" val="1565505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48CBE75-626A-49A4-A266-C990EC3EE02D}" type="datetimeFigureOut">
              <a:rPr lang="en-US" smtClean="0"/>
              <a:t>5/7/2023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D39F0E8-040E-47FC-AFD8-0E6DC5BF775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9385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23F9A-C61B-4917-8BCC-F438B04D11E1}"/>
              </a:ext>
            </a:extLst>
          </p:cNvPr>
          <p:cNvSpPr>
            <a:spLocks noGrp="1"/>
          </p:cNvSpPr>
          <p:nvPr>
            <p:ph type="ctrTitle"/>
          </p:nvPr>
        </p:nvSpPr>
        <p:spPr>
          <a:xfrm>
            <a:off x="1097280" y="758952"/>
            <a:ext cx="10058400" cy="2204585"/>
          </a:xfrm>
        </p:spPr>
        <p:txBody>
          <a:bodyPr/>
          <a:lstStyle/>
          <a:p>
            <a:pPr algn="ctr"/>
            <a:r>
              <a:rPr lang="en-US" dirty="0"/>
              <a:t>Mechanical Engineering Thermodynamics</a:t>
            </a:r>
          </a:p>
        </p:txBody>
      </p:sp>
      <p:sp>
        <p:nvSpPr>
          <p:cNvPr id="3" name="Subtitle 2">
            <a:extLst>
              <a:ext uri="{FF2B5EF4-FFF2-40B4-BE49-F238E27FC236}">
                <a16:creationId xmlns:a16="http://schemas.microsoft.com/office/drawing/2014/main" id="{91502EF0-F7FD-4B79-B7FD-5501C23B8B4E}"/>
              </a:ext>
            </a:extLst>
          </p:cNvPr>
          <p:cNvSpPr>
            <a:spLocks noGrp="1"/>
          </p:cNvSpPr>
          <p:nvPr>
            <p:ph type="subTitle" idx="1"/>
          </p:nvPr>
        </p:nvSpPr>
        <p:spPr>
          <a:xfrm>
            <a:off x="1524000" y="3602038"/>
            <a:ext cx="9144000" cy="703262"/>
          </a:xfrm>
        </p:spPr>
        <p:txBody>
          <a:bodyPr/>
          <a:lstStyle/>
          <a:p>
            <a:r>
              <a:rPr lang="en-US" dirty="0"/>
              <a:t>Syllabus &amp; Introductory Concepts and Definitions</a:t>
            </a:r>
          </a:p>
        </p:txBody>
      </p:sp>
      <p:sp>
        <p:nvSpPr>
          <p:cNvPr id="4" name="Subtitle 2">
            <a:extLst>
              <a:ext uri="{FF2B5EF4-FFF2-40B4-BE49-F238E27FC236}">
                <a16:creationId xmlns:a16="http://schemas.microsoft.com/office/drawing/2014/main" id="{87EAFD8F-8FC2-48F9-B8A0-520840C8BB13}"/>
              </a:ext>
            </a:extLst>
          </p:cNvPr>
          <p:cNvSpPr txBox="1">
            <a:spLocks/>
          </p:cNvSpPr>
          <p:nvPr/>
        </p:nvSpPr>
        <p:spPr>
          <a:xfrm>
            <a:off x="1524000" y="4417095"/>
            <a:ext cx="9144000" cy="131854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EMCH 290</a:t>
            </a:r>
          </a:p>
          <a:p>
            <a:r>
              <a:rPr lang="en-US" dirty="0"/>
              <a:t>Fall 2022</a:t>
            </a:r>
          </a:p>
          <a:p>
            <a:r>
              <a:rPr lang="en-US" dirty="0"/>
              <a:t>Dr. Azadeh Sepahvandi</a:t>
            </a:r>
          </a:p>
        </p:txBody>
      </p:sp>
    </p:spTree>
    <p:extLst>
      <p:ext uri="{BB962C8B-B14F-4D97-AF65-F5344CB8AC3E}">
        <p14:creationId xmlns:p14="http://schemas.microsoft.com/office/powerpoint/2010/main" val="3659710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3281E-2C12-478F-A5C4-FCA322E2725B}"/>
              </a:ext>
            </a:extLst>
          </p:cNvPr>
          <p:cNvSpPr>
            <a:spLocks noGrp="1"/>
          </p:cNvSpPr>
          <p:nvPr>
            <p:ph type="title"/>
          </p:nvPr>
        </p:nvSpPr>
        <p:spPr/>
        <p:txBody>
          <a:bodyPr/>
          <a:lstStyle/>
          <a:p>
            <a:r>
              <a:rPr lang="en-US" dirty="0"/>
              <a:t>General Info</a:t>
            </a:r>
          </a:p>
        </p:txBody>
      </p:sp>
      <p:graphicFrame>
        <p:nvGraphicFramePr>
          <p:cNvPr id="4" name="Table 4">
            <a:extLst>
              <a:ext uri="{FF2B5EF4-FFF2-40B4-BE49-F238E27FC236}">
                <a16:creationId xmlns:a16="http://schemas.microsoft.com/office/drawing/2014/main" id="{DE2EFDD7-84D3-4FCF-B0E5-DB5EFE63BFD5}"/>
              </a:ext>
            </a:extLst>
          </p:cNvPr>
          <p:cNvGraphicFramePr>
            <a:graphicFrameLocks noGrp="1"/>
          </p:cNvGraphicFramePr>
          <p:nvPr>
            <p:ph idx="1"/>
            <p:extLst>
              <p:ext uri="{D42A27DB-BD31-4B8C-83A1-F6EECF244321}">
                <p14:modId xmlns:p14="http://schemas.microsoft.com/office/powerpoint/2010/main" val="3796999342"/>
              </p:ext>
            </p:extLst>
          </p:nvPr>
        </p:nvGraphicFramePr>
        <p:xfrm>
          <a:off x="1096963" y="1846263"/>
          <a:ext cx="10058400" cy="2743200"/>
        </p:xfrm>
        <a:graphic>
          <a:graphicData uri="http://schemas.openxmlformats.org/drawingml/2006/table">
            <a:tbl>
              <a:tblPr firstRow="1" bandRow="1">
                <a:tableStyleId>{5C22544A-7EE6-4342-B048-85BDC9FD1C3A}</a:tableStyleId>
              </a:tblPr>
              <a:tblGrid>
                <a:gridCol w="3322637">
                  <a:extLst>
                    <a:ext uri="{9D8B030D-6E8A-4147-A177-3AD203B41FA5}">
                      <a16:colId xmlns:a16="http://schemas.microsoft.com/office/drawing/2014/main" val="2437346530"/>
                    </a:ext>
                  </a:extLst>
                </a:gridCol>
                <a:gridCol w="6735763">
                  <a:extLst>
                    <a:ext uri="{9D8B030D-6E8A-4147-A177-3AD203B41FA5}">
                      <a16:colId xmlns:a16="http://schemas.microsoft.com/office/drawing/2014/main" val="3764228858"/>
                    </a:ext>
                  </a:extLst>
                </a:gridCol>
              </a:tblGrid>
              <a:tr h="370840">
                <a:tc>
                  <a:txBody>
                    <a:bodyPr/>
                    <a:lstStyle/>
                    <a:p>
                      <a:r>
                        <a:rPr lang="en-US" sz="2400" dirty="0"/>
                        <a:t>Lecture Schedule</a:t>
                      </a:r>
                    </a:p>
                  </a:txBody>
                  <a:tcPr/>
                </a:tc>
                <a:tc>
                  <a:txBody>
                    <a:bodyPr/>
                    <a:lstStyle/>
                    <a:p>
                      <a:r>
                        <a:rPr lang="en-US" sz="2400" dirty="0" err="1"/>
                        <a:t>TTh</a:t>
                      </a:r>
                      <a:r>
                        <a:rPr lang="en-US" sz="2400" dirty="0"/>
                        <a:t> 11:40 AM – 12:55 PM (75 minutes)</a:t>
                      </a:r>
                    </a:p>
                  </a:txBody>
                  <a:tcPr/>
                </a:tc>
                <a:extLst>
                  <a:ext uri="{0D108BD9-81ED-4DB2-BD59-A6C34878D82A}">
                    <a16:rowId xmlns:a16="http://schemas.microsoft.com/office/drawing/2014/main" val="723303946"/>
                  </a:ext>
                </a:extLst>
              </a:tr>
              <a:tr h="370840">
                <a:tc>
                  <a:txBody>
                    <a:bodyPr/>
                    <a:lstStyle/>
                    <a:p>
                      <a:r>
                        <a:rPr lang="en-US" sz="2400" dirty="0"/>
                        <a:t>Lecture Location </a:t>
                      </a:r>
                    </a:p>
                  </a:txBody>
                  <a:tcPr/>
                </a:tc>
                <a:tc>
                  <a:txBody>
                    <a:bodyPr/>
                    <a:lstStyle/>
                    <a:p>
                      <a:r>
                        <a:rPr lang="en-US" sz="2400" dirty="0"/>
                        <a:t>Face to Face – 300MN B103</a:t>
                      </a:r>
                    </a:p>
                  </a:txBody>
                  <a:tcPr/>
                </a:tc>
                <a:extLst>
                  <a:ext uri="{0D108BD9-81ED-4DB2-BD59-A6C34878D82A}">
                    <a16:rowId xmlns:a16="http://schemas.microsoft.com/office/drawing/2014/main" val="3692649775"/>
                  </a:ext>
                </a:extLst>
              </a:tr>
              <a:tr h="370840">
                <a:tc>
                  <a:txBody>
                    <a:bodyPr/>
                    <a:lstStyle/>
                    <a:p>
                      <a:r>
                        <a:rPr lang="en-US" sz="2400" dirty="0"/>
                        <a:t>Office Hours</a:t>
                      </a:r>
                    </a:p>
                  </a:txBody>
                  <a:tcPr/>
                </a:tc>
                <a:tc>
                  <a:txBody>
                    <a:bodyPr/>
                    <a:lstStyle/>
                    <a:p>
                      <a:r>
                        <a:rPr lang="en-US" sz="2400" dirty="0"/>
                        <a:t>Schedule by email (sepahvan@mailbox.sc.edu)</a:t>
                      </a:r>
                    </a:p>
                  </a:txBody>
                  <a:tcPr/>
                </a:tc>
                <a:extLst>
                  <a:ext uri="{0D108BD9-81ED-4DB2-BD59-A6C34878D82A}">
                    <a16:rowId xmlns:a16="http://schemas.microsoft.com/office/drawing/2014/main" val="3375282974"/>
                  </a:ext>
                </a:extLst>
              </a:tr>
              <a:tr h="370840">
                <a:tc>
                  <a:txBody>
                    <a:bodyPr/>
                    <a:lstStyle/>
                    <a:p>
                      <a:r>
                        <a:rPr lang="en-US" sz="2400" dirty="0"/>
                        <a:t>Office Location</a:t>
                      </a:r>
                    </a:p>
                  </a:txBody>
                  <a:tcPr/>
                </a:tc>
                <a:tc>
                  <a:txBody>
                    <a:bodyPr/>
                    <a:lstStyle/>
                    <a:p>
                      <a:r>
                        <a:rPr lang="en-US" sz="2400" dirty="0"/>
                        <a:t>300 Main, A112</a:t>
                      </a:r>
                    </a:p>
                  </a:txBody>
                  <a:tcPr/>
                </a:tc>
                <a:extLst>
                  <a:ext uri="{0D108BD9-81ED-4DB2-BD59-A6C34878D82A}">
                    <a16:rowId xmlns:a16="http://schemas.microsoft.com/office/drawing/2014/main" val="3524020469"/>
                  </a:ext>
                </a:extLst>
              </a:tr>
              <a:tr h="370840">
                <a:tc>
                  <a:txBody>
                    <a:bodyPr/>
                    <a:lstStyle/>
                    <a:p>
                      <a:r>
                        <a:rPr lang="en-US" sz="2400" dirty="0"/>
                        <a:t>Email</a:t>
                      </a:r>
                    </a:p>
                  </a:txBody>
                  <a:tcPr/>
                </a:tc>
                <a:tc>
                  <a:txBody>
                    <a:bodyPr/>
                    <a:lstStyle/>
                    <a:p>
                      <a:r>
                        <a:rPr lang="en-US" sz="2400" dirty="0"/>
                        <a:t>sepahvan@mailbox.sc.edu</a:t>
                      </a:r>
                    </a:p>
                  </a:txBody>
                  <a:tcPr/>
                </a:tc>
                <a:extLst>
                  <a:ext uri="{0D108BD9-81ED-4DB2-BD59-A6C34878D82A}">
                    <a16:rowId xmlns:a16="http://schemas.microsoft.com/office/drawing/2014/main" val="1374741908"/>
                  </a:ext>
                </a:extLst>
              </a:tr>
              <a:tr h="370840">
                <a:tc>
                  <a:txBody>
                    <a:bodyPr/>
                    <a:lstStyle/>
                    <a:p>
                      <a:r>
                        <a:rPr lang="en-US" sz="2400" dirty="0"/>
                        <a:t>TA/Grader</a:t>
                      </a:r>
                    </a:p>
                  </a:txBody>
                  <a:tcPr/>
                </a:tc>
                <a:tc>
                  <a:txBody>
                    <a:bodyPr/>
                    <a:lstStyle/>
                    <a:p>
                      <a:r>
                        <a:rPr lang="en-US" sz="2400" dirty="0"/>
                        <a:t>N/A</a:t>
                      </a:r>
                    </a:p>
                  </a:txBody>
                  <a:tcPr/>
                </a:tc>
                <a:extLst>
                  <a:ext uri="{0D108BD9-81ED-4DB2-BD59-A6C34878D82A}">
                    <a16:rowId xmlns:a16="http://schemas.microsoft.com/office/drawing/2014/main" val="3210994183"/>
                  </a:ext>
                </a:extLst>
              </a:tr>
            </a:tbl>
          </a:graphicData>
        </a:graphic>
      </p:graphicFrame>
    </p:spTree>
    <p:extLst>
      <p:ext uri="{BB962C8B-B14F-4D97-AF65-F5344CB8AC3E}">
        <p14:creationId xmlns:p14="http://schemas.microsoft.com/office/powerpoint/2010/main" val="1322059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88E58-86D2-4F0F-B056-4D06825B6C7C}"/>
              </a:ext>
            </a:extLst>
          </p:cNvPr>
          <p:cNvSpPr>
            <a:spLocks noGrp="1"/>
          </p:cNvSpPr>
          <p:nvPr>
            <p:ph type="title"/>
          </p:nvPr>
        </p:nvSpPr>
        <p:spPr/>
        <p:txBody>
          <a:bodyPr/>
          <a:lstStyle/>
          <a:p>
            <a:r>
              <a:rPr lang="en-US" dirty="0"/>
              <a:t>Course Info</a:t>
            </a:r>
          </a:p>
        </p:txBody>
      </p:sp>
      <p:sp>
        <p:nvSpPr>
          <p:cNvPr id="3" name="Content Placeholder 2">
            <a:extLst>
              <a:ext uri="{FF2B5EF4-FFF2-40B4-BE49-F238E27FC236}">
                <a16:creationId xmlns:a16="http://schemas.microsoft.com/office/drawing/2014/main" id="{F2718F29-3459-483B-807C-BC03A5FCC859}"/>
              </a:ext>
            </a:extLst>
          </p:cNvPr>
          <p:cNvSpPr>
            <a:spLocks noGrp="1"/>
          </p:cNvSpPr>
          <p:nvPr>
            <p:ph idx="1"/>
          </p:nvPr>
        </p:nvSpPr>
        <p:spPr/>
        <p:txBody>
          <a:bodyPr>
            <a:normAutofit/>
          </a:bodyPr>
          <a:lstStyle/>
          <a:p>
            <a:r>
              <a:rPr lang="en-US" sz="2400" b="1" dirty="0"/>
              <a:t>Course Description: </a:t>
            </a:r>
            <a:r>
              <a:rPr lang="en-US" sz="2400" dirty="0"/>
              <a:t>Definitions, work, heat, and energy; First law of analyses of systems and control volumes; Second law analysis. </a:t>
            </a:r>
          </a:p>
          <a:p>
            <a:r>
              <a:rPr lang="en-US" sz="2400" b="1" dirty="0"/>
              <a:t>Pre-requisites: </a:t>
            </a:r>
            <a:r>
              <a:rPr lang="en-US" sz="2400" dirty="0"/>
              <a:t>PHYS 211 Physics I &amp; Lab with a minimum grade of C; MATH 142 Calculus II or ENCP 210 with a minimum grade of C. </a:t>
            </a:r>
          </a:p>
          <a:p>
            <a:r>
              <a:rPr lang="en-US" sz="2400" b="1" dirty="0"/>
              <a:t>Co-requisites: </a:t>
            </a:r>
            <a:r>
              <a:rPr lang="en-US" sz="2400" dirty="0"/>
              <a:t>None</a:t>
            </a:r>
          </a:p>
        </p:txBody>
      </p:sp>
    </p:spTree>
    <p:extLst>
      <p:ext uri="{BB962C8B-B14F-4D97-AF65-F5344CB8AC3E}">
        <p14:creationId xmlns:p14="http://schemas.microsoft.com/office/powerpoint/2010/main" val="3240175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8B69E-2E8C-4704-83E1-C0CCF654F6C2}"/>
              </a:ext>
            </a:extLst>
          </p:cNvPr>
          <p:cNvSpPr>
            <a:spLocks noGrp="1"/>
          </p:cNvSpPr>
          <p:nvPr>
            <p:ph type="title"/>
          </p:nvPr>
        </p:nvSpPr>
        <p:spPr/>
        <p:txBody>
          <a:bodyPr/>
          <a:lstStyle/>
          <a:p>
            <a:r>
              <a:rPr lang="en-US" dirty="0"/>
              <a:t>Textbook Info</a:t>
            </a:r>
          </a:p>
        </p:txBody>
      </p:sp>
      <p:sp>
        <p:nvSpPr>
          <p:cNvPr id="3" name="Content Placeholder 2">
            <a:extLst>
              <a:ext uri="{FF2B5EF4-FFF2-40B4-BE49-F238E27FC236}">
                <a16:creationId xmlns:a16="http://schemas.microsoft.com/office/drawing/2014/main" id="{BF496248-BAD0-454A-8C7F-2A60700FF968}"/>
              </a:ext>
            </a:extLst>
          </p:cNvPr>
          <p:cNvSpPr>
            <a:spLocks noGrp="1"/>
          </p:cNvSpPr>
          <p:nvPr>
            <p:ph idx="1"/>
          </p:nvPr>
        </p:nvSpPr>
        <p:spPr>
          <a:xfrm>
            <a:off x="1097280" y="1737360"/>
            <a:ext cx="10058400" cy="4023360"/>
          </a:xfrm>
        </p:spPr>
        <p:txBody>
          <a:bodyPr>
            <a:normAutofit/>
          </a:bodyPr>
          <a:lstStyle/>
          <a:p>
            <a:endParaRPr lang="en-US" sz="1800" b="1" dirty="0"/>
          </a:p>
          <a:p>
            <a:r>
              <a:rPr lang="en-US" sz="2200" b="1" dirty="0"/>
              <a:t>All Chapters referenced to in class or in slides will be in Recommended Textbook</a:t>
            </a:r>
          </a:p>
          <a:p>
            <a:r>
              <a:rPr lang="en-US" b="1" dirty="0"/>
              <a:t>Recommended Textbook: </a:t>
            </a:r>
            <a:r>
              <a:rPr lang="en-US" dirty="0"/>
              <a:t>Fundamentals of Engineering Thermodynamics(8th edition)</a:t>
            </a:r>
          </a:p>
          <a:p>
            <a:r>
              <a:rPr lang="en-US" b="1" dirty="0"/>
              <a:t>ISBN: </a:t>
            </a:r>
            <a:r>
              <a:rPr lang="en-US" dirty="0"/>
              <a:t>978-1-118-82044-5 </a:t>
            </a:r>
          </a:p>
          <a:p>
            <a:r>
              <a:rPr lang="en-US" b="1" dirty="0"/>
              <a:t>Optional Textbook: </a:t>
            </a:r>
            <a:r>
              <a:rPr lang="en-US" dirty="0"/>
              <a:t>Thermodynamics: An Engineering Approach(9th edition)</a:t>
            </a:r>
          </a:p>
          <a:p>
            <a:r>
              <a:rPr lang="en-US" b="1" dirty="0"/>
              <a:t>ISBN: </a:t>
            </a:r>
            <a:r>
              <a:rPr lang="en-US" dirty="0"/>
              <a:t>978-1-260-04866-7</a:t>
            </a:r>
          </a:p>
        </p:txBody>
      </p:sp>
    </p:spTree>
    <p:extLst>
      <p:ext uri="{BB962C8B-B14F-4D97-AF65-F5344CB8AC3E}">
        <p14:creationId xmlns:p14="http://schemas.microsoft.com/office/powerpoint/2010/main" val="1060507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18572-C333-4981-BE76-2C1CF6B11110}"/>
              </a:ext>
            </a:extLst>
          </p:cNvPr>
          <p:cNvSpPr>
            <a:spLocks noGrp="1"/>
          </p:cNvSpPr>
          <p:nvPr>
            <p:ph type="title"/>
          </p:nvPr>
        </p:nvSpPr>
        <p:spPr/>
        <p:txBody>
          <a:bodyPr/>
          <a:lstStyle/>
          <a:p>
            <a:r>
              <a:rPr lang="en-US" dirty="0"/>
              <a:t>Course Topics</a:t>
            </a:r>
          </a:p>
        </p:txBody>
      </p:sp>
      <p:sp>
        <p:nvSpPr>
          <p:cNvPr id="3" name="Content Placeholder 2">
            <a:extLst>
              <a:ext uri="{FF2B5EF4-FFF2-40B4-BE49-F238E27FC236}">
                <a16:creationId xmlns:a16="http://schemas.microsoft.com/office/drawing/2014/main" id="{9FF4E07F-9B6E-4BC9-AA96-221B92C8C8A8}"/>
              </a:ext>
            </a:extLst>
          </p:cNvPr>
          <p:cNvSpPr>
            <a:spLocks noGrp="1"/>
          </p:cNvSpPr>
          <p:nvPr>
            <p:ph idx="1"/>
          </p:nvPr>
        </p:nvSpPr>
        <p:spPr/>
        <p:txBody>
          <a:bodyPr/>
          <a:lstStyle/>
          <a:p>
            <a:pPr algn="ctr"/>
            <a:r>
              <a:rPr lang="en-US" sz="3600" b="1" dirty="0"/>
              <a:t>6</a:t>
            </a:r>
            <a:r>
              <a:rPr lang="en-US" sz="3200" b="1" dirty="0"/>
              <a:t> </a:t>
            </a:r>
            <a:r>
              <a:rPr lang="en-US" sz="3600" b="1" dirty="0"/>
              <a:t>Main Topics:</a:t>
            </a:r>
          </a:p>
          <a:p>
            <a:pPr marL="457200" indent="-457200">
              <a:buFont typeface="+mj-lt"/>
              <a:buAutoNum type="arabicPeriod"/>
            </a:pPr>
            <a:r>
              <a:rPr lang="en-US" sz="2800" dirty="0"/>
              <a:t>Introductory Concepts and Definitions </a:t>
            </a:r>
            <a:r>
              <a:rPr lang="en-US" sz="2800" b="1" dirty="0"/>
              <a:t>(Chapter 1) </a:t>
            </a:r>
          </a:p>
          <a:p>
            <a:pPr marL="457200" indent="-457200">
              <a:buFont typeface="+mj-lt"/>
              <a:buAutoNum type="arabicPeriod"/>
            </a:pPr>
            <a:r>
              <a:rPr lang="en-US" sz="2800" dirty="0"/>
              <a:t>Energy and the First Law of Thermodynamics </a:t>
            </a:r>
            <a:r>
              <a:rPr lang="en-US" sz="2800" b="1" dirty="0"/>
              <a:t>(Chapter 2)</a:t>
            </a:r>
          </a:p>
          <a:p>
            <a:pPr marL="457200" indent="-457200">
              <a:buFont typeface="+mj-lt"/>
              <a:buAutoNum type="arabicPeriod"/>
            </a:pPr>
            <a:r>
              <a:rPr lang="en-US" sz="2800" dirty="0"/>
              <a:t>Evaluating Properties </a:t>
            </a:r>
            <a:r>
              <a:rPr lang="en-US" sz="2800" b="1" dirty="0"/>
              <a:t>(Chapter 3) </a:t>
            </a:r>
          </a:p>
          <a:p>
            <a:pPr marL="457200" indent="-457200">
              <a:buFont typeface="+mj-lt"/>
              <a:buAutoNum type="arabicPeriod"/>
            </a:pPr>
            <a:r>
              <a:rPr lang="en-US" sz="2800" dirty="0"/>
              <a:t>Control Volume Analysis Using Energy </a:t>
            </a:r>
            <a:r>
              <a:rPr lang="en-US" sz="2800" b="1" dirty="0"/>
              <a:t>(Chapter 4)</a:t>
            </a:r>
          </a:p>
          <a:p>
            <a:pPr marL="457200" indent="-457200">
              <a:buFont typeface="+mj-lt"/>
              <a:buAutoNum type="arabicPeriod"/>
            </a:pPr>
            <a:r>
              <a:rPr lang="en-US" sz="2800" dirty="0"/>
              <a:t>The Second Law of Thermodynamics </a:t>
            </a:r>
            <a:r>
              <a:rPr lang="en-US" sz="2800" b="1" dirty="0"/>
              <a:t>(Chapter 5) </a:t>
            </a:r>
          </a:p>
          <a:p>
            <a:pPr marL="457200" indent="-457200">
              <a:buFont typeface="+mj-lt"/>
              <a:buAutoNum type="arabicPeriod"/>
            </a:pPr>
            <a:r>
              <a:rPr lang="en-US" sz="2800" dirty="0"/>
              <a:t>Using Entropy </a:t>
            </a:r>
            <a:r>
              <a:rPr lang="en-US" sz="2800" b="1" dirty="0"/>
              <a:t>(Chapter 6)</a:t>
            </a:r>
          </a:p>
          <a:p>
            <a:endParaRPr lang="en-US" dirty="0"/>
          </a:p>
        </p:txBody>
      </p:sp>
    </p:spTree>
    <p:extLst>
      <p:ext uri="{BB962C8B-B14F-4D97-AF65-F5344CB8AC3E}">
        <p14:creationId xmlns:p14="http://schemas.microsoft.com/office/powerpoint/2010/main" val="3945068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E37F4-3B85-4F6E-86ED-EADBEE9284AF}"/>
              </a:ext>
            </a:extLst>
          </p:cNvPr>
          <p:cNvSpPr>
            <a:spLocks noGrp="1"/>
          </p:cNvSpPr>
          <p:nvPr>
            <p:ph type="title"/>
          </p:nvPr>
        </p:nvSpPr>
        <p:spPr/>
        <p:txBody>
          <a:bodyPr/>
          <a:lstStyle/>
          <a:p>
            <a:r>
              <a:rPr lang="en-US" dirty="0"/>
              <a:t>Grading Rubric</a:t>
            </a:r>
          </a:p>
        </p:txBody>
      </p:sp>
      <p:graphicFrame>
        <p:nvGraphicFramePr>
          <p:cNvPr id="4" name="Table 4">
            <a:extLst>
              <a:ext uri="{FF2B5EF4-FFF2-40B4-BE49-F238E27FC236}">
                <a16:creationId xmlns:a16="http://schemas.microsoft.com/office/drawing/2014/main" id="{F9DDE923-93B3-4166-8E9D-3952312A7AA9}"/>
              </a:ext>
            </a:extLst>
          </p:cNvPr>
          <p:cNvGraphicFramePr>
            <a:graphicFrameLocks noGrp="1"/>
          </p:cNvGraphicFramePr>
          <p:nvPr>
            <p:ph idx="1"/>
            <p:extLst>
              <p:ext uri="{D42A27DB-BD31-4B8C-83A1-F6EECF244321}">
                <p14:modId xmlns:p14="http://schemas.microsoft.com/office/powerpoint/2010/main" val="3633318608"/>
              </p:ext>
            </p:extLst>
          </p:nvPr>
        </p:nvGraphicFramePr>
        <p:xfrm>
          <a:off x="1096963" y="1846263"/>
          <a:ext cx="10058400" cy="2590800"/>
        </p:xfrm>
        <a:graphic>
          <a:graphicData uri="http://schemas.openxmlformats.org/drawingml/2006/table">
            <a:tbl>
              <a:tblPr firstRow="1" bandRow="1">
                <a:tableStyleId>{5C22544A-7EE6-4342-B048-85BDC9FD1C3A}</a:tableStyleId>
              </a:tblPr>
              <a:tblGrid>
                <a:gridCol w="5684837">
                  <a:extLst>
                    <a:ext uri="{9D8B030D-6E8A-4147-A177-3AD203B41FA5}">
                      <a16:colId xmlns:a16="http://schemas.microsoft.com/office/drawing/2014/main" val="1448589577"/>
                    </a:ext>
                  </a:extLst>
                </a:gridCol>
                <a:gridCol w="4373563">
                  <a:extLst>
                    <a:ext uri="{9D8B030D-6E8A-4147-A177-3AD203B41FA5}">
                      <a16:colId xmlns:a16="http://schemas.microsoft.com/office/drawing/2014/main" val="2857267859"/>
                    </a:ext>
                  </a:extLst>
                </a:gridCol>
              </a:tblGrid>
              <a:tr h="370840">
                <a:tc>
                  <a:txBody>
                    <a:bodyPr/>
                    <a:lstStyle/>
                    <a:p>
                      <a:r>
                        <a:rPr lang="en-US" sz="2800" dirty="0"/>
                        <a:t>Amount &amp; Type</a:t>
                      </a:r>
                    </a:p>
                  </a:txBody>
                  <a:tcPr/>
                </a:tc>
                <a:tc>
                  <a:txBody>
                    <a:bodyPr/>
                    <a:lstStyle/>
                    <a:p>
                      <a:r>
                        <a:rPr lang="en-US" sz="2800" dirty="0"/>
                        <a:t>Total% towards Final Grade</a:t>
                      </a:r>
                    </a:p>
                  </a:txBody>
                  <a:tcPr/>
                </a:tc>
                <a:extLst>
                  <a:ext uri="{0D108BD9-81ED-4DB2-BD59-A6C34878D82A}">
                    <a16:rowId xmlns:a16="http://schemas.microsoft.com/office/drawing/2014/main" val="25127266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t>Eight(8) Assignments</a:t>
                      </a:r>
                    </a:p>
                  </a:txBody>
                  <a:tcPr/>
                </a:tc>
                <a:tc>
                  <a:txBody>
                    <a:bodyPr/>
                    <a:lstStyle/>
                    <a:p>
                      <a:r>
                        <a:rPr lang="en-US" sz="2800" dirty="0"/>
                        <a:t>10%</a:t>
                      </a:r>
                    </a:p>
                  </a:txBody>
                  <a:tcPr/>
                </a:tc>
                <a:extLst>
                  <a:ext uri="{0D108BD9-81ED-4DB2-BD59-A6C34878D82A}">
                    <a16:rowId xmlns:a16="http://schemas.microsoft.com/office/drawing/2014/main" val="3425581989"/>
                  </a:ext>
                </a:extLst>
              </a:tr>
              <a:tr h="370840">
                <a:tc>
                  <a:txBody>
                    <a:bodyPr/>
                    <a:lstStyle/>
                    <a:p>
                      <a:r>
                        <a:rPr lang="en-US" sz="2800" dirty="0"/>
                        <a:t>Four(4) Quizzes</a:t>
                      </a:r>
                    </a:p>
                  </a:txBody>
                  <a:tcPr/>
                </a:tc>
                <a:tc>
                  <a:txBody>
                    <a:bodyPr/>
                    <a:lstStyle/>
                    <a:p>
                      <a:r>
                        <a:rPr lang="en-US" sz="2800" dirty="0"/>
                        <a:t>10%</a:t>
                      </a:r>
                    </a:p>
                  </a:txBody>
                  <a:tcPr/>
                </a:tc>
                <a:extLst>
                  <a:ext uri="{0D108BD9-81ED-4DB2-BD59-A6C34878D82A}">
                    <a16:rowId xmlns:a16="http://schemas.microsoft.com/office/drawing/2014/main" val="651756012"/>
                  </a:ext>
                </a:extLst>
              </a:tr>
              <a:tr h="184467">
                <a:tc>
                  <a:txBody>
                    <a:bodyPr/>
                    <a:lstStyle/>
                    <a:p>
                      <a:r>
                        <a:rPr lang="en-US" sz="2800" dirty="0"/>
                        <a:t>Two(2) Exams</a:t>
                      </a:r>
                    </a:p>
                  </a:txBody>
                  <a:tcPr/>
                </a:tc>
                <a:tc>
                  <a:txBody>
                    <a:bodyPr/>
                    <a:lstStyle/>
                    <a:p>
                      <a:r>
                        <a:rPr lang="en-US" sz="2800" dirty="0"/>
                        <a:t>50%</a:t>
                      </a:r>
                    </a:p>
                  </a:txBody>
                  <a:tcPr/>
                </a:tc>
                <a:extLst>
                  <a:ext uri="{0D108BD9-81ED-4DB2-BD59-A6C34878D82A}">
                    <a16:rowId xmlns:a16="http://schemas.microsoft.com/office/drawing/2014/main" val="870163212"/>
                  </a:ext>
                </a:extLst>
              </a:tr>
              <a:tr h="370840">
                <a:tc>
                  <a:txBody>
                    <a:bodyPr/>
                    <a:lstStyle/>
                    <a:p>
                      <a:r>
                        <a:rPr lang="en-US" sz="2800" dirty="0"/>
                        <a:t>Final Exam(Not cumulative)</a:t>
                      </a:r>
                    </a:p>
                  </a:txBody>
                  <a:tcPr/>
                </a:tc>
                <a:tc>
                  <a:txBody>
                    <a:bodyPr/>
                    <a:lstStyle/>
                    <a:p>
                      <a:r>
                        <a:rPr lang="en-US" sz="2800" dirty="0"/>
                        <a:t>30%</a:t>
                      </a:r>
                    </a:p>
                  </a:txBody>
                  <a:tcPr/>
                </a:tc>
                <a:extLst>
                  <a:ext uri="{0D108BD9-81ED-4DB2-BD59-A6C34878D82A}">
                    <a16:rowId xmlns:a16="http://schemas.microsoft.com/office/drawing/2014/main" val="2221376499"/>
                  </a:ext>
                </a:extLst>
              </a:tr>
            </a:tbl>
          </a:graphicData>
        </a:graphic>
      </p:graphicFrame>
    </p:spTree>
    <p:extLst>
      <p:ext uri="{BB962C8B-B14F-4D97-AF65-F5344CB8AC3E}">
        <p14:creationId xmlns:p14="http://schemas.microsoft.com/office/powerpoint/2010/main" val="1802778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AE41E-5832-4F58-A57F-A6580575C6CF}"/>
              </a:ext>
            </a:extLst>
          </p:cNvPr>
          <p:cNvSpPr>
            <a:spLocks noGrp="1"/>
          </p:cNvSpPr>
          <p:nvPr>
            <p:ph type="title"/>
          </p:nvPr>
        </p:nvSpPr>
        <p:spPr/>
        <p:txBody>
          <a:bodyPr/>
          <a:lstStyle/>
          <a:p>
            <a:r>
              <a:rPr lang="en-US" dirty="0"/>
              <a:t>Tentative Schedule</a:t>
            </a:r>
          </a:p>
        </p:txBody>
      </p:sp>
      <p:sp>
        <p:nvSpPr>
          <p:cNvPr id="3" name="Content Placeholder 2">
            <a:extLst>
              <a:ext uri="{FF2B5EF4-FFF2-40B4-BE49-F238E27FC236}">
                <a16:creationId xmlns:a16="http://schemas.microsoft.com/office/drawing/2014/main" id="{727ADD98-D571-485E-805B-7CBB6169CB72}"/>
              </a:ext>
            </a:extLst>
          </p:cNvPr>
          <p:cNvSpPr>
            <a:spLocks noGrp="1"/>
          </p:cNvSpPr>
          <p:nvPr>
            <p:ph idx="1"/>
          </p:nvPr>
        </p:nvSpPr>
        <p:spPr/>
        <p:txBody>
          <a:bodyPr/>
          <a:lstStyle/>
          <a:p>
            <a:r>
              <a:rPr lang="en-US" sz="2400" b="1" dirty="0"/>
              <a:t>Lectures are on Tuesdays and Thursdays</a:t>
            </a:r>
          </a:p>
          <a:p>
            <a:r>
              <a:rPr lang="en-US" b="1" dirty="0"/>
              <a:t>Exam Schedule</a:t>
            </a:r>
          </a:p>
          <a:p>
            <a:r>
              <a:rPr lang="en-US" b="1" dirty="0"/>
              <a:t>Exam #1: </a:t>
            </a:r>
            <a:r>
              <a:rPr lang="en-US" dirty="0"/>
              <a:t>Thursday, September 22, 2022</a:t>
            </a:r>
          </a:p>
          <a:p>
            <a:r>
              <a:rPr lang="en-US" b="1" dirty="0"/>
              <a:t>Exam #2: </a:t>
            </a:r>
            <a:r>
              <a:rPr lang="en-US" dirty="0"/>
              <a:t>Thursday, October 20, 2022</a:t>
            </a:r>
          </a:p>
          <a:p>
            <a:r>
              <a:rPr lang="en-US" b="1" dirty="0"/>
              <a:t>Final Exam: </a:t>
            </a:r>
            <a:r>
              <a:rPr lang="en-US" b="0" i="0" dirty="0">
                <a:solidFill>
                  <a:srgbClr val="000000"/>
                </a:solidFill>
                <a:effectLst/>
                <a:latin typeface="Berlingske Sans"/>
              </a:rPr>
              <a:t>Tuesday, December 6</a:t>
            </a:r>
            <a:r>
              <a:rPr lang="en-US" dirty="0"/>
              <a:t>, 2022</a:t>
            </a:r>
            <a:r>
              <a:rPr lang="en-US" dirty="0">
                <a:solidFill>
                  <a:srgbClr val="000000"/>
                </a:solidFill>
                <a:latin typeface="Berlingske Sans"/>
              </a:rPr>
              <a:t> at</a:t>
            </a:r>
            <a:r>
              <a:rPr lang="en-US" b="0" i="0" dirty="0">
                <a:solidFill>
                  <a:srgbClr val="000000"/>
                </a:solidFill>
                <a:effectLst/>
                <a:latin typeface="Berlingske Sans"/>
              </a:rPr>
              <a:t> 12:30 p.m.</a:t>
            </a:r>
            <a:r>
              <a:rPr lang="en-US" dirty="0"/>
              <a:t> </a:t>
            </a:r>
          </a:p>
          <a:p>
            <a:r>
              <a:rPr lang="en-US" b="1" dirty="0"/>
              <a:t>HW: </a:t>
            </a:r>
            <a:r>
              <a:rPr lang="en-US" dirty="0"/>
              <a:t>Will be assigned every 2 weeks</a:t>
            </a:r>
          </a:p>
        </p:txBody>
      </p:sp>
    </p:spTree>
    <p:extLst>
      <p:ext uri="{BB962C8B-B14F-4D97-AF65-F5344CB8AC3E}">
        <p14:creationId xmlns:p14="http://schemas.microsoft.com/office/powerpoint/2010/main" val="1648425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BF5AC-DE00-4B65-B356-EE7520799D83}"/>
              </a:ext>
            </a:extLst>
          </p:cNvPr>
          <p:cNvSpPr>
            <a:spLocks noGrp="1"/>
          </p:cNvSpPr>
          <p:nvPr>
            <p:ph type="title"/>
          </p:nvPr>
        </p:nvSpPr>
        <p:spPr/>
        <p:txBody>
          <a:bodyPr/>
          <a:lstStyle/>
          <a:p>
            <a:r>
              <a:rPr lang="en-US" dirty="0"/>
              <a:t>Course Information</a:t>
            </a:r>
          </a:p>
        </p:txBody>
      </p:sp>
      <p:sp>
        <p:nvSpPr>
          <p:cNvPr id="3" name="Content Placeholder 2">
            <a:extLst>
              <a:ext uri="{FF2B5EF4-FFF2-40B4-BE49-F238E27FC236}">
                <a16:creationId xmlns:a16="http://schemas.microsoft.com/office/drawing/2014/main" id="{3F3A4B81-99CA-4199-8CBB-94C988216691}"/>
              </a:ext>
            </a:extLst>
          </p:cNvPr>
          <p:cNvSpPr>
            <a:spLocks noGrp="1"/>
          </p:cNvSpPr>
          <p:nvPr>
            <p:ph idx="1"/>
          </p:nvPr>
        </p:nvSpPr>
        <p:spPr/>
        <p:txBody>
          <a:bodyPr/>
          <a:lstStyle/>
          <a:p>
            <a:r>
              <a:rPr lang="en-US" b="1" dirty="0"/>
              <a:t>General Exam Information: </a:t>
            </a:r>
          </a:p>
          <a:p>
            <a:r>
              <a:rPr lang="en-US" dirty="0"/>
              <a:t>All quizzes, tests, and final exam will be </a:t>
            </a:r>
            <a:r>
              <a:rPr lang="en-US" u="sng" dirty="0"/>
              <a:t>closed book </a:t>
            </a:r>
            <a:r>
              <a:rPr lang="en-US" dirty="0"/>
              <a:t>and closed notes. All </a:t>
            </a:r>
            <a:r>
              <a:rPr lang="en-US" u="sng" dirty="0"/>
              <a:t>required Equations</a:t>
            </a:r>
            <a:r>
              <a:rPr lang="en-US" dirty="0"/>
              <a:t>, property Tables and Charts will be provided during exam. </a:t>
            </a:r>
            <a:r>
              <a:rPr lang="en-US" u="sng" dirty="0"/>
              <a:t>Cheating in any form </a:t>
            </a:r>
            <a:r>
              <a:rPr lang="en-US" dirty="0"/>
              <a:t>such as solution of homework, text message, Chegg, and online search, etc. is NOT allowed. </a:t>
            </a:r>
            <a:r>
              <a:rPr lang="en-US" u="sng" dirty="0"/>
              <a:t>Unreadable solution</a:t>
            </a:r>
            <a:r>
              <a:rPr lang="en-US" dirty="0"/>
              <a:t> of homework, quiz, and exam will be returned to you without grade (zero). </a:t>
            </a:r>
          </a:p>
          <a:p>
            <a:r>
              <a:rPr lang="en-US" b="1" dirty="0"/>
              <a:t>Homework: </a:t>
            </a:r>
          </a:p>
          <a:p>
            <a:r>
              <a:rPr lang="en-US" dirty="0"/>
              <a:t>Homework will be assigned </a:t>
            </a:r>
            <a:r>
              <a:rPr lang="en-US" u="sng" dirty="0"/>
              <a:t>once every two weeks</a:t>
            </a:r>
            <a:r>
              <a:rPr lang="en-US" dirty="0"/>
              <a:t> and due at the beginning of the class on the specified date. </a:t>
            </a:r>
            <a:r>
              <a:rPr lang="en-US" u="sng" dirty="0"/>
              <a:t>Late homework </a:t>
            </a:r>
            <a:r>
              <a:rPr lang="en-US" dirty="0"/>
              <a:t>is not accepted without prior approval from the instructor. All homework MUST be in the format as specified. All work needs to be neat and labeled so that </a:t>
            </a:r>
            <a:r>
              <a:rPr lang="en-US" u="sng" dirty="0"/>
              <a:t>a person familiar with Thermodynamics can follow.</a:t>
            </a:r>
            <a:r>
              <a:rPr lang="en-US" dirty="0"/>
              <a:t> Comments will be helpful. Answers without </a:t>
            </a:r>
            <a:r>
              <a:rPr lang="en-US" u="sng" dirty="0"/>
              <a:t>units</a:t>
            </a:r>
            <a:r>
              <a:rPr lang="en-US" dirty="0"/>
              <a:t> are WRONG. Students are encouraged to work together but </a:t>
            </a:r>
            <a:r>
              <a:rPr lang="en-US" u="sng" dirty="0"/>
              <a:t>copying is not allowed</a:t>
            </a:r>
            <a:r>
              <a:rPr lang="en-US" dirty="0"/>
              <a:t>. Homework on torn off paper is NOT accepted.</a:t>
            </a:r>
          </a:p>
        </p:txBody>
      </p:sp>
    </p:spTree>
    <p:extLst>
      <p:ext uri="{BB962C8B-B14F-4D97-AF65-F5344CB8AC3E}">
        <p14:creationId xmlns:p14="http://schemas.microsoft.com/office/powerpoint/2010/main" val="2833349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F5B6C-A1D5-4C3D-AF9B-C6704696C13A}"/>
              </a:ext>
            </a:extLst>
          </p:cNvPr>
          <p:cNvSpPr>
            <a:spLocks noGrp="1"/>
          </p:cNvSpPr>
          <p:nvPr>
            <p:ph type="title"/>
          </p:nvPr>
        </p:nvSpPr>
        <p:spPr>
          <a:xfrm>
            <a:off x="1097280" y="286603"/>
            <a:ext cx="10058400" cy="1450757"/>
          </a:xfrm>
        </p:spPr>
        <p:txBody>
          <a:bodyPr>
            <a:normAutofit/>
          </a:bodyPr>
          <a:lstStyle/>
          <a:p>
            <a:pPr algn="ctr"/>
            <a:r>
              <a:rPr lang="en-US" dirty="0"/>
              <a:t>Chapter 1 </a:t>
            </a:r>
            <a:br>
              <a:rPr lang="en-US" dirty="0"/>
            </a:br>
            <a:r>
              <a:rPr lang="en-US" dirty="0"/>
              <a:t>Introduction to Concepts and Definitions</a:t>
            </a:r>
          </a:p>
        </p:txBody>
      </p:sp>
      <p:pic>
        <p:nvPicPr>
          <p:cNvPr id="5" name="Picture 4">
            <a:extLst>
              <a:ext uri="{FF2B5EF4-FFF2-40B4-BE49-F238E27FC236}">
                <a16:creationId xmlns:a16="http://schemas.microsoft.com/office/drawing/2014/main" id="{5AD83789-3E93-4E10-929A-6E03D7ABECAB}"/>
              </a:ext>
            </a:extLst>
          </p:cNvPr>
          <p:cNvPicPr>
            <a:picLocks noChangeAspect="1"/>
          </p:cNvPicPr>
          <p:nvPr/>
        </p:nvPicPr>
        <p:blipFill>
          <a:blip r:embed="rId2"/>
          <a:stretch>
            <a:fillRect/>
          </a:stretch>
        </p:blipFill>
        <p:spPr>
          <a:xfrm>
            <a:off x="1097280" y="1981616"/>
            <a:ext cx="3362218" cy="215181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487FE9-6458-44B7-BCEF-C89343691E2D}"/>
                  </a:ext>
                </a:extLst>
              </p:cNvPr>
              <p:cNvSpPr>
                <a:spLocks noGrp="1"/>
              </p:cNvSpPr>
              <p:nvPr>
                <p:ph idx="1"/>
              </p:nvPr>
            </p:nvSpPr>
            <p:spPr>
              <a:xfrm>
                <a:off x="4639733" y="1845734"/>
                <a:ext cx="6515947" cy="4023360"/>
              </a:xfrm>
            </p:spPr>
            <p:txBody>
              <a:bodyPr>
                <a:normAutofit/>
              </a:bodyPr>
              <a:lstStyle/>
              <a:p>
                <a:r>
                  <a:rPr lang="en-US" dirty="0"/>
                  <a:t>Thermodynamics was born in the 19</a:t>
                </a:r>
                <a:r>
                  <a:rPr lang="en-US" baseline="30000" dirty="0"/>
                  <a:t>th</a:t>
                </a:r>
                <a:r>
                  <a:rPr lang="en-US" dirty="0"/>
                  <a:t> Century, during the creation of the steam engine.</a:t>
                </a:r>
              </a:p>
              <a:p>
                <a:r>
                  <a:rPr lang="en-US" dirty="0"/>
                  <a:t>The Principle that heat can do work was put to use in steam engines.</a:t>
                </a:r>
              </a:p>
              <a:p>
                <a:endParaRPr lang="en-US" dirty="0"/>
              </a:p>
              <a:p>
                <a:r>
                  <a:rPr lang="en-US" b="1" dirty="0"/>
                  <a:t>Definition: </a:t>
                </a:r>
                <a:r>
                  <a:rPr lang="en-US" dirty="0"/>
                  <a:t>Work is the measure of energy transfer that occurs when an object is moved over a distance by an external force.</a:t>
                </a:r>
              </a:p>
              <a:p>
                <a:r>
                  <a:rPr lang="en-US" dirty="0"/>
                  <a:t>This can be modeled with a simple equation: </a:t>
                </a:r>
                <a14:m>
                  <m:oMath xmlns:m="http://schemas.openxmlformats.org/officeDocument/2006/math">
                    <m:r>
                      <a:rPr lang="en-US" b="1" i="1" smtClean="0">
                        <a:latin typeface="Cambria Math" panose="02040503050406030204" pitchFamily="18" charset="0"/>
                      </a:rPr>
                      <m:t>𝑾</m:t>
                    </m:r>
                    <m:r>
                      <a:rPr lang="en-US" b="1" i="1" smtClean="0">
                        <a:latin typeface="Cambria Math" panose="02040503050406030204" pitchFamily="18" charset="0"/>
                      </a:rPr>
                      <m:t>=</m:t>
                    </m:r>
                    <m:r>
                      <a:rPr lang="en-US" b="1" i="1" smtClean="0">
                        <a:latin typeface="Cambria Math" panose="02040503050406030204" pitchFamily="18" charset="0"/>
                      </a:rPr>
                      <m:t>𝑭</m:t>
                    </m:r>
                    <m:r>
                      <a:rPr lang="en-US" b="1" i="1" smtClean="0">
                        <a:latin typeface="Cambria Math" panose="02040503050406030204" pitchFamily="18" charset="0"/>
                      </a:rPr>
                      <m:t>∗</m:t>
                    </m:r>
                    <m:r>
                      <a:rPr lang="en-US" b="1" i="1" smtClean="0">
                        <a:latin typeface="Cambria Math" panose="02040503050406030204" pitchFamily="18" charset="0"/>
                      </a:rPr>
                      <m:t>𝒅</m:t>
                    </m:r>
                  </m:oMath>
                </a14:m>
                <a:endParaRPr lang="en-US" b="1" dirty="0"/>
              </a:p>
              <a:p>
                <a:endParaRPr lang="en-US" dirty="0"/>
              </a:p>
            </p:txBody>
          </p:sp>
        </mc:Choice>
        <mc:Fallback xmlns="">
          <p:sp>
            <p:nvSpPr>
              <p:cNvPr id="3" name="Content Placeholder 2">
                <a:extLst>
                  <a:ext uri="{FF2B5EF4-FFF2-40B4-BE49-F238E27FC236}">
                    <a16:creationId xmlns:a16="http://schemas.microsoft.com/office/drawing/2014/main" id="{8D487FE9-6458-44B7-BCEF-C89343691E2D}"/>
                  </a:ext>
                </a:extLst>
              </p:cNvPr>
              <p:cNvSpPr>
                <a:spLocks noGrp="1" noRot="1" noChangeAspect="1" noMove="1" noResize="1" noEditPoints="1" noAdjustHandles="1" noChangeArrowheads="1" noChangeShapeType="1" noTextEdit="1"/>
              </p:cNvSpPr>
              <p:nvPr>
                <p:ph idx="1"/>
              </p:nvPr>
            </p:nvSpPr>
            <p:spPr>
              <a:xfrm>
                <a:off x="4639733" y="1845734"/>
                <a:ext cx="6515947" cy="4023360"/>
              </a:xfrm>
              <a:blipFill>
                <a:blip r:embed="rId3"/>
                <a:stretch>
                  <a:fillRect l="-935" t="-1667" r="-308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61423C3-96C9-4F27-A3FE-F246B5EC7C0A}"/>
              </a:ext>
            </a:extLst>
          </p:cNvPr>
          <p:cNvSpPr txBox="1"/>
          <p:nvPr/>
        </p:nvSpPr>
        <p:spPr>
          <a:xfrm>
            <a:off x="1394164" y="4133434"/>
            <a:ext cx="2768450" cy="646331"/>
          </a:xfrm>
          <a:prstGeom prst="rect">
            <a:avLst/>
          </a:prstGeom>
          <a:noFill/>
        </p:spPr>
        <p:txBody>
          <a:bodyPr wrap="none" rtlCol="0">
            <a:spAutoFit/>
          </a:bodyPr>
          <a:lstStyle/>
          <a:p>
            <a:pPr algn="ctr"/>
            <a:r>
              <a:rPr lang="en-US" dirty="0"/>
              <a:t>Example of a Steam Engine </a:t>
            </a:r>
          </a:p>
          <a:p>
            <a:pPr algn="ctr"/>
            <a:r>
              <a:rPr lang="en-US" dirty="0"/>
              <a:t>in the 19</a:t>
            </a:r>
            <a:r>
              <a:rPr lang="en-US" baseline="30000" dirty="0"/>
              <a:t>th</a:t>
            </a:r>
            <a:r>
              <a:rPr lang="en-US" dirty="0"/>
              <a:t> century</a:t>
            </a:r>
          </a:p>
        </p:txBody>
      </p:sp>
    </p:spTree>
    <p:extLst>
      <p:ext uri="{BB962C8B-B14F-4D97-AF65-F5344CB8AC3E}">
        <p14:creationId xmlns:p14="http://schemas.microsoft.com/office/powerpoint/2010/main" val="218203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097BE-60A0-4EA8-9A54-14D6D819A51C}"/>
              </a:ext>
            </a:extLst>
          </p:cNvPr>
          <p:cNvSpPr>
            <a:spLocks noGrp="1"/>
          </p:cNvSpPr>
          <p:nvPr>
            <p:ph type="title"/>
          </p:nvPr>
        </p:nvSpPr>
        <p:spPr>
          <a:xfrm>
            <a:off x="1097280" y="286603"/>
            <a:ext cx="10058400" cy="1450757"/>
          </a:xfrm>
        </p:spPr>
        <p:txBody>
          <a:bodyPr>
            <a:normAutofit/>
          </a:bodyPr>
          <a:lstStyle/>
          <a:p>
            <a:pPr algn="ctr"/>
            <a:r>
              <a:rPr lang="en-US" dirty="0"/>
              <a:t>Chapter 1</a:t>
            </a:r>
            <a:br>
              <a:rPr lang="en-US" dirty="0"/>
            </a:br>
            <a:r>
              <a:rPr lang="en-US" dirty="0"/>
              <a:t>Introduction to Concepts and Definitions</a:t>
            </a:r>
          </a:p>
        </p:txBody>
      </p:sp>
      <p:pic>
        <p:nvPicPr>
          <p:cNvPr id="5" name="Picture 4">
            <a:extLst>
              <a:ext uri="{FF2B5EF4-FFF2-40B4-BE49-F238E27FC236}">
                <a16:creationId xmlns:a16="http://schemas.microsoft.com/office/drawing/2014/main" id="{BD373931-2152-4188-8C46-B3DD75A0DA6F}"/>
              </a:ext>
            </a:extLst>
          </p:cNvPr>
          <p:cNvPicPr>
            <a:picLocks noChangeAspect="1"/>
          </p:cNvPicPr>
          <p:nvPr/>
        </p:nvPicPr>
        <p:blipFill>
          <a:blip r:embed="rId2"/>
          <a:stretch>
            <a:fillRect/>
          </a:stretch>
        </p:blipFill>
        <p:spPr>
          <a:xfrm>
            <a:off x="1354172" y="1845734"/>
            <a:ext cx="4363722" cy="2541867"/>
          </a:xfrm>
          <a:prstGeom prst="rect">
            <a:avLst/>
          </a:prstGeom>
        </p:spPr>
      </p:pic>
      <p:sp>
        <p:nvSpPr>
          <p:cNvPr id="3" name="Content Placeholder 2">
            <a:extLst>
              <a:ext uri="{FF2B5EF4-FFF2-40B4-BE49-F238E27FC236}">
                <a16:creationId xmlns:a16="http://schemas.microsoft.com/office/drawing/2014/main" id="{50D6DF62-9934-4544-ADCD-8286C8A088CB}"/>
              </a:ext>
            </a:extLst>
          </p:cNvPr>
          <p:cNvSpPr>
            <a:spLocks noGrp="1"/>
          </p:cNvSpPr>
          <p:nvPr>
            <p:ph idx="1"/>
          </p:nvPr>
        </p:nvSpPr>
        <p:spPr>
          <a:xfrm>
            <a:off x="5903089" y="1845734"/>
            <a:ext cx="5252591" cy="4023360"/>
          </a:xfrm>
        </p:spPr>
        <p:txBody>
          <a:bodyPr>
            <a:normAutofit/>
          </a:bodyPr>
          <a:lstStyle/>
          <a:p>
            <a:r>
              <a:rPr lang="en-US" b="1" dirty="0"/>
              <a:t>Definition: </a:t>
            </a:r>
            <a:r>
              <a:rPr lang="en-US" dirty="0"/>
              <a:t>Thermodynamics is the Study of </a:t>
            </a:r>
            <a:r>
              <a:rPr lang="en-US" u="sng" dirty="0"/>
              <a:t>systems</a:t>
            </a:r>
            <a:r>
              <a:rPr lang="en-US" dirty="0"/>
              <a:t> through which matter flows and the interaction of material going </a:t>
            </a:r>
            <a:r>
              <a:rPr lang="en-US" u="sng" dirty="0"/>
              <a:t>through the system </a:t>
            </a:r>
            <a:r>
              <a:rPr lang="en-US" dirty="0"/>
              <a:t>and their reaction to their surroundings</a:t>
            </a:r>
          </a:p>
        </p:txBody>
      </p:sp>
      <p:sp>
        <p:nvSpPr>
          <p:cNvPr id="6" name="TextBox 5">
            <a:extLst>
              <a:ext uri="{FF2B5EF4-FFF2-40B4-BE49-F238E27FC236}">
                <a16:creationId xmlns:a16="http://schemas.microsoft.com/office/drawing/2014/main" id="{CC546271-96FB-4D7F-A76F-A8EFC2E8CF4F}"/>
              </a:ext>
            </a:extLst>
          </p:cNvPr>
          <p:cNvSpPr txBox="1"/>
          <p:nvPr/>
        </p:nvSpPr>
        <p:spPr>
          <a:xfrm>
            <a:off x="2225548" y="4495975"/>
            <a:ext cx="2687976" cy="369332"/>
          </a:xfrm>
          <a:prstGeom prst="rect">
            <a:avLst/>
          </a:prstGeom>
          <a:noFill/>
        </p:spPr>
        <p:txBody>
          <a:bodyPr wrap="square" rtlCol="0">
            <a:spAutoFit/>
          </a:bodyPr>
          <a:lstStyle/>
          <a:p>
            <a:r>
              <a:rPr lang="en-US" dirty="0"/>
              <a:t>Flow of Matter in a System</a:t>
            </a:r>
          </a:p>
        </p:txBody>
      </p:sp>
    </p:spTree>
    <p:extLst>
      <p:ext uri="{BB962C8B-B14F-4D97-AF65-F5344CB8AC3E}">
        <p14:creationId xmlns:p14="http://schemas.microsoft.com/office/powerpoint/2010/main" val="67327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BDF91-F680-4064-BA6F-1210B2C97A41}"/>
              </a:ext>
            </a:extLst>
          </p:cNvPr>
          <p:cNvSpPr>
            <a:spLocks noGrp="1"/>
          </p:cNvSpPr>
          <p:nvPr>
            <p:ph type="title"/>
          </p:nvPr>
        </p:nvSpPr>
        <p:spPr>
          <a:xfrm>
            <a:off x="1097280" y="286603"/>
            <a:ext cx="10058400" cy="1450757"/>
          </a:xfrm>
        </p:spPr>
        <p:txBody>
          <a:bodyPr>
            <a:normAutofit/>
          </a:bodyPr>
          <a:lstStyle/>
          <a:p>
            <a:pPr algn="ctr"/>
            <a:r>
              <a:rPr lang="en-US" dirty="0"/>
              <a:t>Chapter 1</a:t>
            </a:r>
            <a:br>
              <a:rPr lang="en-US" dirty="0"/>
            </a:br>
            <a:r>
              <a:rPr lang="en-US" dirty="0"/>
              <a:t>Introduction to Thermodynamic Systems</a:t>
            </a:r>
          </a:p>
        </p:txBody>
      </p:sp>
      <p:pic>
        <p:nvPicPr>
          <p:cNvPr id="5" name="Content Placeholder 4">
            <a:extLst>
              <a:ext uri="{FF2B5EF4-FFF2-40B4-BE49-F238E27FC236}">
                <a16:creationId xmlns:a16="http://schemas.microsoft.com/office/drawing/2014/main" id="{9AAFCC85-7E08-4656-B2AB-2C362F8875A8}"/>
              </a:ext>
            </a:extLst>
          </p:cNvPr>
          <p:cNvPicPr>
            <a:picLocks noChangeAspect="1"/>
          </p:cNvPicPr>
          <p:nvPr/>
        </p:nvPicPr>
        <p:blipFill>
          <a:blip r:embed="rId2"/>
          <a:stretch>
            <a:fillRect/>
          </a:stretch>
        </p:blipFill>
        <p:spPr>
          <a:xfrm>
            <a:off x="1255731" y="2449626"/>
            <a:ext cx="4234144" cy="2942730"/>
          </a:xfrm>
          <a:prstGeom prst="rect">
            <a:avLst/>
          </a:prstGeom>
        </p:spPr>
      </p:pic>
      <p:pic>
        <p:nvPicPr>
          <p:cNvPr id="7" name="Picture 6">
            <a:extLst>
              <a:ext uri="{FF2B5EF4-FFF2-40B4-BE49-F238E27FC236}">
                <a16:creationId xmlns:a16="http://schemas.microsoft.com/office/drawing/2014/main" id="{95949DC0-5940-4336-9BE8-54B1D6C7DB5D}"/>
              </a:ext>
            </a:extLst>
          </p:cNvPr>
          <p:cNvPicPr>
            <a:picLocks noChangeAspect="1"/>
          </p:cNvPicPr>
          <p:nvPr/>
        </p:nvPicPr>
        <p:blipFill>
          <a:blip r:embed="rId3"/>
          <a:stretch>
            <a:fillRect/>
          </a:stretch>
        </p:blipFill>
        <p:spPr>
          <a:xfrm>
            <a:off x="6702127" y="2428759"/>
            <a:ext cx="3274694" cy="2963597"/>
          </a:xfrm>
          <a:prstGeom prst="rect">
            <a:avLst/>
          </a:prstGeom>
        </p:spPr>
      </p:pic>
      <p:sp>
        <p:nvSpPr>
          <p:cNvPr id="8" name="TextBox 7">
            <a:extLst>
              <a:ext uri="{FF2B5EF4-FFF2-40B4-BE49-F238E27FC236}">
                <a16:creationId xmlns:a16="http://schemas.microsoft.com/office/drawing/2014/main" id="{73A106F9-FCEC-47D2-9DED-3296E20C65FB}"/>
              </a:ext>
            </a:extLst>
          </p:cNvPr>
          <p:cNvSpPr txBox="1"/>
          <p:nvPr/>
        </p:nvSpPr>
        <p:spPr>
          <a:xfrm>
            <a:off x="1255731" y="5392356"/>
            <a:ext cx="4392595" cy="923330"/>
          </a:xfrm>
          <a:prstGeom prst="rect">
            <a:avLst/>
          </a:prstGeom>
          <a:noFill/>
        </p:spPr>
        <p:txBody>
          <a:bodyPr wrap="square" rtlCol="0">
            <a:spAutoFit/>
          </a:bodyPr>
          <a:lstStyle/>
          <a:p>
            <a:r>
              <a:rPr lang="en-US" dirty="0"/>
              <a:t>Example of a Closed System.</a:t>
            </a:r>
          </a:p>
          <a:p>
            <a:r>
              <a:rPr lang="en-US" dirty="0"/>
              <a:t>A refrigerator Cooling System has no matter flowing in or out.</a:t>
            </a:r>
          </a:p>
        </p:txBody>
      </p:sp>
      <p:sp>
        <p:nvSpPr>
          <p:cNvPr id="9" name="TextBox 8">
            <a:extLst>
              <a:ext uri="{FF2B5EF4-FFF2-40B4-BE49-F238E27FC236}">
                <a16:creationId xmlns:a16="http://schemas.microsoft.com/office/drawing/2014/main" id="{BEB85E2B-C809-4493-BFCD-CE82F5EB429D}"/>
              </a:ext>
            </a:extLst>
          </p:cNvPr>
          <p:cNvSpPr txBox="1"/>
          <p:nvPr/>
        </p:nvSpPr>
        <p:spPr>
          <a:xfrm>
            <a:off x="1097280" y="1866777"/>
            <a:ext cx="4551046" cy="646331"/>
          </a:xfrm>
          <a:prstGeom prst="rect">
            <a:avLst/>
          </a:prstGeom>
          <a:noFill/>
        </p:spPr>
        <p:txBody>
          <a:bodyPr wrap="square" rtlCol="0">
            <a:spAutoFit/>
          </a:bodyPr>
          <a:lstStyle/>
          <a:p>
            <a:r>
              <a:rPr lang="en-US" b="1" dirty="0"/>
              <a:t>Definition: </a:t>
            </a:r>
            <a:r>
              <a:rPr lang="en-US" dirty="0"/>
              <a:t>A Closed System is a system in which the matter does not flow in or out of it.</a:t>
            </a:r>
          </a:p>
        </p:txBody>
      </p:sp>
      <p:sp>
        <p:nvSpPr>
          <p:cNvPr id="12" name="TextBox 11">
            <a:extLst>
              <a:ext uri="{FF2B5EF4-FFF2-40B4-BE49-F238E27FC236}">
                <a16:creationId xmlns:a16="http://schemas.microsoft.com/office/drawing/2014/main" id="{B51F6415-7D9D-449E-B547-091F6FC7BB61}"/>
              </a:ext>
            </a:extLst>
          </p:cNvPr>
          <p:cNvSpPr txBox="1"/>
          <p:nvPr/>
        </p:nvSpPr>
        <p:spPr>
          <a:xfrm>
            <a:off x="6126480" y="1811346"/>
            <a:ext cx="4551046" cy="646331"/>
          </a:xfrm>
          <a:prstGeom prst="rect">
            <a:avLst/>
          </a:prstGeom>
          <a:noFill/>
        </p:spPr>
        <p:txBody>
          <a:bodyPr wrap="square" rtlCol="0">
            <a:spAutoFit/>
          </a:bodyPr>
          <a:lstStyle/>
          <a:p>
            <a:r>
              <a:rPr lang="en-US" b="1" dirty="0"/>
              <a:t>Definition: </a:t>
            </a:r>
            <a:r>
              <a:rPr lang="en-US" dirty="0"/>
              <a:t>An Open System is a system in which the matter can flow in or out of it.</a:t>
            </a:r>
          </a:p>
        </p:txBody>
      </p:sp>
      <p:sp>
        <p:nvSpPr>
          <p:cNvPr id="13" name="TextBox 12">
            <a:extLst>
              <a:ext uri="{FF2B5EF4-FFF2-40B4-BE49-F238E27FC236}">
                <a16:creationId xmlns:a16="http://schemas.microsoft.com/office/drawing/2014/main" id="{BF4BD2D2-2FA1-4133-AA37-796A3C17F6EB}"/>
              </a:ext>
            </a:extLst>
          </p:cNvPr>
          <p:cNvSpPr txBox="1"/>
          <p:nvPr/>
        </p:nvSpPr>
        <p:spPr>
          <a:xfrm>
            <a:off x="6126480" y="5392356"/>
            <a:ext cx="5924550" cy="923330"/>
          </a:xfrm>
          <a:prstGeom prst="rect">
            <a:avLst/>
          </a:prstGeom>
          <a:noFill/>
        </p:spPr>
        <p:txBody>
          <a:bodyPr wrap="square" rtlCol="0">
            <a:spAutoFit/>
          </a:bodyPr>
          <a:lstStyle/>
          <a:p>
            <a:r>
              <a:rPr lang="en-US" dirty="0"/>
              <a:t>Example of an Open System.</a:t>
            </a:r>
          </a:p>
          <a:p>
            <a:r>
              <a:rPr lang="en-US" dirty="0"/>
              <a:t>A heart has matter(blood) flowing in and out of it. </a:t>
            </a:r>
          </a:p>
          <a:p>
            <a:r>
              <a:rPr lang="en-US" dirty="0"/>
              <a:t>A better example would be that a pump is an open System.</a:t>
            </a:r>
          </a:p>
        </p:txBody>
      </p:sp>
      <p:cxnSp>
        <p:nvCxnSpPr>
          <p:cNvPr id="14" name="Straight Connector 13">
            <a:extLst>
              <a:ext uri="{FF2B5EF4-FFF2-40B4-BE49-F238E27FC236}">
                <a16:creationId xmlns:a16="http://schemas.microsoft.com/office/drawing/2014/main" id="{2E2743C5-6628-40D6-A2AD-A09D84541D74}"/>
              </a:ext>
            </a:extLst>
          </p:cNvPr>
          <p:cNvCxnSpPr>
            <a:cxnSpLocks/>
          </p:cNvCxnSpPr>
          <p:nvPr/>
        </p:nvCxnSpPr>
        <p:spPr>
          <a:xfrm>
            <a:off x="5772150" y="1737360"/>
            <a:ext cx="0" cy="4615815"/>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5015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520C5-10F9-4644-BC77-4010FE643B69}"/>
              </a:ext>
            </a:extLst>
          </p:cNvPr>
          <p:cNvSpPr>
            <a:spLocks noGrp="1"/>
          </p:cNvSpPr>
          <p:nvPr>
            <p:ph type="title"/>
          </p:nvPr>
        </p:nvSpPr>
        <p:spPr/>
        <p:txBody>
          <a:bodyPr/>
          <a:lstStyle/>
          <a:p>
            <a:pPr algn="ctr"/>
            <a:r>
              <a:rPr lang="en-US" dirty="0"/>
              <a:t>Chapter 1</a:t>
            </a:r>
            <a:br>
              <a:rPr lang="en-US" dirty="0"/>
            </a:br>
            <a:r>
              <a:rPr lang="en-US" dirty="0"/>
              <a:t>Introduction to System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D02276-FF0D-40D0-935B-4C57871A32C1}"/>
                  </a:ext>
                </a:extLst>
              </p:cNvPr>
              <p:cNvSpPr>
                <a:spLocks noGrp="1"/>
              </p:cNvSpPr>
              <p:nvPr>
                <p:ph idx="1"/>
              </p:nvPr>
            </p:nvSpPr>
            <p:spPr/>
            <p:txBody>
              <a:bodyPr/>
              <a:lstStyle/>
              <a:p>
                <a:r>
                  <a:rPr lang="en-US" b="1" dirty="0"/>
                  <a:t>Definition: </a:t>
                </a:r>
                <a:r>
                  <a:rPr lang="en-US" dirty="0"/>
                  <a:t>System Properties is anything can be observed or measured</a:t>
                </a:r>
              </a:p>
              <a:p>
                <a:pPr>
                  <a:buFont typeface="Arial" panose="020B0604020202020204" pitchFamily="34" charset="0"/>
                  <a:buChar char="•"/>
                </a:pPr>
                <a:r>
                  <a:rPr lang="en-US" sz="2400" dirty="0"/>
                  <a:t>System Properties can be split into 2 Categories, </a:t>
                </a:r>
                <a:r>
                  <a:rPr lang="en-US" sz="2400" u="sng" dirty="0"/>
                  <a:t>Extensive</a:t>
                </a:r>
                <a:r>
                  <a:rPr lang="en-US" sz="2400" dirty="0"/>
                  <a:t> and</a:t>
                </a:r>
                <a:r>
                  <a:rPr lang="en-US" sz="2400" u="sng" dirty="0"/>
                  <a:t> Intensive </a:t>
                </a:r>
                <a:r>
                  <a:rPr lang="en-US" sz="2400" dirty="0"/>
                  <a:t>Properties</a:t>
                </a:r>
              </a:p>
              <a:p>
                <a:pPr>
                  <a:buFont typeface="Arial" panose="020B0604020202020204" pitchFamily="34" charset="0"/>
                  <a:buChar char="•"/>
                </a:pPr>
                <a:endParaRPr lang="en-US" sz="2400" dirty="0"/>
              </a:p>
              <a:p>
                <a:pPr lvl="1">
                  <a:buFont typeface="Arial" panose="020B0604020202020204" pitchFamily="34" charset="0"/>
                  <a:buChar char="•"/>
                </a:pPr>
                <a:r>
                  <a:rPr lang="en-US" sz="2000" dirty="0"/>
                  <a:t>Extensive Properties are dependent on the amount of matter. </a:t>
                </a:r>
              </a:p>
              <a:p>
                <a:pPr lvl="2">
                  <a:buFont typeface="Arial" panose="020B0604020202020204" pitchFamily="34" charset="0"/>
                  <a:buChar char="•"/>
                </a:pPr>
                <a:r>
                  <a:rPr lang="en-US" sz="1600" dirty="0"/>
                  <a:t>Extensive Properties include Mass and Volume (V)</a:t>
                </a:r>
              </a:p>
              <a:p>
                <a:pPr marL="384048" lvl="2" indent="0">
                  <a:buNone/>
                </a:pPr>
                <a:endParaRPr lang="en-US" sz="1600" dirty="0"/>
              </a:p>
              <a:p>
                <a:pPr lvl="1">
                  <a:buFont typeface="Arial" panose="020B0604020202020204" pitchFamily="34" charset="0"/>
                  <a:buChar char="•"/>
                </a:pPr>
                <a:r>
                  <a:rPr lang="en-US" sz="2000" dirty="0"/>
                  <a:t>Intensive properties are independent of the amount of matter. </a:t>
                </a:r>
              </a:p>
              <a:p>
                <a:pPr lvl="2">
                  <a:buFont typeface="Arial" panose="020B0604020202020204" pitchFamily="34" charset="0"/>
                  <a:buChar char="•"/>
                </a:pPr>
                <a:r>
                  <a:rPr lang="en-US" sz="1600" dirty="0"/>
                  <a:t>Intensive Properties Include Temperature(T), Corrosiveness, P, FP/BP, and Specific Volume (</a:t>
                </a:r>
                <a14:m>
                  <m:oMath xmlns:m="http://schemas.openxmlformats.org/officeDocument/2006/math">
                    <m:r>
                      <a:rPr lang="en-US" sz="1600" b="0" i="1" smtClean="0">
                        <a:latin typeface="Cambria Math" panose="02040503050406030204" pitchFamily="18" charset="0"/>
                      </a:rPr>
                      <m:t>𝑣</m:t>
                    </m:r>
                  </m:oMath>
                </a14:m>
                <a:r>
                  <a:rPr lang="en-US" sz="1600" dirty="0"/>
                  <a:t>)</a:t>
                </a:r>
              </a:p>
              <a:p>
                <a:r>
                  <a:rPr lang="en-US" dirty="0"/>
                  <a:t>Equation: </a:t>
                </a:r>
                <a14:m>
                  <m:oMath xmlns:m="http://schemas.openxmlformats.org/officeDocument/2006/math">
                    <m:r>
                      <a:rPr lang="en-US" i="1" dirty="0" smtClean="0">
                        <a:latin typeface="Cambria Math" panose="02040503050406030204" pitchFamily="18" charset="0"/>
                      </a:rPr>
                      <m:t>𝑆𝑝𝑒𝑐𝑖𝑓𝑖𝑐</m:t>
                    </m:r>
                    <m:r>
                      <a:rPr lang="en-US" i="1" dirty="0" smtClean="0">
                        <a:latin typeface="Cambria Math" panose="02040503050406030204" pitchFamily="18" charset="0"/>
                      </a:rPr>
                      <m:t> </m:t>
                    </m:r>
                    <m:r>
                      <a:rPr lang="en-US" i="1" dirty="0" smtClean="0">
                        <a:latin typeface="Cambria Math" panose="02040503050406030204" pitchFamily="18" charset="0"/>
                      </a:rPr>
                      <m:t>𝑉𝑜𝑙𝑢𝑚𝑒</m:t>
                    </m:r>
                    <m:r>
                      <a:rPr lang="en-US" i="1" dirty="0" smtClean="0">
                        <a:latin typeface="Cambria Math" panose="02040503050406030204" pitchFamily="18" charset="0"/>
                      </a:rPr>
                      <m:t> = </m:t>
                    </m:r>
                    <m:r>
                      <a:rPr lang="en-US" b="0" i="1" smtClean="0">
                        <a:latin typeface="Cambria Math" panose="02040503050406030204" pitchFamily="18" charset="0"/>
                      </a:rPr>
                      <m:t>𝑣</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𝑉𝑜𝑙𝑢𝑚𝑒</m:t>
                        </m:r>
                      </m:num>
                      <m:den>
                        <m:r>
                          <a:rPr lang="en-US" b="0" i="1" smtClean="0">
                            <a:latin typeface="Cambria Math" panose="02040503050406030204" pitchFamily="18" charset="0"/>
                          </a:rPr>
                          <m:t>𝑚𝑎𝑠𝑠</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𝜌</m:t>
                        </m:r>
                      </m:den>
                    </m:f>
                  </m:oMath>
                </a14:m>
                <a:endParaRPr lang="en-US" dirty="0"/>
              </a:p>
            </p:txBody>
          </p:sp>
        </mc:Choice>
        <mc:Fallback xmlns="">
          <p:sp>
            <p:nvSpPr>
              <p:cNvPr id="3" name="Content Placeholder 2">
                <a:extLst>
                  <a:ext uri="{FF2B5EF4-FFF2-40B4-BE49-F238E27FC236}">
                    <a16:creationId xmlns:a16="http://schemas.microsoft.com/office/drawing/2014/main" id="{1FD02276-FF0D-40D0-935B-4C57871A32C1}"/>
                  </a:ext>
                </a:extLst>
              </p:cNvPr>
              <p:cNvSpPr>
                <a:spLocks noGrp="1" noRot="1" noChangeAspect="1" noMove="1" noResize="1" noEditPoints="1" noAdjustHandles="1" noChangeArrowheads="1" noChangeShapeType="1" noTextEdit="1"/>
              </p:cNvSpPr>
              <p:nvPr>
                <p:ph idx="1"/>
              </p:nvPr>
            </p:nvSpPr>
            <p:spPr>
              <a:blipFill>
                <a:blip r:embed="rId2"/>
                <a:stretch>
                  <a:fillRect l="-1697" t="-1667"/>
                </a:stretch>
              </a:blipFill>
            </p:spPr>
            <p:txBody>
              <a:bodyPr/>
              <a:lstStyle/>
              <a:p>
                <a:r>
                  <a:rPr lang="en-US">
                    <a:noFill/>
                  </a:rPr>
                  <a:t> </a:t>
                </a:r>
              </a:p>
            </p:txBody>
          </p:sp>
        </mc:Fallback>
      </mc:AlternateContent>
    </p:spTree>
    <p:extLst>
      <p:ext uri="{BB962C8B-B14F-4D97-AF65-F5344CB8AC3E}">
        <p14:creationId xmlns:p14="http://schemas.microsoft.com/office/powerpoint/2010/main" val="891564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6E8F9-446A-47D3-8331-815E8444E14D}"/>
              </a:ext>
            </a:extLst>
          </p:cNvPr>
          <p:cNvSpPr>
            <a:spLocks noGrp="1"/>
          </p:cNvSpPr>
          <p:nvPr>
            <p:ph type="title"/>
          </p:nvPr>
        </p:nvSpPr>
        <p:spPr/>
        <p:txBody>
          <a:bodyPr/>
          <a:lstStyle/>
          <a:p>
            <a:pPr algn="ctr"/>
            <a:r>
              <a:rPr lang="en-US" dirty="0"/>
              <a:t>Chapter 1</a:t>
            </a:r>
            <a:br>
              <a:rPr lang="en-US" dirty="0"/>
            </a:br>
            <a:r>
              <a:rPr lang="en-US" dirty="0"/>
              <a:t>Introduction to System Properties</a:t>
            </a:r>
          </a:p>
        </p:txBody>
      </p:sp>
      <p:sp>
        <p:nvSpPr>
          <p:cNvPr id="3" name="Content Placeholder 2">
            <a:extLst>
              <a:ext uri="{FF2B5EF4-FFF2-40B4-BE49-F238E27FC236}">
                <a16:creationId xmlns:a16="http://schemas.microsoft.com/office/drawing/2014/main" id="{8A3D68A1-D493-4466-ABF4-6556D51F87B4}"/>
              </a:ext>
            </a:extLst>
          </p:cNvPr>
          <p:cNvSpPr>
            <a:spLocks noGrp="1"/>
          </p:cNvSpPr>
          <p:nvPr>
            <p:ph idx="1"/>
          </p:nvPr>
        </p:nvSpPr>
        <p:spPr>
          <a:xfrm>
            <a:off x="1097279" y="1805554"/>
            <a:ext cx="4767811" cy="472698"/>
          </a:xfrm>
        </p:spPr>
        <p:txBody>
          <a:bodyPr>
            <a:normAutofit lnSpcReduction="10000"/>
          </a:bodyPr>
          <a:lstStyle/>
          <a:p>
            <a:r>
              <a:rPr lang="en-US" sz="2800" b="1" dirty="0"/>
              <a:t>Example:</a:t>
            </a:r>
          </a:p>
        </p:txBody>
      </p:sp>
      <p:pic>
        <p:nvPicPr>
          <p:cNvPr id="5" name="Picture 4">
            <a:extLst>
              <a:ext uri="{FF2B5EF4-FFF2-40B4-BE49-F238E27FC236}">
                <a16:creationId xmlns:a16="http://schemas.microsoft.com/office/drawing/2014/main" id="{610D61F7-22A7-47C2-B2A2-8E737FE79567}"/>
              </a:ext>
            </a:extLst>
          </p:cNvPr>
          <p:cNvPicPr>
            <a:picLocks noChangeAspect="1"/>
          </p:cNvPicPr>
          <p:nvPr/>
        </p:nvPicPr>
        <p:blipFill>
          <a:blip r:embed="rId2"/>
          <a:stretch>
            <a:fillRect/>
          </a:stretch>
        </p:blipFill>
        <p:spPr>
          <a:xfrm>
            <a:off x="1097280" y="2278252"/>
            <a:ext cx="5800907" cy="3285303"/>
          </a:xfrm>
          <a:prstGeom prst="rect">
            <a:avLst/>
          </a:prstGeom>
        </p:spPr>
      </p:pic>
      <p:sp>
        <p:nvSpPr>
          <p:cNvPr id="6" name="TextBox 5">
            <a:extLst>
              <a:ext uri="{FF2B5EF4-FFF2-40B4-BE49-F238E27FC236}">
                <a16:creationId xmlns:a16="http://schemas.microsoft.com/office/drawing/2014/main" id="{8FD45163-752E-4581-8720-F09F648ACC48}"/>
              </a:ext>
            </a:extLst>
          </p:cNvPr>
          <p:cNvSpPr txBox="1"/>
          <p:nvPr/>
        </p:nvSpPr>
        <p:spPr>
          <a:xfrm>
            <a:off x="7513578" y="1805554"/>
            <a:ext cx="3642102" cy="3970318"/>
          </a:xfrm>
          <a:prstGeom prst="rect">
            <a:avLst/>
          </a:prstGeom>
          <a:noFill/>
        </p:spPr>
        <p:txBody>
          <a:bodyPr wrap="square" lIns="91440" tIns="45720" rIns="91440" bIns="45720" rtlCol="0" anchor="t">
            <a:spAutoFit/>
          </a:bodyPr>
          <a:lstStyle/>
          <a:p>
            <a:endParaRPr lang="en-US" dirty="0"/>
          </a:p>
          <a:p>
            <a:r>
              <a:rPr lang="en-US" dirty="0"/>
              <a:t>What can be observed about the matter in these beakers?</a:t>
            </a:r>
          </a:p>
          <a:p>
            <a:endParaRPr lang="en-US" dirty="0">
              <a:cs typeface="Calibri"/>
            </a:endParaRPr>
          </a:p>
          <a:p>
            <a:r>
              <a:rPr lang="en-US" b="1" dirty="0">
                <a:ea typeface="+mn-lt"/>
                <a:cs typeface="+mn-lt"/>
              </a:rPr>
              <a:t>- Color </a:t>
            </a:r>
            <a:endParaRPr lang="en-US" dirty="0">
              <a:ea typeface="+mn-lt"/>
              <a:cs typeface="+mn-lt"/>
            </a:endParaRPr>
          </a:p>
          <a:p>
            <a:r>
              <a:rPr lang="en-US" b="1" dirty="0">
                <a:ea typeface="+mn-lt"/>
                <a:cs typeface="+mn-lt"/>
              </a:rPr>
              <a:t>- Temperature </a:t>
            </a:r>
            <a:endParaRPr lang="en-US" dirty="0">
              <a:ea typeface="+mn-lt"/>
              <a:cs typeface="+mn-lt"/>
            </a:endParaRPr>
          </a:p>
          <a:p>
            <a:r>
              <a:rPr lang="en-US" b="1" dirty="0">
                <a:ea typeface="+mn-lt"/>
                <a:cs typeface="+mn-lt"/>
              </a:rPr>
              <a:t>- Mass </a:t>
            </a:r>
            <a:endParaRPr lang="en-US" dirty="0">
              <a:ea typeface="+mn-lt"/>
              <a:cs typeface="+mn-lt"/>
            </a:endParaRPr>
          </a:p>
          <a:p>
            <a:r>
              <a:rPr lang="en-US" b="1" dirty="0">
                <a:ea typeface="+mn-lt"/>
                <a:cs typeface="+mn-lt"/>
              </a:rPr>
              <a:t>- Volume </a:t>
            </a:r>
            <a:endParaRPr lang="en-US" dirty="0">
              <a:ea typeface="+mn-lt"/>
              <a:cs typeface="+mn-lt"/>
            </a:endParaRPr>
          </a:p>
          <a:p>
            <a:r>
              <a:rPr lang="en-US" b="1" dirty="0">
                <a:ea typeface="+mn-lt"/>
                <a:cs typeface="+mn-lt"/>
              </a:rPr>
              <a:t>- Corrosiveness </a:t>
            </a:r>
            <a:endParaRPr lang="en-US" dirty="0">
              <a:ea typeface="+mn-lt"/>
              <a:cs typeface="+mn-lt"/>
            </a:endParaRPr>
          </a:p>
          <a:p>
            <a:r>
              <a:rPr lang="en-US" b="1" dirty="0">
                <a:ea typeface="+mn-lt"/>
                <a:cs typeface="+mn-lt"/>
              </a:rPr>
              <a:t>- Freezing point/Boiling point</a:t>
            </a:r>
            <a:endParaRPr lang="en-US" dirty="0">
              <a:ea typeface="+mn-lt"/>
              <a:cs typeface="+mn-lt"/>
            </a:endParaRPr>
          </a:p>
          <a:p>
            <a:endParaRPr lang="en-US" dirty="0">
              <a:cs typeface="Calibri"/>
            </a:endParaRPr>
          </a:p>
          <a:p>
            <a:endParaRPr lang="en-US" dirty="0">
              <a:cs typeface="Calibri"/>
            </a:endParaRPr>
          </a:p>
          <a:p>
            <a:r>
              <a:rPr lang="en-US" b="1" dirty="0">
                <a:cs typeface="Calibri"/>
              </a:rPr>
              <a:t>Which Properties are Extensive and which are Intensive?</a:t>
            </a:r>
            <a:endParaRPr lang="en-US" b="1" dirty="0"/>
          </a:p>
        </p:txBody>
      </p:sp>
    </p:spTree>
    <p:extLst>
      <p:ext uri="{BB962C8B-B14F-4D97-AF65-F5344CB8AC3E}">
        <p14:creationId xmlns:p14="http://schemas.microsoft.com/office/powerpoint/2010/main" val="2902193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4B0BC-7250-4528-B292-D51686FCDBBA}"/>
              </a:ext>
            </a:extLst>
          </p:cNvPr>
          <p:cNvSpPr>
            <a:spLocks noGrp="1"/>
          </p:cNvSpPr>
          <p:nvPr>
            <p:ph type="title"/>
          </p:nvPr>
        </p:nvSpPr>
        <p:spPr/>
        <p:txBody>
          <a:bodyPr>
            <a:normAutofit/>
          </a:bodyPr>
          <a:lstStyle/>
          <a:p>
            <a:pPr algn="ctr"/>
            <a:r>
              <a:rPr lang="en-US" dirty="0"/>
              <a:t>Chapter 1</a:t>
            </a:r>
            <a:br>
              <a:rPr lang="en-US" dirty="0"/>
            </a:br>
            <a:r>
              <a:rPr lang="en-US" dirty="0"/>
              <a:t>Thermodynamic Approaches</a:t>
            </a:r>
          </a:p>
        </p:txBody>
      </p:sp>
      <p:sp>
        <p:nvSpPr>
          <p:cNvPr id="3" name="Content Placeholder 2">
            <a:extLst>
              <a:ext uri="{FF2B5EF4-FFF2-40B4-BE49-F238E27FC236}">
                <a16:creationId xmlns:a16="http://schemas.microsoft.com/office/drawing/2014/main" id="{FAE107B4-E3C0-4781-97CA-17371022130A}"/>
              </a:ext>
            </a:extLst>
          </p:cNvPr>
          <p:cNvSpPr>
            <a:spLocks noGrp="1"/>
          </p:cNvSpPr>
          <p:nvPr>
            <p:ph idx="1"/>
          </p:nvPr>
        </p:nvSpPr>
        <p:spPr>
          <a:xfrm>
            <a:off x="1097280" y="1845734"/>
            <a:ext cx="7264056" cy="4023360"/>
          </a:xfrm>
        </p:spPr>
        <p:txBody>
          <a:bodyPr>
            <a:normAutofit lnSpcReduction="10000"/>
          </a:bodyPr>
          <a:lstStyle/>
          <a:p>
            <a:r>
              <a:rPr lang="en-US" dirty="0"/>
              <a:t>There are 2 main Approaches to Thermodynamics:</a:t>
            </a:r>
          </a:p>
          <a:p>
            <a:pPr lvl="1">
              <a:buFont typeface="Arial" panose="020B0604020202020204" pitchFamily="34" charset="0"/>
              <a:buChar char="•"/>
            </a:pPr>
            <a:r>
              <a:rPr lang="en-US" sz="2400" dirty="0"/>
              <a:t>Classical Thermodynamics</a:t>
            </a:r>
          </a:p>
          <a:p>
            <a:pPr lvl="2">
              <a:buFont typeface="Arial" panose="020B0604020202020204" pitchFamily="34" charset="0"/>
              <a:buChar char="•"/>
            </a:pPr>
            <a:r>
              <a:rPr lang="en-US" sz="2000" dirty="0"/>
              <a:t>The description of the states of thermodynamic systems at near-equilibrium, that uses macroscopic, measurable properties. It is used to model exchanges of energy, work and heat based on the Laws of Thermodynamics.</a:t>
            </a:r>
          </a:p>
          <a:p>
            <a:pPr lvl="2">
              <a:buFont typeface="Arial" panose="020B0604020202020204" pitchFamily="34" charset="0"/>
              <a:buChar char="•"/>
            </a:pPr>
            <a:endParaRPr lang="en-US" sz="2000" dirty="0"/>
          </a:p>
          <a:p>
            <a:pPr lvl="1">
              <a:buFont typeface="Arial" panose="020B0604020202020204" pitchFamily="34" charset="0"/>
              <a:buChar char="•"/>
            </a:pPr>
            <a:r>
              <a:rPr lang="en-US" sz="2400" dirty="0"/>
              <a:t>Statistical Thermodynamics</a:t>
            </a:r>
          </a:p>
          <a:p>
            <a:pPr lvl="2">
              <a:buFont typeface="Arial" panose="020B0604020202020204" pitchFamily="34" charset="0"/>
              <a:buChar char="•"/>
            </a:pPr>
            <a:r>
              <a:rPr lang="en-US" sz="2000" dirty="0"/>
              <a:t>Statistical thermodynamics, emerged with the development of atomic and molecular theories in the late 19th century and early 20th century, and supplemented classical thermodynamics with an interpretation of the microscopic interactions between individual particles or quantum-mechanical states. </a:t>
            </a:r>
          </a:p>
          <a:p>
            <a:endParaRPr lang="en-US" dirty="0"/>
          </a:p>
        </p:txBody>
      </p:sp>
      <p:pic>
        <p:nvPicPr>
          <p:cNvPr id="5" name="Picture 4">
            <a:extLst>
              <a:ext uri="{FF2B5EF4-FFF2-40B4-BE49-F238E27FC236}">
                <a16:creationId xmlns:a16="http://schemas.microsoft.com/office/drawing/2014/main" id="{B509300F-190D-4725-8E8B-7D78F235A5B6}"/>
              </a:ext>
            </a:extLst>
          </p:cNvPr>
          <p:cNvPicPr>
            <a:picLocks noChangeAspect="1"/>
          </p:cNvPicPr>
          <p:nvPr/>
        </p:nvPicPr>
        <p:blipFill>
          <a:blip r:embed="rId2"/>
          <a:stretch>
            <a:fillRect/>
          </a:stretch>
        </p:blipFill>
        <p:spPr>
          <a:xfrm>
            <a:off x="8632360" y="1915955"/>
            <a:ext cx="1124659" cy="1889427"/>
          </a:xfrm>
          <a:prstGeom prst="rect">
            <a:avLst/>
          </a:prstGeom>
        </p:spPr>
      </p:pic>
      <p:pic>
        <p:nvPicPr>
          <p:cNvPr id="7" name="Picture 6">
            <a:extLst>
              <a:ext uri="{FF2B5EF4-FFF2-40B4-BE49-F238E27FC236}">
                <a16:creationId xmlns:a16="http://schemas.microsoft.com/office/drawing/2014/main" id="{6E409720-D8DA-4678-BC0E-9944696D0707}"/>
              </a:ext>
            </a:extLst>
          </p:cNvPr>
          <p:cNvPicPr>
            <a:picLocks noChangeAspect="1"/>
          </p:cNvPicPr>
          <p:nvPr/>
        </p:nvPicPr>
        <p:blipFill>
          <a:blip r:embed="rId3"/>
          <a:stretch>
            <a:fillRect/>
          </a:stretch>
        </p:blipFill>
        <p:spPr>
          <a:xfrm>
            <a:off x="8632360" y="4106512"/>
            <a:ext cx="1444407" cy="2028257"/>
          </a:xfrm>
          <a:prstGeom prst="rect">
            <a:avLst/>
          </a:prstGeom>
        </p:spPr>
      </p:pic>
      <p:cxnSp>
        <p:nvCxnSpPr>
          <p:cNvPr id="9" name="Straight Connector 8">
            <a:extLst>
              <a:ext uri="{FF2B5EF4-FFF2-40B4-BE49-F238E27FC236}">
                <a16:creationId xmlns:a16="http://schemas.microsoft.com/office/drawing/2014/main" id="{1CC42CFA-B160-41D7-8F07-91C066EF5E87}"/>
              </a:ext>
            </a:extLst>
          </p:cNvPr>
          <p:cNvCxnSpPr>
            <a:stCxn id="3" idx="1"/>
          </p:cNvCxnSpPr>
          <p:nvPr/>
        </p:nvCxnSpPr>
        <p:spPr>
          <a:xfrm>
            <a:off x="1097280" y="3857414"/>
            <a:ext cx="100584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6945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D9B74-1B85-4E17-9928-E2FA4554FC3E}"/>
              </a:ext>
            </a:extLst>
          </p:cNvPr>
          <p:cNvSpPr>
            <a:spLocks noGrp="1"/>
          </p:cNvSpPr>
          <p:nvPr>
            <p:ph type="title"/>
          </p:nvPr>
        </p:nvSpPr>
        <p:spPr/>
        <p:txBody>
          <a:bodyPr/>
          <a:lstStyle/>
          <a:p>
            <a:pPr algn="ctr"/>
            <a:r>
              <a:rPr lang="en-US" dirty="0"/>
              <a:t>Chapter 1</a:t>
            </a:r>
            <a:br>
              <a:rPr lang="en-US" dirty="0"/>
            </a:br>
            <a:r>
              <a:rPr lang="en-US" dirty="0"/>
              <a:t>Thermodynamics Equilibrium</a:t>
            </a:r>
          </a:p>
        </p:txBody>
      </p:sp>
      <p:sp>
        <p:nvSpPr>
          <p:cNvPr id="3" name="Content Placeholder 2">
            <a:extLst>
              <a:ext uri="{FF2B5EF4-FFF2-40B4-BE49-F238E27FC236}">
                <a16:creationId xmlns:a16="http://schemas.microsoft.com/office/drawing/2014/main" id="{E1F177F1-2155-4458-9834-FDB11023AB11}"/>
              </a:ext>
            </a:extLst>
          </p:cNvPr>
          <p:cNvSpPr>
            <a:spLocks noGrp="1"/>
          </p:cNvSpPr>
          <p:nvPr>
            <p:ph idx="1"/>
          </p:nvPr>
        </p:nvSpPr>
        <p:spPr>
          <a:xfrm>
            <a:off x="1097280" y="1845734"/>
            <a:ext cx="10058400" cy="688239"/>
          </a:xfrm>
        </p:spPr>
        <p:txBody>
          <a:bodyPr>
            <a:normAutofit lnSpcReduction="10000"/>
          </a:bodyPr>
          <a:lstStyle/>
          <a:p>
            <a:r>
              <a:rPr lang="en-US" sz="2400" b="1" dirty="0"/>
              <a:t>Definition:</a:t>
            </a:r>
            <a:r>
              <a:rPr lang="en-US" dirty="0"/>
              <a:t> </a:t>
            </a:r>
            <a:r>
              <a:rPr lang="en-US" b="1" dirty="0"/>
              <a:t>Thermodynamics Equilibrium </a:t>
            </a:r>
            <a:r>
              <a:rPr lang="en-US" dirty="0"/>
              <a:t>is a state of system in which it is in chemical, mechanical and thermal equilibrium</a:t>
            </a:r>
          </a:p>
        </p:txBody>
      </p:sp>
      <p:sp>
        <p:nvSpPr>
          <p:cNvPr id="4" name="TextBox 3">
            <a:extLst>
              <a:ext uri="{FF2B5EF4-FFF2-40B4-BE49-F238E27FC236}">
                <a16:creationId xmlns:a16="http://schemas.microsoft.com/office/drawing/2014/main" id="{8BCF29C0-1D79-448A-BF31-5B9A5594F113}"/>
              </a:ext>
            </a:extLst>
          </p:cNvPr>
          <p:cNvSpPr txBox="1"/>
          <p:nvPr/>
        </p:nvSpPr>
        <p:spPr>
          <a:xfrm>
            <a:off x="1174772" y="2533972"/>
            <a:ext cx="3190584" cy="1508105"/>
          </a:xfrm>
          <a:prstGeom prst="rect">
            <a:avLst/>
          </a:prstGeom>
          <a:noFill/>
        </p:spPr>
        <p:txBody>
          <a:bodyPr wrap="square" rtlCol="0">
            <a:spAutoFit/>
          </a:bodyPr>
          <a:lstStyle/>
          <a:p>
            <a:r>
              <a:rPr lang="en-US" sz="2000" b="1" dirty="0"/>
              <a:t>Chemical Equilibrium : </a:t>
            </a:r>
          </a:p>
          <a:p>
            <a:r>
              <a:rPr lang="en-US" dirty="0"/>
              <a:t>- No chemical reaction </a:t>
            </a:r>
          </a:p>
          <a:p>
            <a:r>
              <a:rPr lang="en-US" dirty="0"/>
              <a:t>- No change in composition </a:t>
            </a:r>
          </a:p>
          <a:p>
            <a:r>
              <a:rPr lang="en-US" dirty="0"/>
              <a:t>- No change in formula</a:t>
            </a:r>
          </a:p>
          <a:p>
            <a:endParaRPr lang="en-US" dirty="0"/>
          </a:p>
        </p:txBody>
      </p:sp>
      <p:sp>
        <p:nvSpPr>
          <p:cNvPr id="5" name="TextBox 4">
            <a:extLst>
              <a:ext uri="{FF2B5EF4-FFF2-40B4-BE49-F238E27FC236}">
                <a16:creationId xmlns:a16="http://schemas.microsoft.com/office/drawing/2014/main" id="{A3CBA2D5-D8B5-49F4-A922-16CAAA68E0A8}"/>
              </a:ext>
            </a:extLst>
          </p:cNvPr>
          <p:cNvSpPr txBox="1"/>
          <p:nvPr/>
        </p:nvSpPr>
        <p:spPr>
          <a:xfrm>
            <a:off x="4365356" y="2533973"/>
            <a:ext cx="3190584" cy="1231106"/>
          </a:xfrm>
          <a:prstGeom prst="rect">
            <a:avLst/>
          </a:prstGeom>
          <a:noFill/>
        </p:spPr>
        <p:txBody>
          <a:bodyPr wrap="square" rtlCol="0">
            <a:spAutoFit/>
          </a:bodyPr>
          <a:lstStyle/>
          <a:p>
            <a:r>
              <a:rPr lang="en-US" sz="2000" b="1" dirty="0"/>
              <a:t>Mechanical Equilibrium: </a:t>
            </a:r>
          </a:p>
          <a:p>
            <a:r>
              <a:rPr lang="en-US" dirty="0"/>
              <a:t>- No unbalanced force within the system </a:t>
            </a:r>
          </a:p>
          <a:p>
            <a:r>
              <a:rPr lang="en-US" dirty="0"/>
              <a:t>- No force flow</a:t>
            </a:r>
          </a:p>
        </p:txBody>
      </p:sp>
      <p:sp>
        <p:nvSpPr>
          <p:cNvPr id="6" name="TextBox 5">
            <a:extLst>
              <a:ext uri="{FF2B5EF4-FFF2-40B4-BE49-F238E27FC236}">
                <a16:creationId xmlns:a16="http://schemas.microsoft.com/office/drawing/2014/main" id="{2028A6F9-68B2-4096-BD2B-DBECC1FD2161}"/>
              </a:ext>
            </a:extLst>
          </p:cNvPr>
          <p:cNvSpPr txBox="1"/>
          <p:nvPr/>
        </p:nvSpPr>
        <p:spPr>
          <a:xfrm>
            <a:off x="7904137" y="2533972"/>
            <a:ext cx="3190583" cy="1231106"/>
          </a:xfrm>
          <a:prstGeom prst="rect">
            <a:avLst/>
          </a:prstGeom>
          <a:noFill/>
        </p:spPr>
        <p:txBody>
          <a:bodyPr wrap="square" rtlCol="0">
            <a:spAutoFit/>
          </a:bodyPr>
          <a:lstStyle/>
          <a:p>
            <a:r>
              <a:rPr lang="en-US" sz="2000" b="1" dirty="0"/>
              <a:t>Thermal Equilibrium: </a:t>
            </a:r>
          </a:p>
          <a:p>
            <a:r>
              <a:rPr lang="en-US" dirty="0"/>
              <a:t>- No unbalanced temperature within the system </a:t>
            </a:r>
          </a:p>
          <a:p>
            <a:r>
              <a:rPr lang="en-US" dirty="0"/>
              <a:t>- No temperature flow</a:t>
            </a:r>
          </a:p>
        </p:txBody>
      </p:sp>
      <p:pic>
        <p:nvPicPr>
          <p:cNvPr id="9" name="Picture 8">
            <a:extLst>
              <a:ext uri="{FF2B5EF4-FFF2-40B4-BE49-F238E27FC236}">
                <a16:creationId xmlns:a16="http://schemas.microsoft.com/office/drawing/2014/main" id="{5163328B-C483-4C57-A96F-76C6AA254C79}"/>
              </a:ext>
            </a:extLst>
          </p:cNvPr>
          <p:cNvPicPr>
            <a:picLocks noChangeAspect="1"/>
          </p:cNvPicPr>
          <p:nvPr/>
        </p:nvPicPr>
        <p:blipFill>
          <a:blip r:embed="rId2"/>
          <a:stretch>
            <a:fillRect/>
          </a:stretch>
        </p:blipFill>
        <p:spPr>
          <a:xfrm>
            <a:off x="1565327" y="4042077"/>
            <a:ext cx="1607959" cy="1839344"/>
          </a:xfrm>
          <a:prstGeom prst="rect">
            <a:avLst/>
          </a:prstGeom>
        </p:spPr>
      </p:pic>
      <p:pic>
        <p:nvPicPr>
          <p:cNvPr id="11" name="Picture 10">
            <a:extLst>
              <a:ext uri="{FF2B5EF4-FFF2-40B4-BE49-F238E27FC236}">
                <a16:creationId xmlns:a16="http://schemas.microsoft.com/office/drawing/2014/main" id="{DF72F452-C085-470F-A67B-26F61983A3F4}"/>
              </a:ext>
            </a:extLst>
          </p:cNvPr>
          <p:cNvPicPr>
            <a:picLocks noChangeAspect="1"/>
          </p:cNvPicPr>
          <p:nvPr/>
        </p:nvPicPr>
        <p:blipFill>
          <a:blip r:embed="rId3"/>
          <a:stretch>
            <a:fillRect/>
          </a:stretch>
        </p:blipFill>
        <p:spPr>
          <a:xfrm>
            <a:off x="4365358" y="3937211"/>
            <a:ext cx="3027298" cy="1944210"/>
          </a:xfrm>
          <a:prstGeom prst="rect">
            <a:avLst/>
          </a:prstGeom>
        </p:spPr>
      </p:pic>
      <p:pic>
        <p:nvPicPr>
          <p:cNvPr id="13" name="Picture 12">
            <a:extLst>
              <a:ext uri="{FF2B5EF4-FFF2-40B4-BE49-F238E27FC236}">
                <a16:creationId xmlns:a16="http://schemas.microsoft.com/office/drawing/2014/main" id="{E1A6B73F-43DC-4948-A9E8-BE33A347E0BB}"/>
              </a:ext>
            </a:extLst>
          </p:cNvPr>
          <p:cNvPicPr>
            <a:picLocks noChangeAspect="1"/>
          </p:cNvPicPr>
          <p:nvPr/>
        </p:nvPicPr>
        <p:blipFill>
          <a:blip r:embed="rId4"/>
          <a:stretch>
            <a:fillRect/>
          </a:stretch>
        </p:blipFill>
        <p:spPr>
          <a:xfrm>
            <a:off x="7989930" y="3937211"/>
            <a:ext cx="3027298" cy="1853448"/>
          </a:xfrm>
          <a:prstGeom prst="rect">
            <a:avLst/>
          </a:prstGeom>
        </p:spPr>
      </p:pic>
    </p:spTree>
    <p:extLst>
      <p:ext uri="{BB962C8B-B14F-4D97-AF65-F5344CB8AC3E}">
        <p14:creationId xmlns:p14="http://schemas.microsoft.com/office/powerpoint/2010/main" val="3897983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47CD3-95D4-4B94-80C4-2F9A4E118F15}"/>
              </a:ext>
            </a:extLst>
          </p:cNvPr>
          <p:cNvSpPr>
            <a:spLocks noGrp="1"/>
          </p:cNvSpPr>
          <p:nvPr>
            <p:ph type="title"/>
          </p:nvPr>
        </p:nvSpPr>
        <p:spPr/>
        <p:txBody>
          <a:bodyPr/>
          <a:lstStyle/>
          <a:p>
            <a:pPr algn="ctr"/>
            <a:r>
              <a:rPr lang="en-US" dirty="0"/>
              <a:t>Chapter 1</a:t>
            </a:r>
            <a:br>
              <a:rPr lang="en-US" dirty="0"/>
            </a:br>
            <a:r>
              <a:rPr lang="en-US" dirty="0"/>
              <a:t>Units in Thermodynamics</a:t>
            </a:r>
          </a:p>
        </p:txBody>
      </p:sp>
      <p:sp>
        <p:nvSpPr>
          <p:cNvPr id="3" name="Content Placeholder 2">
            <a:extLst>
              <a:ext uri="{FF2B5EF4-FFF2-40B4-BE49-F238E27FC236}">
                <a16:creationId xmlns:a16="http://schemas.microsoft.com/office/drawing/2014/main" id="{BFA34EA0-2CD2-4973-9607-BD7D3C7A6B78}"/>
              </a:ext>
            </a:extLst>
          </p:cNvPr>
          <p:cNvSpPr>
            <a:spLocks noGrp="1"/>
          </p:cNvSpPr>
          <p:nvPr>
            <p:ph idx="1"/>
          </p:nvPr>
        </p:nvSpPr>
        <p:spPr>
          <a:xfrm>
            <a:off x="1097280" y="1845734"/>
            <a:ext cx="2529323" cy="713740"/>
          </a:xfrm>
        </p:spPr>
        <p:txBody>
          <a:bodyPr>
            <a:normAutofit/>
          </a:bodyPr>
          <a:lstStyle/>
          <a:p>
            <a:r>
              <a:rPr lang="en-US" sz="2400" b="1" dirty="0"/>
              <a:t>Metric Units (S.I) </a:t>
            </a:r>
          </a:p>
        </p:txBody>
      </p:sp>
      <p:sp>
        <p:nvSpPr>
          <p:cNvPr id="4" name="Content Placeholder 2">
            <a:extLst>
              <a:ext uri="{FF2B5EF4-FFF2-40B4-BE49-F238E27FC236}">
                <a16:creationId xmlns:a16="http://schemas.microsoft.com/office/drawing/2014/main" id="{73BB2126-A8A0-40A7-8B20-6EE4D0AB56C9}"/>
              </a:ext>
            </a:extLst>
          </p:cNvPr>
          <p:cNvSpPr txBox="1">
            <a:spLocks/>
          </p:cNvSpPr>
          <p:nvPr/>
        </p:nvSpPr>
        <p:spPr>
          <a:xfrm>
            <a:off x="6705602" y="1845734"/>
            <a:ext cx="3151320" cy="77348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400" b="1" dirty="0"/>
              <a:t>English Units (USCS) </a:t>
            </a:r>
          </a:p>
        </p:txBody>
      </p:sp>
      <p:graphicFrame>
        <p:nvGraphicFramePr>
          <p:cNvPr id="5" name="Table 5">
            <a:extLst>
              <a:ext uri="{FF2B5EF4-FFF2-40B4-BE49-F238E27FC236}">
                <a16:creationId xmlns:a16="http://schemas.microsoft.com/office/drawing/2014/main" id="{2C0760DB-C4F4-40F4-8B32-951475AB80B7}"/>
              </a:ext>
            </a:extLst>
          </p:cNvPr>
          <p:cNvGraphicFramePr>
            <a:graphicFrameLocks noGrp="1"/>
          </p:cNvGraphicFramePr>
          <p:nvPr>
            <p:extLst>
              <p:ext uri="{D42A27DB-BD31-4B8C-83A1-F6EECF244321}">
                <p14:modId xmlns:p14="http://schemas.microsoft.com/office/powerpoint/2010/main" val="2505901062"/>
              </p:ext>
            </p:extLst>
          </p:nvPr>
        </p:nvGraphicFramePr>
        <p:xfrm>
          <a:off x="1097280" y="2567639"/>
          <a:ext cx="4381371" cy="259588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3783961070"/>
                    </a:ext>
                  </a:extLst>
                </a:gridCol>
                <a:gridCol w="1463040">
                  <a:extLst>
                    <a:ext uri="{9D8B030D-6E8A-4147-A177-3AD203B41FA5}">
                      <a16:colId xmlns:a16="http://schemas.microsoft.com/office/drawing/2014/main" val="2994446505"/>
                    </a:ext>
                  </a:extLst>
                </a:gridCol>
                <a:gridCol w="1455291">
                  <a:extLst>
                    <a:ext uri="{9D8B030D-6E8A-4147-A177-3AD203B41FA5}">
                      <a16:colId xmlns:a16="http://schemas.microsoft.com/office/drawing/2014/main" val="3453788694"/>
                    </a:ext>
                  </a:extLst>
                </a:gridCol>
              </a:tblGrid>
              <a:tr h="370840">
                <a:tc>
                  <a:txBody>
                    <a:bodyPr/>
                    <a:lstStyle/>
                    <a:p>
                      <a:r>
                        <a:rPr lang="en-US" dirty="0"/>
                        <a:t>Quantity</a:t>
                      </a:r>
                    </a:p>
                  </a:txBody>
                  <a:tcPr/>
                </a:tc>
                <a:tc>
                  <a:txBody>
                    <a:bodyPr/>
                    <a:lstStyle/>
                    <a:p>
                      <a:r>
                        <a:rPr lang="en-US" dirty="0"/>
                        <a:t>Units</a:t>
                      </a:r>
                    </a:p>
                  </a:txBody>
                  <a:tcPr/>
                </a:tc>
                <a:tc>
                  <a:txBody>
                    <a:bodyPr/>
                    <a:lstStyle/>
                    <a:p>
                      <a:r>
                        <a:rPr lang="en-US" dirty="0"/>
                        <a:t>Symbol</a:t>
                      </a:r>
                    </a:p>
                  </a:txBody>
                  <a:tcPr/>
                </a:tc>
                <a:extLst>
                  <a:ext uri="{0D108BD9-81ED-4DB2-BD59-A6C34878D82A}">
                    <a16:rowId xmlns:a16="http://schemas.microsoft.com/office/drawing/2014/main" val="994061193"/>
                  </a:ext>
                </a:extLst>
              </a:tr>
              <a:tr h="370840">
                <a:tc>
                  <a:txBody>
                    <a:bodyPr/>
                    <a:lstStyle/>
                    <a:p>
                      <a:r>
                        <a:rPr lang="en-US" dirty="0"/>
                        <a:t>Mass</a:t>
                      </a:r>
                    </a:p>
                  </a:txBody>
                  <a:tcPr/>
                </a:tc>
                <a:tc>
                  <a:txBody>
                    <a:bodyPr/>
                    <a:lstStyle/>
                    <a:p>
                      <a:r>
                        <a:rPr lang="en-US" dirty="0"/>
                        <a:t>Kilograms</a:t>
                      </a:r>
                    </a:p>
                  </a:txBody>
                  <a:tcPr/>
                </a:tc>
                <a:tc>
                  <a:txBody>
                    <a:bodyPr/>
                    <a:lstStyle/>
                    <a:p>
                      <a:r>
                        <a:rPr lang="en-US" dirty="0"/>
                        <a:t>Kg</a:t>
                      </a:r>
                    </a:p>
                  </a:txBody>
                  <a:tcPr/>
                </a:tc>
                <a:extLst>
                  <a:ext uri="{0D108BD9-81ED-4DB2-BD59-A6C34878D82A}">
                    <a16:rowId xmlns:a16="http://schemas.microsoft.com/office/drawing/2014/main" val="892696602"/>
                  </a:ext>
                </a:extLst>
              </a:tr>
              <a:tr h="370840">
                <a:tc>
                  <a:txBody>
                    <a:bodyPr/>
                    <a:lstStyle/>
                    <a:p>
                      <a:r>
                        <a:rPr lang="en-US" dirty="0"/>
                        <a:t>Length</a:t>
                      </a:r>
                    </a:p>
                  </a:txBody>
                  <a:tcPr/>
                </a:tc>
                <a:tc>
                  <a:txBody>
                    <a:bodyPr/>
                    <a:lstStyle/>
                    <a:p>
                      <a:r>
                        <a:rPr lang="en-US" dirty="0"/>
                        <a:t>Meter</a:t>
                      </a:r>
                    </a:p>
                  </a:txBody>
                  <a:tcPr/>
                </a:tc>
                <a:tc>
                  <a:txBody>
                    <a:bodyPr/>
                    <a:lstStyle/>
                    <a:p>
                      <a:r>
                        <a:rPr lang="en-US" dirty="0"/>
                        <a:t>M</a:t>
                      </a:r>
                    </a:p>
                  </a:txBody>
                  <a:tcPr/>
                </a:tc>
                <a:extLst>
                  <a:ext uri="{0D108BD9-81ED-4DB2-BD59-A6C34878D82A}">
                    <a16:rowId xmlns:a16="http://schemas.microsoft.com/office/drawing/2014/main" val="1751598131"/>
                  </a:ext>
                </a:extLst>
              </a:tr>
              <a:tr h="370840">
                <a:tc>
                  <a:txBody>
                    <a:bodyPr/>
                    <a:lstStyle/>
                    <a:p>
                      <a:r>
                        <a:rPr lang="en-US" dirty="0"/>
                        <a:t>Time</a:t>
                      </a:r>
                    </a:p>
                  </a:txBody>
                  <a:tcPr/>
                </a:tc>
                <a:tc>
                  <a:txBody>
                    <a:bodyPr/>
                    <a:lstStyle/>
                    <a:p>
                      <a:r>
                        <a:rPr lang="en-US" dirty="0"/>
                        <a:t>Second</a:t>
                      </a:r>
                    </a:p>
                  </a:txBody>
                  <a:tcPr/>
                </a:tc>
                <a:tc>
                  <a:txBody>
                    <a:bodyPr/>
                    <a:lstStyle/>
                    <a:p>
                      <a:r>
                        <a:rPr lang="en-US" dirty="0"/>
                        <a:t>S</a:t>
                      </a:r>
                    </a:p>
                  </a:txBody>
                  <a:tcPr/>
                </a:tc>
                <a:extLst>
                  <a:ext uri="{0D108BD9-81ED-4DB2-BD59-A6C34878D82A}">
                    <a16:rowId xmlns:a16="http://schemas.microsoft.com/office/drawing/2014/main" val="3276277823"/>
                  </a:ext>
                </a:extLst>
              </a:tr>
              <a:tr h="370840">
                <a:tc>
                  <a:txBody>
                    <a:bodyPr/>
                    <a:lstStyle/>
                    <a:p>
                      <a:r>
                        <a:rPr lang="en-US" dirty="0"/>
                        <a:t>Force</a:t>
                      </a:r>
                    </a:p>
                  </a:txBody>
                  <a:tcPr/>
                </a:tc>
                <a:tc>
                  <a:txBody>
                    <a:bodyPr/>
                    <a:lstStyle/>
                    <a:p>
                      <a:r>
                        <a:rPr lang="en-US" dirty="0"/>
                        <a:t>Newton</a:t>
                      </a:r>
                    </a:p>
                  </a:txBody>
                  <a:tcPr/>
                </a:tc>
                <a:tc>
                  <a:txBody>
                    <a:bodyPr/>
                    <a:lstStyle/>
                    <a:p>
                      <a:r>
                        <a:rPr lang="en-US" dirty="0"/>
                        <a:t>N</a:t>
                      </a:r>
                    </a:p>
                  </a:txBody>
                  <a:tcPr/>
                </a:tc>
                <a:extLst>
                  <a:ext uri="{0D108BD9-81ED-4DB2-BD59-A6C34878D82A}">
                    <a16:rowId xmlns:a16="http://schemas.microsoft.com/office/drawing/2014/main" val="2340415043"/>
                  </a:ext>
                </a:extLst>
              </a:tr>
              <a:tr h="370840">
                <a:tc>
                  <a:txBody>
                    <a:bodyPr/>
                    <a:lstStyle/>
                    <a:p>
                      <a:r>
                        <a:rPr lang="en-US" dirty="0"/>
                        <a:t>Temperature</a:t>
                      </a:r>
                    </a:p>
                  </a:txBody>
                  <a:tcPr/>
                </a:tc>
                <a:tc>
                  <a:txBody>
                    <a:bodyPr/>
                    <a:lstStyle/>
                    <a:p>
                      <a:r>
                        <a:rPr lang="en-US" dirty="0"/>
                        <a:t>Kelvin</a:t>
                      </a:r>
                    </a:p>
                  </a:txBody>
                  <a:tcPr/>
                </a:tc>
                <a:tc>
                  <a:txBody>
                    <a:bodyPr/>
                    <a:lstStyle/>
                    <a:p>
                      <a:r>
                        <a:rPr lang="en-US" dirty="0"/>
                        <a:t>K</a:t>
                      </a:r>
                    </a:p>
                  </a:txBody>
                  <a:tcPr/>
                </a:tc>
                <a:extLst>
                  <a:ext uri="{0D108BD9-81ED-4DB2-BD59-A6C34878D82A}">
                    <a16:rowId xmlns:a16="http://schemas.microsoft.com/office/drawing/2014/main" val="3282330830"/>
                  </a:ext>
                </a:extLst>
              </a:tr>
              <a:tr h="370840">
                <a:tc>
                  <a:txBody>
                    <a:bodyPr/>
                    <a:lstStyle/>
                    <a:p>
                      <a:r>
                        <a:rPr lang="en-US" dirty="0"/>
                        <a:t>Pressure</a:t>
                      </a:r>
                    </a:p>
                  </a:txBody>
                  <a:tcPr/>
                </a:tc>
                <a:tc>
                  <a:txBody>
                    <a:bodyPr/>
                    <a:lstStyle/>
                    <a:p>
                      <a:r>
                        <a:rPr lang="en-US" dirty="0"/>
                        <a:t>Pascal</a:t>
                      </a:r>
                    </a:p>
                  </a:txBody>
                  <a:tcPr/>
                </a:tc>
                <a:tc>
                  <a:txBody>
                    <a:bodyPr/>
                    <a:lstStyle/>
                    <a:p>
                      <a:r>
                        <a:rPr lang="en-US" dirty="0"/>
                        <a:t>Pa</a:t>
                      </a:r>
                    </a:p>
                  </a:txBody>
                  <a:tcPr/>
                </a:tc>
                <a:extLst>
                  <a:ext uri="{0D108BD9-81ED-4DB2-BD59-A6C34878D82A}">
                    <a16:rowId xmlns:a16="http://schemas.microsoft.com/office/drawing/2014/main" val="2648107634"/>
                  </a:ext>
                </a:extLst>
              </a:tr>
            </a:tbl>
          </a:graphicData>
        </a:graphic>
      </p:graphicFrame>
      <p:graphicFrame>
        <p:nvGraphicFramePr>
          <p:cNvPr id="7" name="Table 5">
            <a:extLst>
              <a:ext uri="{FF2B5EF4-FFF2-40B4-BE49-F238E27FC236}">
                <a16:creationId xmlns:a16="http://schemas.microsoft.com/office/drawing/2014/main" id="{0EC84070-8FC5-4EDE-9728-92F5F2932C85}"/>
              </a:ext>
            </a:extLst>
          </p:cNvPr>
          <p:cNvGraphicFramePr>
            <a:graphicFrameLocks noGrp="1"/>
          </p:cNvGraphicFramePr>
          <p:nvPr>
            <p:extLst>
              <p:ext uri="{D42A27DB-BD31-4B8C-83A1-F6EECF244321}">
                <p14:modId xmlns:p14="http://schemas.microsoft.com/office/powerpoint/2010/main" val="887471488"/>
              </p:ext>
            </p:extLst>
          </p:nvPr>
        </p:nvGraphicFramePr>
        <p:xfrm>
          <a:off x="6705602" y="2567639"/>
          <a:ext cx="4381371" cy="286512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3783961070"/>
                    </a:ext>
                  </a:extLst>
                </a:gridCol>
                <a:gridCol w="1463040">
                  <a:extLst>
                    <a:ext uri="{9D8B030D-6E8A-4147-A177-3AD203B41FA5}">
                      <a16:colId xmlns:a16="http://schemas.microsoft.com/office/drawing/2014/main" val="2994446505"/>
                    </a:ext>
                  </a:extLst>
                </a:gridCol>
                <a:gridCol w="1455291">
                  <a:extLst>
                    <a:ext uri="{9D8B030D-6E8A-4147-A177-3AD203B41FA5}">
                      <a16:colId xmlns:a16="http://schemas.microsoft.com/office/drawing/2014/main" val="3453788694"/>
                    </a:ext>
                  </a:extLst>
                </a:gridCol>
              </a:tblGrid>
              <a:tr h="370840">
                <a:tc>
                  <a:txBody>
                    <a:bodyPr/>
                    <a:lstStyle/>
                    <a:p>
                      <a:r>
                        <a:rPr lang="en-US" dirty="0"/>
                        <a:t>Quantity</a:t>
                      </a:r>
                    </a:p>
                  </a:txBody>
                  <a:tcPr/>
                </a:tc>
                <a:tc>
                  <a:txBody>
                    <a:bodyPr/>
                    <a:lstStyle/>
                    <a:p>
                      <a:r>
                        <a:rPr lang="en-US" dirty="0"/>
                        <a:t>Units</a:t>
                      </a:r>
                    </a:p>
                  </a:txBody>
                  <a:tcPr/>
                </a:tc>
                <a:tc>
                  <a:txBody>
                    <a:bodyPr/>
                    <a:lstStyle/>
                    <a:p>
                      <a:r>
                        <a:rPr lang="en-US" dirty="0"/>
                        <a:t>Symbol</a:t>
                      </a:r>
                    </a:p>
                  </a:txBody>
                  <a:tcPr/>
                </a:tc>
                <a:extLst>
                  <a:ext uri="{0D108BD9-81ED-4DB2-BD59-A6C34878D82A}">
                    <a16:rowId xmlns:a16="http://schemas.microsoft.com/office/drawing/2014/main" val="994061193"/>
                  </a:ext>
                </a:extLst>
              </a:tr>
              <a:tr h="370840">
                <a:tc>
                  <a:txBody>
                    <a:bodyPr/>
                    <a:lstStyle/>
                    <a:p>
                      <a:r>
                        <a:rPr lang="en-US" dirty="0"/>
                        <a:t>Mass</a:t>
                      </a:r>
                    </a:p>
                  </a:txBody>
                  <a:tcPr/>
                </a:tc>
                <a:tc>
                  <a:txBody>
                    <a:bodyPr/>
                    <a:lstStyle/>
                    <a:p>
                      <a:r>
                        <a:rPr lang="en-US" dirty="0"/>
                        <a:t>Pound mass</a:t>
                      </a:r>
                    </a:p>
                  </a:txBody>
                  <a:tcPr/>
                </a:tc>
                <a:tc>
                  <a:txBody>
                    <a:bodyPr/>
                    <a:lstStyle/>
                    <a:p>
                      <a:r>
                        <a:rPr lang="en-US" dirty="0" err="1"/>
                        <a:t>lbm</a:t>
                      </a:r>
                      <a:endParaRPr lang="en-US" dirty="0"/>
                    </a:p>
                  </a:txBody>
                  <a:tcPr/>
                </a:tc>
                <a:extLst>
                  <a:ext uri="{0D108BD9-81ED-4DB2-BD59-A6C34878D82A}">
                    <a16:rowId xmlns:a16="http://schemas.microsoft.com/office/drawing/2014/main" val="892696602"/>
                  </a:ext>
                </a:extLst>
              </a:tr>
              <a:tr h="370840">
                <a:tc>
                  <a:txBody>
                    <a:bodyPr/>
                    <a:lstStyle/>
                    <a:p>
                      <a:r>
                        <a:rPr lang="en-US" dirty="0"/>
                        <a:t>Length</a:t>
                      </a:r>
                    </a:p>
                  </a:txBody>
                  <a:tcPr/>
                </a:tc>
                <a:tc>
                  <a:txBody>
                    <a:bodyPr/>
                    <a:lstStyle/>
                    <a:p>
                      <a:r>
                        <a:rPr lang="en-US" dirty="0"/>
                        <a:t>Foot</a:t>
                      </a:r>
                    </a:p>
                  </a:txBody>
                  <a:tcPr/>
                </a:tc>
                <a:tc>
                  <a:txBody>
                    <a:bodyPr/>
                    <a:lstStyle/>
                    <a:p>
                      <a:r>
                        <a:rPr lang="en-US" dirty="0"/>
                        <a:t>ft</a:t>
                      </a:r>
                    </a:p>
                  </a:txBody>
                  <a:tcPr/>
                </a:tc>
                <a:extLst>
                  <a:ext uri="{0D108BD9-81ED-4DB2-BD59-A6C34878D82A}">
                    <a16:rowId xmlns:a16="http://schemas.microsoft.com/office/drawing/2014/main" val="1751598131"/>
                  </a:ext>
                </a:extLst>
              </a:tr>
              <a:tr h="370840">
                <a:tc>
                  <a:txBody>
                    <a:bodyPr/>
                    <a:lstStyle/>
                    <a:p>
                      <a:r>
                        <a:rPr lang="en-US" dirty="0"/>
                        <a:t>Time</a:t>
                      </a:r>
                    </a:p>
                  </a:txBody>
                  <a:tcPr/>
                </a:tc>
                <a:tc>
                  <a:txBody>
                    <a:bodyPr/>
                    <a:lstStyle/>
                    <a:p>
                      <a:r>
                        <a:rPr lang="en-US" dirty="0"/>
                        <a:t>Second</a:t>
                      </a:r>
                    </a:p>
                  </a:txBody>
                  <a:tcPr/>
                </a:tc>
                <a:tc>
                  <a:txBody>
                    <a:bodyPr/>
                    <a:lstStyle/>
                    <a:p>
                      <a:r>
                        <a:rPr lang="en-US" dirty="0"/>
                        <a:t>s</a:t>
                      </a:r>
                    </a:p>
                  </a:txBody>
                  <a:tcPr/>
                </a:tc>
                <a:extLst>
                  <a:ext uri="{0D108BD9-81ED-4DB2-BD59-A6C34878D82A}">
                    <a16:rowId xmlns:a16="http://schemas.microsoft.com/office/drawing/2014/main" val="3276277823"/>
                  </a:ext>
                </a:extLst>
              </a:tr>
              <a:tr h="370840">
                <a:tc>
                  <a:txBody>
                    <a:bodyPr/>
                    <a:lstStyle/>
                    <a:p>
                      <a:r>
                        <a:rPr lang="en-US" dirty="0"/>
                        <a:t>Force</a:t>
                      </a:r>
                    </a:p>
                  </a:txBody>
                  <a:tcPr/>
                </a:tc>
                <a:tc>
                  <a:txBody>
                    <a:bodyPr/>
                    <a:lstStyle/>
                    <a:p>
                      <a:r>
                        <a:rPr lang="en-US" dirty="0"/>
                        <a:t>Pound Force</a:t>
                      </a:r>
                    </a:p>
                  </a:txBody>
                  <a:tcPr/>
                </a:tc>
                <a:tc>
                  <a:txBody>
                    <a:bodyPr/>
                    <a:lstStyle/>
                    <a:p>
                      <a:r>
                        <a:rPr lang="en-US" dirty="0" err="1"/>
                        <a:t>lbF</a:t>
                      </a:r>
                      <a:endParaRPr lang="en-US" dirty="0"/>
                    </a:p>
                  </a:txBody>
                  <a:tcPr/>
                </a:tc>
                <a:extLst>
                  <a:ext uri="{0D108BD9-81ED-4DB2-BD59-A6C34878D82A}">
                    <a16:rowId xmlns:a16="http://schemas.microsoft.com/office/drawing/2014/main" val="2340415043"/>
                  </a:ext>
                </a:extLst>
              </a:tr>
              <a:tr h="370840">
                <a:tc>
                  <a:txBody>
                    <a:bodyPr/>
                    <a:lstStyle/>
                    <a:p>
                      <a:r>
                        <a:rPr lang="en-US" dirty="0"/>
                        <a:t>Temperature</a:t>
                      </a:r>
                    </a:p>
                  </a:txBody>
                  <a:tcPr/>
                </a:tc>
                <a:tc>
                  <a:txBody>
                    <a:bodyPr/>
                    <a:lstStyle/>
                    <a:p>
                      <a:r>
                        <a:rPr lang="en-US" dirty="0"/>
                        <a:t>Fahrenheit</a:t>
                      </a:r>
                    </a:p>
                  </a:txBody>
                  <a:tcPr/>
                </a:tc>
                <a:tc>
                  <a:txBody>
                    <a:bodyPr/>
                    <a:lstStyle/>
                    <a:p>
                      <a:r>
                        <a:rPr lang="en-US" dirty="0"/>
                        <a:t>F</a:t>
                      </a:r>
                    </a:p>
                  </a:txBody>
                  <a:tcPr/>
                </a:tc>
                <a:extLst>
                  <a:ext uri="{0D108BD9-81ED-4DB2-BD59-A6C34878D82A}">
                    <a16:rowId xmlns:a16="http://schemas.microsoft.com/office/drawing/2014/main" val="3282330830"/>
                  </a:ext>
                </a:extLst>
              </a:tr>
              <a:tr h="370840">
                <a:tc>
                  <a:txBody>
                    <a:bodyPr/>
                    <a:lstStyle/>
                    <a:p>
                      <a:r>
                        <a:rPr lang="en-US" dirty="0"/>
                        <a:t>Pressure</a:t>
                      </a:r>
                    </a:p>
                  </a:txBody>
                  <a:tcPr/>
                </a:tc>
                <a:tc>
                  <a:txBody>
                    <a:bodyPr/>
                    <a:lstStyle/>
                    <a:p>
                      <a:r>
                        <a:rPr lang="en-US" dirty="0"/>
                        <a:t>Pound per sq. inch</a:t>
                      </a:r>
                    </a:p>
                  </a:txBody>
                  <a:tcPr/>
                </a:tc>
                <a:tc>
                  <a:txBody>
                    <a:bodyPr/>
                    <a:lstStyle/>
                    <a:p>
                      <a:r>
                        <a:rPr lang="en-US" dirty="0"/>
                        <a:t>psi(</a:t>
                      </a:r>
                      <a:r>
                        <a:rPr lang="en-US" dirty="0" err="1"/>
                        <a:t>ksi</a:t>
                      </a:r>
                      <a:r>
                        <a:rPr lang="en-US" dirty="0"/>
                        <a:t>)</a:t>
                      </a:r>
                    </a:p>
                  </a:txBody>
                  <a:tcPr/>
                </a:tc>
                <a:extLst>
                  <a:ext uri="{0D108BD9-81ED-4DB2-BD59-A6C34878D82A}">
                    <a16:rowId xmlns:a16="http://schemas.microsoft.com/office/drawing/2014/main" val="2648107634"/>
                  </a:ext>
                </a:extLst>
              </a:tr>
            </a:tbl>
          </a:graphicData>
        </a:graphic>
      </p:graphicFrame>
    </p:spTree>
    <p:extLst>
      <p:ext uri="{BB962C8B-B14F-4D97-AF65-F5344CB8AC3E}">
        <p14:creationId xmlns:p14="http://schemas.microsoft.com/office/powerpoint/2010/main" val="1846926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1B132-51E3-4657-8526-F3CA74A256D8}"/>
              </a:ext>
            </a:extLst>
          </p:cNvPr>
          <p:cNvSpPr>
            <a:spLocks noGrp="1"/>
          </p:cNvSpPr>
          <p:nvPr>
            <p:ph type="title"/>
          </p:nvPr>
        </p:nvSpPr>
        <p:spPr/>
        <p:txBody>
          <a:bodyPr/>
          <a:lstStyle/>
          <a:p>
            <a:pPr algn="ctr"/>
            <a:r>
              <a:rPr lang="en-US" dirty="0"/>
              <a:t>Chapter 1</a:t>
            </a:r>
            <a:br>
              <a:rPr lang="en-US" dirty="0"/>
            </a:br>
            <a:r>
              <a:rPr lang="en-US" dirty="0"/>
              <a:t>Introduction to the Newton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DC4F9E-44DE-47A8-802F-8D4C7EE7D347}"/>
                  </a:ext>
                </a:extLst>
              </p:cNvPr>
              <p:cNvSpPr>
                <a:spLocks noGrp="1"/>
              </p:cNvSpPr>
              <p:nvPr>
                <p:ph idx="1"/>
              </p:nvPr>
            </p:nvSpPr>
            <p:spPr/>
            <p:txBody>
              <a:bodyPr/>
              <a:lstStyle/>
              <a:p>
                <a:r>
                  <a:rPr lang="en-US" dirty="0"/>
                  <a:t>It is defined as the force necessary to provide a mass of </a:t>
                </a:r>
                <a:r>
                  <a:rPr lang="en-US" b="1" dirty="0">
                    <a:solidFill>
                      <a:srgbClr val="FF0000"/>
                    </a:solidFill>
                  </a:rPr>
                  <a:t>one kilogram </a:t>
                </a:r>
                <a:r>
                  <a:rPr lang="en-US" dirty="0"/>
                  <a:t>with an acceleration of </a:t>
                </a:r>
                <a:r>
                  <a:rPr lang="en-US" b="1" dirty="0">
                    <a:solidFill>
                      <a:srgbClr val="FF0000"/>
                    </a:solidFill>
                  </a:rPr>
                  <a:t>one meter per second square</a:t>
                </a:r>
                <a:r>
                  <a:rPr lang="en-US" dirty="0"/>
                  <a:t>. </a:t>
                </a:r>
              </a:p>
              <a:p>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𝑎</m:t>
                    </m:r>
                  </m:oMath>
                </a14:m>
                <a:endParaRPr lang="en-US" dirty="0"/>
              </a:p>
              <a:p>
                <a:r>
                  <a:rPr lang="en-US" dirty="0"/>
                  <a:t>Acceleration is the rate of change of velocity: </a:t>
                </a:r>
                <a14:m>
                  <m:oMath xmlns:m="http://schemas.openxmlformats.org/officeDocument/2006/math">
                    <m:r>
                      <a:rPr lang="en-US" b="0" i="1" smtClean="0">
                        <a:latin typeface="Cambria Math" panose="02040503050406030204" pitchFamily="18" charset="0"/>
                      </a:rPr>
                      <m:t>𝑎</m:t>
                    </m:r>
                    <m:d>
                      <m:dPr>
                        <m:begChr m:val="["/>
                        <m:endChr m:val="]"/>
                        <m:ctrlPr>
                          <a:rPr lang="en-US" i="1">
                            <a:latin typeface="Cambria Math" panose="02040503050406030204" pitchFamily="18" charset="0"/>
                          </a:rPr>
                        </m:ctrlPr>
                      </m:dPr>
                      <m:e>
                        <m:f>
                          <m:fPr>
                            <m:type m:val="skw"/>
                            <m:ctrlPr>
                              <a:rPr lang="en-US" i="1">
                                <a:latin typeface="Cambria Math" panose="02040503050406030204" pitchFamily="18" charset="0"/>
                              </a:rPr>
                            </m:ctrlPr>
                          </m:fPr>
                          <m:num>
                            <m:r>
                              <a:rPr lang="en-US" i="1">
                                <a:latin typeface="Cambria Math" panose="02040503050406030204" pitchFamily="18" charset="0"/>
                              </a:rPr>
                              <m:t>𝑚</m:t>
                            </m:r>
                          </m:num>
                          <m:den>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2</m:t>
                                </m:r>
                              </m:sup>
                            </m:sSup>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m:rPr>
                            <m:nor/>
                          </m:rPr>
                          <a:rPr lang="en-US" b="0" i="0" smtClean="0">
                            <a:latin typeface="Cambria Math" panose="02040503050406030204" pitchFamily="18" charset="0"/>
                          </a:rPr>
                          <m:t>v</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𝑡</m:t>
                        </m:r>
                      </m:den>
                    </m:f>
                  </m:oMath>
                </a14:m>
                <a:endParaRPr lang="en-US" dirty="0"/>
              </a:p>
              <a:p>
                <a:r>
                  <a:rPr lang="en-US" dirty="0"/>
                  <a:t>Velocity is the rate of change of position: </a:t>
                </a:r>
                <a14:m>
                  <m:oMath xmlns:m="http://schemas.openxmlformats.org/officeDocument/2006/math">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𝑥</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𝑡</m:t>
                        </m:r>
                      </m:den>
                    </m:f>
                    <m:r>
                      <a:rPr lang="en-US" b="0" i="1" smtClean="0">
                        <a:latin typeface="Cambria Math" panose="02040503050406030204" pitchFamily="18" charset="0"/>
                      </a:rPr>
                      <m:t>=</m:t>
                    </m:r>
                    <m:r>
                      <m:rPr>
                        <m:nor/>
                      </m:rPr>
                      <a:rPr lang="en-US">
                        <a:latin typeface="Cambria Math" panose="02040503050406030204" pitchFamily="18" charset="0"/>
                      </a:rPr>
                      <m:t>v</m:t>
                    </m:r>
                    <m:r>
                      <m:rPr>
                        <m:nor/>
                      </m:rPr>
                      <a:rPr lang="en-US" b="0" i="0" smtClean="0">
                        <a:latin typeface="Cambria Math" panose="02040503050406030204" pitchFamily="18" charset="0"/>
                      </a:rPr>
                      <m:t> </m:t>
                    </m:r>
                    <m:d>
                      <m:dPr>
                        <m:begChr m:val="["/>
                        <m:endChr m:val="]"/>
                        <m:ctrlPr>
                          <a:rPr lang="en-US" b="0" i="1" smtClean="0">
                            <a:latin typeface="Cambria Math" panose="02040503050406030204" pitchFamily="18" charset="0"/>
                          </a:rPr>
                        </m:ctrlPr>
                      </m:dPr>
                      <m:e>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𝑚</m:t>
                            </m:r>
                          </m:num>
                          <m:den>
                            <m:r>
                              <a:rPr lang="en-US" b="0" i="1" smtClean="0">
                                <a:latin typeface="Cambria Math" panose="02040503050406030204" pitchFamily="18" charset="0"/>
                              </a:rPr>
                              <m:t>𝑠</m:t>
                            </m:r>
                          </m:den>
                        </m:f>
                      </m:e>
                    </m:d>
                  </m:oMath>
                </a14:m>
                <a:endParaRPr lang="en-US" dirty="0"/>
              </a:p>
              <a:p>
                <a14:m>
                  <m:oMath xmlns:m="http://schemas.openxmlformats.org/officeDocument/2006/math">
                    <m:r>
                      <a:rPr lang="en-US" sz="2800" b="0" i="1" smtClean="0">
                        <a:latin typeface="Cambria Math" panose="02040503050406030204" pitchFamily="18" charset="0"/>
                      </a:rPr>
                      <m:t>1 </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𝑁</m:t>
                        </m:r>
                      </m:e>
                    </m:d>
                    <m:r>
                      <a:rPr lang="en-US" sz="2800" b="0" i="1" smtClean="0">
                        <a:latin typeface="Cambria Math" panose="02040503050406030204" pitchFamily="18" charset="0"/>
                      </a:rPr>
                      <m:t>=1</m:t>
                    </m:r>
                    <m:d>
                      <m:dPr>
                        <m:begChr m:val="["/>
                        <m:endChr m:val="]"/>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i="1">
                                <a:latin typeface="Cambria Math" panose="02040503050406030204" pitchFamily="18" charset="0"/>
                              </a:rPr>
                              <m:t>𝐾𝑔</m:t>
                            </m:r>
                            <m:r>
                              <a:rPr lang="en-US" sz="2800" i="1">
                                <a:latin typeface="Cambria Math" panose="02040503050406030204" pitchFamily="18" charset="0"/>
                              </a:rPr>
                              <m:t>∗</m:t>
                            </m:r>
                            <m:r>
                              <a:rPr lang="en-US" sz="2800" b="0" i="1" smtClean="0">
                                <a:latin typeface="Cambria Math" panose="02040503050406030204" pitchFamily="18" charset="0"/>
                              </a:rPr>
                              <m:t>𝑚</m:t>
                            </m:r>
                          </m:num>
                          <m:den>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𝑠</m:t>
                                </m:r>
                              </m:e>
                              <m:sup>
                                <m:r>
                                  <a:rPr lang="en-US" sz="2800" b="0" i="1" smtClean="0">
                                    <a:latin typeface="Cambria Math" panose="02040503050406030204" pitchFamily="18" charset="0"/>
                                  </a:rPr>
                                  <m:t>2</m:t>
                                </m:r>
                              </m:sup>
                            </m:sSup>
                          </m:den>
                        </m:f>
                      </m:e>
                    </m:d>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6ADC4F9E-44DE-47A8-802F-8D4C7EE7D347}"/>
                  </a:ext>
                </a:extLst>
              </p:cNvPr>
              <p:cNvSpPr>
                <a:spLocks noGrp="1" noRot="1" noChangeAspect="1" noMove="1" noResize="1" noEditPoints="1" noAdjustHandles="1" noChangeArrowheads="1" noChangeShapeType="1" noTextEdit="1"/>
              </p:cNvSpPr>
              <p:nvPr>
                <p:ph idx="1"/>
              </p:nvPr>
            </p:nvSpPr>
            <p:spPr>
              <a:blipFill>
                <a:blip r:embed="rId2"/>
                <a:stretch>
                  <a:fillRect l="-1515" t="-1667"/>
                </a:stretch>
              </a:blipFill>
            </p:spPr>
            <p:txBody>
              <a:bodyPr/>
              <a:lstStyle/>
              <a:p>
                <a:r>
                  <a:rPr lang="en-US">
                    <a:noFill/>
                  </a:rPr>
                  <a:t> </a:t>
                </a:r>
              </a:p>
            </p:txBody>
          </p:sp>
        </mc:Fallback>
      </mc:AlternateContent>
    </p:spTree>
    <p:extLst>
      <p:ext uri="{BB962C8B-B14F-4D97-AF65-F5344CB8AC3E}">
        <p14:creationId xmlns:p14="http://schemas.microsoft.com/office/powerpoint/2010/main" val="157906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1B132-51E3-4657-8526-F3CA74A256D8}"/>
              </a:ext>
            </a:extLst>
          </p:cNvPr>
          <p:cNvSpPr>
            <a:spLocks noGrp="1"/>
          </p:cNvSpPr>
          <p:nvPr>
            <p:ph type="title"/>
          </p:nvPr>
        </p:nvSpPr>
        <p:spPr/>
        <p:txBody>
          <a:bodyPr/>
          <a:lstStyle/>
          <a:p>
            <a:pPr algn="ctr"/>
            <a:r>
              <a:rPr lang="en-US" dirty="0"/>
              <a:t>Chapter 1</a:t>
            </a:r>
            <a:br>
              <a:rPr lang="en-US" dirty="0"/>
            </a:br>
            <a:r>
              <a:rPr lang="en-US" dirty="0"/>
              <a:t>Introduction to the Pound-Force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DC4F9E-44DE-47A8-802F-8D4C7EE7D347}"/>
                  </a:ext>
                </a:extLst>
              </p:cNvPr>
              <p:cNvSpPr>
                <a:spLocks noGrp="1"/>
              </p:cNvSpPr>
              <p:nvPr>
                <p:ph idx="1"/>
              </p:nvPr>
            </p:nvSpPr>
            <p:spPr/>
            <p:txBody>
              <a:bodyPr/>
              <a:lstStyle/>
              <a:p>
                <a:r>
                  <a:rPr lang="en-US" dirty="0"/>
                  <a:t>It is defined as the force necessary to provide a mass of </a:t>
                </a:r>
                <a:r>
                  <a:rPr lang="en-US" b="1" dirty="0">
                    <a:solidFill>
                      <a:srgbClr val="FF0000"/>
                    </a:solidFill>
                  </a:rPr>
                  <a:t>one </a:t>
                </a:r>
                <a:r>
                  <a:rPr lang="en-US" b="1" dirty="0" err="1">
                    <a:solidFill>
                      <a:srgbClr val="FF0000"/>
                    </a:solidFill>
                  </a:rPr>
                  <a:t>lbm</a:t>
                </a:r>
                <a:r>
                  <a:rPr lang="en-US" b="1" dirty="0">
                    <a:solidFill>
                      <a:srgbClr val="FF0000"/>
                    </a:solidFill>
                  </a:rPr>
                  <a:t> </a:t>
                </a:r>
                <a:r>
                  <a:rPr lang="en-US" dirty="0"/>
                  <a:t>with an acceleration of </a:t>
                </a:r>
                <a:r>
                  <a:rPr lang="en-US" b="1" dirty="0">
                    <a:solidFill>
                      <a:srgbClr val="FF0000"/>
                    </a:solidFill>
                  </a:rPr>
                  <a:t>32.174 </a:t>
                </a:r>
                <a:r>
                  <a:rPr lang="en-US" b="1"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ft/s</a:t>
                </a:r>
                <a:r>
                  <a:rPr lang="en-US" b="1" baseline="30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2</a:t>
                </a:r>
                <a:r>
                  <a:rPr lang="en-US" dirty="0"/>
                  <a:t>. </a:t>
                </a:r>
              </a:p>
              <a:p>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𝑎</m:t>
                    </m:r>
                  </m:oMath>
                </a14:m>
                <a:endParaRPr lang="en-US" dirty="0"/>
              </a:p>
              <a:p>
                <a:r>
                  <a:rPr lang="en-US" dirty="0"/>
                  <a:t>Acceleration is the rate of change of velocity: </a:t>
                </a:r>
                <a14:m>
                  <m:oMath xmlns:m="http://schemas.openxmlformats.org/officeDocument/2006/math">
                    <m:r>
                      <a:rPr lang="en-US" b="0" i="1" smtClean="0">
                        <a:latin typeface="Cambria Math" panose="02040503050406030204" pitchFamily="18" charset="0"/>
                      </a:rPr>
                      <m:t>𝑎</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32.174</m:t>
                        </m:r>
                        <m:f>
                          <m:fPr>
                            <m:type m:val="skw"/>
                            <m:ctrlPr>
                              <a:rPr lang="en-US" i="1">
                                <a:latin typeface="Cambria Math" panose="02040503050406030204" pitchFamily="18" charset="0"/>
                              </a:rPr>
                            </m:ctrlPr>
                          </m:fPr>
                          <m:num>
                            <m:r>
                              <a:rPr lang="en-US" b="0" i="1" smtClean="0">
                                <a:latin typeface="Cambria Math" panose="02040503050406030204" pitchFamily="18" charset="0"/>
                              </a:rPr>
                              <m:t>𝑓𝑡</m:t>
                            </m:r>
                          </m:num>
                          <m:den>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2</m:t>
                                </m:r>
                              </m:sup>
                            </m:sSup>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m:rPr>
                            <m:nor/>
                          </m:rPr>
                          <a:rPr lang="en-US" b="0" i="0" smtClean="0">
                            <a:latin typeface="Cambria Math" panose="02040503050406030204" pitchFamily="18" charset="0"/>
                          </a:rPr>
                          <m:t>v</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𝑡</m:t>
                        </m:r>
                      </m:den>
                    </m:f>
                  </m:oMath>
                </a14:m>
                <a:endParaRPr lang="en-US" dirty="0"/>
              </a:p>
              <a:p>
                <a:r>
                  <a:rPr lang="en-US" dirty="0"/>
                  <a:t>Velocity is the rate of change of position: </a:t>
                </a:r>
                <a14:m>
                  <m:oMath xmlns:m="http://schemas.openxmlformats.org/officeDocument/2006/math">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Δ</m:t>
                        </m:r>
                        <m:r>
                          <a:rPr lang="en-US" b="0" i="1" smtClean="0">
                            <a:latin typeface="Cambria Math" panose="02040503050406030204" pitchFamily="18" charset="0"/>
                          </a:rPr>
                          <m:t>𝑥</m:t>
                        </m:r>
                      </m:num>
                      <m:den>
                        <m:r>
                          <m:rPr>
                            <m:sty m:val="p"/>
                          </m:rPr>
                          <a:rPr lang="en-US" b="0" i="0" smtClean="0">
                            <a:latin typeface="Cambria Math" panose="02040503050406030204" pitchFamily="18" charset="0"/>
                          </a:rPr>
                          <m:t>Δ</m:t>
                        </m:r>
                        <m:r>
                          <a:rPr lang="en-US" b="0" i="1" smtClean="0">
                            <a:latin typeface="Cambria Math" panose="02040503050406030204" pitchFamily="18" charset="0"/>
                          </a:rPr>
                          <m:t>𝑡</m:t>
                        </m:r>
                      </m:den>
                    </m:f>
                    <m:r>
                      <a:rPr lang="en-US" b="0" i="1" smtClean="0">
                        <a:latin typeface="Cambria Math" panose="02040503050406030204" pitchFamily="18" charset="0"/>
                      </a:rPr>
                      <m:t>=</m:t>
                    </m:r>
                    <m:r>
                      <m:rPr>
                        <m:nor/>
                      </m:rPr>
                      <a:rPr lang="en-US">
                        <a:latin typeface="Cambria Math" panose="02040503050406030204" pitchFamily="18" charset="0"/>
                      </a:rPr>
                      <m:t>v</m:t>
                    </m:r>
                    <m:r>
                      <m:rPr>
                        <m:nor/>
                      </m:rPr>
                      <a:rPr lang="en-US" b="0" i="0" smtClean="0">
                        <a:latin typeface="Cambria Math" panose="02040503050406030204" pitchFamily="18" charset="0"/>
                      </a:rPr>
                      <m:t> </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32.174</m:t>
                        </m:r>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𝑓𝑡</m:t>
                            </m:r>
                          </m:num>
                          <m:den>
                            <m:r>
                              <a:rPr lang="en-US" b="0" i="1" smtClean="0">
                                <a:latin typeface="Cambria Math" panose="02040503050406030204" pitchFamily="18" charset="0"/>
                              </a:rPr>
                              <m:t>𝑠</m:t>
                            </m:r>
                          </m:den>
                        </m:f>
                      </m:e>
                    </m:d>
                  </m:oMath>
                </a14:m>
                <a:endParaRPr lang="en-US" dirty="0"/>
              </a:p>
              <a:p>
                <a14:m>
                  <m:oMath xmlns:m="http://schemas.openxmlformats.org/officeDocument/2006/math">
                    <m:r>
                      <a:rPr lang="en-US" sz="2800" b="0" i="1" smtClean="0">
                        <a:latin typeface="Cambria Math" panose="02040503050406030204" pitchFamily="18" charset="0"/>
                      </a:rPr>
                      <m:t>1 </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𝑙𝑏𝑓</m:t>
                        </m:r>
                      </m:e>
                    </m:d>
                    <m:r>
                      <a:rPr lang="en-US" sz="2800" b="0" i="1" smtClean="0">
                        <a:latin typeface="Cambria Math" panose="02040503050406030204" pitchFamily="18" charset="0"/>
                      </a:rPr>
                      <m:t>=32.174</m:t>
                    </m:r>
                    <m:d>
                      <m:dPr>
                        <m:begChr m:val="["/>
                        <m:endChr m:val="]"/>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𝑙𝑏𝑚</m:t>
                            </m:r>
                            <m:r>
                              <a:rPr lang="en-US" sz="2800" b="0" i="1" smtClean="0">
                                <a:latin typeface="Cambria Math" panose="02040503050406030204" pitchFamily="18" charset="0"/>
                              </a:rPr>
                              <m:t>∗</m:t>
                            </m:r>
                            <m:r>
                              <a:rPr lang="en-US" sz="2800" b="0" i="1" smtClean="0">
                                <a:latin typeface="Cambria Math" panose="02040503050406030204" pitchFamily="18" charset="0"/>
                              </a:rPr>
                              <m:t>𝑓𝑡</m:t>
                            </m:r>
                          </m:num>
                          <m:den>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𝑠</m:t>
                                </m:r>
                              </m:e>
                              <m:sup>
                                <m:r>
                                  <a:rPr lang="en-US" sz="2800" b="0" i="1" smtClean="0">
                                    <a:latin typeface="Cambria Math" panose="02040503050406030204" pitchFamily="18" charset="0"/>
                                  </a:rPr>
                                  <m:t>2</m:t>
                                </m:r>
                              </m:sup>
                            </m:sSup>
                          </m:den>
                        </m:f>
                      </m:e>
                    </m:d>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6ADC4F9E-44DE-47A8-802F-8D4C7EE7D347}"/>
                  </a:ext>
                </a:extLst>
              </p:cNvPr>
              <p:cNvSpPr>
                <a:spLocks noGrp="1" noRot="1" noChangeAspect="1" noMove="1" noResize="1" noEditPoints="1" noAdjustHandles="1" noChangeArrowheads="1" noChangeShapeType="1" noTextEdit="1"/>
              </p:cNvSpPr>
              <p:nvPr>
                <p:ph idx="1"/>
              </p:nvPr>
            </p:nvSpPr>
            <p:spPr>
              <a:blipFill>
                <a:blip r:embed="rId2"/>
                <a:stretch>
                  <a:fillRect l="-1515" t="-1667" r="-545"/>
                </a:stretch>
              </a:blipFill>
            </p:spPr>
            <p:txBody>
              <a:bodyPr/>
              <a:lstStyle/>
              <a:p>
                <a:r>
                  <a:rPr lang="en-US">
                    <a:noFill/>
                  </a:rPr>
                  <a:t> </a:t>
                </a:r>
              </a:p>
            </p:txBody>
          </p:sp>
        </mc:Fallback>
      </mc:AlternateContent>
    </p:spTree>
    <p:extLst>
      <p:ext uri="{BB962C8B-B14F-4D97-AF65-F5344CB8AC3E}">
        <p14:creationId xmlns:p14="http://schemas.microsoft.com/office/powerpoint/2010/main" val="193713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959F0-BC6F-4EDB-9FCB-D53394A65C71}"/>
              </a:ext>
            </a:extLst>
          </p:cNvPr>
          <p:cNvSpPr>
            <a:spLocks noGrp="1"/>
          </p:cNvSpPr>
          <p:nvPr>
            <p:ph type="title"/>
          </p:nvPr>
        </p:nvSpPr>
        <p:spPr/>
        <p:txBody>
          <a:bodyPr/>
          <a:lstStyle/>
          <a:p>
            <a:pPr algn="ctr"/>
            <a:r>
              <a:rPr lang="en-US" dirty="0"/>
              <a:t>Chapter 1</a:t>
            </a:r>
            <a:br>
              <a:rPr lang="en-US" dirty="0"/>
            </a:br>
            <a:r>
              <a:rPr lang="en-US" dirty="0"/>
              <a:t>Introduction to Molecular Weight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2B736E-E474-427B-A59E-38ED6B525572}"/>
                  </a:ext>
                </a:extLst>
              </p:cNvPr>
              <p:cNvSpPr>
                <a:spLocks noGrp="1"/>
              </p:cNvSpPr>
              <p:nvPr>
                <p:ph idx="1"/>
              </p:nvPr>
            </p:nvSpPr>
            <p:spPr/>
            <p:txBody>
              <a:bodyPr>
                <a:normAutofit/>
              </a:bodyPr>
              <a:lstStyle/>
              <a:p>
                <a:pPr lvl="1">
                  <a:buFont typeface="Arial" panose="020B0604020202020204" pitchFamily="34" charset="0"/>
                  <a:buChar char="•"/>
                </a:pPr>
                <a:r>
                  <a:rPr lang="en-US" sz="2000" b="1" dirty="0"/>
                  <a:t>Molecular weight </a:t>
                </a:r>
                <a:r>
                  <a:rPr lang="en-US" sz="2000" dirty="0"/>
                  <a:t>is a measure of the sum of the atomic weight values of the atoms in a molecule.</a:t>
                </a:r>
              </a:p>
              <a:p>
                <a:pPr marL="201168" lvl="1" indent="0">
                  <a:buNone/>
                </a:pPr>
                <a:endParaRPr lang="en-US" sz="2000" dirty="0"/>
              </a:p>
              <a:p>
                <a:pPr lvl="1">
                  <a:buFont typeface="Arial" panose="020B0604020202020204" pitchFamily="34" charset="0"/>
                  <a:buChar char="•"/>
                </a:pPr>
                <a:r>
                  <a:rPr lang="en-US" sz="2000" b="1" dirty="0"/>
                  <a:t>Avogadro’s number </a:t>
                </a:r>
                <a:r>
                  <a:rPr lang="en-US" sz="2000" dirty="0"/>
                  <a:t>is the Number of units in one mole of any substance.(defined as its molecular weight in grams), equal to </a:t>
                </a:r>
                <a14:m>
                  <m:oMath xmlns:m="http://schemas.openxmlformats.org/officeDocument/2006/math">
                    <m:r>
                      <a:rPr lang="en-US" sz="2000" i="1" dirty="0" smtClean="0">
                        <a:latin typeface="Cambria Math" panose="02040503050406030204" pitchFamily="18" charset="0"/>
                      </a:rPr>
                      <m:t>6.02214076 × </m:t>
                    </m:r>
                    <m:sSup>
                      <m:sSupPr>
                        <m:ctrlPr>
                          <a:rPr lang="en-US" sz="2000" b="0" i="1" dirty="0" smtClean="0">
                            <a:latin typeface="Cambria Math" panose="02040503050406030204" pitchFamily="18" charset="0"/>
                          </a:rPr>
                        </m:ctrlPr>
                      </m:sSupPr>
                      <m:e>
                        <m:r>
                          <a:rPr lang="en-US" sz="2000" i="1" dirty="0" smtClean="0">
                            <a:latin typeface="Cambria Math" panose="02040503050406030204" pitchFamily="18" charset="0"/>
                          </a:rPr>
                          <m:t>10</m:t>
                        </m:r>
                      </m:e>
                      <m:sup>
                        <m:r>
                          <a:rPr lang="en-US" sz="2000" i="1" dirty="0" smtClean="0">
                            <a:latin typeface="Cambria Math" panose="02040503050406030204" pitchFamily="18" charset="0"/>
                          </a:rPr>
                          <m:t>23</m:t>
                        </m:r>
                      </m:sup>
                    </m:sSup>
                  </m:oMath>
                </a14:m>
                <a:r>
                  <a:rPr lang="en-US" sz="2000" dirty="0"/>
                  <a:t>. The units may be electrons, atoms, ions, or molecules, depending on the nature of the substance and the character of the reaction (if any). </a:t>
                </a:r>
              </a:p>
              <a:p>
                <a:pPr lvl="1">
                  <a:buFont typeface="Arial" panose="020B0604020202020204" pitchFamily="34" charset="0"/>
                  <a:buChar char="•"/>
                </a:pPr>
                <a:endParaRPr lang="en-US" sz="2000" dirty="0"/>
              </a:p>
              <a:p>
                <a:pPr lvl="1">
                  <a:buFont typeface="Arial" panose="020B0604020202020204" pitchFamily="34" charset="0"/>
                  <a:buChar char="•"/>
                </a:pPr>
                <a:r>
                  <a:rPr lang="en-US" sz="2000" dirty="0"/>
                  <a:t>A </a:t>
                </a:r>
                <a:r>
                  <a:rPr lang="en-US" sz="2000" b="1" u="sng" dirty="0"/>
                  <a:t>Mole</a:t>
                </a:r>
                <a:r>
                  <a:rPr lang="en-US" sz="2000" dirty="0"/>
                  <a:t> is The base unit of amount of substance in the International System of Units. It is defined as exactly </a:t>
                </a:r>
                <a14:m>
                  <m:oMath xmlns:m="http://schemas.openxmlformats.org/officeDocument/2006/math">
                    <m:r>
                      <a:rPr lang="en-US" sz="2000" i="1" dirty="0" smtClean="0">
                        <a:latin typeface="Cambria Math" panose="02040503050406030204" pitchFamily="18" charset="0"/>
                      </a:rPr>
                      <m:t>6.02214076×10²³</m:t>
                    </m:r>
                  </m:oMath>
                </a14:m>
                <a:r>
                  <a:rPr lang="en-US" sz="2000" dirty="0"/>
                  <a:t> particles, which may be atoms, molecules, ions, or electrons </a:t>
                </a:r>
              </a:p>
            </p:txBody>
          </p:sp>
        </mc:Choice>
        <mc:Fallback xmlns="">
          <p:sp>
            <p:nvSpPr>
              <p:cNvPr id="3" name="Content Placeholder 2">
                <a:extLst>
                  <a:ext uri="{FF2B5EF4-FFF2-40B4-BE49-F238E27FC236}">
                    <a16:creationId xmlns:a16="http://schemas.microsoft.com/office/drawing/2014/main" id="{D92B736E-E474-427B-A59E-38ED6B525572}"/>
                  </a:ext>
                </a:extLst>
              </p:cNvPr>
              <p:cNvSpPr>
                <a:spLocks noGrp="1" noRot="1" noChangeAspect="1" noMove="1" noResize="1" noEditPoints="1" noAdjustHandles="1" noChangeArrowheads="1" noChangeShapeType="1" noTextEdit="1"/>
              </p:cNvSpPr>
              <p:nvPr>
                <p:ph idx="1"/>
              </p:nvPr>
            </p:nvSpPr>
            <p:spPr>
              <a:blipFill>
                <a:blip r:embed="rId2"/>
                <a:stretch>
                  <a:fillRect t="-1667" r="-1758"/>
                </a:stretch>
              </a:blipFill>
            </p:spPr>
            <p:txBody>
              <a:bodyPr/>
              <a:lstStyle/>
              <a:p>
                <a:r>
                  <a:rPr lang="en-US">
                    <a:noFill/>
                  </a:rPr>
                  <a:t> </a:t>
                </a:r>
              </a:p>
            </p:txBody>
          </p:sp>
        </mc:Fallback>
      </mc:AlternateContent>
    </p:spTree>
    <p:extLst>
      <p:ext uri="{BB962C8B-B14F-4D97-AF65-F5344CB8AC3E}">
        <p14:creationId xmlns:p14="http://schemas.microsoft.com/office/powerpoint/2010/main" val="1972306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EF915-0C76-4CCB-8A4F-29D7A7FDF0C3}"/>
              </a:ext>
            </a:extLst>
          </p:cNvPr>
          <p:cNvSpPr>
            <a:spLocks noGrp="1"/>
          </p:cNvSpPr>
          <p:nvPr>
            <p:ph type="title"/>
          </p:nvPr>
        </p:nvSpPr>
        <p:spPr/>
        <p:txBody>
          <a:bodyPr/>
          <a:lstStyle/>
          <a:p>
            <a:pPr algn="ctr"/>
            <a:r>
              <a:rPr lang="en-US" dirty="0"/>
              <a:t>Chapter 1</a:t>
            </a:r>
            <a:br>
              <a:rPr lang="en-US" dirty="0"/>
            </a:br>
            <a:r>
              <a:rPr lang="en-US" dirty="0"/>
              <a:t>Introduction to Specific Volume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738BC3-1BB4-4F5A-B5FD-9D92692CB04D}"/>
                  </a:ext>
                </a:extLst>
              </p:cNvPr>
              <p:cNvSpPr>
                <a:spLocks noGrp="1"/>
              </p:cNvSpPr>
              <p:nvPr>
                <p:ph idx="1"/>
              </p:nvPr>
            </p:nvSpPr>
            <p:spPr/>
            <p:txBody>
              <a:bodyPr/>
              <a:lstStyle/>
              <a:p>
                <a:r>
                  <a:rPr lang="en-US" b="1" dirty="0"/>
                  <a:t>Definition: </a:t>
                </a:r>
                <a:r>
                  <a:rPr lang="en-US" dirty="0"/>
                  <a:t>The number of cubic meters occupied by one kilogram of a particular substance.</a:t>
                </a:r>
              </a:p>
              <a:p>
                <a:pPr algn="ctr"/>
                <a14:m>
                  <m:oMath xmlns:m="http://schemas.openxmlformats.org/officeDocument/2006/math">
                    <m:r>
                      <a:rPr lang="en-US" i="1" dirty="0" smtClean="0">
                        <a:latin typeface="Cambria Math" panose="02040503050406030204" pitchFamily="18" charset="0"/>
                      </a:rPr>
                      <m:t>𝑆𝑝𝑒𝑐𝑖𝑓𝑖𝑐</m:t>
                    </m:r>
                    <m:r>
                      <a:rPr lang="en-US" i="1" dirty="0" smtClean="0">
                        <a:latin typeface="Cambria Math" panose="02040503050406030204" pitchFamily="18" charset="0"/>
                      </a:rPr>
                      <m:t> </m:t>
                    </m:r>
                    <m:r>
                      <a:rPr lang="en-US" i="1" dirty="0" smtClean="0">
                        <a:latin typeface="Cambria Math" panose="02040503050406030204" pitchFamily="18" charset="0"/>
                      </a:rPr>
                      <m:t>𝑉𝑜𝑙𝑢𝑚𝑒</m:t>
                    </m:r>
                    <m:r>
                      <a:rPr lang="en-US" i="1" dirty="0" smtClean="0">
                        <a:latin typeface="Cambria Math" panose="02040503050406030204" pitchFamily="18" charset="0"/>
                      </a:rPr>
                      <m:t> = </m:t>
                    </m:r>
                    <m:r>
                      <a:rPr lang="en-US" b="0" i="1" smtClean="0">
                        <a:latin typeface="Cambria Math" panose="02040503050406030204" pitchFamily="18" charset="0"/>
                      </a:rPr>
                      <m:t>𝑣</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𝑉𝑜𝑙𝑢𝑚𝑒</m:t>
                        </m:r>
                      </m:num>
                      <m:den>
                        <m:r>
                          <a:rPr lang="en-US" b="0" i="1" smtClean="0">
                            <a:latin typeface="Cambria Math" panose="02040503050406030204" pitchFamily="18" charset="0"/>
                          </a:rPr>
                          <m:t>𝑚𝑎𝑠𝑠</m:t>
                        </m:r>
                      </m:den>
                    </m:f>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𝑙𝑖𝑡𝑒𝑟</m:t>
                            </m:r>
                          </m:num>
                          <m:den>
                            <m:r>
                              <a:rPr lang="en-US" b="0" i="1" smtClean="0">
                                <a:latin typeface="Cambria Math" panose="02040503050406030204" pitchFamily="18" charset="0"/>
                              </a:rPr>
                              <m:t>𝑘𝑔</m:t>
                            </m:r>
                          </m:den>
                        </m:f>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𝜌</m:t>
                        </m:r>
                      </m:den>
                    </m:f>
                  </m:oMath>
                </a14:m>
                <a:endParaRPr lang="en-US" dirty="0"/>
              </a:p>
              <a:p>
                <a:pPr algn="ctr"/>
                <a:endParaRPr lang="en-US" dirty="0"/>
              </a:p>
              <a:p>
                <a:pPr algn="ctr"/>
                <a:endParaRPr lang="en-US" dirty="0"/>
              </a:p>
              <a:p>
                <a:pPr algn="ctr"/>
                <a:r>
                  <a:rPr lang="en-US" sz="2800" b="1" dirty="0"/>
                  <a:t>Specific Volume on a Molar Basis:</a:t>
                </a:r>
              </a:p>
              <a:p>
                <a:pPr algn="ctr"/>
                <a14:m>
                  <m:oMath xmlns:m="http://schemas.openxmlformats.org/officeDocument/2006/math">
                    <m:r>
                      <a:rPr lang="en-US" b="0" i="1" smtClean="0">
                        <a:latin typeface="Cambria Math" panose="02040503050406030204" pitchFamily="18" charset="0"/>
                      </a:rPr>
                      <m:t>𝑉𝑜𝑙𝑢𝑚𝑒</m:t>
                    </m:r>
                    <m:r>
                      <a:rPr lang="en-US" b="0" i="1" smtClean="0">
                        <a:latin typeface="Cambria Math" panose="02040503050406030204" pitchFamily="18" charset="0"/>
                      </a:rPr>
                      <m:t>=</m:t>
                    </m:r>
                    <m:r>
                      <a:rPr lang="en-US" b="0" i="1" smtClean="0">
                        <a:latin typeface="Cambria Math" panose="02040503050406030204" pitchFamily="18" charset="0"/>
                      </a:rPr>
                      <m:t>𝑚𝑜𝑙𝑒𝑐𝑢𝑙𝑎𝑟</m:t>
                    </m:r>
                    <m:r>
                      <a:rPr lang="en-US" b="0" i="1" smtClean="0">
                        <a:latin typeface="Cambria Math" panose="02040503050406030204" pitchFamily="18" charset="0"/>
                      </a:rPr>
                      <m:t> </m:t>
                    </m:r>
                    <m:r>
                      <a:rPr lang="en-US" b="0" i="1" smtClean="0">
                        <a:latin typeface="Cambria Math" panose="02040503050406030204" pitchFamily="18" charset="0"/>
                      </a:rPr>
                      <m:t>𝑤𝑒𝑖𝑔h𝑡</m:t>
                    </m:r>
                    <m:r>
                      <a:rPr lang="en-US" b="0" i="1" smtClean="0">
                        <a:latin typeface="Cambria Math" panose="02040503050406030204" pitchFamily="18" charset="0"/>
                      </a:rPr>
                      <m:t>∗</m:t>
                    </m:r>
                    <m:r>
                      <a:rPr lang="en-US" b="0" i="1" smtClean="0">
                        <a:latin typeface="Cambria Math" panose="02040503050406030204" pitchFamily="18" charset="0"/>
                      </a:rPr>
                      <m:t>𝑠𝑝𝑒𝑐𝑖𝑓𝑖𝑐</m:t>
                    </m:r>
                    <m:r>
                      <a:rPr lang="en-US" b="0" i="1" smtClean="0">
                        <a:latin typeface="Cambria Math" panose="02040503050406030204" pitchFamily="18" charset="0"/>
                      </a:rPr>
                      <m:t> </m:t>
                    </m:r>
                    <m:r>
                      <a:rPr lang="en-US" b="0" i="1" smtClean="0">
                        <a:latin typeface="Cambria Math" panose="02040503050406030204" pitchFamily="18" charset="0"/>
                      </a:rPr>
                      <m:t>𝑣𝑜𝑙𝑢𝑚𝑒</m:t>
                    </m:r>
                    <m:r>
                      <a:rPr lang="en-US" b="0" i="1" smtClean="0">
                        <a:latin typeface="Cambria Math" panose="02040503050406030204" pitchFamily="18" charset="0"/>
                      </a:rPr>
                      <m:t>→</m:t>
                    </m:r>
                    <m:r>
                      <a:rPr lang="en-US" b="1" i="1" smtClean="0">
                        <a:latin typeface="Cambria Math" panose="02040503050406030204" pitchFamily="18" charset="0"/>
                      </a:rPr>
                      <m:t>𝑽</m:t>
                    </m:r>
                    <m:r>
                      <a:rPr lang="en-US" b="1" i="1" smtClean="0">
                        <a:latin typeface="Cambria Math" panose="02040503050406030204" pitchFamily="18" charset="0"/>
                      </a:rPr>
                      <m:t>=</m:t>
                    </m:r>
                    <m:r>
                      <a:rPr lang="en-US" b="1" i="1" smtClean="0">
                        <a:latin typeface="Cambria Math" panose="02040503050406030204" pitchFamily="18" charset="0"/>
                      </a:rPr>
                      <m:t>𝒎</m:t>
                    </m:r>
                    <m:r>
                      <a:rPr lang="en-US" b="1" i="1" smtClean="0">
                        <a:latin typeface="Cambria Math" panose="02040503050406030204" pitchFamily="18" charset="0"/>
                      </a:rPr>
                      <m:t>∗</m:t>
                    </m:r>
                    <m:r>
                      <a:rPr lang="en-US" b="1" i="1" smtClean="0">
                        <a:latin typeface="Cambria Math" panose="02040503050406030204" pitchFamily="18" charset="0"/>
                      </a:rPr>
                      <m:t>𝒗</m:t>
                    </m:r>
                  </m:oMath>
                </a14:m>
                <a:endParaRPr lang="en-US" b="1" dirty="0"/>
              </a:p>
            </p:txBody>
          </p:sp>
        </mc:Choice>
        <mc:Fallback xmlns="">
          <p:sp>
            <p:nvSpPr>
              <p:cNvPr id="3" name="Content Placeholder 2">
                <a:extLst>
                  <a:ext uri="{FF2B5EF4-FFF2-40B4-BE49-F238E27FC236}">
                    <a16:creationId xmlns:a16="http://schemas.microsoft.com/office/drawing/2014/main" id="{E3738BC3-1BB4-4F5A-B5FD-9D92692CB04D}"/>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n-US">
                    <a:noFill/>
                  </a:rPr>
                  <a:t> </a:t>
                </a:r>
              </a:p>
            </p:txBody>
          </p:sp>
        </mc:Fallback>
      </mc:AlternateContent>
    </p:spTree>
    <p:extLst>
      <p:ext uri="{BB962C8B-B14F-4D97-AF65-F5344CB8AC3E}">
        <p14:creationId xmlns:p14="http://schemas.microsoft.com/office/powerpoint/2010/main" val="2416932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AEA3-E3BE-4212-90BE-E3175120CE89}"/>
              </a:ext>
            </a:extLst>
          </p:cNvPr>
          <p:cNvSpPr>
            <a:spLocks noGrp="1"/>
          </p:cNvSpPr>
          <p:nvPr>
            <p:ph type="title"/>
          </p:nvPr>
        </p:nvSpPr>
        <p:spPr>
          <a:xfrm>
            <a:off x="1097280" y="286603"/>
            <a:ext cx="10058400" cy="1450757"/>
          </a:xfrm>
        </p:spPr>
        <p:txBody>
          <a:bodyPr>
            <a:normAutofit/>
          </a:bodyPr>
          <a:lstStyle/>
          <a:p>
            <a:pPr algn="ctr"/>
            <a:r>
              <a:rPr lang="en-US" dirty="0"/>
              <a:t>Chapter 1</a:t>
            </a:r>
            <a:br>
              <a:rPr lang="en-US" dirty="0"/>
            </a:br>
            <a:r>
              <a:rPr lang="en-US" dirty="0"/>
              <a:t>Introduction to Pressure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78C4C7-5BA1-4676-A3BB-D0F42715378F}"/>
                  </a:ext>
                </a:extLst>
              </p:cNvPr>
              <p:cNvSpPr>
                <a:spLocks noGrp="1"/>
              </p:cNvSpPr>
              <p:nvPr>
                <p:ph idx="1"/>
              </p:nvPr>
            </p:nvSpPr>
            <p:spPr>
              <a:xfrm>
                <a:off x="1097279" y="1845734"/>
                <a:ext cx="6005485" cy="4043622"/>
              </a:xfrm>
            </p:spPr>
            <p:txBody>
              <a:bodyPr>
                <a:normAutofit/>
              </a:bodyPr>
              <a:lstStyle/>
              <a:p>
                <a:r>
                  <a:rPr lang="en-US" b="1" dirty="0"/>
                  <a:t>Definition: </a:t>
                </a:r>
                <a:r>
                  <a:rPr lang="en-US" dirty="0"/>
                  <a:t>Pressure is the force applied to the surface of an object per unit area over which that force is distributed</a:t>
                </a:r>
              </a:p>
              <a:p>
                <a:pPr marL="0" indent="0">
                  <a:buNone/>
                </a:pPr>
                <a:endParaRPr lang="en-US" dirty="0"/>
              </a:p>
              <a:p>
                <a:endParaRPr lang="en-US" dirty="0"/>
              </a:p>
              <a:p>
                <a14:m>
                  <m:oMath xmlns:m="http://schemas.openxmlformats.org/officeDocument/2006/math">
                    <m:r>
                      <a:rPr lang="en-US" sz="2800" b="0" i="1" smtClean="0">
                        <a:latin typeface="Cambria Math" panose="02040503050406030204" pitchFamily="18" charset="0"/>
                      </a:rPr>
                      <m:t>𝑃𝑟𝑒𝑠𝑠𝑢𝑟𝑒</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𝐹𝑜𝑟𝑐𝑒</m:t>
                        </m:r>
                      </m:num>
                      <m:den>
                        <m:r>
                          <a:rPr lang="en-US" sz="2800" b="0" i="1" smtClean="0">
                            <a:latin typeface="Cambria Math" panose="02040503050406030204" pitchFamily="18" charset="0"/>
                          </a:rPr>
                          <m:t>𝐴𝑟𝑒𝑎</m:t>
                        </m:r>
                      </m:den>
                    </m:f>
                    <m:r>
                      <a:rPr lang="en-US" sz="2800" b="0" i="1" smtClean="0">
                        <a:latin typeface="Cambria Math" panose="02040503050406030204" pitchFamily="18" charset="0"/>
                      </a:rPr>
                      <m:t>→</m:t>
                    </m:r>
                    <m:r>
                      <a:rPr lang="en-US" sz="2800" b="1" i="1" smtClean="0">
                        <a:latin typeface="Cambria Math" panose="02040503050406030204" pitchFamily="18" charset="0"/>
                      </a:rPr>
                      <m:t>𝑷</m:t>
                    </m:r>
                    <m:r>
                      <a:rPr lang="en-US" sz="2800" b="1" i="1" smtClean="0">
                        <a:latin typeface="Cambria Math" panose="02040503050406030204" pitchFamily="18" charset="0"/>
                      </a:rPr>
                      <m:t>=</m:t>
                    </m:r>
                    <m:f>
                      <m:fPr>
                        <m:ctrlPr>
                          <a:rPr lang="en-US" sz="2800" b="1" i="1" smtClean="0">
                            <a:latin typeface="Cambria Math" panose="02040503050406030204" pitchFamily="18" charset="0"/>
                          </a:rPr>
                        </m:ctrlPr>
                      </m:fPr>
                      <m:num>
                        <m:r>
                          <a:rPr lang="en-US" sz="2800" b="1" i="1" smtClean="0">
                            <a:latin typeface="Cambria Math" panose="02040503050406030204" pitchFamily="18" charset="0"/>
                          </a:rPr>
                          <m:t>𝑭</m:t>
                        </m:r>
                      </m:num>
                      <m:den>
                        <m:r>
                          <a:rPr lang="en-US" sz="2800" b="1" i="1" smtClean="0">
                            <a:latin typeface="Cambria Math" panose="02040503050406030204" pitchFamily="18" charset="0"/>
                          </a:rPr>
                          <m:t>𝑨</m:t>
                        </m:r>
                      </m:den>
                    </m:f>
                  </m:oMath>
                </a14:m>
                <a:endParaRPr lang="en-US" b="1" dirty="0"/>
              </a:p>
              <a:p>
                <a:endParaRPr lang="en-US" b="1" dirty="0"/>
              </a:p>
            </p:txBody>
          </p:sp>
        </mc:Choice>
        <mc:Fallback xmlns="">
          <p:sp>
            <p:nvSpPr>
              <p:cNvPr id="3" name="Content Placeholder 2">
                <a:extLst>
                  <a:ext uri="{FF2B5EF4-FFF2-40B4-BE49-F238E27FC236}">
                    <a16:creationId xmlns:a16="http://schemas.microsoft.com/office/drawing/2014/main" id="{4D78C4C7-5BA1-4676-A3BB-D0F42715378F}"/>
                  </a:ext>
                </a:extLst>
              </p:cNvPr>
              <p:cNvSpPr>
                <a:spLocks noGrp="1" noRot="1" noChangeAspect="1" noMove="1" noResize="1" noEditPoints="1" noAdjustHandles="1" noChangeArrowheads="1" noChangeShapeType="1" noTextEdit="1"/>
              </p:cNvSpPr>
              <p:nvPr>
                <p:ph idx="1"/>
              </p:nvPr>
            </p:nvSpPr>
            <p:spPr>
              <a:xfrm>
                <a:off x="1097279" y="1845734"/>
                <a:ext cx="6005485" cy="4043622"/>
              </a:xfrm>
              <a:blipFill>
                <a:blip r:embed="rId2"/>
                <a:stretch>
                  <a:fillRect l="-1015" t="-1659" r="-243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4AB2392-321C-46E4-AB62-8C14B6168025}"/>
              </a:ext>
            </a:extLst>
          </p:cNvPr>
          <p:cNvPicPr>
            <a:picLocks noChangeAspect="1"/>
          </p:cNvPicPr>
          <p:nvPr/>
        </p:nvPicPr>
        <p:blipFill>
          <a:blip r:embed="rId3"/>
          <a:stretch>
            <a:fillRect/>
          </a:stretch>
        </p:blipFill>
        <p:spPr>
          <a:xfrm>
            <a:off x="7296728" y="1845734"/>
            <a:ext cx="3858952" cy="2517965"/>
          </a:xfrm>
          <a:prstGeom prst="rect">
            <a:avLst/>
          </a:prstGeom>
        </p:spPr>
      </p:pic>
    </p:spTree>
    <p:extLst>
      <p:ext uri="{BB962C8B-B14F-4D97-AF65-F5344CB8AC3E}">
        <p14:creationId xmlns:p14="http://schemas.microsoft.com/office/powerpoint/2010/main" val="3822128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8EBC1-5BEF-4B99-A97D-530EB33AEAFB}"/>
              </a:ext>
            </a:extLst>
          </p:cNvPr>
          <p:cNvSpPr>
            <a:spLocks noGrp="1"/>
          </p:cNvSpPr>
          <p:nvPr>
            <p:ph type="title"/>
          </p:nvPr>
        </p:nvSpPr>
        <p:spPr/>
        <p:txBody>
          <a:bodyPr/>
          <a:lstStyle/>
          <a:p>
            <a:pPr algn="ctr"/>
            <a:r>
              <a:rPr lang="en-US" dirty="0"/>
              <a:t>Chapter 1</a:t>
            </a:r>
            <a:br>
              <a:rPr lang="en-US" dirty="0"/>
            </a:br>
            <a:r>
              <a:rPr lang="en-US" dirty="0"/>
              <a:t>Common Units of Pressure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74B1CA2-CC3E-428A-BAB1-A3CEE69FEA49}"/>
                  </a:ext>
                </a:extLst>
              </p:cNvPr>
              <p:cNvSpPr txBox="1">
                <a:spLocks noGrp="1"/>
              </p:cNvSpPr>
              <p:nvPr>
                <p:ph idx="1"/>
              </p:nvPr>
            </p:nvSpPr>
            <p:spPr>
              <a:xfrm>
                <a:off x="1096963" y="1846263"/>
                <a:ext cx="10058400" cy="3836178"/>
              </a:xfrm>
              <a:prstGeom prst="rect">
                <a:avLst/>
              </a:prstGeom>
              <a:noFill/>
            </p:spPr>
            <p:txBody>
              <a:bodyPr wrap="square" rtlCol="0">
                <a:spAutoFit/>
              </a:bodyPr>
              <a:lstStyle/>
              <a:p>
                <a:pPr algn="ctr"/>
                <a:r>
                  <a:rPr lang="en-US" b="1" dirty="0"/>
                  <a:t>SI Units: </a:t>
                </a:r>
                <a14:m>
                  <m:oMath xmlns:m="http://schemas.openxmlformats.org/officeDocument/2006/math">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𝑁</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den>
                        </m:f>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𝑃𝑎</m:t>
                        </m:r>
                      </m:e>
                    </m:d>
                  </m:oMath>
                </a14:m>
                <a:endParaRPr lang="en-US" dirty="0"/>
              </a:p>
              <a:p>
                <a:pPr algn="ctr"/>
                <a:endParaRPr lang="en-US" dirty="0"/>
              </a:p>
              <a:p>
                <a:pPr algn="ctr"/>
                <a:r>
                  <a:rPr lang="en-US" b="1" dirty="0"/>
                  <a:t>Imperial Units: </a:t>
                </a:r>
                <a14:m>
                  <m:oMath xmlns:m="http://schemas.openxmlformats.org/officeDocument/2006/math">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𝑙𝑏𝑓</m:t>
                            </m:r>
                          </m:num>
                          <m:den>
                            <m:r>
                              <a:rPr lang="en-US" b="0" i="1" smtClean="0">
                                <a:latin typeface="Cambria Math" panose="02040503050406030204" pitchFamily="18" charset="0"/>
                              </a:rPr>
                              <m:t>𝑖</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den>
                        </m:f>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𝑝𝑠𝑖</m:t>
                        </m:r>
                      </m:e>
                    </m:d>
                  </m:oMath>
                </a14:m>
                <a:endParaRPr lang="en-US" dirty="0"/>
              </a:p>
              <a:p>
                <a:pPr algn="ctr"/>
                <a:endParaRPr lang="en-US" dirty="0"/>
              </a:p>
              <a:p>
                <a:pPr algn="ctr"/>
                <a:r>
                  <a:rPr lang="en-US" b="1" dirty="0"/>
                  <a:t>Atmosphere Pressure: </a:t>
                </a:r>
                <a14:m>
                  <m:oMath xmlns:m="http://schemas.openxmlformats.org/officeDocument/2006/math">
                    <m:r>
                      <a:rPr lang="en-US" b="0" i="1" smtClean="0">
                        <a:latin typeface="Cambria Math" panose="02040503050406030204" pitchFamily="18" charset="0"/>
                      </a:rPr>
                      <m:t>1 </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𝑎𝑡𝑚</m:t>
                        </m:r>
                      </m:e>
                    </m:d>
                    <m:r>
                      <a:rPr lang="en-US" b="0" i="1" smtClean="0">
                        <a:latin typeface="Cambria Math" panose="02040503050406030204" pitchFamily="18" charset="0"/>
                      </a:rPr>
                      <m:t>=14.7</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𝑝𝑠𝑖</m:t>
                        </m:r>
                      </m:e>
                    </m:d>
                    <m:r>
                      <a:rPr lang="en-US" b="0" i="1" smtClean="0">
                        <a:latin typeface="Cambria Math" panose="02040503050406030204" pitchFamily="18" charset="0"/>
                      </a:rPr>
                      <m:t>=101.3</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𝑘𝑃𝑎</m:t>
                        </m:r>
                      </m:e>
                    </m:d>
                  </m:oMath>
                </a14:m>
                <a:endParaRPr lang="en-US" b="0" i="1" dirty="0">
                  <a:latin typeface="Cambria Math" panose="02040503050406030204" pitchFamily="18" charset="0"/>
                </a:endParaRPr>
              </a:p>
              <a:p>
                <a:pPr algn="ctr"/>
                <a14:m>
                  <m:oMath xmlns:m="http://schemas.openxmlformats.org/officeDocument/2006/math">
                    <m:r>
                      <a:rPr lang="en-US" b="0" i="1" smtClean="0">
                        <a:latin typeface="Cambria Math" panose="02040503050406030204" pitchFamily="18" charset="0"/>
                      </a:rPr>
                      <m:t>=1.013</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𝑏𝑎𝑟</m:t>
                        </m:r>
                      </m:e>
                    </m:d>
                    <m:r>
                      <a:rPr lang="en-US" b="0" i="1" smtClean="0">
                        <a:latin typeface="Cambria Math" panose="02040503050406030204" pitchFamily="18" charset="0"/>
                      </a:rPr>
                      <m:t>=760</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𝑚𝑚𝐻𝑔</m:t>
                        </m:r>
                      </m:e>
                    </m:d>
                  </m:oMath>
                </a14:m>
                <a:endParaRPr lang="en-US" dirty="0"/>
              </a:p>
              <a:p>
                <a:pPr algn="ctr"/>
                <a:endParaRPr lang="en-US" dirty="0"/>
              </a:p>
              <a:p>
                <a:pPr algn="ctr"/>
                <a:r>
                  <a:rPr lang="en-US" sz="2000" b="1" dirty="0"/>
                  <a:t>Absolute Pressure = Gauge Pressure + Atmospheric Pressure</a:t>
                </a:r>
              </a:p>
            </p:txBody>
          </p:sp>
        </mc:Choice>
        <mc:Fallback xmlns="">
          <p:sp>
            <p:nvSpPr>
              <p:cNvPr id="4" name="Content Placeholder 3">
                <a:extLst>
                  <a:ext uri="{FF2B5EF4-FFF2-40B4-BE49-F238E27FC236}">
                    <a16:creationId xmlns:a16="http://schemas.microsoft.com/office/drawing/2014/main" id="{774B1CA2-CC3E-428A-BAB1-A3CEE69FEA49}"/>
                  </a:ext>
                </a:extLst>
              </p:cNvPr>
              <p:cNvSpPr txBox="1">
                <a:spLocks noGrp="1" noRot="1" noChangeAspect="1" noMove="1" noResize="1" noEditPoints="1" noAdjustHandles="1" noChangeArrowheads="1" noChangeShapeType="1" noTextEdit="1"/>
              </p:cNvSpPr>
              <p:nvPr>
                <p:ph idx="1"/>
              </p:nvPr>
            </p:nvSpPr>
            <p:spPr>
              <a:xfrm>
                <a:off x="1096963" y="1846263"/>
                <a:ext cx="10058400" cy="3836178"/>
              </a:xfrm>
              <a:prstGeom prst="rect">
                <a:avLst/>
              </a:prstGeom>
              <a:blipFill>
                <a:blip r:embed="rId2"/>
                <a:stretch>
                  <a:fillRect b="-1908"/>
                </a:stretch>
              </a:blipFill>
            </p:spPr>
            <p:txBody>
              <a:bodyPr/>
              <a:lstStyle/>
              <a:p>
                <a:r>
                  <a:rPr lang="en-US">
                    <a:noFill/>
                  </a:rPr>
                  <a:t> </a:t>
                </a:r>
              </a:p>
            </p:txBody>
          </p:sp>
        </mc:Fallback>
      </mc:AlternateContent>
    </p:spTree>
    <p:extLst>
      <p:ext uri="{BB962C8B-B14F-4D97-AF65-F5344CB8AC3E}">
        <p14:creationId xmlns:p14="http://schemas.microsoft.com/office/powerpoint/2010/main" val="680226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AA627-1B21-4A4F-BD4C-06F52166F78E}"/>
              </a:ext>
            </a:extLst>
          </p:cNvPr>
          <p:cNvSpPr>
            <a:spLocks noGrp="1"/>
          </p:cNvSpPr>
          <p:nvPr>
            <p:ph type="title"/>
          </p:nvPr>
        </p:nvSpPr>
        <p:spPr/>
        <p:txBody>
          <a:bodyPr/>
          <a:lstStyle/>
          <a:p>
            <a:pPr algn="ctr"/>
            <a:r>
              <a:rPr lang="en-US" dirty="0"/>
              <a:t>Chapter 1</a:t>
            </a:r>
            <a:br>
              <a:rPr lang="en-US" dirty="0"/>
            </a:br>
            <a:r>
              <a:rPr lang="en-US" dirty="0"/>
              <a:t>Introduction To Temperature Conversion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4E6399-8A87-4060-AF45-F2101594BA89}"/>
                  </a:ext>
                </a:extLst>
              </p:cNvPr>
              <p:cNvSpPr>
                <a:spLocks noGrp="1"/>
              </p:cNvSpPr>
              <p:nvPr>
                <p:ph idx="1"/>
              </p:nvPr>
            </p:nvSpPr>
            <p:spPr>
              <a:xfrm>
                <a:off x="1097280" y="1845733"/>
                <a:ext cx="4998720" cy="4291595"/>
              </a:xfrm>
            </p:spPr>
            <p:txBody>
              <a:bodyPr>
                <a:normAutofit/>
              </a:bodyPr>
              <a:lstStyle/>
              <a:p>
                <a:r>
                  <a:rPr lang="en-US" sz="3600" b="1" dirty="0"/>
                  <a:t>Kelvin to Celsius:</a:t>
                </a:r>
              </a:p>
              <a:p>
                <a14:m>
                  <m:oMath xmlns:m="http://schemas.openxmlformats.org/officeDocument/2006/math">
                    <m:r>
                      <a:rPr lang="en-US" sz="3600" b="0" i="1" smtClean="0">
                        <a:latin typeface="Cambria Math" panose="02040503050406030204" pitchFamily="18" charset="0"/>
                      </a:rPr>
                      <m:t>𝑇</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𝐶</m:t>
                        </m:r>
                        <m:r>
                          <a:rPr lang="en-US" sz="3600" b="0" i="1" smtClean="0">
                            <a:latin typeface="Cambria Math" panose="02040503050406030204" pitchFamily="18" charset="0"/>
                          </a:rPr>
                          <m:t>°</m:t>
                        </m:r>
                      </m:e>
                    </m:d>
                    <m:r>
                      <a:rPr lang="en-US" sz="3600" b="0" i="1" smtClean="0">
                        <a:latin typeface="Cambria Math" panose="02040503050406030204" pitchFamily="18" charset="0"/>
                      </a:rPr>
                      <m:t>=</m:t>
                    </m:r>
                    <m:r>
                      <a:rPr lang="en-US" sz="3600" b="0" i="1" smtClean="0">
                        <a:latin typeface="Cambria Math" panose="02040503050406030204" pitchFamily="18" charset="0"/>
                      </a:rPr>
                      <m:t>𝑇</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𝐾</m:t>
                        </m:r>
                        <m:r>
                          <a:rPr lang="en-US" sz="3600" b="0" i="1" smtClean="0">
                            <a:latin typeface="Cambria Math" panose="02040503050406030204" pitchFamily="18" charset="0"/>
                          </a:rPr>
                          <m:t>°</m:t>
                        </m:r>
                      </m:e>
                    </m:d>
                    <m:r>
                      <a:rPr lang="en-US" sz="3600" b="0" i="1" smtClean="0">
                        <a:latin typeface="Cambria Math" panose="02040503050406030204" pitchFamily="18" charset="0"/>
                      </a:rPr>
                      <m:t>−273.15</m:t>
                    </m:r>
                  </m:oMath>
                </a14:m>
                <a:endParaRPr lang="en-US" sz="3600" dirty="0"/>
              </a:p>
              <a:p>
                <a:endParaRPr lang="en-US" sz="3600" b="1" dirty="0"/>
              </a:p>
              <a:p>
                <a:r>
                  <a:rPr lang="en-US" sz="3600" b="1" dirty="0"/>
                  <a:t>Rankine to Fahrenheit:</a:t>
                </a:r>
              </a:p>
              <a:p>
                <a14:m>
                  <m:oMath xmlns:m="http://schemas.openxmlformats.org/officeDocument/2006/math">
                    <m:r>
                      <a:rPr lang="en-US" sz="3600" i="1">
                        <a:latin typeface="Cambria Math" panose="02040503050406030204" pitchFamily="18" charset="0"/>
                      </a:rPr>
                      <m:t>𝑇</m:t>
                    </m:r>
                    <m:d>
                      <m:dPr>
                        <m:ctrlPr>
                          <a:rPr lang="en-US" sz="3600" i="1">
                            <a:latin typeface="Cambria Math" panose="02040503050406030204" pitchFamily="18" charset="0"/>
                          </a:rPr>
                        </m:ctrlPr>
                      </m:dPr>
                      <m:e>
                        <m:r>
                          <a:rPr lang="en-US" sz="3600" b="0" i="1" smtClean="0">
                            <a:latin typeface="Cambria Math" panose="02040503050406030204" pitchFamily="18" charset="0"/>
                          </a:rPr>
                          <m:t>𝐹</m:t>
                        </m:r>
                        <m:r>
                          <a:rPr lang="en-US" sz="3600" i="1">
                            <a:latin typeface="Cambria Math" panose="02040503050406030204" pitchFamily="18" charset="0"/>
                          </a:rPr>
                          <m:t>°</m:t>
                        </m:r>
                      </m:e>
                    </m:d>
                    <m:r>
                      <a:rPr lang="en-US" sz="3600" i="1">
                        <a:latin typeface="Cambria Math" panose="02040503050406030204" pitchFamily="18" charset="0"/>
                      </a:rPr>
                      <m:t>=</m:t>
                    </m:r>
                    <m:r>
                      <a:rPr lang="en-US" sz="3600" i="1">
                        <a:latin typeface="Cambria Math" panose="02040503050406030204" pitchFamily="18" charset="0"/>
                      </a:rPr>
                      <m:t>𝑇</m:t>
                    </m:r>
                    <m:d>
                      <m:dPr>
                        <m:ctrlPr>
                          <a:rPr lang="en-US" sz="3600" i="1">
                            <a:latin typeface="Cambria Math" panose="02040503050406030204" pitchFamily="18" charset="0"/>
                          </a:rPr>
                        </m:ctrlPr>
                      </m:dPr>
                      <m:e>
                        <m:r>
                          <a:rPr lang="en-US" sz="3600" b="0" i="1" smtClean="0">
                            <a:latin typeface="Cambria Math" panose="02040503050406030204" pitchFamily="18" charset="0"/>
                          </a:rPr>
                          <m:t>𝑅</m:t>
                        </m:r>
                        <m:r>
                          <a:rPr lang="en-US" sz="3600" i="1">
                            <a:latin typeface="Cambria Math" panose="02040503050406030204" pitchFamily="18" charset="0"/>
                          </a:rPr>
                          <m:t>°</m:t>
                        </m:r>
                      </m:e>
                    </m:d>
                    <m:r>
                      <a:rPr lang="en-US" sz="3600" i="1">
                        <a:latin typeface="Cambria Math" panose="02040503050406030204" pitchFamily="18" charset="0"/>
                      </a:rPr>
                      <m:t>−</m:t>
                    </m:r>
                    <m:r>
                      <a:rPr lang="en-US" sz="3600" b="0" i="1" smtClean="0">
                        <a:latin typeface="Cambria Math" panose="02040503050406030204" pitchFamily="18" charset="0"/>
                      </a:rPr>
                      <m:t>459.67</m:t>
                    </m:r>
                  </m:oMath>
                </a14:m>
                <a:endParaRPr lang="en-US" sz="3600" dirty="0"/>
              </a:p>
            </p:txBody>
          </p:sp>
        </mc:Choice>
        <mc:Fallback xmlns="">
          <p:sp>
            <p:nvSpPr>
              <p:cNvPr id="3" name="Content Placeholder 2">
                <a:extLst>
                  <a:ext uri="{FF2B5EF4-FFF2-40B4-BE49-F238E27FC236}">
                    <a16:creationId xmlns:a16="http://schemas.microsoft.com/office/drawing/2014/main" id="{374E6399-8A87-4060-AF45-F2101594BA89}"/>
                  </a:ext>
                </a:extLst>
              </p:cNvPr>
              <p:cNvSpPr>
                <a:spLocks noGrp="1" noRot="1" noChangeAspect="1" noMove="1" noResize="1" noEditPoints="1" noAdjustHandles="1" noChangeArrowheads="1" noChangeShapeType="1" noTextEdit="1"/>
              </p:cNvSpPr>
              <p:nvPr>
                <p:ph idx="1"/>
              </p:nvPr>
            </p:nvSpPr>
            <p:spPr>
              <a:xfrm>
                <a:off x="1097280" y="1845733"/>
                <a:ext cx="4998720" cy="4291595"/>
              </a:xfrm>
              <a:blipFill>
                <a:blip r:embed="rId2"/>
                <a:stretch>
                  <a:fillRect l="-3415" t="-355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06C1619-8C8C-4BC6-A041-B92D81EBD997}"/>
              </a:ext>
            </a:extLst>
          </p:cNvPr>
          <p:cNvSpPr txBox="1"/>
          <p:nvPr/>
        </p:nvSpPr>
        <p:spPr>
          <a:xfrm>
            <a:off x="6096000" y="1859339"/>
            <a:ext cx="5341749" cy="861774"/>
          </a:xfrm>
          <a:prstGeom prst="rect">
            <a:avLst/>
          </a:prstGeom>
          <a:noFill/>
        </p:spPr>
        <p:txBody>
          <a:bodyPr wrap="square" rtlCol="0">
            <a:spAutoFit/>
          </a:bodyPr>
          <a:lstStyle/>
          <a:p>
            <a:pPr algn="ctr"/>
            <a:endParaRPr lang="en-US" sz="3200" dirty="0"/>
          </a:p>
          <a:p>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BC638D09-B4D2-4ECD-88FB-04E8F9DACF56}"/>
                  </a:ext>
                </a:extLst>
              </p:cNvPr>
              <p:cNvSpPr txBox="1">
                <a:spLocks/>
              </p:cNvSpPr>
              <p:nvPr/>
            </p:nvSpPr>
            <p:spPr>
              <a:xfrm>
                <a:off x="6156961" y="1845732"/>
                <a:ext cx="4998720" cy="429159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3600" b="1" dirty="0"/>
                  <a:t>Celsius to Fahrenheit:</a:t>
                </a:r>
              </a:p>
              <a:p>
                <a14:m>
                  <m:oMath xmlns:m="http://schemas.openxmlformats.org/officeDocument/2006/math">
                    <m:r>
                      <a:rPr lang="en-US" sz="3400" i="1">
                        <a:latin typeface="Cambria Math" panose="02040503050406030204" pitchFamily="18" charset="0"/>
                      </a:rPr>
                      <m:t>𝑇</m:t>
                    </m:r>
                    <m:d>
                      <m:dPr>
                        <m:ctrlPr>
                          <a:rPr lang="en-US" sz="3400" i="1">
                            <a:latin typeface="Cambria Math" panose="02040503050406030204" pitchFamily="18" charset="0"/>
                          </a:rPr>
                        </m:ctrlPr>
                      </m:dPr>
                      <m:e>
                        <m:r>
                          <a:rPr lang="en-US" sz="3400" b="0" i="1" smtClean="0">
                            <a:latin typeface="Cambria Math" panose="02040503050406030204" pitchFamily="18" charset="0"/>
                          </a:rPr>
                          <m:t>𝐹</m:t>
                        </m:r>
                        <m:r>
                          <a:rPr lang="en-US" sz="3400" i="1">
                            <a:latin typeface="Cambria Math" panose="02040503050406030204" pitchFamily="18" charset="0"/>
                          </a:rPr>
                          <m:t>°</m:t>
                        </m:r>
                      </m:e>
                    </m:d>
                    <m:r>
                      <a:rPr lang="en-US" sz="3400" i="1">
                        <a:latin typeface="Cambria Math" panose="02040503050406030204" pitchFamily="18" charset="0"/>
                      </a:rPr>
                      <m:t>=</m:t>
                    </m:r>
                    <m:r>
                      <a:rPr lang="en-US" sz="3400" b="0" i="1" smtClean="0">
                        <a:latin typeface="Cambria Math" panose="02040503050406030204" pitchFamily="18" charset="0"/>
                      </a:rPr>
                      <m:t>1.8</m:t>
                    </m:r>
                    <m:r>
                      <a:rPr lang="en-US" sz="3400" b="0" i="1" smtClean="0">
                        <a:latin typeface="Cambria Math" panose="02040503050406030204" pitchFamily="18" charset="0"/>
                        <a:ea typeface="Cambria Math" panose="02040503050406030204" pitchFamily="18" charset="0"/>
                      </a:rPr>
                      <m:t>×</m:t>
                    </m:r>
                    <m:r>
                      <a:rPr lang="en-US" sz="3400" i="1">
                        <a:latin typeface="Cambria Math" panose="02040503050406030204" pitchFamily="18" charset="0"/>
                      </a:rPr>
                      <m:t>𝑇</m:t>
                    </m:r>
                    <m:d>
                      <m:dPr>
                        <m:ctrlPr>
                          <a:rPr lang="en-US" sz="3400" i="1">
                            <a:latin typeface="Cambria Math" panose="02040503050406030204" pitchFamily="18" charset="0"/>
                          </a:rPr>
                        </m:ctrlPr>
                      </m:dPr>
                      <m:e>
                        <m:r>
                          <a:rPr lang="en-US" sz="3400" b="0" i="1" smtClean="0">
                            <a:latin typeface="Cambria Math" panose="02040503050406030204" pitchFamily="18" charset="0"/>
                          </a:rPr>
                          <m:t>𝐶</m:t>
                        </m:r>
                        <m:r>
                          <a:rPr lang="en-US" sz="3400" i="1">
                            <a:latin typeface="Cambria Math" panose="02040503050406030204" pitchFamily="18" charset="0"/>
                          </a:rPr>
                          <m:t>°</m:t>
                        </m:r>
                      </m:e>
                    </m:d>
                    <m:r>
                      <a:rPr lang="en-US" sz="3400" b="0" i="1" smtClean="0">
                        <a:latin typeface="Cambria Math" panose="02040503050406030204" pitchFamily="18" charset="0"/>
                      </a:rPr>
                      <m:t>+32</m:t>
                    </m:r>
                  </m:oMath>
                </a14:m>
                <a:endParaRPr lang="en-US" sz="3400" dirty="0"/>
              </a:p>
              <a:p>
                <a:endParaRPr lang="en-US" sz="3600" b="1" dirty="0"/>
              </a:p>
              <a:p>
                <a:r>
                  <a:rPr lang="en-US" sz="3600" b="1" dirty="0"/>
                  <a:t>Kelvin to Rankine:</a:t>
                </a:r>
              </a:p>
              <a:p>
                <a14:m>
                  <m:oMath xmlns:m="http://schemas.openxmlformats.org/officeDocument/2006/math">
                    <m:r>
                      <a:rPr lang="en-US" sz="3600" i="1">
                        <a:latin typeface="Cambria Math" panose="02040503050406030204" pitchFamily="18" charset="0"/>
                      </a:rPr>
                      <m:t>𝑇</m:t>
                    </m:r>
                    <m:d>
                      <m:dPr>
                        <m:ctrlPr>
                          <a:rPr lang="en-US" sz="3600" i="1">
                            <a:latin typeface="Cambria Math" panose="02040503050406030204" pitchFamily="18" charset="0"/>
                          </a:rPr>
                        </m:ctrlPr>
                      </m:dPr>
                      <m:e>
                        <m:r>
                          <a:rPr lang="en-US" sz="3600" b="0" i="1" smtClean="0">
                            <a:latin typeface="Cambria Math" panose="02040503050406030204" pitchFamily="18" charset="0"/>
                          </a:rPr>
                          <m:t>𝑅</m:t>
                        </m:r>
                        <m:r>
                          <a:rPr lang="en-US" sz="3600" i="1">
                            <a:latin typeface="Cambria Math" panose="02040503050406030204" pitchFamily="18" charset="0"/>
                          </a:rPr>
                          <m:t>°</m:t>
                        </m:r>
                      </m:e>
                    </m:d>
                    <m:r>
                      <a:rPr lang="en-US" sz="3600" i="1">
                        <a:latin typeface="Cambria Math" panose="02040503050406030204" pitchFamily="18" charset="0"/>
                      </a:rPr>
                      <m:t>=</m:t>
                    </m:r>
                    <m:r>
                      <a:rPr lang="en-US" sz="3600" b="0" i="1" smtClean="0">
                        <a:latin typeface="Cambria Math" panose="02040503050406030204" pitchFamily="18" charset="0"/>
                      </a:rPr>
                      <m:t>1.8</m:t>
                    </m:r>
                    <m:r>
                      <a:rPr lang="en-US" sz="3600" b="0" i="1" smtClean="0">
                        <a:latin typeface="Cambria Math" panose="02040503050406030204" pitchFamily="18" charset="0"/>
                        <a:ea typeface="Cambria Math" panose="02040503050406030204" pitchFamily="18" charset="0"/>
                      </a:rPr>
                      <m:t>×</m:t>
                    </m:r>
                    <m:r>
                      <a:rPr lang="en-US" sz="3600" i="1">
                        <a:latin typeface="Cambria Math" panose="02040503050406030204" pitchFamily="18" charset="0"/>
                      </a:rPr>
                      <m:t>𝑇</m:t>
                    </m:r>
                    <m:d>
                      <m:dPr>
                        <m:ctrlPr>
                          <a:rPr lang="en-US" sz="3600" i="1">
                            <a:latin typeface="Cambria Math" panose="02040503050406030204" pitchFamily="18" charset="0"/>
                          </a:rPr>
                        </m:ctrlPr>
                      </m:dPr>
                      <m:e>
                        <m:r>
                          <a:rPr lang="en-US" sz="3600" b="0" i="1" smtClean="0">
                            <a:latin typeface="Cambria Math" panose="02040503050406030204" pitchFamily="18" charset="0"/>
                          </a:rPr>
                          <m:t>𝐾</m:t>
                        </m:r>
                        <m:r>
                          <a:rPr lang="en-US" sz="3600" i="1">
                            <a:latin typeface="Cambria Math" panose="02040503050406030204" pitchFamily="18" charset="0"/>
                          </a:rPr>
                          <m:t>°</m:t>
                        </m:r>
                      </m:e>
                    </m:d>
                  </m:oMath>
                </a14:m>
                <a:endParaRPr lang="en-US" sz="3600" dirty="0"/>
              </a:p>
            </p:txBody>
          </p:sp>
        </mc:Choice>
        <mc:Fallback xmlns="">
          <p:sp>
            <p:nvSpPr>
              <p:cNvPr id="5" name="Content Placeholder 2">
                <a:extLst>
                  <a:ext uri="{FF2B5EF4-FFF2-40B4-BE49-F238E27FC236}">
                    <a16:creationId xmlns:a16="http://schemas.microsoft.com/office/drawing/2014/main" id="{BC638D09-B4D2-4ECD-88FB-04E8F9DACF56}"/>
                  </a:ext>
                </a:extLst>
              </p:cNvPr>
              <p:cNvSpPr txBox="1">
                <a:spLocks noRot="1" noChangeAspect="1" noMove="1" noResize="1" noEditPoints="1" noAdjustHandles="1" noChangeArrowheads="1" noChangeShapeType="1" noTextEdit="1"/>
              </p:cNvSpPr>
              <p:nvPr/>
            </p:nvSpPr>
            <p:spPr>
              <a:xfrm>
                <a:off x="6156961" y="1845732"/>
                <a:ext cx="4998720" cy="4291595"/>
              </a:xfrm>
              <a:prstGeom prst="rect">
                <a:avLst/>
              </a:prstGeom>
              <a:blipFill>
                <a:blip r:embed="rId3"/>
                <a:stretch>
                  <a:fillRect l="-3415" t="-3551"/>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E40200A0-A7F4-4554-865D-959FA99AA4FA}"/>
              </a:ext>
            </a:extLst>
          </p:cNvPr>
          <p:cNvCxnSpPr>
            <a:cxnSpLocks/>
            <a:stCxn id="2" idx="2"/>
          </p:cNvCxnSpPr>
          <p:nvPr/>
        </p:nvCxnSpPr>
        <p:spPr>
          <a:xfrm>
            <a:off x="6126480" y="1737360"/>
            <a:ext cx="0" cy="4624694"/>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0596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2F59F-0315-402C-A668-4A038BA682D6}"/>
              </a:ext>
            </a:extLst>
          </p:cNvPr>
          <p:cNvSpPr>
            <a:spLocks noGrp="1"/>
          </p:cNvSpPr>
          <p:nvPr>
            <p:ph type="title"/>
          </p:nvPr>
        </p:nvSpPr>
        <p:spPr/>
        <p:txBody>
          <a:bodyPr/>
          <a:lstStyle/>
          <a:p>
            <a:pPr algn="ctr"/>
            <a:r>
              <a:rPr lang="en-US" dirty="0"/>
              <a:t>Chapter 1</a:t>
            </a:r>
            <a:br>
              <a:rPr lang="en-US" dirty="0"/>
            </a:br>
            <a:r>
              <a:rPr lang="en-US" dirty="0"/>
              <a:t>End of Introduction</a:t>
            </a:r>
          </a:p>
        </p:txBody>
      </p:sp>
      <p:sp>
        <p:nvSpPr>
          <p:cNvPr id="3" name="Content Placeholder 2">
            <a:extLst>
              <a:ext uri="{FF2B5EF4-FFF2-40B4-BE49-F238E27FC236}">
                <a16:creationId xmlns:a16="http://schemas.microsoft.com/office/drawing/2014/main" id="{74E4AF7E-A95E-477F-BDE2-9C2CB7D6B25E}"/>
              </a:ext>
            </a:extLst>
          </p:cNvPr>
          <p:cNvSpPr>
            <a:spLocks noGrp="1"/>
          </p:cNvSpPr>
          <p:nvPr>
            <p:ph idx="1"/>
          </p:nvPr>
        </p:nvSpPr>
        <p:spPr>
          <a:xfrm>
            <a:off x="1097280" y="2084522"/>
            <a:ext cx="10058400" cy="3784572"/>
          </a:xfrm>
        </p:spPr>
        <p:txBody>
          <a:bodyPr>
            <a:normAutofit/>
          </a:bodyPr>
          <a:lstStyle/>
          <a:p>
            <a:pPr algn="ctr"/>
            <a:endParaRPr lang="en-US" sz="6600" dirty="0"/>
          </a:p>
          <a:p>
            <a:pPr marL="0" indent="0" algn="ctr">
              <a:buNone/>
            </a:pPr>
            <a:r>
              <a:rPr lang="en-US" sz="6600" dirty="0"/>
              <a:t>QUESTIONS?</a:t>
            </a:r>
          </a:p>
        </p:txBody>
      </p:sp>
    </p:spTree>
    <p:extLst>
      <p:ext uri="{BB962C8B-B14F-4D97-AF65-F5344CB8AC3E}">
        <p14:creationId xmlns:p14="http://schemas.microsoft.com/office/powerpoint/2010/main" val="86140199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97D6DF335A894D9FC8E888F85ED2A3" ma:contentTypeVersion="12" ma:contentTypeDescription="Create a new document." ma:contentTypeScope="" ma:versionID="06e9a80f57b5e7a8131021e4799536a3">
  <xsd:schema xmlns:xsd="http://www.w3.org/2001/XMLSchema" xmlns:xs="http://www.w3.org/2001/XMLSchema" xmlns:p="http://schemas.microsoft.com/office/2006/metadata/properties" xmlns:ns3="27638313-1e11-4999-9038-bfa2141b3777" xmlns:ns4="593646a3-f4b2-4797-891f-a58c41aec49e" targetNamespace="http://schemas.microsoft.com/office/2006/metadata/properties" ma:root="true" ma:fieldsID="27120e082fd76c320857246eee6cb03c" ns3:_="" ns4:_="">
    <xsd:import namespace="27638313-1e11-4999-9038-bfa2141b3777"/>
    <xsd:import namespace="593646a3-f4b2-4797-891f-a58c41aec49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LengthInSecond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638313-1e11-4999-9038-bfa2141b37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3646a3-f4b2-4797-891f-a58c41aec49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CDB3146-72E9-4768-81AC-65FA6F02FF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638313-1e11-4999-9038-bfa2141b3777"/>
    <ds:schemaRef ds:uri="593646a3-f4b2-4797-891f-a58c41aec4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78C98C7-66EF-48FE-A57E-52BFB2B4EAC2}">
  <ds:schemaRefs>
    <ds:schemaRef ds:uri="http://schemas.microsoft.com/sharepoint/v3/contenttype/forms"/>
  </ds:schemaRefs>
</ds:datastoreItem>
</file>

<file path=customXml/itemProps3.xml><?xml version="1.0" encoding="utf-8"?>
<ds:datastoreItem xmlns:ds="http://schemas.openxmlformats.org/officeDocument/2006/customXml" ds:itemID="{3A9750DA-E20F-48A6-B5C4-4586C4AB9BF6}">
  <ds:schemaRefs>
    <ds:schemaRef ds:uri="http://purl.org/dc/dcmitype/"/>
    <ds:schemaRef ds:uri="http://purl.org/dc/terms/"/>
    <ds:schemaRef ds:uri="http://schemas.microsoft.com/office/infopath/2007/PartnerControls"/>
    <ds:schemaRef ds:uri="http://schemas.microsoft.com/office/2006/documentManagement/types"/>
    <ds:schemaRef ds:uri="27638313-1e11-4999-9038-bfa2141b3777"/>
    <ds:schemaRef ds:uri="593646a3-f4b2-4797-891f-a58c41aec49e"/>
    <ds:schemaRef ds:uri="http://www.w3.org/XML/1998/namespace"/>
    <ds:schemaRef ds:uri="http://purl.org/dc/elements/1.1/"/>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Retrospect</Template>
  <TotalTime>1223</TotalTime>
  <Words>1543</Words>
  <Application>Microsoft Office PowerPoint</Application>
  <PresentationFormat>Widescreen</PresentationFormat>
  <Paragraphs>220</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Berlingske Sans</vt:lpstr>
      <vt:lpstr>Calibri</vt:lpstr>
      <vt:lpstr>Calibri Light</vt:lpstr>
      <vt:lpstr>Cambria Math</vt:lpstr>
      <vt:lpstr>Retrospect</vt:lpstr>
      <vt:lpstr>Mechanical Engineering Thermodynamics</vt:lpstr>
      <vt:lpstr>General Info</vt:lpstr>
      <vt:lpstr>Course Info</vt:lpstr>
      <vt:lpstr>Textbook Info</vt:lpstr>
      <vt:lpstr>Course Topics</vt:lpstr>
      <vt:lpstr>Grading Rubric</vt:lpstr>
      <vt:lpstr>Tentative Schedule</vt:lpstr>
      <vt:lpstr>Course Information</vt:lpstr>
      <vt:lpstr>Chapter 1  Introduction to Concepts and Definitions</vt:lpstr>
      <vt:lpstr>Chapter 1 Introduction to Concepts and Definitions</vt:lpstr>
      <vt:lpstr>Chapter 1 Introduction to Thermodynamic Systems</vt:lpstr>
      <vt:lpstr>Chapter 1 Introduction to System Properties</vt:lpstr>
      <vt:lpstr>Chapter 1 Introduction to System Properties</vt:lpstr>
      <vt:lpstr>Chapter 1 Thermodynamic Approaches</vt:lpstr>
      <vt:lpstr>Chapter 1 Thermodynamics Equilibrium</vt:lpstr>
      <vt:lpstr>Chapter 1 Units in Thermodynamics</vt:lpstr>
      <vt:lpstr>Chapter 1 Introduction to the Newton</vt:lpstr>
      <vt:lpstr>Chapter 1 Introduction to the Pound-Force</vt:lpstr>
      <vt:lpstr>Chapter 1 Introduction to Molecular Weight</vt:lpstr>
      <vt:lpstr>Chapter 1 Introduction to Specific Volume</vt:lpstr>
      <vt:lpstr>Chapter 1 Introduction to Pressure</vt:lpstr>
      <vt:lpstr>Chapter 1 Common Units of Pressure</vt:lpstr>
      <vt:lpstr>Chapter 1 Introduction To Temperature Conversion</vt:lpstr>
      <vt:lpstr>Chapter 1 End of Introduction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Mechanical Engineering Thermodynamics</dc:title>
  <dc:creator>Vaught, Jacob</dc:creator>
  <cp:lastModifiedBy>Vaught, Jacob</cp:lastModifiedBy>
  <cp:revision>13</cp:revision>
  <dcterms:created xsi:type="dcterms:W3CDTF">2022-03-17T16:16:03Z</dcterms:created>
  <dcterms:modified xsi:type="dcterms:W3CDTF">2023-05-07T16:17:06Z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0x0101008C97D6DF335A894D9FC8E888F85ED2A3</vt:lpwstr>
  </property>
</Properties>
</file>