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1EDAB-0336-25AB-12EF-3847BEBA24FE}" v="9" dt="2022-10-31T18:06:29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, Carl" userId="S::hernancg@email.sc.edu::c750ad34-86eb-4914-be2e-abb1dd3740ea" providerId="AD" clId="Web-{A451EDAB-0336-25AB-12EF-3847BEBA24FE}"/>
    <pc:docChg chg="delSld modSld">
      <pc:chgData name="Hernandez, Carl" userId="S::hernancg@email.sc.edu::c750ad34-86eb-4914-be2e-abb1dd3740ea" providerId="AD" clId="Web-{A451EDAB-0336-25AB-12EF-3847BEBA24FE}" dt="2022-10-31T18:06:29.838" v="8"/>
      <pc:docMkLst>
        <pc:docMk/>
      </pc:docMkLst>
      <pc:sldChg chg="modSp del">
        <pc:chgData name="Hernandez, Carl" userId="S::hernancg@email.sc.edu::c750ad34-86eb-4914-be2e-abb1dd3740ea" providerId="AD" clId="Web-{A451EDAB-0336-25AB-12EF-3847BEBA24FE}" dt="2022-10-31T18:06:29.838" v="8"/>
        <pc:sldMkLst>
          <pc:docMk/>
          <pc:sldMk cId="2319902110" sldId="263"/>
        </pc:sldMkLst>
        <pc:spChg chg="mod">
          <ac:chgData name="Hernandez, Carl" userId="S::hernancg@email.sc.edu::c750ad34-86eb-4914-be2e-abb1dd3740ea" providerId="AD" clId="Web-{A451EDAB-0336-25AB-12EF-3847BEBA24FE}" dt="2022-10-31T18:06:19.181" v="7" actId="20577"/>
          <ac:spMkLst>
            <pc:docMk/>
            <pc:sldMk cId="2319902110" sldId="263"/>
            <ac:spMk id="2" creationId="{ED73B46F-15DA-2D2D-654B-EB854CE42B6B}"/>
          </ac:spMkLst>
        </pc:spChg>
        <pc:spChg chg="mod">
          <ac:chgData name="Hernandez, Carl" userId="S::hernancg@email.sc.edu::c750ad34-86eb-4914-be2e-abb1dd3740ea" providerId="AD" clId="Web-{A451EDAB-0336-25AB-12EF-3847BEBA24FE}" dt="2022-10-31T18:06:10.821" v="0" actId="20577"/>
          <ac:spMkLst>
            <pc:docMk/>
            <pc:sldMk cId="2319902110" sldId="263"/>
            <ac:spMk id="3" creationId="{24547A8D-F2C9-5322-D70D-AFF793F8C09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6EC2-6B7A-8B8A-8182-49080211E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4206D-3208-5493-819A-934570E76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D10C-11F5-8FC6-E07B-0BF5568A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02367-EF43-15B9-38D7-CAFC744E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4898F-A4F0-886E-B225-E936C8CD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8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6C0E-EB4A-67F1-1ED3-45CA9555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CC65C-1FF8-FF30-1505-685EFC0F3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5FA86-D5BC-B1CA-DD23-E2E1AB27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CC062-4DFA-63BC-4666-543EAF13B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7DFE2-2E38-1BB3-91E5-0AA496E0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07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617A-7FCC-BCC0-86F6-A6B6F877A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63CAE-7222-E80B-A9E4-9323C3B8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D9337-DA13-8414-2DFE-A54E913A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87FF5-FFB2-D38B-A4B7-1989985B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48902-5E6C-C535-DB03-BDAFFADF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6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F3E1-9BD7-688E-44BC-D6A882B0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EFA02-A4A3-B8B6-5AAC-48E0AC344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B783E-5398-6083-72BE-FCA226A42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900B9-5174-27A0-C49C-89530E65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88429-D835-5C5D-8F06-AC989CE9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C7908-2955-1928-8383-2BC7826B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8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F0BC6-472D-E1A7-B9A7-EFC45E35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DB4A-FAFF-3805-1D97-4C5F83087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83660-7D7E-881D-9D6A-7D90D37B2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28E50-99A4-094B-7366-8E5F55C77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4D5A5-FE70-2907-22B8-CB7F6708E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8CA739-8FC2-0A66-B8F1-6CBF1CA8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15959C-340E-AF6B-0199-78D0A221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8154E9-D1AE-FF1E-C897-0DB2D664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9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36025-475F-CFEA-E98E-F50F3CCA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0655B-214C-B16A-2552-ADCD3963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1BF8A-7347-F690-8F84-DF695E22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36C21-9952-C64B-79FA-C7934913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6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EF3B0-EF66-3DD8-B259-040429A1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1DE82-A199-6016-EF7C-062F68F3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BF251-4CDE-A0DD-47FC-A28D1F36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2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70C7-F3FA-A8E9-8717-A862FFB4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D12F-1128-3344-FF7B-39D59B18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221CA-7820-C2BC-4587-EC107D4E5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61DFC-1015-4B29-B409-9DA16A92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1D742-4699-A4E5-27F2-104F79EC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1D0DC-1D55-C414-4E14-8B36820D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42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36CE-CE89-F853-2E2C-EB327793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47D77-936E-AB1F-299F-1DC14A701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00CE7-CEE2-2728-DACB-E0C3A076E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DAA13-CE70-95DF-D2DE-50CA9832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33236-8A32-5941-0F9A-2AF2A183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6C6AF-E1C7-7400-552E-D0DB1FD88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5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E991-C1C1-CF26-A2FF-0F14FD2C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48EAE-7D38-87E1-CFFE-5FBB62832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5BB43-2BD1-7EF3-E2C8-AE9BB735F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6D86E-3E92-5189-4078-D424A7F9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D3D1-BAA6-DE35-7E78-2C26EE38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3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62376-8A90-246E-9389-B02E5FF6B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79B73-EF97-0C5A-25BC-9CF0ACA8D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5CB59-AD0C-240F-6E96-C76AC774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E7435-00B9-3DCE-D4B0-D496A3C7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9CE7A-94E5-E568-0CB2-5C8D4C81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5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A84B1A-06F2-B852-157F-826D450D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8A6F8-D6E6-4643-604E-6F1FE0CAE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E4CAF-751D-00E4-8327-37C53EF4D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B23BC-66A3-4768-8EB3-4940B83B5809}" type="datetimeFigureOut">
              <a:rPr lang="en-US" smtClean="0"/>
              <a:t>10/31/2022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CF94-C339-FB05-EAF9-1B4BA18FF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C1B3B-72ED-9F97-FD4E-A54C6EF44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903CE-7413-424F-B886-10E2B0BA8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6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D83D-8A0B-6605-D404-93DFE3404F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Cone Top Design</a:t>
            </a:r>
            <a:br>
              <a:rPr lang="en-US"/>
            </a:br>
            <a:r>
              <a:rPr lang="en-US" sz="4400"/>
              <a:t>Carl Hernandez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42650-C66B-1AA2-2FCE-ED7B7AA1B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Utilizing Neodymium magnets and low-cost Microprocessors to develop practical products for use in road crew safety instruments for traffic cones.</a:t>
            </a:r>
          </a:p>
        </p:txBody>
      </p:sp>
    </p:spTree>
    <p:extLst>
      <p:ext uri="{BB962C8B-B14F-4D97-AF65-F5344CB8AC3E}">
        <p14:creationId xmlns:p14="http://schemas.microsoft.com/office/powerpoint/2010/main" val="53606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9506-BFEF-6885-C744-99A416C2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Cone designs</a:t>
            </a:r>
          </a:p>
        </p:txBody>
      </p:sp>
      <p:pic>
        <p:nvPicPr>
          <p:cNvPr id="5" name="Content Placeholder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F93D589C-0D86-339B-83C5-B6B654D53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" y="1474119"/>
            <a:ext cx="2857500" cy="2857500"/>
          </a:xfrm>
        </p:spPr>
      </p:pic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5E5C112B-B27A-5278-AD1B-4EC5E9852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61" y="1538538"/>
            <a:ext cx="2857500" cy="2857500"/>
          </a:xfrm>
          <a:prstGeom prst="rect">
            <a:avLst/>
          </a:prstGeom>
        </p:spPr>
      </p:pic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E78C9176-9955-8D82-0255-DA6A99CE9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050" y="1474119"/>
            <a:ext cx="2857500" cy="2857500"/>
          </a:xfrm>
          <a:prstGeom prst="rect">
            <a:avLst/>
          </a:prstGeom>
        </p:spPr>
      </p:pic>
      <p:pic>
        <p:nvPicPr>
          <p:cNvPr id="11" name="Picture 10" descr="A picture containing indoor, vessel, bottle, black&#10;&#10;Description automatically generated">
            <a:extLst>
              <a:ext uri="{FF2B5EF4-FFF2-40B4-BE49-F238E27FC236}">
                <a16:creationId xmlns:a16="http://schemas.microsoft.com/office/drawing/2014/main" id="{AD7072A0-3DB8-5149-2E8D-EFA0D212C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476" y="1474119"/>
            <a:ext cx="894553" cy="2857500"/>
          </a:xfrm>
          <a:prstGeom prst="rect">
            <a:avLst/>
          </a:prstGeom>
        </p:spPr>
      </p:pic>
      <p:pic>
        <p:nvPicPr>
          <p:cNvPr id="13" name="Picture 12" descr="A picture containing cake, wedding, cut&#10;&#10;Description automatically generated">
            <a:extLst>
              <a:ext uri="{FF2B5EF4-FFF2-40B4-BE49-F238E27FC236}">
                <a16:creationId xmlns:a16="http://schemas.microsoft.com/office/drawing/2014/main" id="{0698097A-90CC-6489-4DB7-C2A44BE29A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278" y="1474119"/>
            <a:ext cx="1515868" cy="2857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310512-3F6B-ADAF-F62E-E6EF7EBFE4AD}"/>
              </a:ext>
            </a:extLst>
          </p:cNvPr>
          <p:cNvSpPr txBox="1"/>
          <p:nvPr/>
        </p:nvSpPr>
        <p:spPr>
          <a:xfrm>
            <a:off x="2231929" y="5656587"/>
            <a:ext cx="7728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They all have holes for mounting lights!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91CE42-6C58-5B0D-6E79-7A674B5F1513}"/>
              </a:ext>
            </a:extLst>
          </p:cNvPr>
          <p:cNvCxnSpPr/>
          <p:nvPr/>
        </p:nvCxnSpPr>
        <p:spPr>
          <a:xfrm flipV="1">
            <a:off x="8820150" y="1819275"/>
            <a:ext cx="1676400" cy="3933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B249BB-A899-11DA-0D04-5DC3379836A8}"/>
              </a:ext>
            </a:extLst>
          </p:cNvPr>
          <p:cNvCxnSpPr>
            <a:cxnSpLocks/>
          </p:cNvCxnSpPr>
          <p:nvPr/>
        </p:nvCxnSpPr>
        <p:spPr>
          <a:xfrm flipV="1">
            <a:off x="6825310" y="1604211"/>
            <a:ext cx="1211785" cy="42110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DEF9D3-A0F8-AE3A-EC76-C946A6A5E665}"/>
              </a:ext>
            </a:extLst>
          </p:cNvPr>
          <p:cNvCxnSpPr/>
          <p:nvPr/>
        </p:nvCxnSpPr>
        <p:spPr>
          <a:xfrm flipH="1" flipV="1">
            <a:off x="6002008" y="1819275"/>
            <a:ext cx="2699128" cy="3901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3F829F-D29D-BFAC-0007-B6DDFBFBD979}"/>
              </a:ext>
            </a:extLst>
          </p:cNvPr>
          <p:cNvCxnSpPr/>
          <p:nvPr/>
        </p:nvCxnSpPr>
        <p:spPr>
          <a:xfrm flipH="1" flipV="1">
            <a:off x="4014527" y="1582404"/>
            <a:ext cx="3518601" cy="42328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9AE862-8287-E3DA-0592-6F60D91CDB66}"/>
              </a:ext>
            </a:extLst>
          </p:cNvPr>
          <p:cNvCxnSpPr>
            <a:cxnSpLocks/>
          </p:cNvCxnSpPr>
          <p:nvPr/>
        </p:nvCxnSpPr>
        <p:spPr>
          <a:xfrm flipH="1" flipV="1">
            <a:off x="1430557" y="1917038"/>
            <a:ext cx="2046765" cy="3739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46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CA42-0CB5-CD49-D787-BC67E684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Designs to reuse.</a:t>
            </a:r>
            <a:br>
              <a:rPr lang="en-US"/>
            </a:br>
            <a:r>
              <a:rPr lang="en-US" sz="2000"/>
              <a:t>Don’t reinvent the wheel.</a:t>
            </a:r>
            <a:endParaRPr lang="en-US"/>
          </a:p>
        </p:txBody>
      </p:sp>
      <p:pic>
        <p:nvPicPr>
          <p:cNvPr id="5" name="Content Placeholder 4" descr="A close-up of a medal&#10;&#10;Description automatically generated with low confidence">
            <a:extLst>
              <a:ext uri="{FF2B5EF4-FFF2-40B4-BE49-F238E27FC236}">
                <a16:creationId xmlns:a16="http://schemas.microsoft.com/office/drawing/2014/main" id="{759F6432-60AA-996A-0F91-FAFA1D022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6" y="1524000"/>
            <a:ext cx="3810000" cy="3810000"/>
          </a:xfrm>
        </p:spPr>
      </p:pic>
      <p:pic>
        <p:nvPicPr>
          <p:cNvPr id="7" name="Picture 6" descr="A picture containing red, yellow&#10;&#10;Description automatically generated">
            <a:extLst>
              <a:ext uri="{FF2B5EF4-FFF2-40B4-BE49-F238E27FC236}">
                <a16:creationId xmlns:a16="http://schemas.microsoft.com/office/drawing/2014/main" id="{F3AB0C7A-DBD1-ABFC-BAFC-4B57F83EB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25" y="1524000"/>
            <a:ext cx="3810000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01D64E-6156-E348-7E4A-D33EF4DBB05E}"/>
              </a:ext>
            </a:extLst>
          </p:cNvPr>
          <p:cNvSpPr txBox="1"/>
          <p:nvPr/>
        </p:nvSpPr>
        <p:spPr>
          <a:xfrm>
            <a:off x="2222500" y="5321300"/>
            <a:ext cx="774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Proposal: Reuse existing designs to integrate with our modular design to reduce number of man-hours spent on project </a:t>
            </a:r>
          </a:p>
        </p:txBody>
      </p:sp>
    </p:spTree>
    <p:extLst>
      <p:ext uri="{BB962C8B-B14F-4D97-AF65-F5344CB8AC3E}">
        <p14:creationId xmlns:p14="http://schemas.microsoft.com/office/powerpoint/2010/main" val="166854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F070-A71D-61B7-1C92-965717E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For Regular Cones, use similar existing designs.</a:t>
            </a:r>
          </a:p>
        </p:txBody>
      </p:sp>
      <p:pic>
        <p:nvPicPr>
          <p:cNvPr id="5" name="Content Placeholder 4" descr="A fire hydrant spraying water&#10;&#10;Description automatically generated with low confidence">
            <a:extLst>
              <a:ext uri="{FF2B5EF4-FFF2-40B4-BE49-F238E27FC236}">
                <a16:creationId xmlns:a16="http://schemas.microsoft.com/office/drawing/2014/main" id="{A379F65E-357D-7157-A84B-46D968308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800" y="1422400"/>
            <a:ext cx="2988552" cy="4588874"/>
          </a:xfrm>
        </p:spPr>
      </p:pic>
      <p:pic>
        <p:nvPicPr>
          <p:cNvPr id="7" name="Picture 6" descr="A picture containing bottle, white, vessel&#10;&#10;Description automatically generated">
            <a:extLst>
              <a:ext uri="{FF2B5EF4-FFF2-40B4-BE49-F238E27FC236}">
                <a16:creationId xmlns:a16="http://schemas.microsoft.com/office/drawing/2014/main" id="{A7C6ED8B-928E-114D-8683-34CAFE968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407" y="1460500"/>
            <a:ext cx="2284698" cy="5032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01BCCF-E01F-4D8E-FA20-7F76159EDDC8}"/>
              </a:ext>
            </a:extLst>
          </p:cNvPr>
          <p:cNvSpPr txBox="1"/>
          <p:nvPr/>
        </p:nvSpPr>
        <p:spPr>
          <a:xfrm>
            <a:off x="838201" y="1460500"/>
            <a:ext cx="360044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Using the slightly angled cylindrical design is beneficial since it is already being produced, and thus, would be easier to mass produce.</a:t>
            </a:r>
          </a:p>
        </p:txBody>
      </p:sp>
    </p:spTree>
    <p:extLst>
      <p:ext uri="{BB962C8B-B14F-4D97-AF65-F5344CB8AC3E}">
        <p14:creationId xmlns:p14="http://schemas.microsoft.com/office/powerpoint/2010/main" val="4018318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CB7B-14A2-8403-FF97-52E03CFD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Actual product Concept: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F29A7-8A4B-5BBE-FC0A-E4C32E04C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57500" cy="4351338"/>
          </a:xfrm>
        </p:spPr>
        <p:txBody>
          <a:bodyPr>
            <a:normAutofit/>
          </a:bodyPr>
          <a:lstStyle/>
          <a:p>
            <a:r>
              <a:rPr lang="en-US"/>
              <a:t>Charging mechanism.</a:t>
            </a:r>
          </a:p>
          <a:p>
            <a:r>
              <a:rPr lang="en-US"/>
              <a:t>Use magnet to hold in place while charging</a:t>
            </a:r>
          </a:p>
          <a:p>
            <a:r>
              <a:rPr lang="en-US"/>
              <a:t>Magnet is also used to attach to modular designs for different cone types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54685-6BCE-AF80-7B7B-6A0101A95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1378336"/>
            <a:ext cx="8496300" cy="4696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5DDB03-A4C4-EF7C-15F7-9977B9BB7C5A}"/>
              </a:ext>
            </a:extLst>
          </p:cNvPr>
          <p:cNvSpPr txBox="1"/>
          <p:nvPr/>
        </p:nvSpPr>
        <p:spPr>
          <a:xfrm>
            <a:off x="3677444" y="3678128"/>
            <a:ext cx="152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Magnet Glued in place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B6ABE-EEEA-7A43-729F-06C8A341662A}"/>
              </a:ext>
            </a:extLst>
          </p:cNvPr>
          <p:cNvSpPr txBox="1"/>
          <p:nvPr/>
        </p:nvSpPr>
        <p:spPr>
          <a:xfrm>
            <a:off x="5205413" y="2497677"/>
            <a:ext cx="1781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Charging block that is in base station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7BF83-1D97-EE19-7794-F4A9E90DAB69}"/>
              </a:ext>
            </a:extLst>
          </p:cNvPr>
          <p:cNvSpPr txBox="1"/>
          <p:nvPr/>
        </p:nvSpPr>
        <p:spPr>
          <a:xfrm>
            <a:off x="7600497" y="1179294"/>
            <a:ext cx="3340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Base of Cone Topper Light System</a:t>
            </a:r>
          </a:p>
          <a:p>
            <a:r>
              <a:rPr lang="en-US"/>
              <a:t>Magnet will also be in this part. </a:t>
            </a:r>
          </a:p>
        </p:txBody>
      </p:sp>
    </p:spTree>
    <p:extLst>
      <p:ext uri="{BB962C8B-B14F-4D97-AF65-F5344CB8AC3E}">
        <p14:creationId xmlns:p14="http://schemas.microsoft.com/office/powerpoint/2010/main" val="144783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5FEA-D1A4-84E9-206C-71C6309C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Whole Cone Topper Concept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66CC2A-EECB-0D60-17BA-98A5A26900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2475" y="1527767"/>
            <a:ext cx="3819525" cy="533023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3BA4B-7B07-D1B1-F99B-3D05DFBB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37" y="1523597"/>
            <a:ext cx="4168737" cy="5330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3D4339-434B-546D-E82A-FD1C78AAE6DF}"/>
              </a:ext>
            </a:extLst>
          </p:cNvPr>
          <p:cNvSpPr txBox="1"/>
          <p:nvPr/>
        </p:nvSpPr>
        <p:spPr>
          <a:xfrm>
            <a:off x="962025" y="2152650"/>
            <a:ext cx="26860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cone would have an upward facing LED with a mirrored surface on the upper side to create the illusion of 360-degree light.</a:t>
            </a:r>
          </a:p>
          <a:p>
            <a:endParaRPr lang="en-US"/>
          </a:p>
          <a:p>
            <a:r>
              <a:rPr lang="en-US"/>
              <a:t>The final design can be change to have less space between the mirror and the LED, but in the </a:t>
            </a:r>
            <a:r>
              <a:rPr lang="en-US" b="1"/>
              <a:t>modeled</a:t>
            </a:r>
            <a:r>
              <a:rPr lang="en-US"/>
              <a:t> design, there is about 1.4 inches of z-height to add electronics, with a radius of 2 inches.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9C5E43-95C4-AE74-63B4-F16AA4DB5BC1}"/>
              </a:ext>
            </a:extLst>
          </p:cNvPr>
          <p:cNvSpPr txBox="1"/>
          <p:nvPr/>
        </p:nvSpPr>
        <p:spPr>
          <a:xfrm>
            <a:off x="7454900" y="284916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B9D916-0A32-6305-E50B-C52A73FC30EB}"/>
              </a:ext>
            </a:extLst>
          </p:cNvPr>
          <p:cNvCxnSpPr>
            <a:stCxn id="9" idx="2"/>
          </p:cNvCxnSpPr>
          <p:nvPr/>
        </p:nvCxnSpPr>
        <p:spPr>
          <a:xfrm flipH="1">
            <a:off x="6248400" y="3218492"/>
            <a:ext cx="1475164" cy="9743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70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41C34-2475-6B3D-6ACF-7CF9CCDE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Charging/Sound 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33DAB7-5052-1C25-3FDD-F2587B7D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9651" y="1690688"/>
            <a:ext cx="7329412" cy="44824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529DBF-1FE1-E185-8F7A-C9DAF86D0D4A}"/>
              </a:ext>
            </a:extLst>
          </p:cNvPr>
          <p:cNvSpPr txBox="1"/>
          <p:nvPr/>
        </p:nvSpPr>
        <p:spPr>
          <a:xfrm>
            <a:off x="923925" y="1971675"/>
            <a:ext cx="40766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Total dimensions are 8*24*12 inches.</a:t>
            </a:r>
          </a:p>
          <a:p>
            <a:r>
              <a:rPr lang="en-US" sz="2400"/>
              <a:t>The design shown here would have space for charging 10 cone-toppers, and a rectangular space of 8*24*5 inches would be allocated to electronics, including battery and speaker.</a:t>
            </a:r>
          </a:p>
        </p:txBody>
      </p:sp>
    </p:spTree>
    <p:extLst>
      <p:ext uri="{BB962C8B-B14F-4D97-AF65-F5344CB8AC3E}">
        <p14:creationId xmlns:p14="http://schemas.microsoft.com/office/powerpoint/2010/main" val="2857974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4" ma:contentTypeDescription="Create a new document." ma:contentTypeScope="" ma:versionID="a963d2c7a0eec09b66bf49104df9eba6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7340c06ba023bd0825392bccb83b14cd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E0EEA2-709D-4E5B-8738-71C0232959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DDBA54-F187-4B6F-A2C8-83B0AF6E148C}">
  <ds:schemaRefs>
    <ds:schemaRef ds:uri="27638313-1e11-4999-9038-bfa2141b3777"/>
    <ds:schemaRef ds:uri="593646a3-f4b2-4797-891f-a58c41aec4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1938F5B-65C0-418B-B64E-06512FFE00A2}">
  <ds:schemaRefs>
    <ds:schemaRef ds:uri="27638313-1e11-4999-9038-bfa2141b3777"/>
    <ds:schemaRef ds:uri="593646a3-f4b2-4797-891f-a58c41aec4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Cone Top Design Carl Hernandez</vt:lpstr>
      <vt:lpstr>Cone designs</vt:lpstr>
      <vt:lpstr>Current Designs to reuse. Don’t reinvent the wheel.</vt:lpstr>
      <vt:lpstr>For Regular Cones, use similar existing designs.</vt:lpstr>
      <vt:lpstr>Actual product Concept:</vt:lpstr>
      <vt:lpstr>Whole Cone Topper Concept</vt:lpstr>
      <vt:lpstr>Charging/Sound 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Cone Top Design Carl Hernandez</dc:title>
  <dc:creator>Vaught, Jacob</dc:creator>
  <cp:revision>1</cp:revision>
  <dcterms:created xsi:type="dcterms:W3CDTF">2022-10-30T01:06:50Z</dcterms:created>
  <dcterms:modified xsi:type="dcterms:W3CDTF">2022-10-31T18:06:58Z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