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5" r:id="rId4"/>
  </p:sldMasterIdLst>
  <p:notesMasterIdLst>
    <p:notesMasterId r:id="rId60"/>
  </p:notesMasterIdLst>
  <p:sldIdLst>
    <p:sldId id="256" r:id="rId5"/>
    <p:sldId id="305" r:id="rId6"/>
    <p:sldId id="259" r:id="rId7"/>
    <p:sldId id="304" r:id="rId8"/>
    <p:sldId id="297" r:id="rId9"/>
    <p:sldId id="298" r:id="rId10"/>
    <p:sldId id="260" r:id="rId11"/>
    <p:sldId id="258" r:id="rId12"/>
    <p:sldId id="262" r:id="rId13"/>
    <p:sldId id="301" r:id="rId14"/>
    <p:sldId id="302" r:id="rId15"/>
    <p:sldId id="309" r:id="rId16"/>
    <p:sldId id="321" r:id="rId17"/>
    <p:sldId id="303" r:id="rId18"/>
    <p:sldId id="310" r:id="rId19"/>
    <p:sldId id="308" r:id="rId20"/>
    <p:sldId id="307" r:id="rId21"/>
    <p:sldId id="312" r:id="rId22"/>
    <p:sldId id="263" r:id="rId23"/>
    <p:sldId id="291" r:id="rId24"/>
    <p:sldId id="264" r:id="rId25"/>
    <p:sldId id="271" r:id="rId26"/>
    <p:sldId id="265" r:id="rId27"/>
    <p:sldId id="266" r:id="rId28"/>
    <p:sldId id="318" r:id="rId29"/>
    <p:sldId id="313" r:id="rId30"/>
    <p:sldId id="314" r:id="rId31"/>
    <p:sldId id="315" r:id="rId32"/>
    <p:sldId id="316" r:id="rId33"/>
    <p:sldId id="317" r:id="rId34"/>
    <p:sldId id="320" r:id="rId35"/>
    <p:sldId id="319" r:id="rId36"/>
    <p:sldId id="322" r:id="rId37"/>
    <p:sldId id="267" r:id="rId38"/>
    <p:sldId id="292" r:id="rId39"/>
    <p:sldId id="268" r:id="rId40"/>
    <p:sldId id="272" r:id="rId41"/>
    <p:sldId id="269" r:id="rId42"/>
    <p:sldId id="270" r:id="rId43"/>
    <p:sldId id="273" r:id="rId44"/>
    <p:sldId id="293" r:id="rId45"/>
    <p:sldId id="274" r:id="rId46"/>
    <p:sldId id="278" r:id="rId47"/>
    <p:sldId id="300" r:id="rId48"/>
    <p:sldId id="287" r:id="rId49"/>
    <p:sldId id="288" r:id="rId50"/>
    <p:sldId id="295" r:id="rId51"/>
    <p:sldId id="289" r:id="rId52"/>
    <p:sldId id="277" r:id="rId53"/>
    <p:sldId id="299" r:id="rId54"/>
    <p:sldId id="283" r:id="rId55"/>
    <p:sldId id="286" r:id="rId56"/>
    <p:sldId id="296" r:id="rId57"/>
    <p:sldId id="284" r:id="rId58"/>
    <p:sldId id="290"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B35413-C539-43D6-AA29-2DD5AD8421AA}" v="21" dt="2023-12-14T03:46:18.827"/>
    <p1510:client id="{88260AAC-E19C-4ED9-8AC7-C83DD231571E}" vWet="2" dt="2023-12-14T01:38:36.530"/>
    <p1510:client id="{D3E2DCA0-EB89-97ED-205A-601F2F18A103}" v="7" dt="2023-12-14T01:38:39.8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ught, Jacob" userId="3948bc58-7b81-44a4-9cf0-22ebac0213b4" providerId="ADAL" clId="{18B35413-C539-43D6-AA29-2DD5AD8421AA}"/>
    <pc:docChg chg="undo custSel modSld">
      <pc:chgData name="Vaught, Jacob" userId="3948bc58-7b81-44a4-9cf0-22ebac0213b4" providerId="ADAL" clId="{18B35413-C539-43D6-AA29-2DD5AD8421AA}" dt="2023-12-14T03:46:18.827" v="8" actId="14100"/>
      <pc:docMkLst>
        <pc:docMk/>
      </pc:docMkLst>
      <pc:sldChg chg="modSp mod">
        <pc:chgData name="Vaught, Jacob" userId="3948bc58-7b81-44a4-9cf0-22ebac0213b4" providerId="ADAL" clId="{18B35413-C539-43D6-AA29-2DD5AD8421AA}" dt="2023-12-14T03:46:18.827" v="8" actId="14100"/>
        <pc:sldMkLst>
          <pc:docMk/>
          <pc:sldMk cId="1514904147" sldId="315"/>
        </pc:sldMkLst>
        <pc:picChg chg="mod">
          <ac:chgData name="Vaught, Jacob" userId="3948bc58-7b81-44a4-9cf0-22ebac0213b4" providerId="ADAL" clId="{18B35413-C539-43D6-AA29-2DD5AD8421AA}" dt="2023-12-14T03:46:18.827" v="8" actId="14100"/>
          <ac:picMkLst>
            <pc:docMk/>
            <pc:sldMk cId="1514904147" sldId="315"/>
            <ac:picMk id="6" creationId="{345F8A2A-2004-A4CD-6D2D-81D2FE75AF33}"/>
          </ac:picMkLst>
        </pc:picChg>
      </pc:sldChg>
      <pc:sldChg chg="modSp mod">
        <pc:chgData name="Vaught, Jacob" userId="3948bc58-7b81-44a4-9cf0-22ebac0213b4" providerId="ADAL" clId="{18B35413-C539-43D6-AA29-2DD5AD8421AA}" dt="2023-12-14T02:49:38.916" v="7" actId="1076"/>
        <pc:sldMkLst>
          <pc:docMk/>
          <pc:sldMk cId="3614853819" sldId="319"/>
        </pc:sldMkLst>
        <pc:picChg chg="mod">
          <ac:chgData name="Vaught, Jacob" userId="3948bc58-7b81-44a4-9cf0-22ebac0213b4" providerId="ADAL" clId="{18B35413-C539-43D6-AA29-2DD5AD8421AA}" dt="2023-12-14T02:49:38.916" v="7" actId="1076"/>
          <ac:picMkLst>
            <pc:docMk/>
            <pc:sldMk cId="3614853819" sldId="319"/>
            <ac:picMk id="5" creationId="{C3C72F41-C35C-2A84-6E1F-DDEE21FEFF99}"/>
          </ac:picMkLst>
        </pc:picChg>
        <pc:picChg chg="mod">
          <ac:chgData name="Vaught, Jacob" userId="3948bc58-7b81-44a4-9cf0-22ebac0213b4" providerId="ADAL" clId="{18B35413-C539-43D6-AA29-2DD5AD8421AA}" dt="2023-12-14T02:49:35.219" v="5" actId="1076"/>
          <ac:picMkLst>
            <pc:docMk/>
            <pc:sldMk cId="3614853819" sldId="319"/>
            <ac:picMk id="7" creationId="{57480662-B869-2FD9-69C5-35D6D8780055}"/>
          </ac:picMkLst>
        </pc:picChg>
      </pc:sldChg>
      <pc:sldChg chg="modSp mod">
        <pc:chgData name="Vaught, Jacob" userId="3948bc58-7b81-44a4-9cf0-22ebac0213b4" providerId="ADAL" clId="{18B35413-C539-43D6-AA29-2DD5AD8421AA}" dt="2023-12-14T02:49:28.488" v="3" actId="14100"/>
        <pc:sldMkLst>
          <pc:docMk/>
          <pc:sldMk cId="3901918431" sldId="322"/>
        </pc:sldMkLst>
        <pc:picChg chg="mod">
          <ac:chgData name="Vaught, Jacob" userId="3948bc58-7b81-44a4-9cf0-22ebac0213b4" providerId="ADAL" clId="{18B35413-C539-43D6-AA29-2DD5AD8421AA}" dt="2023-12-14T02:49:28.488" v="3" actId="14100"/>
          <ac:picMkLst>
            <pc:docMk/>
            <pc:sldMk cId="3901918431" sldId="322"/>
            <ac:picMk id="7" creationId="{134F1461-3A0F-2E69-6DBA-D24F54455725}"/>
          </ac:picMkLst>
        </pc:picChg>
      </pc:sldChg>
    </pc:docChg>
  </pc:docChgLst>
  <pc:docChgLst>
    <pc:chgData name="George, Nicholas" userId="S::ng22@email.sc.edu::f539dde7-48be-40af-a738-95edb4618294" providerId="AD" clId="Web-{D3E2DCA0-EB89-97ED-205A-601F2F18A103}"/>
    <pc:docChg chg="modSld">
      <pc:chgData name="George, Nicholas" userId="S::ng22@email.sc.edu::f539dde7-48be-40af-a738-95edb4618294" providerId="AD" clId="Web-{D3E2DCA0-EB89-97ED-205A-601F2F18A103}" dt="2023-12-14T01:38:39.876" v="6"/>
      <pc:docMkLst>
        <pc:docMk/>
      </pc:docMkLst>
      <pc:sldChg chg="addSp delSp modSp mod setBg">
        <pc:chgData name="George, Nicholas" userId="S::ng22@email.sc.edu::f539dde7-48be-40af-a738-95edb4618294" providerId="AD" clId="Web-{D3E2DCA0-EB89-97ED-205A-601F2F18A103}" dt="2023-12-14T01:38:39.876" v="6"/>
        <pc:sldMkLst>
          <pc:docMk/>
          <pc:sldMk cId="3901918431" sldId="322"/>
        </pc:sldMkLst>
        <pc:picChg chg="add del mod">
          <ac:chgData name="George, Nicholas" userId="S::ng22@email.sc.edu::f539dde7-48be-40af-a738-95edb4618294" providerId="AD" clId="Web-{D3E2DCA0-EB89-97ED-205A-601F2F18A103}" dt="2023-12-14T01:38:39.876" v="6"/>
          <ac:picMkLst>
            <pc:docMk/>
            <pc:sldMk cId="3901918431" sldId="322"/>
            <ac:picMk id="5" creationId="{B626622F-7C49-897F-EDB7-E5F425B08597}"/>
          </ac:picMkLst>
        </pc:picChg>
        <pc:picChg chg="mod">
          <ac:chgData name="George, Nicholas" userId="S::ng22@email.sc.edu::f539dde7-48be-40af-a738-95edb4618294" providerId="AD" clId="Web-{D3E2DCA0-EB89-97ED-205A-601F2F18A103}" dt="2023-12-14T01:31:53.175" v="2" actId="14100"/>
          <ac:picMkLst>
            <pc:docMk/>
            <pc:sldMk cId="3901918431" sldId="322"/>
            <ac:picMk id="6" creationId="{66558BFB-02E7-A0BB-0A06-04A2E58AD389}"/>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97A24B3-131C-4C6C-909C-E7C1057C119F}"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191B6DD1-C88D-40D5-A11A-790A55528954}">
      <dgm:prSet/>
      <dgm:spPr/>
      <dgm:t>
        <a:bodyPr/>
        <a:lstStyle/>
        <a:p>
          <a:r>
            <a:rPr lang="en-US" b="1" u="sng"/>
            <a:t>Real-Time Embedded Control:</a:t>
          </a:r>
          <a:r>
            <a:rPr lang="en-US"/>
            <a:t> Implementation of sensor inputs and control outputs in a high-speed, real-time embedded control environment.</a:t>
          </a:r>
        </a:p>
      </dgm:t>
    </dgm:pt>
    <dgm:pt modelId="{63881CBF-DACC-472A-BEB0-295B37B6AABE}" type="parTrans" cxnId="{D6A61229-4F9E-4B45-B2C7-205D30DA6979}">
      <dgm:prSet/>
      <dgm:spPr/>
      <dgm:t>
        <a:bodyPr/>
        <a:lstStyle/>
        <a:p>
          <a:endParaRPr lang="en-US"/>
        </a:p>
      </dgm:t>
    </dgm:pt>
    <dgm:pt modelId="{F354A89A-FC06-42C4-8CEF-7D0CAFA6B6E3}" type="sibTrans" cxnId="{D6A61229-4F9E-4B45-B2C7-205D30DA6979}">
      <dgm:prSet/>
      <dgm:spPr/>
      <dgm:t>
        <a:bodyPr/>
        <a:lstStyle/>
        <a:p>
          <a:endParaRPr lang="en-US"/>
        </a:p>
      </dgm:t>
    </dgm:pt>
    <dgm:pt modelId="{D76B931F-768B-4E7B-BDCE-BF484E226DC6}">
      <dgm:prSet/>
      <dgm:spPr/>
      <dgm:t>
        <a:bodyPr/>
        <a:lstStyle/>
        <a:p>
          <a:r>
            <a:rPr lang="en-US" b="1" u="sng"/>
            <a:t>Mechatronic System Modeling:</a:t>
          </a:r>
          <a:r>
            <a:rPr lang="en-US"/>
            <a:t> Derivation and modeling of the transfer function for the car's mechatronic systems.</a:t>
          </a:r>
        </a:p>
      </dgm:t>
    </dgm:pt>
    <dgm:pt modelId="{9E5634CF-D74D-40B8-B3FF-52554271771C}" type="parTrans" cxnId="{23FC6B97-204D-4B1A-97BF-C5DF7AC1AC91}">
      <dgm:prSet/>
      <dgm:spPr/>
      <dgm:t>
        <a:bodyPr/>
        <a:lstStyle/>
        <a:p>
          <a:endParaRPr lang="en-US"/>
        </a:p>
      </dgm:t>
    </dgm:pt>
    <dgm:pt modelId="{FA1D1512-027E-47D9-9169-CC4FBDBB42E6}" type="sibTrans" cxnId="{23FC6B97-204D-4B1A-97BF-C5DF7AC1AC91}">
      <dgm:prSet/>
      <dgm:spPr/>
      <dgm:t>
        <a:bodyPr/>
        <a:lstStyle/>
        <a:p>
          <a:endParaRPr lang="en-US"/>
        </a:p>
      </dgm:t>
    </dgm:pt>
    <dgm:pt modelId="{2FDFEB44-0C07-45EC-A0F4-186D47D8EE12}">
      <dgm:prSet/>
      <dgm:spPr/>
      <dgm:t>
        <a:bodyPr/>
        <a:lstStyle/>
        <a:p>
          <a:r>
            <a:rPr lang="en-US" b="1" u="sng"/>
            <a:t>PID Controller Design and Analysis:</a:t>
          </a:r>
          <a:r>
            <a:rPr lang="en-US"/>
            <a:t> Utilizing a transfer function approach for the design and analysis of a PID controller, ensuring effective system regulation and response.</a:t>
          </a:r>
        </a:p>
      </dgm:t>
    </dgm:pt>
    <dgm:pt modelId="{5EE0DA14-C933-48B1-92A3-1B473306F1B1}" type="parTrans" cxnId="{3B024C00-879C-44BF-8911-2BE6A977C48E}">
      <dgm:prSet/>
      <dgm:spPr/>
      <dgm:t>
        <a:bodyPr/>
        <a:lstStyle/>
        <a:p>
          <a:endParaRPr lang="en-US"/>
        </a:p>
      </dgm:t>
    </dgm:pt>
    <dgm:pt modelId="{673D0F0A-FD5D-4AC0-8121-B77BA730E03D}" type="sibTrans" cxnId="{3B024C00-879C-44BF-8911-2BE6A977C48E}">
      <dgm:prSet/>
      <dgm:spPr/>
      <dgm:t>
        <a:bodyPr/>
        <a:lstStyle/>
        <a:p>
          <a:endParaRPr lang="en-US"/>
        </a:p>
      </dgm:t>
    </dgm:pt>
    <dgm:pt modelId="{94F2F67E-4262-4119-AF87-019C5CAF9262}">
      <dgm:prSet/>
      <dgm:spPr/>
      <dgm:t>
        <a:bodyPr/>
        <a:lstStyle/>
        <a:p>
          <a:r>
            <a:rPr lang="en-US" b="1" u="sng"/>
            <a:t>Embedded Programming:</a:t>
          </a:r>
          <a:r>
            <a:rPr lang="en-US"/>
            <a:t> Development and programming of a time-critical application on an embedded controller using C/C++ language, focusing on efficiency and reliability.</a:t>
          </a:r>
        </a:p>
      </dgm:t>
    </dgm:pt>
    <dgm:pt modelId="{4E437DF6-7435-45B9-88D3-3D00E78E6655}" type="parTrans" cxnId="{C59760A3-AB71-4E6D-A354-7DAE6E8801D9}">
      <dgm:prSet/>
      <dgm:spPr/>
      <dgm:t>
        <a:bodyPr/>
        <a:lstStyle/>
        <a:p>
          <a:endParaRPr lang="en-US"/>
        </a:p>
      </dgm:t>
    </dgm:pt>
    <dgm:pt modelId="{A321A7B3-0B20-4F99-9560-3CF2B69D19DC}" type="sibTrans" cxnId="{C59760A3-AB71-4E6D-A354-7DAE6E8801D9}">
      <dgm:prSet/>
      <dgm:spPr/>
      <dgm:t>
        <a:bodyPr/>
        <a:lstStyle/>
        <a:p>
          <a:endParaRPr lang="en-US"/>
        </a:p>
      </dgm:t>
    </dgm:pt>
    <dgm:pt modelId="{B5E1C811-4072-4EFF-8946-4542917B7F98}">
      <dgm:prSet/>
      <dgm:spPr/>
      <dgm:t>
        <a:bodyPr/>
        <a:lstStyle/>
        <a:p>
          <a:r>
            <a:rPr lang="en-US" b="1" u="sng"/>
            <a:t>Matlab/Simulink Integration:</a:t>
          </a:r>
          <a:r>
            <a:rPr lang="en-US"/>
            <a:t> Application of Matlab/Simulink for aiding in microcontroller programming, enhancing the control system’s design and simulation process.</a:t>
          </a:r>
        </a:p>
      </dgm:t>
    </dgm:pt>
    <dgm:pt modelId="{6B14651C-C227-4AE1-8FCA-5796DEA71641}" type="parTrans" cxnId="{90B4BB04-0CE9-4930-BC60-1FD9E40A506B}">
      <dgm:prSet/>
      <dgm:spPr/>
      <dgm:t>
        <a:bodyPr/>
        <a:lstStyle/>
        <a:p>
          <a:endParaRPr lang="en-US"/>
        </a:p>
      </dgm:t>
    </dgm:pt>
    <dgm:pt modelId="{8BDF113C-5DD4-4294-BC68-1DEA8C916964}" type="sibTrans" cxnId="{90B4BB04-0CE9-4930-BC60-1FD9E40A506B}">
      <dgm:prSet/>
      <dgm:spPr/>
      <dgm:t>
        <a:bodyPr/>
        <a:lstStyle/>
        <a:p>
          <a:endParaRPr lang="en-US"/>
        </a:p>
      </dgm:t>
    </dgm:pt>
    <dgm:pt modelId="{35CA715D-A92D-4F94-B607-69BCB4B2D638}">
      <dgm:prSet/>
      <dgm:spPr/>
      <dgm:t>
        <a:bodyPr/>
        <a:lstStyle/>
        <a:p>
          <a:r>
            <a:rPr lang="en-US" b="1" u="sng"/>
            <a:t>Embedded System Design:</a:t>
          </a:r>
          <a:r>
            <a:rPr lang="en-US"/>
            <a:t> Executing key steps in embedded systems design, encompassing functional decomposition, subsystem design, and integration of software and hardware components.</a:t>
          </a:r>
        </a:p>
      </dgm:t>
    </dgm:pt>
    <dgm:pt modelId="{EC1C5135-B37D-4289-B6A8-387C11E1A775}" type="parTrans" cxnId="{4DB0931C-B343-4A3B-8AD2-C047F959E911}">
      <dgm:prSet/>
      <dgm:spPr/>
      <dgm:t>
        <a:bodyPr/>
        <a:lstStyle/>
        <a:p>
          <a:endParaRPr lang="en-US"/>
        </a:p>
      </dgm:t>
    </dgm:pt>
    <dgm:pt modelId="{EE68F3C3-3378-48AC-BBAC-F77EF50A50A1}" type="sibTrans" cxnId="{4DB0931C-B343-4A3B-8AD2-C047F959E911}">
      <dgm:prSet/>
      <dgm:spPr/>
      <dgm:t>
        <a:bodyPr/>
        <a:lstStyle/>
        <a:p>
          <a:endParaRPr lang="en-US"/>
        </a:p>
      </dgm:t>
    </dgm:pt>
    <dgm:pt modelId="{EC58F411-5805-4284-A9AA-ECB340EC8A2B}" type="pres">
      <dgm:prSet presAssocID="{497A24B3-131C-4C6C-909C-E7C1057C119F}" presName="vert0" presStyleCnt="0">
        <dgm:presLayoutVars>
          <dgm:dir/>
          <dgm:animOne val="branch"/>
          <dgm:animLvl val="lvl"/>
        </dgm:presLayoutVars>
      </dgm:prSet>
      <dgm:spPr/>
    </dgm:pt>
    <dgm:pt modelId="{9AD73D50-3970-48FB-8E67-011EE9E43B57}" type="pres">
      <dgm:prSet presAssocID="{191B6DD1-C88D-40D5-A11A-790A55528954}" presName="thickLine" presStyleLbl="alignNode1" presStyleIdx="0" presStyleCnt="6"/>
      <dgm:spPr/>
    </dgm:pt>
    <dgm:pt modelId="{4E55C381-B1F8-4D28-A3B0-7FA30E35848B}" type="pres">
      <dgm:prSet presAssocID="{191B6DD1-C88D-40D5-A11A-790A55528954}" presName="horz1" presStyleCnt="0"/>
      <dgm:spPr/>
    </dgm:pt>
    <dgm:pt modelId="{BFDD924E-F370-4F02-907E-60EC97708E39}" type="pres">
      <dgm:prSet presAssocID="{191B6DD1-C88D-40D5-A11A-790A55528954}" presName="tx1" presStyleLbl="revTx" presStyleIdx="0" presStyleCnt="6"/>
      <dgm:spPr/>
    </dgm:pt>
    <dgm:pt modelId="{F54164A7-D667-4269-AB20-0F03908B6B7F}" type="pres">
      <dgm:prSet presAssocID="{191B6DD1-C88D-40D5-A11A-790A55528954}" presName="vert1" presStyleCnt="0"/>
      <dgm:spPr/>
    </dgm:pt>
    <dgm:pt modelId="{C6953F9B-87AB-4A30-97F6-0A5184028C04}" type="pres">
      <dgm:prSet presAssocID="{D76B931F-768B-4E7B-BDCE-BF484E226DC6}" presName="thickLine" presStyleLbl="alignNode1" presStyleIdx="1" presStyleCnt="6"/>
      <dgm:spPr/>
    </dgm:pt>
    <dgm:pt modelId="{05652875-9462-4E69-9BFA-178F0BCBCD9D}" type="pres">
      <dgm:prSet presAssocID="{D76B931F-768B-4E7B-BDCE-BF484E226DC6}" presName="horz1" presStyleCnt="0"/>
      <dgm:spPr/>
    </dgm:pt>
    <dgm:pt modelId="{59FC89E2-5666-489C-A59D-4F20B4E47C7A}" type="pres">
      <dgm:prSet presAssocID="{D76B931F-768B-4E7B-BDCE-BF484E226DC6}" presName="tx1" presStyleLbl="revTx" presStyleIdx="1" presStyleCnt="6"/>
      <dgm:spPr/>
    </dgm:pt>
    <dgm:pt modelId="{706BBD13-B3EB-4A72-88DF-2F068650B79E}" type="pres">
      <dgm:prSet presAssocID="{D76B931F-768B-4E7B-BDCE-BF484E226DC6}" presName="vert1" presStyleCnt="0"/>
      <dgm:spPr/>
    </dgm:pt>
    <dgm:pt modelId="{896F6806-1D64-4B62-B7D7-976DEFB7346D}" type="pres">
      <dgm:prSet presAssocID="{2FDFEB44-0C07-45EC-A0F4-186D47D8EE12}" presName="thickLine" presStyleLbl="alignNode1" presStyleIdx="2" presStyleCnt="6"/>
      <dgm:spPr/>
    </dgm:pt>
    <dgm:pt modelId="{68F0DF6E-9786-4D77-A863-FA7C5687A7EB}" type="pres">
      <dgm:prSet presAssocID="{2FDFEB44-0C07-45EC-A0F4-186D47D8EE12}" presName="horz1" presStyleCnt="0"/>
      <dgm:spPr/>
    </dgm:pt>
    <dgm:pt modelId="{E52B24C3-DA59-4F07-98AB-081069BCF0BB}" type="pres">
      <dgm:prSet presAssocID="{2FDFEB44-0C07-45EC-A0F4-186D47D8EE12}" presName="tx1" presStyleLbl="revTx" presStyleIdx="2" presStyleCnt="6"/>
      <dgm:spPr/>
    </dgm:pt>
    <dgm:pt modelId="{C0730B96-12EB-4C75-BC28-C538D251D157}" type="pres">
      <dgm:prSet presAssocID="{2FDFEB44-0C07-45EC-A0F4-186D47D8EE12}" presName="vert1" presStyleCnt="0"/>
      <dgm:spPr/>
    </dgm:pt>
    <dgm:pt modelId="{0DDA9500-8076-4FB3-8278-3C33DE940A78}" type="pres">
      <dgm:prSet presAssocID="{94F2F67E-4262-4119-AF87-019C5CAF9262}" presName="thickLine" presStyleLbl="alignNode1" presStyleIdx="3" presStyleCnt="6"/>
      <dgm:spPr/>
    </dgm:pt>
    <dgm:pt modelId="{BF16C237-C3D4-4607-9F4F-50B4F6CF86F8}" type="pres">
      <dgm:prSet presAssocID="{94F2F67E-4262-4119-AF87-019C5CAF9262}" presName="horz1" presStyleCnt="0"/>
      <dgm:spPr/>
    </dgm:pt>
    <dgm:pt modelId="{7E0BEDB1-B502-4E93-9589-9EE81DF46D38}" type="pres">
      <dgm:prSet presAssocID="{94F2F67E-4262-4119-AF87-019C5CAF9262}" presName="tx1" presStyleLbl="revTx" presStyleIdx="3" presStyleCnt="6"/>
      <dgm:spPr/>
    </dgm:pt>
    <dgm:pt modelId="{52B8119C-D8EB-40E2-96A4-0AF998C3E4B6}" type="pres">
      <dgm:prSet presAssocID="{94F2F67E-4262-4119-AF87-019C5CAF9262}" presName="vert1" presStyleCnt="0"/>
      <dgm:spPr/>
    </dgm:pt>
    <dgm:pt modelId="{47C7DECF-75C6-4703-9D9B-E38E1300A96B}" type="pres">
      <dgm:prSet presAssocID="{B5E1C811-4072-4EFF-8946-4542917B7F98}" presName="thickLine" presStyleLbl="alignNode1" presStyleIdx="4" presStyleCnt="6"/>
      <dgm:spPr/>
    </dgm:pt>
    <dgm:pt modelId="{D80D982A-B7B9-4952-B42F-CDDAB102D6BF}" type="pres">
      <dgm:prSet presAssocID="{B5E1C811-4072-4EFF-8946-4542917B7F98}" presName="horz1" presStyleCnt="0"/>
      <dgm:spPr/>
    </dgm:pt>
    <dgm:pt modelId="{F9820379-0B21-4C3B-AEE0-0FCC4AD43C55}" type="pres">
      <dgm:prSet presAssocID="{B5E1C811-4072-4EFF-8946-4542917B7F98}" presName="tx1" presStyleLbl="revTx" presStyleIdx="4" presStyleCnt="6"/>
      <dgm:spPr/>
    </dgm:pt>
    <dgm:pt modelId="{1A5852CB-50C3-45B6-9E0F-7B7F53EB06B5}" type="pres">
      <dgm:prSet presAssocID="{B5E1C811-4072-4EFF-8946-4542917B7F98}" presName="vert1" presStyleCnt="0"/>
      <dgm:spPr/>
    </dgm:pt>
    <dgm:pt modelId="{409E3617-96CC-47D0-9CD5-A2373EE8F35C}" type="pres">
      <dgm:prSet presAssocID="{35CA715D-A92D-4F94-B607-69BCB4B2D638}" presName="thickLine" presStyleLbl="alignNode1" presStyleIdx="5" presStyleCnt="6"/>
      <dgm:spPr/>
    </dgm:pt>
    <dgm:pt modelId="{9F8C9F0E-23DE-483E-95E2-41561236BE15}" type="pres">
      <dgm:prSet presAssocID="{35CA715D-A92D-4F94-B607-69BCB4B2D638}" presName="horz1" presStyleCnt="0"/>
      <dgm:spPr/>
    </dgm:pt>
    <dgm:pt modelId="{F551D03A-E0D3-457A-8CF6-2EBCAD236B7B}" type="pres">
      <dgm:prSet presAssocID="{35CA715D-A92D-4F94-B607-69BCB4B2D638}" presName="tx1" presStyleLbl="revTx" presStyleIdx="5" presStyleCnt="6"/>
      <dgm:spPr/>
    </dgm:pt>
    <dgm:pt modelId="{21E87471-5A56-4CA0-989B-E49E98A020EE}" type="pres">
      <dgm:prSet presAssocID="{35CA715D-A92D-4F94-B607-69BCB4B2D638}" presName="vert1" presStyleCnt="0"/>
      <dgm:spPr/>
    </dgm:pt>
  </dgm:ptLst>
  <dgm:cxnLst>
    <dgm:cxn modelId="{3B024C00-879C-44BF-8911-2BE6A977C48E}" srcId="{497A24B3-131C-4C6C-909C-E7C1057C119F}" destId="{2FDFEB44-0C07-45EC-A0F4-186D47D8EE12}" srcOrd="2" destOrd="0" parTransId="{5EE0DA14-C933-48B1-92A3-1B473306F1B1}" sibTransId="{673D0F0A-FD5D-4AC0-8121-B77BA730E03D}"/>
    <dgm:cxn modelId="{90B4BB04-0CE9-4930-BC60-1FD9E40A506B}" srcId="{497A24B3-131C-4C6C-909C-E7C1057C119F}" destId="{B5E1C811-4072-4EFF-8946-4542917B7F98}" srcOrd="4" destOrd="0" parTransId="{6B14651C-C227-4AE1-8FCA-5796DEA71641}" sibTransId="{8BDF113C-5DD4-4294-BC68-1DEA8C916964}"/>
    <dgm:cxn modelId="{F8801519-FB7D-45BA-B8C3-7569A9C45ABC}" type="presOf" srcId="{D76B931F-768B-4E7B-BDCE-BF484E226DC6}" destId="{59FC89E2-5666-489C-A59D-4F20B4E47C7A}" srcOrd="0" destOrd="0" presId="urn:microsoft.com/office/officeart/2008/layout/LinedList"/>
    <dgm:cxn modelId="{4DB0931C-B343-4A3B-8AD2-C047F959E911}" srcId="{497A24B3-131C-4C6C-909C-E7C1057C119F}" destId="{35CA715D-A92D-4F94-B607-69BCB4B2D638}" srcOrd="5" destOrd="0" parTransId="{EC1C5135-B37D-4289-B6A8-387C11E1A775}" sibTransId="{EE68F3C3-3378-48AC-BBAC-F77EF50A50A1}"/>
    <dgm:cxn modelId="{D6A61229-4F9E-4B45-B2C7-205D30DA6979}" srcId="{497A24B3-131C-4C6C-909C-E7C1057C119F}" destId="{191B6DD1-C88D-40D5-A11A-790A55528954}" srcOrd="0" destOrd="0" parTransId="{63881CBF-DACC-472A-BEB0-295B37B6AABE}" sibTransId="{F354A89A-FC06-42C4-8CEF-7D0CAFA6B6E3}"/>
    <dgm:cxn modelId="{84761C73-3BC7-46E3-B851-B7CF71C5BCC4}" type="presOf" srcId="{2FDFEB44-0C07-45EC-A0F4-186D47D8EE12}" destId="{E52B24C3-DA59-4F07-98AB-081069BCF0BB}" srcOrd="0" destOrd="0" presId="urn:microsoft.com/office/officeart/2008/layout/LinedList"/>
    <dgm:cxn modelId="{23FC6B97-204D-4B1A-97BF-C5DF7AC1AC91}" srcId="{497A24B3-131C-4C6C-909C-E7C1057C119F}" destId="{D76B931F-768B-4E7B-BDCE-BF484E226DC6}" srcOrd="1" destOrd="0" parTransId="{9E5634CF-D74D-40B8-B3FF-52554271771C}" sibTransId="{FA1D1512-027E-47D9-9169-CC4FBDBB42E6}"/>
    <dgm:cxn modelId="{C59760A3-AB71-4E6D-A354-7DAE6E8801D9}" srcId="{497A24B3-131C-4C6C-909C-E7C1057C119F}" destId="{94F2F67E-4262-4119-AF87-019C5CAF9262}" srcOrd="3" destOrd="0" parTransId="{4E437DF6-7435-45B9-88D3-3D00E78E6655}" sibTransId="{A321A7B3-0B20-4F99-9560-3CF2B69D19DC}"/>
    <dgm:cxn modelId="{1BE106AD-C5D6-466A-B07A-794F0C9DA3C8}" type="presOf" srcId="{35CA715D-A92D-4F94-B607-69BCB4B2D638}" destId="{F551D03A-E0D3-457A-8CF6-2EBCAD236B7B}" srcOrd="0" destOrd="0" presId="urn:microsoft.com/office/officeart/2008/layout/LinedList"/>
    <dgm:cxn modelId="{6374EFB1-A6BE-4617-86EE-D9FF9AAB1049}" type="presOf" srcId="{497A24B3-131C-4C6C-909C-E7C1057C119F}" destId="{EC58F411-5805-4284-A9AA-ECB340EC8A2B}" srcOrd="0" destOrd="0" presId="urn:microsoft.com/office/officeart/2008/layout/LinedList"/>
    <dgm:cxn modelId="{8ECC21CC-9018-4B43-A1A9-A33049DFF987}" type="presOf" srcId="{191B6DD1-C88D-40D5-A11A-790A55528954}" destId="{BFDD924E-F370-4F02-907E-60EC97708E39}" srcOrd="0" destOrd="0" presId="urn:microsoft.com/office/officeart/2008/layout/LinedList"/>
    <dgm:cxn modelId="{4E52C7D3-C904-4C15-A8F9-FEE05E4CB990}" type="presOf" srcId="{B5E1C811-4072-4EFF-8946-4542917B7F98}" destId="{F9820379-0B21-4C3B-AEE0-0FCC4AD43C55}" srcOrd="0" destOrd="0" presId="urn:microsoft.com/office/officeart/2008/layout/LinedList"/>
    <dgm:cxn modelId="{87AAE7EA-AC59-43E8-8AA9-FAAAD8F051E6}" type="presOf" srcId="{94F2F67E-4262-4119-AF87-019C5CAF9262}" destId="{7E0BEDB1-B502-4E93-9589-9EE81DF46D38}" srcOrd="0" destOrd="0" presId="urn:microsoft.com/office/officeart/2008/layout/LinedList"/>
    <dgm:cxn modelId="{E0983A01-FBD0-43B9-8F40-083E74D52915}" type="presParOf" srcId="{EC58F411-5805-4284-A9AA-ECB340EC8A2B}" destId="{9AD73D50-3970-48FB-8E67-011EE9E43B57}" srcOrd="0" destOrd="0" presId="urn:microsoft.com/office/officeart/2008/layout/LinedList"/>
    <dgm:cxn modelId="{647737DD-4699-4F1D-B765-D55F6CBA4E0C}" type="presParOf" srcId="{EC58F411-5805-4284-A9AA-ECB340EC8A2B}" destId="{4E55C381-B1F8-4D28-A3B0-7FA30E35848B}" srcOrd="1" destOrd="0" presId="urn:microsoft.com/office/officeart/2008/layout/LinedList"/>
    <dgm:cxn modelId="{210B41E8-AA2F-40FD-9C31-8F99449B760A}" type="presParOf" srcId="{4E55C381-B1F8-4D28-A3B0-7FA30E35848B}" destId="{BFDD924E-F370-4F02-907E-60EC97708E39}" srcOrd="0" destOrd="0" presId="urn:microsoft.com/office/officeart/2008/layout/LinedList"/>
    <dgm:cxn modelId="{61868B72-85F6-43BA-83C1-B25CA990330D}" type="presParOf" srcId="{4E55C381-B1F8-4D28-A3B0-7FA30E35848B}" destId="{F54164A7-D667-4269-AB20-0F03908B6B7F}" srcOrd="1" destOrd="0" presId="urn:microsoft.com/office/officeart/2008/layout/LinedList"/>
    <dgm:cxn modelId="{36C72736-9A89-408F-B6F4-AF45C2DC29C3}" type="presParOf" srcId="{EC58F411-5805-4284-A9AA-ECB340EC8A2B}" destId="{C6953F9B-87AB-4A30-97F6-0A5184028C04}" srcOrd="2" destOrd="0" presId="urn:microsoft.com/office/officeart/2008/layout/LinedList"/>
    <dgm:cxn modelId="{A525FE80-F9B0-4467-9806-A642C269D690}" type="presParOf" srcId="{EC58F411-5805-4284-A9AA-ECB340EC8A2B}" destId="{05652875-9462-4E69-9BFA-178F0BCBCD9D}" srcOrd="3" destOrd="0" presId="urn:microsoft.com/office/officeart/2008/layout/LinedList"/>
    <dgm:cxn modelId="{BD532F15-07E9-4DC8-B76B-247071210216}" type="presParOf" srcId="{05652875-9462-4E69-9BFA-178F0BCBCD9D}" destId="{59FC89E2-5666-489C-A59D-4F20B4E47C7A}" srcOrd="0" destOrd="0" presId="urn:microsoft.com/office/officeart/2008/layout/LinedList"/>
    <dgm:cxn modelId="{4F5A37A5-B755-4ADD-8E8F-9F3734909742}" type="presParOf" srcId="{05652875-9462-4E69-9BFA-178F0BCBCD9D}" destId="{706BBD13-B3EB-4A72-88DF-2F068650B79E}" srcOrd="1" destOrd="0" presId="urn:microsoft.com/office/officeart/2008/layout/LinedList"/>
    <dgm:cxn modelId="{19E0AFDA-6E64-4282-9FA8-0926AC6A60F5}" type="presParOf" srcId="{EC58F411-5805-4284-A9AA-ECB340EC8A2B}" destId="{896F6806-1D64-4B62-B7D7-976DEFB7346D}" srcOrd="4" destOrd="0" presId="urn:microsoft.com/office/officeart/2008/layout/LinedList"/>
    <dgm:cxn modelId="{DFB0FC27-FDF6-475D-A82D-D3C0651D7B19}" type="presParOf" srcId="{EC58F411-5805-4284-A9AA-ECB340EC8A2B}" destId="{68F0DF6E-9786-4D77-A863-FA7C5687A7EB}" srcOrd="5" destOrd="0" presId="urn:microsoft.com/office/officeart/2008/layout/LinedList"/>
    <dgm:cxn modelId="{16DE7CBC-77E4-4BF5-8246-AFC6398399F0}" type="presParOf" srcId="{68F0DF6E-9786-4D77-A863-FA7C5687A7EB}" destId="{E52B24C3-DA59-4F07-98AB-081069BCF0BB}" srcOrd="0" destOrd="0" presId="urn:microsoft.com/office/officeart/2008/layout/LinedList"/>
    <dgm:cxn modelId="{556B6EB1-47F5-45B1-B9F7-9C35336D5C87}" type="presParOf" srcId="{68F0DF6E-9786-4D77-A863-FA7C5687A7EB}" destId="{C0730B96-12EB-4C75-BC28-C538D251D157}" srcOrd="1" destOrd="0" presId="urn:microsoft.com/office/officeart/2008/layout/LinedList"/>
    <dgm:cxn modelId="{1AE76B27-485F-4A0F-91D8-BADE06ECD157}" type="presParOf" srcId="{EC58F411-5805-4284-A9AA-ECB340EC8A2B}" destId="{0DDA9500-8076-4FB3-8278-3C33DE940A78}" srcOrd="6" destOrd="0" presId="urn:microsoft.com/office/officeart/2008/layout/LinedList"/>
    <dgm:cxn modelId="{B42E6EBA-2A72-4137-8820-BFB3EED10A13}" type="presParOf" srcId="{EC58F411-5805-4284-A9AA-ECB340EC8A2B}" destId="{BF16C237-C3D4-4607-9F4F-50B4F6CF86F8}" srcOrd="7" destOrd="0" presId="urn:microsoft.com/office/officeart/2008/layout/LinedList"/>
    <dgm:cxn modelId="{41FB687B-5365-4FF1-B06A-14962671AEC3}" type="presParOf" srcId="{BF16C237-C3D4-4607-9F4F-50B4F6CF86F8}" destId="{7E0BEDB1-B502-4E93-9589-9EE81DF46D38}" srcOrd="0" destOrd="0" presId="urn:microsoft.com/office/officeart/2008/layout/LinedList"/>
    <dgm:cxn modelId="{786E4EC3-4612-4AF2-AD08-EE477B7306A9}" type="presParOf" srcId="{BF16C237-C3D4-4607-9F4F-50B4F6CF86F8}" destId="{52B8119C-D8EB-40E2-96A4-0AF998C3E4B6}" srcOrd="1" destOrd="0" presId="urn:microsoft.com/office/officeart/2008/layout/LinedList"/>
    <dgm:cxn modelId="{60D444FC-B141-4494-8AB2-A89BE0DFF441}" type="presParOf" srcId="{EC58F411-5805-4284-A9AA-ECB340EC8A2B}" destId="{47C7DECF-75C6-4703-9D9B-E38E1300A96B}" srcOrd="8" destOrd="0" presId="urn:microsoft.com/office/officeart/2008/layout/LinedList"/>
    <dgm:cxn modelId="{5AF53239-66EA-4AE3-96AD-FAEEF91659C7}" type="presParOf" srcId="{EC58F411-5805-4284-A9AA-ECB340EC8A2B}" destId="{D80D982A-B7B9-4952-B42F-CDDAB102D6BF}" srcOrd="9" destOrd="0" presId="urn:microsoft.com/office/officeart/2008/layout/LinedList"/>
    <dgm:cxn modelId="{678B4ECE-5D8F-43C9-859A-0ACCDAB44D94}" type="presParOf" srcId="{D80D982A-B7B9-4952-B42F-CDDAB102D6BF}" destId="{F9820379-0B21-4C3B-AEE0-0FCC4AD43C55}" srcOrd="0" destOrd="0" presId="urn:microsoft.com/office/officeart/2008/layout/LinedList"/>
    <dgm:cxn modelId="{B6F86F6A-AC65-4787-A492-6E38F7C3F80F}" type="presParOf" srcId="{D80D982A-B7B9-4952-B42F-CDDAB102D6BF}" destId="{1A5852CB-50C3-45B6-9E0F-7B7F53EB06B5}" srcOrd="1" destOrd="0" presId="urn:microsoft.com/office/officeart/2008/layout/LinedList"/>
    <dgm:cxn modelId="{47D02258-DE82-4559-B71F-165B70B787F6}" type="presParOf" srcId="{EC58F411-5805-4284-A9AA-ECB340EC8A2B}" destId="{409E3617-96CC-47D0-9CD5-A2373EE8F35C}" srcOrd="10" destOrd="0" presId="urn:microsoft.com/office/officeart/2008/layout/LinedList"/>
    <dgm:cxn modelId="{7B40BD3A-F33C-4A46-8B3A-AD98417CC457}" type="presParOf" srcId="{EC58F411-5805-4284-A9AA-ECB340EC8A2B}" destId="{9F8C9F0E-23DE-483E-95E2-41561236BE15}" srcOrd="11" destOrd="0" presId="urn:microsoft.com/office/officeart/2008/layout/LinedList"/>
    <dgm:cxn modelId="{1275357C-7D93-481C-A42A-A55DAEA0953A}" type="presParOf" srcId="{9F8C9F0E-23DE-483E-95E2-41561236BE15}" destId="{F551D03A-E0D3-457A-8CF6-2EBCAD236B7B}" srcOrd="0" destOrd="0" presId="urn:microsoft.com/office/officeart/2008/layout/LinedList"/>
    <dgm:cxn modelId="{E764A160-854E-4987-AD5D-7642031078FF}" type="presParOf" srcId="{9F8C9F0E-23DE-483E-95E2-41561236BE15}" destId="{21E87471-5A56-4CA0-989B-E49E98A020E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D73D50-3970-48FB-8E67-011EE9E43B57}">
      <dsp:nvSpPr>
        <dsp:cNvPr id="0" name=""/>
        <dsp:cNvSpPr/>
      </dsp:nvSpPr>
      <dsp:spPr>
        <a:xfrm>
          <a:off x="0" y="2853"/>
          <a:ext cx="7003777"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DD924E-F370-4F02-907E-60EC97708E39}">
      <dsp:nvSpPr>
        <dsp:cNvPr id="0" name=""/>
        <dsp:cNvSpPr/>
      </dsp:nvSpPr>
      <dsp:spPr>
        <a:xfrm>
          <a:off x="0" y="2853"/>
          <a:ext cx="7003777" cy="972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u="sng" kern="1200"/>
            <a:t>Real-Time Embedded Control:</a:t>
          </a:r>
          <a:r>
            <a:rPr lang="en-US" sz="1700" kern="1200"/>
            <a:t> Implementation of sensor inputs and control outputs in a high-speed, real-time embedded control environment.</a:t>
          </a:r>
        </a:p>
      </dsp:txBody>
      <dsp:txXfrm>
        <a:off x="0" y="2853"/>
        <a:ext cx="7003777" cy="972983"/>
      </dsp:txXfrm>
    </dsp:sp>
    <dsp:sp modelId="{C6953F9B-87AB-4A30-97F6-0A5184028C04}">
      <dsp:nvSpPr>
        <dsp:cNvPr id="0" name=""/>
        <dsp:cNvSpPr/>
      </dsp:nvSpPr>
      <dsp:spPr>
        <a:xfrm>
          <a:off x="0" y="975836"/>
          <a:ext cx="7003777" cy="0"/>
        </a:xfrm>
        <a:prstGeom prst="line">
          <a:avLst/>
        </a:prstGeom>
        <a:solidFill>
          <a:schemeClr val="accent2">
            <a:hueOff val="-299073"/>
            <a:satOff val="-93"/>
            <a:lumOff val="1412"/>
            <a:alphaOff val="0"/>
          </a:schemeClr>
        </a:solidFill>
        <a:ln w="12700" cap="flat" cmpd="sng" algn="ctr">
          <a:solidFill>
            <a:schemeClr val="accent2">
              <a:hueOff val="-299073"/>
              <a:satOff val="-93"/>
              <a:lumOff val="141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FC89E2-5666-489C-A59D-4F20B4E47C7A}">
      <dsp:nvSpPr>
        <dsp:cNvPr id="0" name=""/>
        <dsp:cNvSpPr/>
      </dsp:nvSpPr>
      <dsp:spPr>
        <a:xfrm>
          <a:off x="0" y="975836"/>
          <a:ext cx="7003777" cy="972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u="sng" kern="1200"/>
            <a:t>Mechatronic System Modeling:</a:t>
          </a:r>
          <a:r>
            <a:rPr lang="en-US" sz="1700" kern="1200"/>
            <a:t> Derivation and modeling of the transfer function for the car's mechatronic systems.</a:t>
          </a:r>
        </a:p>
      </dsp:txBody>
      <dsp:txXfrm>
        <a:off x="0" y="975836"/>
        <a:ext cx="7003777" cy="972983"/>
      </dsp:txXfrm>
    </dsp:sp>
    <dsp:sp modelId="{896F6806-1D64-4B62-B7D7-976DEFB7346D}">
      <dsp:nvSpPr>
        <dsp:cNvPr id="0" name=""/>
        <dsp:cNvSpPr/>
      </dsp:nvSpPr>
      <dsp:spPr>
        <a:xfrm>
          <a:off x="0" y="1948819"/>
          <a:ext cx="7003777" cy="0"/>
        </a:xfrm>
        <a:prstGeom prst="line">
          <a:avLst/>
        </a:prstGeom>
        <a:solidFill>
          <a:schemeClr val="accent2">
            <a:hueOff val="-598146"/>
            <a:satOff val="-185"/>
            <a:lumOff val="2824"/>
            <a:alphaOff val="0"/>
          </a:schemeClr>
        </a:solidFill>
        <a:ln w="12700" cap="flat" cmpd="sng" algn="ctr">
          <a:solidFill>
            <a:schemeClr val="accent2">
              <a:hueOff val="-598146"/>
              <a:satOff val="-185"/>
              <a:lumOff val="282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2B24C3-DA59-4F07-98AB-081069BCF0BB}">
      <dsp:nvSpPr>
        <dsp:cNvPr id="0" name=""/>
        <dsp:cNvSpPr/>
      </dsp:nvSpPr>
      <dsp:spPr>
        <a:xfrm>
          <a:off x="0" y="1948819"/>
          <a:ext cx="7003777" cy="972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u="sng" kern="1200"/>
            <a:t>PID Controller Design and Analysis:</a:t>
          </a:r>
          <a:r>
            <a:rPr lang="en-US" sz="1700" kern="1200"/>
            <a:t> Utilizing a transfer function approach for the design and analysis of a PID controller, ensuring effective system regulation and response.</a:t>
          </a:r>
        </a:p>
      </dsp:txBody>
      <dsp:txXfrm>
        <a:off x="0" y="1948819"/>
        <a:ext cx="7003777" cy="972983"/>
      </dsp:txXfrm>
    </dsp:sp>
    <dsp:sp modelId="{0DDA9500-8076-4FB3-8278-3C33DE940A78}">
      <dsp:nvSpPr>
        <dsp:cNvPr id="0" name=""/>
        <dsp:cNvSpPr/>
      </dsp:nvSpPr>
      <dsp:spPr>
        <a:xfrm>
          <a:off x="0" y="2921802"/>
          <a:ext cx="7003777" cy="0"/>
        </a:xfrm>
        <a:prstGeom prst="line">
          <a:avLst/>
        </a:prstGeom>
        <a:solidFill>
          <a:schemeClr val="accent2">
            <a:hueOff val="-897219"/>
            <a:satOff val="-278"/>
            <a:lumOff val="4235"/>
            <a:alphaOff val="0"/>
          </a:schemeClr>
        </a:solidFill>
        <a:ln w="12700" cap="flat" cmpd="sng" algn="ctr">
          <a:solidFill>
            <a:schemeClr val="accent2">
              <a:hueOff val="-897219"/>
              <a:satOff val="-278"/>
              <a:lumOff val="423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0BEDB1-B502-4E93-9589-9EE81DF46D38}">
      <dsp:nvSpPr>
        <dsp:cNvPr id="0" name=""/>
        <dsp:cNvSpPr/>
      </dsp:nvSpPr>
      <dsp:spPr>
        <a:xfrm>
          <a:off x="0" y="2921802"/>
          <a:ext cx="7003777" cy="972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u="sng" kern="1200"/>
            <a:t>Embedded Programming:</a:t>
          </a:r>
          <a:r>
            <a:rPr lang="en-US" sz="1700" kern="1200"/>
            <a:t> Development and programming of a time-critical application on an embedded controller using C/C++ language, focusing on efficiency and reliability.</a:t>
          </a:r>
        </a:p>
      </dsp:txBody>
      <dsp:txXfrm>
        <a:off x="0" y="2921802"/>
        <a:ext cx="7003777" cy="972983"/>
      </dsp:txXfrm>
    </dsp:sp>
    <dsp:sp modelId="{47C7DECF-75C6-4703-9D9B-E38E1300A96B}">
      <dsp:nvSpPr>
        <dsp:cNvPr id="0" name=""/>
        <dsp:cNvSpPr/>
      </dsp:nvSpPr>
      <dsp:spPr>
        <a:xfrm>
          <a:off x="0" y="3894785"/>
          <a:ext cx="7003777" cy="0"/>
        </a:xfrm>
        <a:prstGeom prst="line">
          <a:avLst/>
        </a:prstGeom>
        <a:solidFill>
          <a:schemeClr val="accent2">
            <a:hueOff val="-1196292"/>
            <a:satOff val="-370"/>
            <a:lumOff val="5647"/>
            <a:alphaOff val="0"/>
          </a:schemeClr>
        </a:solidFill>
        <a:ln w="12700" cap="flat" cmpd="sng" algn="ctr">
          <a:solidFill>
            <a:schemeClr val="accent2">
              <a:hueOff val="-1196292"/>
              <a:satOff val="-370"/>
              <a:lumOff val="564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820379-0B21-4C3B-AEE0-0FCC4AD43C55}">
      <dsp:nvSpPr>
        <dsp:cNvPr id="0" name=""/>
        <dsp:cNvSpPr/>
      </dsp:nvSpPr>
      <dsp:spPr>
        <a:xfrm>
          <a:off x="0" y="3894785"/>
          <a:ext cx="7003777" cy="972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u="sng" kern="1200"/>
            <a:t>Matlab/Simulink Integration:</a:t>
          </a:r>
          <a:r>
            <a:rPr lang="en-US" sz="1700" kern="1200"/>
            <a:t> Application of Matlab/Simulink for aiding in microcontroller programming, enhancing the control system’s design and simulation process.</a:t>
          </a:r>
        </a:p>
      </dsp:txBody>
      <dsp:txXfrm>
        <a:off x="0" y="3894785"/>
        <a:ext cx="7003777" cy="972983"/>
      </dsp:txXfrm>
    </dsp:sp>
    <dsp:sp modelId="{409E3617-96CC-47D0-9CD5-A2373EE8F35C}">
      <dsp:nvSpPr>
        <dsp:cNvPr id="0" name=""/>
        <dsp:cNvSpPr/>
      </dsp:nvSpPr>
      <dsp:spPr>
        <a:xfrm>
          <a:off x="0" y="4867768"/>
          <a:ext cx="7003777" cy="0"/>
        </a:xfrm>
        <a:prstGeom prst="line">
          <a:avLst/>
        </a:prstGeom>
        <a:solidFill>
          <a:schemeClr val="accent2">
            <a:hueOff val="-1495366"/>
            <a:satOff val="-463"/>
            <a:lumOff val="7059"/>
            <a:alphaOff val="0"/>
          </a:schemeClr>
        </a:solidFill>
        <a:ln w="12700" cap="flat" cmpd="sng" algn="ctr">
          <a:solidFill>
            <a:schemeClr val="accent2">
              <a:hueOff val="-1495366"/>
              <a:satOff val="-463"/>
              <a:lumOff val="705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551D03A-E0D3-457A-8CF6-2EBCAD236B7B}">
      <dsp:nvSpPr>
        <dsp:cNvPr id="0" name=""/>
        <dsp:cNvSpPr/>
      </dsp:nvSpPr>
      <dsp:spPr>
        <a:xfrm>
          <a:off x="0" y="4867768"/>
          <a:ext cx="7003777" cy="972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u="sng" kern="1200"/>
            <a:t>Embedded System Design:</a:t>
          </a:r>
          <a:r>
            <a:rPr lang="en-US" sz="1700" kern="1200"/>
            <a:t> Executing key steps in embedded systems design, encompassing functional decomposition, subsystem design, and integration of software and hardware components.</a:t>
          </a:r>
        </a:p>
      </dsp:txBody>
      <dsp:txXfrm>
        <a:off x="0" y="4867768"/>
        <a:ext cx="7003777" cy="97298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6A4A9B-D3A9-4E22-81EB-154210B8ADA1}" type="datetimeFigureOut">
              <a:t>12/13/2023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3D99C8-0FC4-4326-8B9A-0B1582242D0E}" type="slidenum">
              <a:t>‹#›</a:t>
            </a:fld>
            <a:endParaRPr lang="en-US"/>
          </a:p>
        </p:txBody>
      </p:sp>
    </p:spTree>
    <p:extLst>
      <p:ext uri="{BB962C8B-B14F-4D97-AF65-F5344CB8AC3E}">
        <p14:creationId xmlns:p14="http://schemas.microsoft.com/office/powerpoint/2010/main" val="13260998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0000"/>
              </a:lnSpc>
              <a:spcBef>
                <a:spcPts val="1000"/>
              </a:spcBef>
            </a:pPr>
            <a:r>
              <a:rPr lang="en-US">
                <a:cs typeface="Calibri" panose="020F0502020204030204"/>
              </a:rPr>
              <a:t>**Order of Speakers/Team Members can be rearranged.</a:t>
            </a:r>
          </a:p>
          <a:p>
            <a:pPr>
              <a:lnSpc>
                <a:spcPct val="110000"/>
              </a:lnSpc>
              <a:spcBef>
                <a:spcPts val="1000"/>
              </a:spcBef>
            </a:pPr>
            <a:r>
              <a:rPr lang="en-US">
                <a:cs typeface="Calibri" panose="020F0502020204030204"/>
              </a:rPr>
              <a:t>*We can split up who presents Agenda 1 – 6.</a:t>
            </a:r>
            <a:endParaRPr lang="en-US"/>
          </a:p>
          <a:p>
            <a:pPr>
              <a:lnSpc>
                <a:spcPct val="110000"/>
              </a:lnSpc>
              <a:spcBef>
                <a:spcPts val="1000"/>
              </a:spcBef>
            </a:pPr>
            <a:endParaRPr lang="en-US"/>
          </a:p>
          <a:p>
            <a:pPr marL="514350" indent="-514350">
              <a:lnSpc>
                <a:spcPct val="110000"/>
              </a:lnSpc>
              <a:spcBef>
                <a:spcPts val="1000"/>
              </a:spcBef>
              <a:buAutoNum type="arabicPeriod"/>
            </a:pPr>
            <a:r>
              <a:rPr lang="en-US"/>
              <a:t>Key Components and Processes</a:t>
            </a:r>
          </a:p>
          <a:p>
            <a:pPr marL="514350" indent="-514350">
              <a:lnSpc>
                <a:spcPct val="110000"/>
              </a:lnSpc>
              <a:spcBef>
                <a:spcPts val="1000"/>
              </a:spcBef>
              <a:buAutoNum type="arabicPeriod"/>
            </a:pPr>
            <a:r>
              <a:rPr lang="en-US"/>
              <a:t>Full System Block Diagram</a:t>
            </a:r>
          </a:p>
          <a:p>
            <a:pPr marL="514350" indent="-514350">
              <a:lnSpc>
                <a:spcPct val="110000"/>
              </a:lnSpc>
              <a:spcBef>
                <a:spcPts val="1000"/>
              </a:spcBef>
              <a:buAutoNum type="arabicPeriod"/>
            </a:pPr>
            <a:r>
              <a:rPr lang="en-US"/>
              <a:t>Code Block Diagram</a:t>
            </a:r>
          </a:p>
          <a:p>
            <a:pPr marL="514350" indent="-514350">
              <a:lnSpc>
                <a:spcPct val="110000"/>
              </a:lnSpc>
              <a:spcBef>
                <a:spcPts val="1000"/>
              </a:spcBef>
              <a:buAutoNum type="arabicPeriod"/>
            </a:pPr>
            <a:r>
              <a:rPr lang="en-US"/>
              <a:t>Lab 1: Open-Loop Control and Feedback Measurement</a:t>
            </a:r>
          </a:p>
          <a:p>
            <a:pPr marL="514350" indent="-514350">
              <a:lnSpc>
                <a:spcPct val="110000"/>
              </a:lnSpc>
              <a:spcBef>
                <a:spcPts val="1000"/>
              </a:spcBef>
              <a:buAutoNum type="arabicPeriod"/>
            </a:pPr>
            <a:r>
              <a:rPr lang="en-US"/>
              <a:t>Lab 2: Model Identification</a:t>
            </a:r>
          </a:p>
          <a:p>
            <a:pPr marL="514350" indent="-514350">
              <a:lnSpc>
                <a:spcPct val="110000"/>
              </a:lnSpc>
              <a:spcBef>
                <a:spcPts val="1000"/>
              </a:spcBef>
              <a:buAutoNum type="arabicPeriod"/>
            </a:pPr>
            <a:r>
              <a:rPr lang="en-US"/>
              <a:t>Lab 3: Control Design and Implementation</a:t>
            </a:r>
          </a:p>
          <a:p>
            <a:pPr marL="514350" indent="-514350">
              <a:lnSpc>
                <a:spcPct val="110000"/>
              </a:lnSpc>
              <a:spcBef>
                <a:spcPts val="1000"/>
              </a:spcBef>
              <a:buAutoNum type="arabicPeriod"/>
            </a:pPr>
            <a:r>
              <a:rPr lang="en-US"/>
              <a:t>Lab 5: Subsystem Integration- Combination and State Logic</a:t>
            </a:r>
          </a:p>
          <a:p>
            <a:pPr marL="514350" indent="-514350">
              <a:lnSpc>
                <a:spcPct val="110000"/>
              </a:lnSpc>
              <a:spcBef>
                <a:spcPts val="1000"/>
              </a:spcBef>
              <a:buAutoNum type="arabicPeriod"/>
            </a:pPr>
            <a:r>
              <a:rPr lang="en-US"/>
              <a:t>Lab 6: PID Control Design</a:t>
            </a:r>
          </a:p>
        </p:txBody>
      </p:sp>
      <p:sp>
        <p:nvSpPr>
          <p:cNvPr id="4" name="Slide Number Placeholder 3"/>
          <p:cNvSpPr>
            <a:spLocks noGrp="1"/>
          </p:cNvSpPr>
          <p:nvPr>
            <p:ph type="sldNum" sz="quarter" idx="5"/>
          </p:nvPr>
        </p:nvSpPr>
        <p:spPr/>
        <p:txBody>
          <a:bodyPr/>
          <a:lstStyle/>
          <a:p>
            <a:fld id="{E73D99C8-0FC4-4326-8B9A-0B1582242D0E}" type="slidenum">
              <a:rPr lang="en-US"/>
              <a:t>2</a:t>
            </a:fld>
            <a:endParaRPr lang="en-US"/>
          </a:p>
        </p:txBody>
      </p:sp>
    </p:spTree>
    <p:extLst>
      <p:ext uri="{BB962C8B-B14F-4D97-AF65-F5344CB8AC3E}">
        <p14:creationId xmlns:p14="http://schemas.microsoft.com/office/powerpoint/2010/main" val="10196181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Driving Team</a:t>
            </a:r>
          </a:p>
        </p:txBody>
      </p:sp>
      <p:sp>
        <p:nvSpPr>
          <p:cNvPr id="4" name="Slide Number Placeholder 3"/>
          <p:cNvSpPr>
            <a:spLocks noGrp="1"/>
          </p:cNvSpPr>
          <p:nvPr>
            <p:ph type="sldNum" sz="quarter" idx="5"/>
          </p:nvPr>
        </p:nvSpPr>
        <p:spPr/>
        <p:txBody>
          <a:bodyPr/>
          <a:lstStyle/>
          <a:p>
            <a:fld id="{E73D99C8-0FC4-4326-8B9A-0B1582242D0E}" type="slidenum">
              <a:t>10</a:t>
            </a:fld>
            <a:endParaRPr lang="en-US"/>
          </a:p>
        </p:txBody>
      </p:sp>
    </p:spTree>
    <p:extLst>
      <p:ext uri="{BB962C8B-B14F-4D97-AF65-F5344CB8AC3E}">
        <p14:creationId xmlns:p14="http://schemas.microsoft.com/office/powerpoint/2010/main" val="33599079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Gate driver increases current and inverts waveform.</a:t>
            </a:r>
          </a:p>
          <a:p>
            <a:endParaRPr lang="en-US"/>
          </a:p>
          <a:p>
            <a:endParaRPr lang="en-US"/>
          </a:p>
        </p:txBody>
      </p:sp>
      <p:sp>
        <p:nvSpPr>
          <p:cNvPr id="4" name="Slide Number Placeholder 3"/>
          <p:cNvSpPr>
            <a:spLocks noGrp="1"/>
          </p:cNvSpPr>
          <p:nvPr>
            <p:ph type="sldNum" sz="quarter" idx="5"/>
          </p:nvPr>
        </p:nvSpPr>
        <p:spPr/>
        <p:txBody>
          <a:bodyPr/>
          <a:lstStyle/>
          <a:p>
            <a:fld id="{E73D99C8-0FC4-4326-8B9A-0B1582242D0E}" type="slidenum">
              <a:rPr lang="en-US" smtClean="0"/>
              <a:t>11</a:t>
            </a:fld>
            <a:endParaRPr lang="en-US"/>
          </a:p>
        </p:txBody>
      </p:sp>
    </p:spTree>
    <p:extLst>
      <p:ext uri="{BB962C8B-B14F-4D97-AF65-F5344CB8AC3E}">
        <p14:creationId xmlns:p14="http://schemas.microsoft.com/office/powerpoint/2010/main" val="3464409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a:t>Click to edit Master title style</a:t>
            </a:r>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latin typeface="+mn-lt"/>
              </a:defRPr>
            </a:lvl1pPr>
          </a:lstStyle>
          <a:p>
            <a:fld id="{11A6662E-FAF4-44BC-88B5-85A7CBFB6D30}" type="datetime1">
              <a:rPr lang="en-US" smtClean="0"/>
              <a:pPr/>
              <a:t>12/13/2023</a:t>
            </a:fld>
            <a:endParaRPr lang="en-US"/>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latin typeface="+mn-lt"/>
              </a:defRPr>
            </a:lvl1pPr>
          </a:lstStyle>
          <a:p>
            <a:r>
              <a:rPr lang="en-US"/>
              <a:t>Short Circuits</a:t>
            </a:r>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latin typeface="+mn-l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180037600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12/13/2023</a:t>
            </a:fld>
            <a:endParaRPr lang="en-US"/>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r>
              <a:rPr lang="en-US"/>
              <a:t>Short Circuits</a:t>
            </a:r>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573220571"/>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12/13/2023</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r>
              <a:rPr lang="en-US"/>
              <a:t>Short Circuits</a:t>
            </a:r>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95310936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12/13/2023</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r>
              <a:rPr lang="en-US"/>
              <a:t>Short Circuits</a:t>
            </a:r>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98568712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839788" y="17526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839788" y="2666999"/>
            <a:ext cx="5157787"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183188"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12/13/2023</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r>
              <a:rPr lang="en-US"/>
              <a:t>Short Circuits</a:t>
            </a:r>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62395379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p:txBody>
          <a:bodyPr/>
          <a:lstStyle/>
          <a:p>
            <a:fld id="{3AB41CFF-90C9-47B3-9DA1-F2BF8D839F7E}" type="datetime1">
              <a:rPr lang="en-US" smtClean="0"/>
              <a:t>12/13/2023</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r>
              <a:rPr lang="en-US"/>
              <a:t>Short Circuits</a:t>
            </a:r>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657256266"/>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12/13/2023</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r>
              <a:rPr lang="en-US"/>
              <a:t>Short Circuits</a:t>
            </a:r>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234280904"/>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12/13/2023</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r>
              <a:rPr lang="en-US"/>
              <a:t>Short Circuits</a:t>
            </a:r>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8269491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12/13/2023</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r>
              <a:rPr lang="en-US"/>
              <a:t>Short Circuits</a:t>
            </a:r>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983151399"/>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12/13/2023</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r>
              <a:rPr lang="en-US"/>
              <a:t>Short Circuits</a:t>
            </a:r>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8790634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12/13/2023</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r>
              <a:rPr lang="en-US"/>
              <a:t>Short Circuits</a:t>
            </a:r>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65484153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53000"/>
            <a:lum/>
          </a:blip>
          <a:srcRect/>
          <a:stretch>
            <a:fillRect t="-9000" b="-9000"/>
          </a:stretch>
        </a:blip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0" name="Picture 39">
            <a:extLst>
              <a:ext uri="{FF2B5EF4-FFF2-40B4-BE49-F238E27FC236}">
                <a16:creationId xmlns:a16="http://schemas.microsoft.com/office/drawing/2014/main" id="{1CB7E8AE-A3AC-4BB7-A5C6-F00EC697B265}"/>
              </a:ext>
            </a:extLst>
          </p:cNvPr>
          <p:cNvPicPr>
            <a:picLocks noChangeAspect="1"/>
          </p:cNvPicPr>
          <p:nvPr/>
        </p:nvPicPr>
        <p:blipFill>
          <a:blip r:embed="rId14">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fld id="{57E0CF6C-748E-4B7A-BC8B-3011EF78ED13}" type="datetime1">
              <a:rPr lang="en-US" smtClean="0"/>
              <a:pPr/>
              <a:t>12/13/2023</a:t>
            </a:fld>
            <a:endParaRPr lang="en-US"/>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r>
              <a:rPr lang="en-US"/>
              <a:t>Short Circuits</a:t>
            </a:r>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388353748"/>
      </p:ext>
    </p:extLst>
  </p:cSld>
  <p:clrMap bg1="lt1" tx1="dk1" bg2="lt2" tx2="dk2" accent1="accent1" accent2="accent2" accent3="accent3" accent4="accent4" accent5="accent5" accent6="accent6" hlink="hlink" folHlink="folHlink"/>
  <p:sldLayoutIdLst>
    <p:sldLayoutId id="2147483684" r:id="rId1"/>
    <p:sldLayoutId id="2147483674" r:id="rId2"/>
    <p:sldLayoutId id="2147483675" r:id="rId3"/>
    <p:sldLayoutId id="2147483676" r:id="rId4"/>
    <p:sldLayoutId id="2147483677" r:id="rId5"/>
    <p:sldLayoutId id="2147483678" r:id="rId6"/>
    <p:sldLayoutId id="2147483679" r:id="rId7"/>
    <p:sldLayoutId id="2147483683" r:id="rId8"/>
    <p:sldLayoutId id="2147483680" r:id="rId9"/>
    <p:sldLayoutId id="2147483681" r:id="rId10"/>
    <p:sldLayoutId id="2147483682" r:id="rId11"/>
  </p:sldLayoutIdLst>
  <p:hf hdr="0" ftr="0" dt="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 Id="rId6" Type="http://schemas.openxmlformats.org/officeDocument/2006/relationships/image" Target="../media/image22.png"/><Relationship Id="rId5" Type="http://schemas.openxmlformats.org/officeDocument/2006/relationships/image" Target="../media/image17.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5.xml"/><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7FDDF72-DE39-4F99-A3C1-DD9D7815D7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6" name="Rectangle 15">
            <a:extLst>
              <a:ext uri="{FF2B5EF4-FFF2-40B4-BE49-F238E27FC236}">
                <a16:creationId xmlns:a16="http://schemas.microsoft.com/office/drawing/2014/main" id="{5E4ECE80-3AD1-450C-B62A-98788F1939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 name="Rectangle 5">
            <a:extLst>
              <a:ext uri="{FF2B5EF4-FFF2-40B4-BE49-F238E27FC236}">
                <a16:creationId xmlns:a16="http://schemas.microsoft.com/office/drawing/2014/main" id="{F1724036-635B-BB67-7F88-7D25748E9BA1}"/>
              </a:ext>
            </a:extLst>
          </p:cNvPr>
          <p:cNvSpPr/>
          <p:nvPr/>
        </p:nvSpPr>
        <p:spPr>
          <a:xfrm>
            <a:off x="0" y="0"/>
            <a:ext cx="12179908" cy="70912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Rectangle 16">
            <a:extLst>
              <a:ext uri="{FF2B5EF4-FFF2-40B4-BE49-F238E27FC236}">
                <a16:creationId xmlns:a16="http://schemas.microsoft.com/office/drawing/2014/main" id="{C4056FD6-9767-4B1A-ACC2-9883F6A5B8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79928" cy="6858000"/>
          </a:xfrm>
          <a:prstGeom prst="rect">
            <a:avLst/>
          </a:prstGeom>
          <a:blipFill dpi="0" rotWithShape="1">
            <a:blip r:embed="rId2">
              <a:alphaModFix amt="20000"/>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F1534403-8DE1-ABE2-08C2-33DDCD294A5C}"/>
              </a:ext>
            </a:extLst>
          </p:cNvPr>
          <p:cNvPicPr>
            <a:picLocks noChangeAspect="1"/>
          </p:cNvPicPr>
          <p:nvPr/>
        </p:nvPicPr>
        <p:blipFill rotWithShape="1">
          <a:blip r:embed="rId3">
            <a:alphaModFix amt="5000"/>
            <a:extLst>
              <a:ext uri="{28A0092B-C50C-407E-A947-70E740481C1C}">
                <a14:useLocalDpi xmlns:a14="http://schemas.microsoft.com/office/drawing/2010/main" val="0"/>
              </a:ext>
            </a:extLst>
          </a:blip>
          <a:srcRect t="7598" b="7598"/>
          <a:stretch/>
        </p:blipFill>
        <p:spPr>
          <a:xfrm>
            <a:off x="14904" y="117300"/>
            <a:ext cx="12188932" cy="6856614"/>
          </a:xfrm>
          <a:prstGeom prst="rect">
            <a:avLst/>
          </a:prstGeom>
        </p:spPr>
      </p:pic>
      <p:sp>
        <p:nvSpPr>
          <p:cNvPr id="2" name="Title 1"/>
          <p:cNvSpPr>
            <a:spLocks noGrp="1"/>
          </p:cNvSpPr>
          <p:nvPr>
            <p:ph type="ctrTitle"/>
          </p:nvPr>
        </p:nvSpPr>
        <p:spPr>
          <a:xfrm>
            <a:off x="1014335" y="872171"/>
            <a:ext cx="10190071" cy="1916049"/>
          </a:xfrm>
        </p:spPr>
        <p:txBody>
          <a:bodyPr anchor="b">
            <a:normAutofit/>
          </a:bodyPr>
          <a:lstStyle/>
          <a:p>
            <a:r>
              <a:rPr lang="en-US" sz="5200">
                <a:solidFill>
                  <a:schemeClr val="tx1"/>
                </a:solidFill>
                <a:cs typeface="Calibri Light"/>
              </a:rPr>
              <a:t>Final Presentation: Real-Time Systems Lab </a:t>
            </a:r>
            <a:endParaRPr lang="en-US" sz="5200">
              <a:solidFill>
                <a:schemeClr val="tx1"/>
              </a:solidFill>
            </a:endParaRPr>
          </a:p>
        </p:txBody>
      </p:sp>
      <p:sp>
        <p:nvSpPr>
          <p:cNvPr id="3" name="Subtitle 2"/>
          <p:cNvSpPr>
            <a:spLocks noGrp="1"/>
          </p:cNvSpPr>
          <p:nvPr>
            <p:ph type="subTitle" idx="1"/>
          </p:nvPr>
        </p:nvSpPr>
        <p:spPr>
          <a:xfrm>
            <a:off x="1194778" y="4801383"/>
            <a:ext cx="9781327" cy="2056617"/>
          </a:xfrm>
        </p:spPr>
        <p:txBody>
          <a:bodyPr vert="horz" lIns="91440" tIns="45720" rIns="91440" bIns="45720" rtlCol="0" anchor="t">
            <a:normAutofit/>
          </a:bodyPr>
          <a:lstStyle/>
          <a:p>
            <a:r>
              <a:rPr lang="en-US" sz="2200">
                <a:solidFill>
                  <a:schemeClr val="tx1"/>
                </a:solidFill>
                <a:cs typeface="Calibri"/>
              </a:rPr>
              <a:t>Group Name: Short Circuits</a:t>
            </a:r>
          </a:p>
          <a:p>
            <a:r>
              <a:rPr lang="en-US" sz="2200">
                <a:solidFill>
                  <a:schemeClr val="tx1"/>
                </a:solidFill>
                <a:cs typeface="Calibri"/>
              </a:rPr>
              <a:t>(Nicholas George, Mady Hines, Riley Hudson, Jacob Vaught)</a:t>
            </a:r>
          </a:p>
        </p:txBody>
      </p:sp>
    </p:spTree>
    <p:extLst>
      <p:ext uri="{BB962C8B-B14F-4D97-AF65-F5344CB8AC3E}">
        <p14:creationId xmlns:p14="http://schemas.microsoft.com/office/powerpoint/2010/main" val="10985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2000"/>
                                  </p:stCondLst>
                                  <p:iterate type="lt">
                                    <p:tmPct val="10000"/>
                                  </p:iterate>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400"/>
                                        <p:tgtEl>
                                          <p:spTgt spid="3">
                                            <p:txEl>
                                              <p:pRg st="1" end="1"/>
                                            </p:txEl>
                                          </p:spTgt>
                                        </p:tgtEl>
                                      </p:cBhvr>
                                    </p:animEffect>
                                  </p:childTnLst>
                                </p:cTn>
                              </p:par>
                              <p:par>
                                <p:cTn id="13" presetID="10" presetClass="entr" presetSubtype="0" fill="hold" grpId="0" nodeType="withEffect">
                                  <p:stCondLst>
                                    <p:cond delay="1000"/>
                                  </p:stCondLst>
                                  <p:iterate type="lt">
                                    <p:tmPct val="10000"/>
                                  </p:iterate>
                                  <p:childTnLst>
                                    <p:set>
                                      <p:cBhvr>
                                        <p:cTn id="14" dur="1" fill="hold">
                                          <p:stCondLst>
                                            <p:cond delay="0"/>
                                          </p:stCondLst>
                                        </p:cTn>
                                        <p:tgtEl>
                                          <p:spTgt spid="2"/>
                                        </p:tgtEl>
                                        <p:attrNameLst>
                                          <p:attrName>style.visibility</p:attrName>
                                        </p:attrNameLst>
                                      </p:cBhvr>
                                      <p:to>
                                        <p:strVal val="visible"/>
                                      </p:to>
                                    </p:set>
                                    <p:animEffect transition="in" filter="fade">
                                      <p:cBhvr>
                                        <p:cTn id="15"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5B9EE8-494E-96F0-3F66-8B6A95D74981}"/>
              </a:ext>
            </a:extLst>
          </p:cNvPr>
          <p:cNvSpPr>
            <a:spLocks noGrp="1"/>
          </p:cNvSpPr>
          <p:nvPr>
            <p:ph type="title"/>
          </p:nvPr>
        </p:nvSpPr>
        <p:spPr>
          <a:xfrm>
            <a:off x="1198182" y="381000"/>
            <a:ext cx="10003218" cy="1600124"/>
          </a:xfrm>
        </p:spPr>
        <p:txBody>
          <a:bodyPr>
            <a:normAutofit/>
          </a:bodyPr>
          <a:lstStyle/>
          <a:p>
            <a:r>
              <a:rPr lang="en-US"/>
              <a:t>Agenda</a:t>
            </a:r>
          </a:p>
        </p:txBody>
      </p:sp>
      <p:sp>
        <p:nvSpPr>
          <p:cNvPr id="3" name="Content Placeholder 2">
            <a:extLst>
              <a:ext uri="{FF2B5EF4-FFF2-40B4-BE49-F238E27FC236}">
                <a16:creationId xmlns:a16="http://schemas.microsoft.com/office/drawing/2014/main" id="{8C2543EC-7FC9-7E0C-5139-5884A6881664}"/>
              </a:ext>
            </a:extLst>
          </p:cNvPr>
          <p:cNvSpPr>
            <a:spLocks noGrp="1"/>
          </p:cNvSpPr>
          <p:nvPr>
            <p:ph idx="1"/>
          </p:nvPr>
        </p:nvSpPr>
        <p:spPr>
          <a:xfrm>
            <a:off x="1196488" y="2449049"/>
            <a:ext cx="8785712" cy="4412728"/>
          </a:xfrm>
        </p:spPr>
        <p:txBody>
          <a:bodyPr vert="horz" lIns="91440" tIns="45720" rIns="91440" bIns="45720" rtlCol="0" anchor="ctr">
            <a:normAutofit lnSpcReduction="10000"/>
          </a:bodyPr>
          <a:lstStyle/>
          <a:p>
            <a:pPr marL="514350" indent="-514350">
              <a:lnSpc>
                <a:spcPct val="90000"/>
              </a:lnSpc>
              <a:buAutoNum type="arabicPeriod"/>
            </a:pPr>
            <a:r>
              <a:rPr lang="en-US" sz="1800">
                <a:solidFill>
                  <a:schemeClr val="tx1">
                    <a:alpha val="80000"/>
                  </a:schemeClr>
                </a:solidFill>
                <a:latin typeface="Avenir Next LT Pro"/>
                <a:cs typeface="Arial"/>
              </a:rPr>
              <a:t>Team Introduction </a:t>
            </a:r>
          </a:p>
          <a:p>
            <a:pPr marL="514350" indent="-514350">
              <a:lnSpc>
                <a:spcPct val="90000"/>
              </a:lnSpc>
              <a:buAutoNum type="arabicPeriod"/>
            </a:pPr>
            <a:r>
              <a:rPr lang="en-US" sz="1800">
                <a:solidFill>
                  <a:srgbClr val="000000"/>
                </a:solidFill>
                <a:latin typeface="Avenir Next LT Pro"/>
                <a:cs typeface="Arial"/>
              </a:rPr>
              <a:t>Team Organization</a:t>
            </a:r>
          </a:p>
          <a:p>
            <a:pPr marL="514350" indent="-514350">
              <a:lnSpc>
                <a:spcPct val="90000"/>
              </a:lnSpc>
              <a:buAutoNum type="arabicPeriod"/>
            </a:pPr>
            <a:r>
              <a:rPr lang="en-US" sz="1800">
                <a:solidFill>
                  <a:srgbClr val="000000"/>
                </a:solidFill>
                <a:latin typeface="Avenir Next LT Pro"/>
                <a:cs typeface="Arial"/>
              </a:rPr>
              <a:t>Project Overview</a:t>
            </a:r>
            <a:endParaRPr lang="en-US" sz="1800">
              <a:solidFill>
                <a:srgbClr val="000000"/>
              </a:solidFill>
            </a:endParaRPr>
          </a:p>
          <a:p>
            <a:pPr marL="514350" indent="-514350">
              <a:lnSpc>
                <a:spcPct val="90000"/>
              </a:lnSpc>
              <a:buAutoNum type="arabicPeriod"/>
            </a:pPr>
            <a:r>
              <a:rPr lang="en-US" sz="1800">
                <a:solidFill>
                  <a:srgbClr val="000000"/>
                </a:solidFill>
                <a:latin typeface="Avenir Next LT Pro"/>
                <a:cs typeface="Arial"/>
              </a:rPr>
              <a:t>Design Philosophy</a:t>
            </a:r>
            <a:endParaRPr lang="en-US" sz="1800">
              <a:solidFill>
                <a:srgbClr val="000000"/>
              </a:solidFill>
            </a:endParaRPr>
          </a:p>
          <a:p>
            <a:pPr marL="514350" indent="-514350">
              <a:lnSpc>
                <a:spcPct val="90000"/>
              </a:lnSpc>
              <a:buAutoNum type="arabicPeriod"/>
            </a:pPr>
            <a:r>
              <a:rPr lang="en-US" sz="1800">
                <a:solidFill>
                  <a:srgbClr val="000000"/>
                </a:solidFill>
                <a:latin typeface="Avenir Next LT Pro"/>
                <a:cs typeface="Arial"/>
              </a:rPr>
              <a:t>Project Status</a:t>
            </a:r>
            <a:endParaRPr lang="en-US" sz="1800">
              <a:solidFill>
                <a:srgbClr val="000000"/>
              </a:solidFill>
            </a:endParaRPr>
          </a:p>
          <a:p>
            <a:pPr marL="514350" indent="-514350">
              <a:lnSpc>
                <a:spcPct val="90000"/>
              </a:lnSpc>
              <a:buAutoNum type="arabicPeriod"/>
            </a:pPr>
            <a:r>
              <a:rPr lang="en-US" sz="1800">
                <a:solidFill>
                  <a:srgbClr val="000000"/>
                </a:solidFill>
                <a:latin typeface="Avenir Next LT Pro"/>
                <a:cs typeface="Arial"/>
              </a:rPr>
              <a:t>Problems and Concerns</a:t>
            </a:r>
          </a:p>
          <a:p>
            <a:pPr marL="514350" indent="-514350">
              <a:lnSpc>
                <a:spcPct val="90000"/>
              </a:lnSpc>
              <a:buAutoNum type="arabicPeriod"/>
            </a:pPr>
            <a:r>
              <a:rPr lang="en-US" sz="1800">
                <a:solidFill>
                  <a:srgbClr val="000000"/>
                </a:solidFill>
                <a:latin typeface="Avenir Next LT Pro"/>
                <a:cs typeface="Arial"/>
              </a:rPr>
              <a:t>Mady's Technical Contributions- </a:t>
            </a:r>
            <a:r>
              <a:rPr lang="en-US" sz="1800">
                <a:solidFill>
                  <a:srgbClr val="000000"/>
                </a:solidFill>
                <a:ea typeface="+mn-lt"/>
                <a:cs typeface="+mn-lt"/>
              </a:rPr>
              <a:t>[insert Subsystem]</a:t>
            </a:r>
            <a:endParaRPr lang="en-US" sz="1800">
              <a:solidFill>
                <a:srgbClr val="000000"/>
              </a:solidFill>
            </a:endParaRPr>
          </a:p>
          <a:p>
            <a:pPr marL="514350" indent="-514350">
              <a:lnSpc>
                <a:spcPct val="90000"/>
              </a:lnSpc>
              <a:buAutoNum type="arabicPeriod"/>
            </a:pPr>
            <a:r>
              <a:rPr lang="en-US" sz="1800">
                <a:solidFill>
                  <a:srgbClr val="000000"/>
                </a:solidFill>
                <a:latin typeface="Avenir Next LT Pro"/>
                <a:cs typeface="Arial"/>
              </a:rPr>
              <a:t>Jacob's Technical Contributions- </a:t>
            </a:r>
            <a:r>
              <a:rPr lang="en-US" sz="1800">
                <a:solidFill>
                  <a:srgbClr val="000000"/>
                </a:solidFill>
                <a:ea typeface="+mn-lt"/>
                <a:cs typeface="+mn-lt"/>
              </a:rPr>
              <a:t>[insert Subsystem]</a:t>
            </a:r>
            <a:endParaRPr lang="en-US" sz="1800">
              <a:solidFill>
                <a:srgbClr val="000000"/>
              </a:solidFill>
            </a:endParaRPr>
          </a:p>
          <a:p>
            <a:pPr marL="514350" indent="-514350">
              <a:lnSpc>
                <a:spcPct val="90000"/>
              </a:lnSpc>
              <a:buAutoNum type="arabicPeriod"/>
            </a:pPr>
            <a:r>
              <a:rPr lang="en-US" sz="1800">
                <a:solidFill>
                  <a:srgbClr val="000000"/>
                </a:solidFill>
                <a:latin typeface="Avenir Next LT Pro"/>
                <a:cs typeface="Arial"/>
              </a:rPr>
              <a:t>Nicholas' Technical Contributions- </a:t>
            </a:r>
            <a:r>
              <a:rPr lang="en-US" sz="1800">
                <a:solidFill>
                  <a:srgbClr val="000000"/>
                </a:solidFill>
                <a:ea typeface="+mn-lt"/>
                <a:cs typeface="+mn-lt"/>
              </a:rPr>
              <a:t>[insert Subsystem]</a:t>
            </a:r>
            <a:endParaRPr lang="en-US" sz="1800">
              <a:solidFill>
                <a:srgbClr val="000000"/>
              </a:solidFill>
            </a:endParaRPr>
          </a:p>
          <a:p>
            <a:pPr marL="514350" indent="-514350">
              <a:lnSpc>
                <a:spcPct val="90000"/>
              </a:lnSpc>
              <a:buAutoNum type="arabicPeriod"/>
            </a:pPr>
            <a:r>
              <a:rPr lang="en-US" sz="1800">
                <a:solidFill>
                  <a:srgbClr val="000000"/>
                </a:solidFill>
                <a:latin typeface="Avenir Next LT Pro"/>
                <a:cs typeface="Arial"/>
              </a:rPr>
              <a:t>Riley's Technical Contributions- [</a:t>
            </a:r>
            <a:r>
              <a:rPr lang="en-US" sz="1800">
                <a:solidFill>
                  <a:srgbClr val="000000"/>
                </a:solidFill>
                <a:ea typeface="+mn-lt"/>
                <a:cs typeface="+mn-lt"/>
              </a:rPr>
              <a:t>insert </a:t>
            </a:r>
            <a:r>
              <a:rPr lang="en-US" sz="1800">
                <a:solidFill>
                  <a:srgbClr val="000000"/>
                </a:solidFill>
                <a:latin typeface="Avenir Next LT Pro"/>
                <a:cs typeface="Arial"/>
              </a:rPr>
              <a:t>Subsystem]</a:t>
            </a:r>
            <a:endParaRPr lang="en-US" sz="1800">
              <a:solidFill>
                <a:srgbClr val="000000"/>
              </a:solidFill>
            </a:endParaRPr>
          </a:p>
          <a:p>
            <a:pPr marL="514350" indent="-514350">
              <a:buAutoNum type="arabicPeriod"/>
            </a:pPr>
            <a:r>
              <a:rPr lang="en-US" sz="1800">
                <a:solidFill>
                  <a:srgbClr val="000000"/>
                </a:solidFill>
                <a:latin typeface="Avenir Next LT Pro"/>
                <a:cs typeface="Arial"/>
              </a:rPr>
              <a:t>Conclusion</a:t>
            </a:r>
            <a:endParaRPr lang="en-US">
              <a:solidFill>
                <a:srgbClr val="000000"/>
              </a:solidFill>
            </a:endParaRPr>
          </a:p>
          <a:p>
            <a:pPr marL="514350" indent="-514350">
              <a:buAutoNum type="arabicPeriod"/>
            </a:pPr>
            <a:r>
              <a:rPr lang="en-US" sz="1800">
                <a:solidFill>
                  <a:srgbClr val="000000">
                    <a:alpha val="80000"/>
                  </a:srgbClr>
                </a:solidFill>
                <a:cs typeface="Arial"/>
              </a:rPr>
              <a:t>Questions</a:t>
            </a:r>
          </a:p>
          <a:p>
            <a:pPr marL="514350" indent="-514350">
              <a:buAutoNum type="arabicPeriod"/>
            </a:pPr>
            <a:endParaRPr lang="en-US" sz="1800">
              <a:solidFill>
                <a:srgbClr val="000000">
                  <a:alpha val="80000"/>
                </a:srgbClr>
              </a:solidFill>
            </a:endParaRPr>
          </a:p>
        </p:txBody>
      </p:sp>
      <p:sp>
        <p:nvSpPr>
          <p:cNvPr id="4" name="Slide Number Placeholder 3">
            <a:extLst>
              <a:ext uri="{FF2B5EF4-FFF2-40B4-BE49-F238E27FC236}">
                <a16:creationId xmlns:a16="http://schemas.microsoft.com/office/drawing/2014/main" id="{3617EE15-0D78-D100-C5A6-A07082973A67}"/>
              </a:ext>
            </a:extLst>
          </p:cNvPr>
          <p:cNvSpPr>
            <a:spLocks noGrp="1"/>
          </p:cNvSpPr>
          <p:nvPr>
            <p:ph type="sldNum" sz="quarter" idx="12"/>
          </p:nvPr>
        </p:nvSpPr>
        <p:spPr>
          <a:xfrm>
            <a:off x="10186908" y="6327648"/>
            <a:ext cx="1166892"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2</a:t>
            </a:fld>
            <a:endParaRPr lang="en-US">
              <a:solidFill>
                <a:schemeClr val="tx1">
                  <a:alpha val="60000"/>
                </a:schemeClr>
              </a:solidFill>
            </a:endParaRPr>
          </a:p>
        </p:txBody>
      </p:sp>
    </p:spTree>
    <p:extLst>
      <p:ext uri="{BB962C8B-B14F-4D97-AF65-F5344CB8AC3E}">
        <p14:creationId xmlns:p14="http://schemas.microsoft.com/office/powerpoint/2010/main" val="2853428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150F5-BEB3-6EE9-95DB-8F38B1631D63}"/>
              </a:ext>
            </a:extLst>
          </p:cNvPr>
          <p:cNvSpPr>
            <a:spLocks noGrp="1"/>
          </p:cNvSpPr>
          <p:nvPr>
            <p:ph type="title"/>
          </p:nvPr>
        </p:nvSpPr>
        <p:spPr/>
        <p:txBody>
          <a:bodyPr/>
          <a:lstStyle/>
          <a:p>
            <a:r>
              <a:rPr lang="en-US"/>
              <a:t>Project Description</a:t>
            </a:r>
          </a:p>
        </p:txBody>
      </p:sp>
      <p:sp>
        <p:nvSpPr>
          <p:cNvPr id="3" name="Content Placeholder 2">
            <a:extLst>
              <a:ext uri="{FF2B5EF4-FFF2-40B4-BE49-F238E27FC236}">
                <a16:creationId xmlns:a16="http://schemas.microsoft.com/office/drawing/2014/main" id="{461197D0-2C6D-62D8-AE71-8E2929CA2C55}"/>
              </a:ext>
            </a:extLst>
          </p:cNvPr>
          <p:cNvSpPr>
            <a:spLocks noGrp="1"/>
          </p:cNvSpPr>
          <p:nvPr>
            <p:ph idx="1"/>
          </p:nvPr>
        </p:nvSpPr>
        <p:spPr/>
        <p:txBody>
          <a:bodyPr vert="horz" lIns="91440" tIns="45720" rIns="91440" bIns="45720" rtlCol="0" anchor="t">
            <a:normAutofit/>
          </a:bodyPr>
          <a:lstStyle/>
          <a:p>
            <a:r>
              <a:rPr lang="en-US">
                <a:solidFill>
                  <a:srgbClr val="FFFFFF"/>
                </a:solidFill>
                <a:ea typeface="+mn-lt"/>
                <a:cs typeface="+mn-lt"/>
              </a:rPr>
              <a:t>This project involves the development of an electric autonomous car that integrates advanced control systems and mechatronics. The focus is on designing and implementing real-time embedded control applications, modeling and analyzing mechatronic systems, and developing efficient control strategies using both open-loop and closed-loop systems.</a:t>
            </a:r>
          </a:p>
        </p:txBody>
      </p:sp>
      <p:sp>
        <p:nvSpPr>
          <p:cNvPr id="5" name="Slide Number Placeholder 4">
            <a:extLst>
              <a:ext uri="{FF2B5EF4-FFF2-40B4-BE49-F238E27FC236}">
                <a16:creationId xmlns:a16="http://schemas.microsoft.com/office/drawing/2014/main" id="{963B95A7-E4A6-333A-68DD-4189CB61E9F8}"/>
              </a:ext>
            </a:extLst>
          </p:cNvPr>
          <p:cNvSpPr>
            <a:spLocks noGrp="1"/>
          </p:cNvSpPr>
          <p:nvPr>
            <p:ph type="sldNum" sz="quarter" idx="12"/>
          </p:nvPr>
        </p:nvSpPr>
        <p:spPr/>
        <p:txBody>
          <a:bodyPr/>
          <a:lstStyle/>
          <a:p>
            <a:fld id="{73B850FF-6169-4056-8077-06FFA93A5366}" type="slidenum">
              <a:rPr lang="en-US" smtClean="0"/>
              <a:t>3</a:t>
            </a:fld>
            <a:endParaRPr lang="en-US"/>
          </a:p>
        </p:txBody>
      </p:sp>
    </p:spTree>
    <p:extLst>
      <p:ext uri="{BB962C8B-B14F-4D97-AF65-F5344CB8AC3E}">
        <p14:creationId xmlns:p14="http://schemas.microsoft.com/office/powerpoint/2010/main" val="2183130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5" name="Rectangle 14">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0150F5-BEB3-6EE9-95DB-8F38B1631D63}"/>
              </a:ext>
            </a:extLst>
          </p:cNvPr>
          <p:cNvSpPr>
            <a:spLocks noGrp="1"/>
          </p:cNvSpPr>
          <p:nvPr>
            <p:ph type="title"/>
          </p:nvPr>
        </p:nvSpPr>
        <p:spPr>
          <a:xfrm>
            <a:off x="838201" y="559813"/>
            <a:ext cx="2819399" cy="5577934"/>
          </a:xfrm>
        </p:spPr>
        <p:txBody>
          <a:bodyPr>
            <a:normAutofit/>
          </a:bodyPr>
          <a:lstStyle/>
          <a:p>
            <a:r>
              <a:rPr lang="en-US" sz="3100"/>
              <a:t>Key Components and Processes</a:t>
            </a:r>
          </a:p>
        </p:txBody>
      </p:sp>
      <p:sp>
        <p:nvSpPr>
          <p:cNvPr id="5" name="Slide Number Placeholder 4">
            <a:extLst>
              <a:ext uri="{FF2B5EF4-FFF2-40B4-BE49-F238E27FC236}">
                <a16:creationId xmlns:a16="http://schemas.microsoft.com/office/drawing/2014/main" id="{963B95A7-E4A6-333A-68DD-4189CB61E9F8}"/>
              </a:ext>
            </a:extLst>
          </p:cNvPr>
          <p:cNvSpPr>
            <a:spLocks noGrp="1"/>
          </p:cNvSpPr>
          <p:nvPr>
            <p:ph type="sldNum" sz="quarter" idx="12"/>
          </p:nvPr>
        </p:nvSpPr>
        <p:spPr>
          <a:xfrm>
            <a:off x="10668000" y="6327648"/>
            <a:ext cx="6858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4</a:t>
            </a:fld>
            <a:endParaRPr lang="en-US">
              <a:solidFill>
                <a:schemeClr val="tx1">
                  <a:alpha val="60000"/>
                </a:schemeClr>
              </a:solidFill>
            </a:endParaRPr>
          </a:p>
        </p:txBody>
      </p:sp>
      <p:graphicFrame>
        <p:nvGraphicFramePr>
          <p:cNvPr id="7" name="Content Placeholder 2">
            <a:extLst>
              <a:ext uri="{FF2B5EF4-FFF2-40B4-BE49-F238E27FC236}">
                <a16:creationId xmlns:a16="http://schemas.microsoft.com/office/drawing/2014/main" id="{8F7FA30B-15BA-CB12-19FC-BDCCB3939B05}"/>
              </a:ext>
            </a:extLst>
          </p:cNvPr>
          <p:cNvGraphicFramePr>
            <a:graphicFrameLocks noGrp="1"/>
          </p:cNvGraphicFramePr>
          <p:nvPr>
            <p:ph idx="1"/>
            <p:extLst>
              <p:ext uri="{D42A27DB-BD31-4B8C-83A1-F6EECF244321}">
                <p14:modId xmlns:p14="http://schemas.microsoft.com/office/powerpoint/2010/main" val="1259554018"/>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17994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4" name="Rectangle 13">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6" name="Picture 15">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100150F5-BEB3-6EE9-95DB-8F38B1631D63}"/>
              </a:ext>
            </a:extLst>
          </p:cNvPr>
          <p:cNvSpPr>
            <a:spLocks noGrp="1"/>
          </p:cNvSpPr>
          <p:nvPr>
            <p:ph type="title"/>
          </p:nvPr>
        </p:nvSpPr>
        <p:spPr>
          <a:xfrm>
            <a:off x="838200" y="559813"/>
            <a:ext cx="5638800" cy="1573786"/>
          </a:xfrm>
        </p:spPr>
        <p:txBody>
          <a:bodyPr>
            <a:normAutofit/>
          </a:bodyPr>
          <a:lstStyle/>
          <a:p>
            <a:r>
              <a:rPr lang="en-US">
                <a:solidFill>
                  <a:schemeClr val="tx2"/>
                </a:solidFill>
              </a:rPr>
              <a:t>Full System Block Diagram</a:t>
            </a:r>
          </a:p>
        </p:txBody>
      </p:sp>
      <p:sp>
        <p:nvSpPr>
          <p:cNvPr id="9" name="Content Placeholder 8">
            <a:extLst>
              <a:ext uri="{FF2B5EF4-FFF2-40B4-BE49-F238E27FC236}">
                <a16:creationId xmlns:a16="http://schemas.microsoft.com/office/drawing/2014/main" id="{D9FDD5D0-7F6D-B4EA-B5C1-EA322010364C}"/>
              </a:ext>
            </a:extLst>
          </p:cNvPr>
          <p:cNvSpPr>
            <a:spLocks noGrp="1"/>
          </p:cNvSpPr>
          <p:nvPr>
            <p:ph idx="1"/>
          </p:nvPr>
        </p:nvSpPr>
        <p:spPr>
          <a:xfrm>
            <a:off x="6687160" y="559814"/>
            <a:ext cx="4633486" cy="1573786"/>
          </a:xfrm>
        </p:spPr>
        <p:txBody>
          <a:bodyPr>
            <a:normAutofit/>
          </a:bodyPr>
          <a:lstStyle/>
          <a:p>
            <a:endParaRPr lang="en-US" sz="1800">
              <a:solidFill>
                <a:schemeClr val="tx2"/>
              </a:solidFill>
            </a:endParaRPr>
          </a:p>
        </p:txBody>
      </p:sp>
      <p:pic>
        <p:nvPicPr>
          <p:cNvPr id="4" name="Content Placeholder 3" descr="A diagram of electrical components&#10;&#10;Description automatically generated">
            <a:extLst>
              <a:ext uri="{FF2B5EF4-FFF2-40B4-BE49-F238E27FC236}">
                <a16:creationId xmlns:a16="http://schemas.microsoft.com/office/drawing/2014/main" id="{C67ADC38-6F9C-AD21-D68D-BC5F1CA47968}"/>
              </a:ext>
            </a:extLst>
          </p:cNvPr>
          <p:cNvPicPr>
            <a:picLocks noChangeAspect="1"/>
          </p:cNvPicPr>
          <p:nvPr/>
        </p:nvPicPr>
        <p:blipFill>
          <a:blip r:embed="rId3"/>
          <a:stretch>
            <a:fillRect/>
          </a:stretch>
        </p:blipFill>
        <p:spPr>
          <a:xfrm>
            <a:off x="641650" y="2385716"/>
            <a:ext cx="10093039" cy="4284595"/>
          </a:xfrm>
          <a:prstGeom prst="rect">
            <a:avLst/>
          </a:prstGeom>
        </p:spPr>
      </p:pic>
      <p:pic>
        <p:nvPicPr>
          <p:cNvPr id="18" name="Picture 17">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
        <p:nvSpPr>
          <p:cNvPr id="5" name="Slide Number Placeholder 4">
            <a:extLst>
              <a:ext uri="{FF2B5EF4-FFF2-40B4-BE49-F238E27FC236}">
                <a16:creationId xmlns:a16="http://schemas.microsoft.com/office/drawing/2014/main" id="{963B95A7-E4A6-333A-68DD-4189CB61E9F8}"/>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5</a:t>
            </a:fld>
            <a:endParaRPr lang="en-US">
              <a:solidFill>
                <a:schemeClr val="tx1">
                  <a:alpha val="60000"/>
                </a:schemeClr>
              </a:solidFill>
            </a:endParaRPr>
          </a:p>
        </p:txBody>
      </p:sp>
    </p:spTree>
    <p:extLst>
      <p:ext uri="{BB962C8B-B14F-4D97-AF65-F5344CB8AC3E}">
        <p14:creationId xmlns:p14="http://schemas.microsoft.com/office/powerpoint/2010/main" val="3870179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4" name="Rectangle 13">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6" name="Picture 15">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100150F5-BEB3-6EE9-95DB-8F38B1631D63}"/>
              </a:ext>
            </a:extLst>
          </p:cNvPr>
          <p:cNvSpPr>
            <a:spLocks noGrp="1"/>
          </p:cNvSpPr>
          <p:nvPr>
            <p:ph type="title"/>
          </p:nvPr>
        </p:nvSpPr>
        <p:spPr>
          <a:xfrm>
            <a:off x="838200" y="559813"/>
            <a:ext cx="5638800" cy="1573786"/>
          </a:xfrm>
        </p:spPr>
        <p:txBody>
          <a:bodyPr>
            <a:normAutofit/>
          </a:bodyPr>
          <a:lstStyle/>
          <a:p>
            <a:r>
              <a:rPr lang="en-US">
                <a:solidFill>
                  <a:schemeClr val="tx2"/>
                </a:solidFill>
              </a:rPr>
              <a:t>Code Block Diagram</a:t>
            </a:r>
          </a:p>
        </p:txBody>
      </p:sp>
      <p:sp>
        <p:nvSpPr>
          <p:cNvPr id="9" name="Content Placeholder 8">
            <a:extLst>
              <a:ext uri="{FF2B5EF4-FFF2-40B4-BE49-F238E27FC236}">
                <a16:creationId xmlns:a16="http://schemas.microsoft.com/office/drawing/2014/main" id="{BE5599BE-2181-8D19-8026-B63759492971}"/>
              </a:ext>
            </a:extLst>
          </p:cNvPr>
          <p:cNvSpPr>
            <a:spLocks noGrp="1"/>
          </p:cNvSpPr>
          <p:nvPr>
            <p:ph idx="1"/>
          </p:nvPr>
        </p:nvSpPr>
        <p:spPr>
          <a:xfrm>
            <a:off x="6687160" y="559814"/>
            <a:ext cx="4633486" cy="1573786"/>
          </a:xfrm>
        </p:spPr>
        <p:txBody>
          <a:bodyPr>
            <a:normAutofit/>
          </a:bodyPr>
          <a:lstStyle/>
          <a:p>
            <a:endParaRPr lang="en-US" sz="1800">
              <a:solidFill>
                <a:schemeClr val="tx2"/>
              </a:solidFill>
            </a:endParaRPr>
          </a:p>
        </p:txBody>
      </p:sp>
      <p:pic>
        <p:nvPicPr>
          <p:cNvPr id="3" name="Content Placeholder 2" descr="A diagram of a program&#10;&#10;Description automatically generated">
            <a:extLst>
              <a:ext uri="{FF2B5EF4-FFF2-40B4-BE49-F238E27FC236}">
                <a16:creationId xmlns:a16="http://schemas.microsoft.com/office/drawing/2014/main" id="{FEE2E64D-E4C6-0482-FEB6-33BB949EBEAF}"/>
              </a:ext>
            </a:extLst>
          </p:cNvPr>
          <p:cNvPicPr>
            <a:picLocks noChangeAspect="1"/>
          </p:cNvPicPr>
          <p:nvPr/>
        </p:nvPicPr>
        <p:blipFill>
          <a:blip r:embed="rId3"/>
          <a:stretch>
            <a:fillRect/>
          </a:stretch>
        </p:blipFill>
        <p:spPr>
          <a:xfrm>
            <a:off x="387440" y="2781367"/>
            <a:ext cx="10944896" cy="3267913"/>
          </a:xfrm>
          <a:prstGeom prst="rect">
            <a:avLst/>
          </a:prstGeom>
        </p:spPr>
      </p:pic>
      <p:pic>
        <p:nvPicPr>
          <p:cNvPr id="18" name="Picture 17">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
        <p:nvSpPr>
          <p:cNvPr id="5" name="Slide Number Placeholder 4">
            <a:extLst>
              <a:ext uri="{FF2B5EF4-FFF2-40B4-BE49-F238E27FC236}">
                <a16:creationId xmlns:a16="http://schemas.microsoft.com/office/drawing/2014/main" id="{963B95A7-E4A6-333A-68DD-4189CB61E9F8}"/>
              </a:ext>
            </a:extLst>
          </p:cNvPr>
          <p:cNvSpPr>
            <a:spLocks noGrp="1"/>
          </p:cNvSpPr>
          <p:nvPr>
            <p:ph type="sldNum" sz="quarter" idx="12"/>
          </p:nvPr>
        </p:nvSpPr>
        <p:spPr>
          <a:xfrm>
            <a:off x="8610600" y="6324600"/>
            <a:ext cx="2743200" cy="365125"/>
          </a:xfrm>
        </p:spPr>
        <p:txBody>
          <a:bodyPr>
            <a:normAutofit/>
          </a:bodyPr>
          <a:lstStyle/>
          <a:p>
            <a:pPr>
              <a:spcAft>
                <a:spcPts val="600"/>
              </a:spcAft>
            </a:pPr>
            <a:fld id="{73B850FF-6169-4056-8077-06FFA93A5366}" type="slidenum">
              <a:rPr lang="en-US">
                <a:solidFill>
                  <a:schemeClr val="tx1">
                    <a:alpha val="60000"/>
                  </a:schemeClr>
                </a:solidFill>
              </a:rPr>
              <a:pPr>
                <a:spcAft>
                  <a:spcPts val="600"/>
                </a:spcAft>
              </a:pPr>
              <a:t>6</a:t>
            </a:fld>
            <a:endParaRPr lang="en-US">
              <a:solidFill>
                <a:schemeClr val="tx1">
                  <a:alpha val="60000"/>
                </a:schemeClr>
              </a:solidFill>
            </a:endParaRPr>
          </a:p>
        </p:txBody>
      </p:sp>
    </p:spTree>
    <p:extLst>
      <p:ext uri="{BB962C8B-B14F-4D97-AF65-F5344CB8AC3E}">
        <p14:creationId xmlns:p14="http://schemas.microsoft.com/office/powerpoint/2010/main" val="3277894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26B0FCFA-8A2E-4F10-87BD-34565BD7C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5" name="Rectangle 14">
            <a:extLst>
              <a:ext uri="{FF2B5EF4-FFF2-40B4-BE49-F238E27FC236}">
                <a16:creationId xmlns:a16="http://schemas.microsoft.com/office/drawing/2014/main" id="{32DA72A5-2775-4FE6-9A97-1C8DEE0E0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7" name="Picture 16">
            <a:extLst>
              <a:ext uri="{FF2B5EF4-FFF2-40B4-BE49-F238E27FC236}">
                <a16:creationId xmlns:a16="http://schemas.microsoft.com/office/drawing/2014/main" id="{28966E53-3C41-4F5A-A432-755BFE5D75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609600" y="533400"/>
            <a:ext cx="2438400" cy="2438400"/>
          </a:xfrm>
          <a:prstGeom prst="rect">
            <a:avLst/>
          </a:prstGeom>
        </p:spPr>
      </p:pic>
      <p:pic>
        <p:nvPicPr>
          <p:cNvPr id="19" name="Picture 18">
            <a:extLst>
              <a:ext uri="{FF2B5EF4-FFF2-40B4-BE49-F238E27FC236}">
                <a16:creationId xmlns:a16="http://schemas.microsoft.com/office/drawing/2014/main" id="{D47F75BB-A3CB-4161-B316-A2A9C88F72D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a:off x="10820400" y="3144779"/>
            <a:ext cx="1371600" cy="2548349"/>
          </a:xfrm>
          <a:prstGeom prst="rect">
            <a:avLst/>
          </a:prstGeom>
        </p:spPr>
      </p:pic>
      <p:sp>
        <p:nvSpPr>
          <p:cNvPr id="2" name="Title 1">
            <a:extLst>
              <a:ext uri="{FF2B5EF4-FFF2-40B4-BE49-F238E27FC236}">
                <a16:creationId xmlns:a16="http://schemas.microsoft.com/office/drawing/2014/main" id="{EC65FDEF-AA97-D271-821A-0345012E639D}"/>
              </a:ext>
            </a:extLst>
          </p:cNvPr>
          <p:cNvSpPr>
            <a:spLocks noGrp="1"/>
          </p:cNvSpPr>
          <p:nvPr>
            <p:ph type="title"/>
          </p:nvPr>
        </p:nvSpPr>
        <p:spPr>
          <a:xfrm>
            <a:off x="3429000" y="775412"/>
            <a:ext cx="7391400" cy="2593263"/>
          </a:xfrm>
        </p:spPr>
        <p:txBody>
          <a:bodyPr vert="horz" lIns="91440" tIns="45720" rIns="91440" bIns="45720" rtlCol="0" anchor="b">
            <a:normAutofit/>
          </a:bodyPr>
          <a:lstStyle/>
          <a:p>
            <a:r>
              <a:rPr lang="en-US" sz="5200">
                <a:solidFill>
                  <a:schemeClr val="tx2"/>
                </a:solidFill>
              </a:rPr>
              <a:t>Lab 1: Open-Loop Control and Feedback Measurement</a:t>
            </a:r>
          </a:p>
          <a:p>
            <a:endParaRPr lang="en-US" sz="5200">
              <a:solidFill>
                <a:schemeClr val="tx2"/>
              </a:solidFill>
            </a:endParaRPr>
          </a:p>
        </p:txBody>
      </p:sp>
      <p:sp>
        <p:nvSpPr>
          <p:cNvPr id="4" name="Slide Number Placeholder 3">
            <a:extLst>
              <a:ext uri="{FF2B5EF4-FFF2-40B4-BE49-F238E27FC236}">
                <a16:creationId xmlns:a16="http://schemas.microsoft.com/office/drawing/2014/main" id="{CCE18A18-3FB3-08FD-49BB-A330ADE3CDB2}"/>
              </a:ext>
            </a:extLst>
          </p:cNvPr>
          <p:cNvSpPr>
            <a:spLocks noGrp="1"/>
          </p:cNvSpPr>
          <p:nvPr>
            <p:ph type="sldNum" sz="quarter" idx="12"/>
          </p:nvPr>
        </p:nvSpPr>
        <p:spPr>
          <a:xfrm>
            <a:off x="8610600" y="6324600"/>
            <a:ext cx="2743200" cy="365125"/>
          </a:xfrm>
        </p:spPr>
        <p:txBody>
          <a:bodyPr vert="horz" lIns="91440" tIns="45720" rIns="91440" bIns="45720" rtlCol="0" anchor="ctr">
            <a:normAutofit/>
          </a:bodyPr>
          <a:lstStyle/>
          <a:p>
            <a:pPr>
              <a:spcAft>
                <a:spcPts val="600"/>
              </a:spcAft>
            </a:pPr>
            <a:fld id="{73B850FF-6169-4056-8077-06FFA93A5366}" type="slidenum">
              <a:rPr lang="en-US">
                <a:solidFill>
                  <a:schemeClr val="tx1">
                    <a:alpha val="60000"/>
                  </a:schemeClr>
                </a:solidFill>
              </a:rPr>
              <a:pPr>
                <a:spcAft>
                  <a:spcPts val="600"/>
                </a:spcAft>
              </a:pPr>
              <a:t>7</a:t>
            </a:fld>
            <a:endParaRPr lang="en-US">
              <a:solidFill>
                <a:schemeClr val="tx1">
                  <a:alpha val="60000"/>
                </a:schemeClr>
              </a:solidFill>
            </a:endParaRPr>
          </a:p>
        </p:txBody>
      </p:sp>
    </p:spTree>
    <p:extLst>
      <p:ext uri="{BB962C8B-B14F-4D97-AF65-F5344CB8AC3E}">
        <p14:creationId xmlns:p14="http://schemas.microsoft.com/office/powerpoint/2010/main" val="3175096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9EB4-FCF8-734B-6BCB-ABD73CE9C400}"/>
              </a:ext>
            </a:extLst>
          </p:cNvPr>
          <p:cNvSpPr>
            <a:spLocks noGrp="1"/>
          </p:cNvSpPr>
          <p:nvPr>
            <p:ph type="title"/>
          </p:nvPr>
        </p:nvSpPr>
        <p:spPr/>
        <p:txBody>
          <a:bodyPr>
            <a:noAutofit/>
          </a:bodyPr>
          <a:lstStyle/>
          <a:p>
            <a:r>
              <a:rPr lang="en-US"/>
              <a:t>General Objectives</a:t>
            </a:r>
          </a:p>
        </p:txBody>
      </p:sp>
      <p:sp>
        <p:nvSpPr>
          <p:cNvPr id="3" name="Text Placeholder 2">
            <a:extLst>
              <a:ext uri="{FF2B5EF4-FFF2-40B4-BE49-F238E27FC236}">
                <a16:creationId xmlns:a16="http://schemas.microsoft.com/office/drawing/2014/main" id="{FC4D5457-F491-B7A5-CAD2-EF4A64A91CBA}"/>
              </a:ext>
            </a:extLst>
          </p:cNvPr>
          <p:cNvSpPr>
            <a:spLocks noGrp="1"/>
          </p:cNvSpPr>
          <p:nvPr>
            <p:ph type="body" idx="1"/>
          </p:nvPr>
        </p:nvSpPr>
        <p:spPr/>
        <p:txBody>
          <a:bodyPr/>
          <a:lstStyle/>
          <a:p>
            <a:r>
              <a:rPr lang="en-US"/>
              <a:t>Driving </a:t>
            </a:r>
          </a:p>
        </p:txBody>
      </p:sp>
      <p:sp>
        <p:nvSpPr>
          <p:cNvPr id="4" name="Content Placeholder 3">
            <a:extLst>
              <a:ext uri="{FF2B5EF4-FFF2-40B4-BE49-F238E27FC236}">
                <a16:creationId xmlns:a16="http://schemas.microsoft.com/office/drawing/2014/main" id="{24E8BC7C-71A4-CBAD-6222-BBF000F0DB1D}"/>
              </a:ext>
            </a:extLst>
          </p:cNvPr>
          <p:cNvSpPr>
            <a:spLocks noGrp="1"/>
          </p:cNvSpPr>
          <p:nvPr>
            <p:ph sz="half" idx="2"/>
          </p:nvPr>
        </p:nvSpPr>
        <p:spPr/>
        <p:txBody>
          <a:bodyPr vert="horz" lIns="91440" tIns="45720" rIns="91440" bIns="45720" rtlCol="0" anchor="t">
            <a:normAutofit fontScale="85000" lnSpcReduction="20000"/>
          </a:bodyPr>
          <a:lstStyle/>
          <a:p>
            <a:r>
              <a:rPr lang="en-US"/>
              <a:t>Use programming techniques to solidify understanding of microcontroller features.</a:t>
            </a:r>
          </a:p>
          <a:p>
            <a:r>
              <a:rPr lang="en-US"/>
              <a:t>Demonstrate understanding and implementation of open-loop DC motor control.</a:t>
            </a:r>
          </a:p>
          <a:p>
            <a:r>
              <a:rPr lang="en-US"/>
              <a:t>Determine the speed to voltage relationship of the DC motor</a:t>
            </a:r>
          </a:p>
        </p:txBody>
      </p:sp>
      <p:sp>
        <p:nvSpPr>
          <p:cNvPr id="5" name="Text Placeholder 4">
            <a:extLst>
              <a:ext uri="{FF2B5EF4-FFF2-40B4-BE49-F238E27FC236}">
                <a16:creationId xmlns:a16="http://schemas.microsoft.com/office/drawing/2014/main" id="{DA8A5B6F-25AD-1BDB-56D0-7B610D357F13}"/>
              </a:ext>
            </a:extLst>
          </p:cNvPr>
          <p:cNvSpPr>
            <a:spLocks noGrp="1"/>
          </p:cNvSpPr>
          <p:nvPr>
            <p:ph type="body" sz="quarter" idx="3"/>
          </p:nvPr>
        </p:nvSpPr>
        <p:spPr/>
        <p:txBody>
          <a:bodyPr/>
          <a:lstStyle/>
          <a:p>
            <a:r>
              <a:rPr lang="en-US"/>
              <a:t>Steering</a:t>
            </a:r>
          </a:p>
        </p:txBody>
      </p:sp>
      <p:sp>
        <p:nvSpPr>
          <p:cNvPr id="6" name="Content Placeholder 5">
            <a:extLst>
              <a:ext uri="{FF2B5EF4-FFF2-40B4-BE49-F238E27FC236}">
                <a16:creationId xmlns:a16="http://schemas.microsoft.com/office/drawing/2014/main" id="{8F76B420-98F7-3EB3-6D47-ACA09DAF2052}"/>
              </a:ext>
            </a:extLst>
          </p:cNvPr>
          <p:cNvSpPr>
            <a:spLocks noGrp="1"/>
          </p:cNvSpPr>
          <p:nvPr>
            <p:ph sz="quarter" idx="4"/>
          </p:nvPr>
        </p:nvSpPr>
        <p:spPr/>
        <p:txBody>
          <a:bodyPr vert="horz" lIns="91440" tIns="45720" rIns="91440" bIns="45720" rtlCol="0" anchor="t">
            <a:noAutofit/>
          </a:bodyPr>
          <a:lstStyle/>
          <a:p>
            <a:pPr>
              <a:lnSpc>
                <a:spcPct val="90000"/>
              </a:lnSpc>
            </a:pPr>
            <a:r>
              <a:rPr lang="en-US" sz="2400">
                <a:solidFill>
                  <a:srgbClr val="FFFFFF"/>
                </a:solidFill>
                <a:ea typeface="+mn-lt"/>
                <a:cs typeface="+mn-lt"/>
              </a:rPr>
              <a:t>Develop and execute a steering mechanism employing principles of resonance, amplification, and rectification.</a:t>
            </a:r>
            <a:endParaRPr lang="en-US" sz="2400">
              <a:solidFill>
                <a:srgbClr val="FFFFFF"/>
              </a:solidFill>
            </a:endParaRPr>
          </a:p>
          <a:p>
            <a:pPr>
              <a:lnSpc>
                <a:spcPct val="90000"/>
              </a:lnSpc>
            </a:pPr>
            <a:r>
              <a:rPr lang="en-US" sz="2400">
                <a:solidFill>
                  <a:srgbClr val="FFFFFF"/>
                </a:solidFill>
                <a:ea typeface="+mn-lt"/>
                <a:cs typeface="+mn-lt"/>
              </a:rPr>
              <a:t>Construct and put into operation a servo-position control system for steering purposes.</a:t>
            </a:r>
            <a:endParaRPr lang="en-US" sz="2400"/>
          </a:p>
          <a:p>
            <a:endParaRPr lang="en-US"/>
          </a:p>
        </p:txBody>
      </p:sp>
      <p:sp>
        <p:nvSpPr>
          <p:cNvPr id="8" name="Slide Number Placeholder 7">
            <a:extLst>
              <a:ext uri="{FF2B5EF4-FFF2-40B4-BE49-F238E27FC236}">
                <a16:creationId xmlns:a16="http://schemas.microsoft.com/office/drawing/2014/main" id="{7B0ACC61-81C9-C827-2E7D-D5ECCC65B34A}"/>
              </a:ext>
            </a:extLst>
          </p:cNvPr>
          <p:cNvSpPr>
            <a:spLocks noGrp="1"/>
          </p:cNvSpPr>
          <p:nvPr>
            <p:ph type="sldNum" sz="quarter" idx="12"/>
          </p:nvPr>
        </p:nvSpPr>
        <p:spPr/>
        <p:txBody>
          <a:bodyPr/>
          <a:lstStyle/>
          <a:p>
            <a:fld id="{73B850FF-6169-4056-8077-06FFA93A5366}" type="slidenum">
              <a:rPr lang="en-US" smtClean="0"/>
              <a:t>8</a:t>
            </a:fld>
            <a:endParaRPr lang="en-US"/>
          </a:p>
        </p:txBody>
      </p:sp>
    </p:spTree>
    <p:extLst>
      <p:ext uri="{BB962C8B-B14F-4D97-AF65-F5344CB8AC3E}">
        <p14:creationId xmlns:p14="http://schemas.microsoft.com/office/powerpoint/2010/main" val="1883007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9EB4-FCF8-734B-6BCB-ABD73CE9C400}"/>
              </a:ext>
            </a:extLst>
          </p:cNvPr>
          <p:cNvSpPr>
            <a:spLocks noGrp="1"/>
          </p:cNvSpPr>
          <p:nvPr>
            <p:ph type="title"/>
          </p:nvPr>
        </p:nvSpPr>
        <p:spPr/>
        <p:txBody>
          <a:bodyPr>
            <a:noAutofit/>
          </a:bodyPr>
          <a:lstStyle/>
          <a:p>
            <a:r>
              <a:rPr lang="en-US"/>
              <a:t>Main Specifications</a:t>
            </a:r>
          </a:p>
        </p:txBody>
      </p:sp>
      <p:sp>
        <p:nvSpPr>
          <p:cNvPr id="3" name="Text Placeholder 2">
            <a:extLst>
              <a:ext uri="{FF2B5EF4-FFF2-40B4-BE49-F238E27FC236}">
                <a16:creationId xmlns:a16="http://schemas.microsoft.com/office/drawing/2014/main" id="{FC4D5457-F491-B7A5-CAD2-EF4A64A91CBA}"/>
              </a:ext>
            </a:extLst>
          </p:cNvPr>
          <p:cNvSpPr>
            <a:spLocks noGrp="1"/>
          </p:cNvSpPr>
          <p:nvPr>
            <p:ph type="body" idx="1"/>
          </p:nvPr>
        </p:nvSpPr>
        <p:spPr/>
        <p:txBody>
          <a:bodyPr/>
          <a:lstStyle/>
          <a:p>
            <a:r>
              <a:rPr lang="en-US"/>
              <a:t>Driving </a:t>
            </a:r>
          </a:p>
        </p:txBody>
      </p:sp>
      <p:sp>
        <p:nvSpPr>
          <p:cNvPr id="4" name="Content Placeholder 3">
            <a:extLst>
              <a:ext uri="{FF2B5EF4-FFF2-40B4-BE49-F238E27FC236}">
                <a16:creationId xmlns:a16="http://schemas.microsoft.com/office/drawing/2014/main" id="{24E8BC7C-71A4-CBAD-6222-BBF000F0DB1D}"/>
              </a:ext>
            </a:extLst>
          </p:cNvPr>
          <p:cNvSpPr>
            <a:spLocks noGrp="1"/>
          </p:cNvSpPr>
          <p:nvPr>
            <p:ph sz="half" idx="2"/>
          </p:nvPr>
        </p:nvSpPr>
        <p:spPr/>
        <p:txBody>
          <a:bodyPr vert="horz" lIns="91440" tIns="45720" rIns="91440" bIns="45720" rtlCol="0" anchor="t">
            <a:normAutofit fontScale="92500"/>
          </a:bodyPr>
          <a:lstStyle/>
          <a:p>
            <a:r>
              <a:rPr lang="en-US"/>
              <a:t>Motor Voltage: 7.2V</a:t>
            </a:r>
          </a:p>
          <a:p>
            <a:r>
              <a:rPr lang="en-US"/>
              <a:t>Switching Frequency: ≥ 20 kHz</a:t>
            </a:r>
          </a:p>
          <a:p>
            <a:r>
              <a:rPr lang="en-US"/>
              <a:t>Speed Range: 0-100%</a:t>
            </a:r>
          </a:p>
          <a:p>
            <a:r>
              <a:rPr lang="en-US"/>
              <a:t>External Voltage Reference: 0-3.3V</a:t>
            </a:r>
          </a:p>
          <a:p>
            <a:r>
              <a:rPr lang="en-US"/>
              <a:t>Feedback: Internal Encoder</a:t>
            </a:r>
          </a:p>
        </p:txBody>
      </p:sp>
      <p:sp>
        <p:nvSpPr>
          <p:cNvPr id="5" name="Text Placeholder 4">
            <a:extLst>
              <a:ext uri="{FF2B5EF4-FFF2-40B4-BE49-F238E27FC236}">
                <a16:creationId xmlns:a16="http://schemas.microsoft.com/office/drawing/2014/main" id="{DA8A5B6F-25AD-1BDB-56D0-7B610D357F13}"/>
              </a:ext>
            </a:extLst>
          </p:cNvPr>
          <p:cNvSpPr>
            <a:spLocks noGrp="1"/>
          </p:cNvSpPr>
          <p:nvPr>
            <p:ph type="body" sz="quarter" idx="3"/>
          </p:nvPr>
        </p:nvSpPr>
        <p:spPr/>
        <p:txBody>
          <a:bodyPr/>
          <a:lstStyle/>
          <a:p>
            <a:r>
              <a:rPr lang="en-US"/>
              <a:t>Steering</a:t>
            </a:r>
          </a:p>
        </p:txBody>
      </p:sp>
      <p:sp>
        <p:nvSpPr>
          <p:cNvPr id="6" name="Content Placeholder 5">
            <a:extLst>
              <a:ext uri="{FF2B5EF4-FFF2-40B4-BE49-F238E27FC236}">
                <a16:creationId xmlns:a16="http://schemas.microsoft.com/office/drawing/2014/main" id="{8F76B420-98F7-3EB3-6D47-ACA09DAF2052}"/>
              </a:ext>
            </a:extLst>
          </p:cNvPr>
          <p:cNvSpPr>
            <a:spLocks noGrp="1"/>
          </p:cNvSpPr>
          <p:nvPr>
            <p:ph sz="quarter" idx="4"/>
          </p:nvPr>
        </p:nvSpPr>
        <p:spPr/>
        <p:txBody>
          <a:bodyPr vert="horz" lIns="91440" tIns="45720" rIns="91440" bIns="45720" rtlCol="0" anchor="t">
            <a:normAutofit fontScale="92500"/>
          </a:bodyPr>
          <a:lstStyle/>
          <a:p>
            <a:r>
              <a:rPr lang="en-US">
                <a:ea typeface="+mn-lt"/>
                <a:cs typeface="+mn-lt"/>
              </a:rPr>
              <a:t>Servo voltage: 4.8V - 6V</a:t>
            </a:r>
          </a:p>
          <a:p>
            <a:r>
              <a:rPr lang="en-US">
                <a:ea typeface="+mn-lt"/>
                <a:cs typeface="+mn-lt"/>
              </a:rPr>
              <a:t>Communication frequency: 50Hz </a:t>
            </a:r>
          </a:p>
          <a:p>
            <a:r>
              <a:rPr lang="en-US">
                <a:ea typeface="+mn-lt"/>
                <a:cs typeface="+mn-lt"/>
              </a:rPr>
              <a:t>Servo Rotational range: 180⁰ </a:t>
            </a:r>
          </a:p>
          <a:p>
            <a:r>
              <a:rPr lang="en-US">
                <a:ea typeface="+mn-lt"/>
                <a:cs typeface="+mn-lt"/>
              </a:rPr>
              <a:t>Feedback: LC circuit for a given inductance (at 20 kHz) </a:t>
            </a:r>
            <a:endParaRPr lang="en-US"/>
          </a:p>
        </p:txBody>
      </p:sp>
      <p:sp>
        <p:nvSpPr>
          <p:cNvPr id="8" name="Slide Number Placeholder 7">
            <a:extLst>
              <a:ext uri="{FF2B5EF4-FFF2-40B4-BE49-F238E27FC236}">
                <a16:creationId xmlns:a16="http://schemas.microsoft.com/office/drawing/2014/main" id="{7B0ACC61-81C9-C827-2E7D-D5ECCC65B34A}"/>
              </a:ext>
            </a:extLst>
          </p:cNvPr>
          <p:cNvSpPr>
            <a:spLocks noGrp="1"/>
          </p:cNvSpPr>
          <p:nvPr>
            <p:ph type="sldNum" sz="quarter" idx="12"/>
          </p:nvPr>
        </p:nvSpPr>
        <p:spPr/>
        <p:txBody>
          <a:bodyPr/>
          <a:lstStyle/>
          <a:p>
            <a:fld id="{73B850FF-6169-4056-8077-06FFA93A5366}" type="slidenum">
              <a:rPr lang="en-US" smtClean="0"/>
              <a:t>9</a:t>
            </a:fld>
            <a:endParaRPr lang="en-US"/>
          </a:p>
        </p:txBody>
      </p:sp>
    </p:spTree>
    <p:extLst>
      <p:ext uri="{BB962C8B-B14F-4D97-AF65-F5344CB8AC3E}">
        <p14:creationId xmlns:p14="http://schemas.microsoft.com/office/powerpoint/2010/main" val="3885070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177D4-EA6C-5A4D-0DF9-DB32205B0840}"/>
              </a:ext>
            </a:extLst>
          </p:cNvPr>
          <p:cNvSpPr>
            <a:spLocks noGrp="1"/>
          </p:cNvSpPr>
          <p:nvPr>
            <p:ph type="title"/>
          </p:nvPr>
        </p:nvSpPr>
        <p:spPr/>
        <p:txBody>
          <a:bodyPr>
            <a:normAutofit/>
          </a:bodyPr>
          <a:lstStyle/>
          <a:p>
            <a:r>
              <a:rPr lang="en-US"/>
              <a:t>Open-Loop Control</a:t>
            </a:r>
            <a:br>
              <a:rPr lang="en-US"/>
            </a:br>
            <a:r>
              <a:rPr lang="en-US" sz="2800"/>
              <a:t>Potentiometer and PWM</a:t>
            </a:r>
          </a:p>
        </p:txBody>
      </p:sp>
      <p:pic>
        <p:nvPicPr>
          <p:cNvPr id="5" name="Content Placeholder 4" descr="A diagram of a circuit&#10;&#10;Description automatically generated">
            <a:extLst>
              <a:ext uri="{FF2B5EF4-FFF2-40B4-BE49-F238E27FC236}">
                <a16:creationId xmlns:a16="http://schemas.microsoft.com/office/drawing/2014/main" id="{BEBA7059-A9D5-3A40-867F-2BA31747E77D}"/>
              </a:ext>
            </a:extLst>
          </p:cNvPr>
          <p:cNvPicPr>
            <a:picLocks noGrp="1" noChangeAspect="1"/>
          </p:cNvPicPr>
          <p:nvPr>
            <p:ph idx="1"/>
          </p:nvPr>
        </p:nvPicPr>
        <p:blipFill>
          <a:blip r:embed="rId3"/>
          <a:stretch>
            <a:fillRect/>
          </a:stretch>
        </p:blipFill>
        <p:spPr>
          <a:xfrm>
            <a:off x="8460983" y="96035"/>
            <a:ext cx="3629026" cy="3146216"/>
          </a:xfrm>
        </p:spPr>
      </p:pic>
      <p:sp>
        <p:nvSpPr>
          <p:cNvPr id="4" name="Slide Number Placeholder 3">
            <a:extLst>
              <a:ext uri="{FF2B5EF4-FFF2-40B4-BE49-F238E27FC236}">
                <a16:creationId xmlns:a16="http://schemas.microsoft.com/office/drawing/2014/main" id="{DE1BEE90-BE94-8722-FC6C-EC5A8DBB19EF}"/>
              </a:ext>
            </a:extLst>
          </p:cNvPr>
          <p:cNvSpPr>
            <a:spLocks noGrp="1"/>
          </p:cNvSpPr>
          <p:nvPr>
            <p:ph type="sldNum" sz="quarter" idx="12"/>
          </p:nvPr>
        </p:nvSpPr>
        <p:spPr/>
        <p:txBody>
          <a:bodyPr/>
          <a:lstStyle/>
          <a:p>
            <a:fld id="{73B850FF-6169-4056-8077-06FFA93A5366}" type="slidenum">
              <a:rPr lang="en-US" smtClean="0"/>
              <a:t>10</a:t>
            </a:fld>
            <a:endParaRPr lang="en-US"/>
          </a:p>
        </p:txBody>
      </p:sp>
      <p:sp>
        <p:nvSpPr>
          <p:cNvPr id="7" name="TextBox 6">
            <a:extLst>
              <a:ext uri="{FF2B5EF4-FFF2-40B4-BE49-F238E27FC236}">
                <a16:creationId xmlns:a16="http://schemas.microsoft.com/office/drawing/2014/main" id="{822AFD45-2E6F-90B2-3298-EB8CF1C5FF6A}"/>
              </a:ext>
            </a:extLst>
          </p:cNvPr>
          <p:cNvSpPr txBox="1"/>
          <p:nvPr/>
        </p:nvSpPr>
        <p:spPr>
          <a:xfrm>
            <a:off x="580571" y="1669143"/>
            <a:ext cx="11085285"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a:solidFill>
                  <a:srgbClr val="FFFFFF"/>
                </a:solidFill>
                <a:latin typeface="Avenir Next LT Pro"/>
                <a:ea typeface="Calibri"/>
                <a:cs typeface="Calibri"/>
              </a:rPr>
              <a:t>Input voltage from 3.3V pin on microcontroller</a:t>
            </a:r>
          </a:p>
          <a:p>
            <a:pPr marL="285750" indent="-285750">
              <a:buFont typeface="Arial"/>
              <a:buChar char="•"/>
            </a:pPr>
            <a:r>
              <a:rPr lang="en-US" sz="2400">
                <a:solidFill>
                  <a:srgbClr val="FFFFFF"/>
                </a:solidFill>
                <a:latin typeface="Avenir Next LT Pro"/>
                <a:ea typeface="Calibri"/>
                <a:cs typeface="Calibri"/>
              </a:rPr>
              <a:t>Output voltage (0-3.3V) into analog input pin </a:t>
            </a:r>
          </a:p>
          <a:p>
            <a:pPr marL="742950" lvl="1" indent="-285750">
              <a:buFont typeface="Courier New"/>
              <a:buChar char="o"/>
            </a:pPr>
            <a:r>
              <a:rPr lang="en-US" sz="2400" err="1">
                <a:solidFill>
                  <a:srgbClr val="FFFFFF"/>
                </a:solidFill>
                <a:ea typeface="+mn-lt"/>
                <a:cs typeface="+mn-lt"/>
              </a:rPr>
              <a:t>AnalogIn</a:t>
            </a:r>
            <a:r>
              <a:rPr lang="en-US" sz="2400">
                <a:solidFill>
                  <a:srgbClr val="FFFFFF"/>
                </a:solidFill>
                <a:ea typeface="+mn-lt"/>
                <a:cs typeface="+mn-lt"/>
              </a:rPr>
              <a:t> </a:t>
            </a:r>
            <a:r>
              <a:rPr lang="en-US" sz="2400" err="1">
                <a:solidFill>
                  <a:srgbClr val="FFFFFF"/>
                </a:solidFill>
                <a:ea typeface="+mn-lt"/>
                <a:cs typeface="+mn-lt"/>
              </a:rPr>
              <a:t>potV</a:t>
            </a:r>
            <a:r>
              <a:rPr lang="en-US" sz="2400">
                <a:solidFill>
                  <a:srgbClr val="FFFFFF"/>
                </a:solidFill>
                <a:ea typeface="+mn-lt"/>
                <a:cs typeface="+mn-lt"/>
              </a:rPr>
              <a:t>(A0); </a:t>
            </a:r>
            <a:endParaRPr lang="en-US" sz="2400">
              <a:solidFill>
                <a:srgbClr val="FFFFFF"/>
              </a:solidFill>
              <a:latin typeface="Avenir Next LT Pro"/>
              <a:ea typeface="Calibri"/>
              <a:cs typeface="Calibri"/>
            </a:endParaRPr>
          </a:p>
          <a:p>
            <a:pPr marL="285750" indent="-285750">
              <a:buFont typeface="Arial"/>
              <a:buChar char="•"/>
            </a:pPr>
            <a:r>
              <a:rPr lang="en-US" sz="2400">
                <a:solidFill>
                  <a:srgbClr val="FFFFFF"/>
                </a:solidFill>
                <a:latin typeface="Avenir Next LT Pro"/>
                <a:ea typeface="Calibri"/>
                <a:cs typeface="Calibri"/>
              </a:rPr>
              <a:t>Set period of PW for both motors (25 kHz)</a:t>
            </a:r>
          </a:p>
          <a:p>
            <a:pPr marL="742950" lvl="1" indent="-285750">
              <a:buFont typeface="Courier New"/>
              <a:buChar char="o"/>
            </a:pPr>
            <a:r>
              <a:rPr lang="en-US" sz="2400" err="1">
                <a:solidFill>
                  <a:srgbClr val="FFFFFF"/>
                </a:solidFill>
                <a:ea typeface="+mn-lt"/>
                <a:cs typeface="+mn-lt"/>
              </a:rPr>
              <a:t>poutLM.period</a:t>
            </a:r>
            <a:r>
              <a:rPr lang="en-US" sz="2400">
                <a:solidFill>
                  <a:srgbClr val="FFFFFF"/>
                </a:solidFill>
                <a:ea typeface="+mn-lt"/>
                <a:cs typeface="+mn-lt"/>
              </a:rPr>
              <a:t>(1.0f/25E3f);</a:t>
            </a:r>
            <a:endParaRPr lang="en-US" sz="2400">
              <a:solidFill>
                <a:srgbClr val="FFFFFF"/>
              </a:solidFill>
              <a:latin typeface="Avenir Next LT Pro"/>
              <a:ea typeface="Calibri"/>
              <a:cs typeface="Calibri"/>
            </a:endParaRPr>
          </a:p>
          <a:p>
            <a:pPr marL="742950" lvl="1" indent="-285750">
              <a:buFont typeface="Courier New"/>
              <a:buChar char="o"/>
            </a:pPr>
            <a:r>
              <a:rPr lang="en-US" sz="2400" err="1">
                <a:solidFill>
                  <a:srgbClr val="FFFFFF"/>
                </a:solidFill>
                <a:ea typeface="+mn-lt"/>
                <a:cs typeface="+mn-lt"/>
              </a:rPr>
              <a:t>poutRM.period</a:t>
            </a:r>
            <a:r>
              <a:rPr lang="en-US" sz="2400">
                <a:solidFill>
                  <a:srgbClr val="FFFFFF"/>
                </a:solidFill>
                <a:ea typeface="+mn-lt"/>
                <a:cs typeface="+mn-lt"/>
              </a:rPr>
              <a:t>(1.0f/25E3f);</a:t>
            </a:r>
            <a:endParaRPr lang="en-US" sz="2400">
              <a:solidFill>
                <a:srgbClr val="FFFFFF"/>
              </a:solidFill>
              <a:latin typeface="Avenir Next LT Pro"/>
              <a:ea typeface="Calibri"/>
              <a:cs typeface="Calibri"/>
            </a:endParaRPr>
          </a:p>
          <a:p>
            <a:pPr marL="285750" indent="-285750">
              <a:buFont typeface="Arial"/>
              <a:buChar char="•"/>
            </a:pPr>
            <a:r>
              <a:rPr lang="en-US" sz="2400">
                <a:solidFill>
                  <a:srgbClr val="FFFFFF"/>
                </a:solidFill>
                <a:latin typeface="Avenir Next LT Pro"/>
                <a:ea typeface="Calibri"/>
                <a:cs typeface="Calibri"/>
              </a:rPr>
              <a:t>Read the incoming voltage from potentiometer</a:t>
            </a:r>
          </a:p>
          <a:p>
            <a:pPr marL="742950" lvl="1" indent="-285750">
              <a:buFont typeface="Courier New"/>
              <a:buChar char="o"/>
            </a:pPr>
            <a:r>
              <a:rPr lang="en-US" sz="2400" err="1">
                <a:solidFill>
                  <a:srgbClr val="FFFFFF"/>
                </a:solidFill>
                <a:ea typeface="+mn-lt"/>
                <a:cs typeface="+mn-lt"/>
              </a:rPr>
              <a:t>vref</a:t>
            </a:r>
            <a:r>
              <a:rPr lang="en-US" sz="2400">
                <a:solidFill>
                  <a:srgbClr val="FFFFFF"/>
                </a:solidFill>
                <a:ea typeface="+mn-lt"/>
                <a:cs typeface="+mn-lt"/>
              </a:rPr>
              <a:t> = </a:t>
            </a:r>
            <a:r>
              <a:rPr lang="en-US" sz="2400" err="1">
                <a:solidFill>
                  <a:srgbClr val="FFFFFF"/>
                </a:solidFill>
                <a:ea typeface="+mn-lt"/>
                <a:cs typeface="+mn-lt"/>
              </a:rPr>
              <a:t>potV.read</a:t>
            </a:r>
            <a:r>
              <a:rPr lang="en-US" sz="2400">
                <a:solidFill>
                  <a:srgbClr val="FFFFFF"/>
                </a:solidFill>
                <a:ea typeface="+mn-lt"/>
                <a:cs typeface="+mn-lt"/>
              </a:rPr>
              <a:t>();</a:t>
            </a:r>
            <a:endParaRPr lang="en-US" sz="2400">
              <a:solidFill>
                <a:srgbClr val="FFFFFF"/>
              </a:solidFill>
              <a:latin typeface="Avenir Next LT Pro"/>
              <a:ea typeface="Calibri"/>
              <a:cs typeface="Calibri"/>
            </a:endParaRPr>
          </a:p>
        </p:txBody>
      </p:sp>
      <p:pic>
        <p:nvPicPr>
          <p:cNvPr id="8" name="Picture 7" descr="A diagram of a microcontroller&#10;&#10;Description automatically generated">
            <a:extLst>
              <a:ext uri="{FF2B5EF4-FFF2-40B4-BE49-F238E27FC236}">
                <a16:creationId xmlns:a16="http://schemas.microsoft.com/office/drawing/2014/main" id="{554B1C31-27DE-AFE0-F843-A6EF795D1A54}"/>
              </a:ext>
            </a:extLst>
          </p:cNvPr>
          <p:cNvPicPr>
            <a:picLocks noChangeAspect="1"/>
          </p:cNvPicPr>
          <p:nvPr/>
        </p:nvPicPr>
        <p:blipFill>
          <a:blip r:embed="rId4"/>
          <a:stretch>
            <a:fillRect/>
          </a:stretch>
        </p:blipFill>
        <p:spPr>
          <a:xfrm>
            <a:off x="8460983" y="3761297"/>
            <a:ext cx="3665866" cy="2563303"/>
          </a:xfrm>
          <a:prstGeom prst="rect">
            <a:avLst/>
          </a:prstGeom>
        </p:spPr>
      </p:pic>
    </p:spTree>
    <p:extLst>
      <p:ext uri="{BB962C8B-B14F-4D97-AF65-F5344CB8AC3E}">
        <p14:creationId xmlns:p14="http://schemas.microsoft.com/office/powerpoint/2010/main" val="3414828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68663-28B7-3F69-E1DD-CAC1123DDA5D}"/>
              </a:ext>
            </a:extLst>
          </p:cNvPr>
          <p:cNvSpPr>
            <a:spLocks noGrp="1"/>
          </p:cNvSpPr>
          <p:nvPr>
            <p:ph type="title"/>
          </p:nvPr>
        </p:nvSpPr>
        <p:spPr/>
        <p:txBody>
          <a:bodyPr>
            <a:normAutofit/>
          </a:bodyPr>
          <a:lstStyle/>
          <a:p>
            <a:r>
              <a:rPr lang="en-US"/>
              <a:t>Open-Loop Control</a:t>
            </a:r>
            <a:br>
              <a:rPr lang="en-US"/>
            </a:br>
            <a:r>
              <a:rPr lang="en-US" sz="2800"/>
              <a:t>Buck Converter (I)</a:t>
            </a:r>
            <a:endParaRPr lang="en-US"/>
          </a:p>
        </p:txBody>
      </p:sp>
      <p:sp>
        <p:nvSpPr>
          <p:cNvPr id="4" name="Slide Number Placeholder 3">
            <a:extLst>
              <a:ext uri="{FF2B5EF4-FFF2-40B4-BE49-F238E27FC236}">
                <a16:creationId xmlns:a16="http://schemas.microsoft.com/office/drawing/2014/main" id="{5035F21A-BB06-20CC-9487-9E147B196114}"/>
              </a:ext>
            </a:extLst>
          </p:cNvPr>
          <p:cNvSpPr>
            <a:spLocks noGrp="1"/>
          </p:cNvSpPr>
          <p:nvPr>
            <p:ph type="sldNum" sz="quarter" idx="12"/>
          </p:nvPr>
        </p:nvSpPr>
        <p:spPr/>
        <p:txBody>
          <a:bodyPr/>
          <a:lstStyle/>
          <a:p>
            <a:fld id="{73B850FF-6169-4056-8077-06FFA93A5366}" type="slidenum">
              <a:rPr lang="en-US" smtClean="0"/>
              <a:t>11</a:t>
            </a:fld>
            <a:endParaRPr lang="en-US"/>
          </a:p>
        </p:txBody>
      </p:sp>
      <p:pic>
        <p:nvPicPr>
          <p:cNvPr id="7" name="Picture 6">
            <a:extLst>
              <a:ext uri="{FF2B5EF4-FFF2-40B4-BE49-F238E27FC236}">
                <a16:creationId xmlns:a16="http://schemas.microsoft.com/office/drawing/2014/main" id="{8025828A-A75E-8966-C56D-E57483903AA3}"/>
              </a:ext>
            </a:extLst>
          </p:cNvPr>
          <p:cNvPicPr>
            <a:picLocks noChangeAspect="1"/>
          </p:cNvPicPr>
          <p:nvPr/>
        </p:nvPicPr>
        <p:blipFill>
          <a:blip r:embed="rId3"/>
          <a:stretch>
            <a:fillRect/>
          </a:stretch>
        </p:blipFill>
        <p:spPr>
          <a:xfrm>
            <a:off x="12879039" y="619760"/>
            <a:ext cx="3579185" cy="1891855"/>
          </a:xfrm>
          <a:prstGeom prst="rect">
            <a:avLst/>
          </a:prstGeom>
        </p:spPr>
      </p:pic>
      <p:pic>
        <p:nvPicPr>
          <p:cNvPr id="9" name="Picture 8">
            <a:extLst>
              <a:ext uri="{FF2B5EF4-FFF2-40B4-BE49-F238E27FC236}">
                <a16:creationId xmlns:a16="http://schemas.microsoft.com/office/drawing/2014/main" id="{BFAE69AB-9D62-C1B7-AB9F-25F784EC7A76}"/>
              </a:ext>
            </a:extLst>
          </p:cNvPr>
          <p:cNvPicPr>
            <a:picLocks noChangeAspect="1"/>
          </p:cNvPicPr>
          <p:nvPr/>
        </p:nvPicPr>
        <p:blipFill>
          <a:blip r:embed="rId4"/>
          <a:stretch>
            <a:fillRect/>
          </a:stretch>
        </p:blipFill>
        <p:spPr>
          <a:xfrm>
            <a:off x="13248774" y="3429000"/>
            <a:ext cx="3019926" cy="2592490"/>
          </a:xfrm>
          <a:prstGeom prst="rect">
            <a:avLst/>
          </a:prstGeom>
        </p:spPr>
      </p:pic>
      <p:pic>
        <p:nvPicPr>
          <p:cNvPr id="12" name="Content Placeholder 4" descr="A diagram of a motor">
            <a:extLst>
              <a:ext uri="{FF2B5EF4-FFF2-40B4-BE49-F238E27FC236}">
                <a16:creationId xmlns:a16="http://schemas.microsoft.com/office/drawing/2014/main" id="{D7A0D353-8841-9654-AAD0-DBA60365BBDC}"/>
              </a:ext>
            </a:extLst>
          </p:cNvPr>
          <p:cNvPicPr>
            <a:picLocks noChangeAspect="1"/>
          </p:cNvPicPr>
          <p:nvPr/>
        </p:nvPicPr>
        <p:blipFill>
          <a:blip r:embed="rId5"/>
          <a:stretch>
            <a:fillRect/>
          </a:stretch>
        </p:blipFill>
        <p:spPr>
          <a:xfrm>
            <a:off x="457201" y="4395214"/>
            <a:ext cx="7620728" cy="1979157"/>
          </a:xfrm>
          <a:prstGeom prst="rect">
            <a:avLst/>
          </a:prstGeom>
        </p:spPr>
      </p:pic>
      <p:sp>
        <p:nvSpPr>
          <p:cNvPr id="13" name="TextBox 12">
            <a:extLst>
              <a:ext uri="{FF2B5EF4-FFF2-40B4-BE49-F238E27FC236}">
                <a16:creationId xmlns:a16="http://schemas.microsoft.com/office/drawing/2014/main" id="{F2B9B1C2-731F-DCB0-6237-37B9159F509C}"/>
              </a:ext>
            </a:extLst>
          </p:cNvPr>
          <p:cNvSpPr txBox="1"/>
          <p:nvPr/>
        </p:nvSpPr>
        <p:spPr>
          <a:xfrm>
            <a:off x="457201" y="1691323"/>
            <a:ext cx="10896599" cy="2031325"/>
          </a:xfrm>
          <a:prstGeom prst="rect">
            <a:avLst/>
          </a:prstGeom>
          <a:noFill/>
        </p:spPr>
        <p:txBody>
          <a:bodyPr wrap="square" rtlCol="0">
            <a:spAutoFit/>
          </a:bodyPr>
          <a:lstStyle/>
          <a:p>
            <a:pPr marL="285750" indent="-285750">
              <a:buFont typeface="Arial" panose="020B0604020202020204" pitchFamily="34" charset="0"/>
              <a:buChar char="•"/>
            </a:pPr>
            <a:r>
              <a:rPr lang="en-US">
                <a:solidFill>
                  <a:schemeClr val="bg1"/>
                </a:solidFill>
              </a:rPr>
              <a:t>DC-DC step down (Buck) converter</a:t>
            </a:r>
          </a:p>
          <a:p>
            <a:pPr marL="285750" indent="-285750">
              <a:buFont typeface="Arial" panose="020B0604020202020204" pitchFamily="34" charset="0"/>
              <a:buChar char="•"/>
            </a:pPr>
            <a:r>
              <a:rPr lang="en-US">
                <a:solidFill>
                  <a:schemeClr val="bg1"/>
                </a:solidFill>
              </a:rPr>
              <a:t>Used to control voltage to motor</a:t>
            </a:r>
          </a:p>
          <a:p>
            <a:pPr marL="285750" indent="-285750">
              <a:buFont typeface="Arial" panose="020B0604020202020204" pitchFamily="34" charset="0"/>
              <a:buChar char="•"/>
            </a:pPr>
            <a:r>
              <a:rPr lang="en-US">
                <a:solidFill>
                  <a:schemeClr val="bg1"/>
                </a:solidFill>
              </a:rPr>
              <a:t>Uses PWM signal to achieve desired voltage</a:t>
            </a:r>
          </a:p>
          <a:p>
            <a:pPr marL="285750" indent="-285750">
              <a:buFont typeface="Arial" panose="020B0604020202020204" pitchFamily="34" charset="0"/>
              <a:buChar char="•"/>
            </a:pPr>
            <a:r>
              <a:rPr lang="en-US">
                <a:solidFill>
                  <a:schemeClr val="bg1"/>
                </a:solidFill>
              </a:rPr>
              <a:t>When switch is ON the inductor stores energy in its magnetic field</a:t>
            </a:r>
          </a:p>
          <a:p>
            <a:pPr marL="285750" indent="-285750">
              <a:buFont typeface="Arial" panose="020B0604020202020204" pitchFamily="34" charset="0"/>
              <a:buChar char="•"/>
            </a:pPr>
            <a:r>
              <a:rPr lang="en-US">
                <a:solidFill>
                  <a:schemeClr val="bg1"/>
                </a:solidFill>
              </a:rPr>
              <a:t>When switch is OFF the stored energy is delivered through the diode to the load filtered by a capacitor</a:t>
            </a:r>
          </a:p>
          <a:p>
            <a:pPr marL="285750" indent="-285750">
              <a:buFont typeface="Arial" panose="020B0604020202020204" pitchFamily="34" charset="0"/>
              <a:buChar char="•"/>
            </a:pPr>
            <a:r>
              <a:rPr lang="en-US">
                <a:solidFill>
                  <a:schemeClr val="bg1"/>
                </a:solidFill>
              </a:rPr>
              <a:t>Motor acts as the inductor and load resistor</a:t>
            </a:r>
          </a:p>
        </p:txBody>
      </p:sp>
    </p:spTree>
    <p:extLst>
      <p:ext uri="{BB962C8B-B14F-4D97-AF65-F5344CB8AC3E}">
        <p14:creationId xmlns:p14="http://schemas.microsoft.com/office/powerpoint/2010/main" val="2367227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61788-3790-9501-1904-A78988D2F09C}"/>
              </a:ext>
            </a:extLst>
          </p:cNvPr>
          <p:cNvSpPr>
            <a:spLocks noGrp="1"/>
          </p:cNvSpPr>
          <p:nvPr>
            <p:ph type="title"/>
          </p:nvPr>
        </p:nvSpPr>
        <p:spPr/>
        <p:txBody>
          <a:bodyPr>
            <a:normAutofit/>
          </a:bodyPr>
          <a:lstStyle/>
          <a:p>
            <a:r>
              <a:rPr lang="en-US"/>
              <a:t>Open-Loop Control</a:t>
            </a:r>
            <a:br>
              <a:rPr lang="en-US"/>
            </a:br>
            <a:r>
              <a:rPr lang="en-US" sz="2800"/>
              <a:t>Buck Converter (II)</a:t>
            </a:r>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ADE85C9-7232-80DC-E38C-FEB7C83F452B}"/>
                  </a:ext>
                </a:extLst>
              </p:cNvPr>
              <p:cNvSpPr>
                <a:spLocks noGrp="1"/>
              </p:cNvSpPr>
              <p:nvPr>
                <p:ph idx="1"/>
              </p:nvPr>
            </p:nvSpPr>
            <p:spPr>
              <a:xfrm>
                <a:off x="838199" y="1949450"/>
                <a:ext cx="5097380" cy="4195763"/>
              </a:xfrm>
            </p:spPr>
            <p:txBody>
              <a:bodyPr>
                <a:normAutofit lnSpcReduction="10000"/>
              </a:bodyPr>
              <a:lstStyle/>
              <a:p>
                <a:r>
                  <a:rPr lang="en-US" b="1"/>
                  <a:t>MBR1060</a:t>
                </a:r>
              </a:p>
              <a:p>
                <a:pPr lvl="1"/>
                <a:r>
                  <a:rPr lang="en-US"/>
                  <a:t>Schottky Diode</a:t>
                </a:r>
              </a:p>
              <a:p>
                <a:pPr lvl="1"/>
                <a:r>
                  <a:rPr lang="en-US"/>
                  <a:t>Metal-semiconductor junction diode</a:t>
                </a:r>
              </a:p>
              <a:p>
                <a:pPr lvl="1"/>
                <a:r>
                  <a:rPr lang="en-US"/>
                  <a:t>Fast switching</a:t>
                </a:r>
              </a:p>
              <a:p>
                <a:pPr lvl="1"/>
                <a:r>
                  <a:rPr lang="en-US"/>
                  <a:t>Low voltage drop</a:t>
                </a:r>
              </a:p>
              <a:p>
                <a:r>
                  <a:rPr lang="en-US" b="1"/>
                  <a:t>IRF540</a:t>
                </a:r>
              </a:p>
              <a:p>
                <a:pPr lvl="1"/>
                <a:r>
                  <a:rPr lang="en-US"/>
                  <a:t>N-channel MOSFET</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𝑡h</m:t>
                        </m:r>
                      </m:sub>
                    </m:sSub>
                    <m:r>
                      <a:rPr lang="en-US" b="0" i="1" smtClean="0">
                        <a:latin typeface="Cambria Math" panose="02040503050406030204" pitchFamily="18" charset="0"/>
                      </a:rPr>
                      <m:t>=2</m:t>
                    </m:r>
                    <m:r>
                      <a:rPr lang="en-US" b="0" i="1" smtClean="0">
                        <a:latin typeface="Cambria Math" panose="02040503050406030204" pitchFamily="18" charset="0"/>
                      </a:rPr>
                      <m:t>𝑉</m:t>
                    </m:r>
                  </m:oMath>
                </a14:m>
                <a:endParaRPr lang="en-US"/>
              </a:p>
            </p:txBody>
          </p:sp>
        </mc:Choice>
        <mc:Fallback>
          <p:sp>
            <p:nvSpPr>
              <p:cNvPr id="3" name="Content Placeholder 2">
                <a:extLst>
                  <a:ext uri="{FF2B5EF4-FFF2-40B4-BE49-F238E27FC236}">
                    <a16:creationId xmlns:a16="http://schemas.microsoft.com/office/drawing/2014/main" id="{6ADE85C9-7232-80DC-E38C-FEB7C83F452B}"/>
                  </a:ext>
                </a:extLst>
              </p:cNvPr>
              <p:cNvSpPr>
                <a:spLocks noGrp="1" noRot="1" noChangeAspect="1" noMove="1" noResize="1" noEditPoints="1" noAdjustHandles="1" noChangeArrowheads="1" noChangeShapeType="1" noTextEdit="1"/>
              </p:cNvSpPr>
              <p:nvPr>
                <p:ph idx="1"/>
              </p:nvPr>
            </p:nvSpPr>
            <p:spPr>
              <a:xfrm>
                <a:off x="838199" y="1949450"/>
                <a:ext cx="5097380" cy="4195763"/>
              </a:xfrm>
              <a:blipFill>
                <a:blip r:embed="rId2"/>
                <a:stretch>
                  <a:fillRect l="-2031" t="-145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B20DB35-99B9-5EE4-A892-9074D84C53D1}"/>
              </a:ext>
            </a:extLst>
          </p:cNvPr>
          <p:cNvSpPr>
            <a:spLocks noGrp="1"/>
          </p:cNvSpPr>
          <p:nvPr>
            <p:ph type="sldNum" sz="quarter" idx="12"/>
          </p:nvPr>
        </p:nvSpPr>
        <p:spPr/>
        <p:txBody>
          <a:bodyPr/>
          <a:lstStyle/>
          <a:p>
            <a:fld id="{73B850FF-6169-4056-8077-06FFA93A5366}" type="slidenum">
              <a:rPr lang="en-US" smtClean="0"/>
              <a:t>12</a:t>
            </a:fld>
            <a:endParaRPr lang="en-US"/>
          </a:p>
        </p:txBody>
      </p:sp>
      <p:pic>
        <p:nvPicPr>
          <p:cNvPr id="9" name="Picture 8">
            <a:extLst>
              <a:ext uri="{FF2B5EF4-FFF2-40B4-BE49-F238E27FC236}">
                <a16:creationId xmlns:a16="http://schemas.microsoft.com/office/drawing/2014/main" id="{E647E1A2-48B0-6C96-C5B9-E72F57853676}"/>
              </a:ext>
            </a:extLst>
          </p:cNvPr>
          <p:cNvPicPr>
            <a:picLocks noChangeAspect="1"/>
          </p:cNvPicPr>
          <p:nvPr/>
        </p:nvPicPr>
        <p:blipFill>
          <a:blip r:embed="rId3"/>
          <a:stretch>
            <a:fillRect/>
          </a:stretch>
        </p:blipFill>
        <p:spPr>
          <a:xfrm>
            <a:off x="6590565" y="1866568"/>
            <a:ext cx="5208346" cy="2864590"/>
          </a:xfrm>
          <a:prstGeom prst="rect">
            <a:avLst/>
          </a:prstGeom>
        </p:spPr>
      </p:pic>
      <p:sp>
        <p:nvSpPr>
          <p:cNvPr id="10" name="TextBox 9">
            <a:extLst>
              <a:ext uri="{FF2B5EF4-FFF2-40B4-BE49-F238E27FC236}">
                <a16:creationId xmlns:a16="http://schemas.microsoft.com/office/drawing/2014/main" id="{D9E6AA44-4E45-59A1-61E8-0B46B3672386}"/>
              </a:ext>
            </a:extLst>
          </p:cNvPr>
          <p:cNvSpPr txBox="1"/>
          <p:nvPr/>
        </p:nvSpPr>
        <p:spPr>
          <a:xfrm>
            <a:off x="6875283" y="4792483"/>
            <a:ext cx="4638909" cy="1015663"/>
          </a:xfrm>
          <a:prstGeom prst="rect">
            <a:avLst/>
          </a:prstGeom>
          <a:noFill/>
        </p:spPr>
        <p:txBody>
          <a:bodyPr wrap="square" rtlCol="0">
            <a:spAutoFit/>
          </a:bodyPr>
          <a:lstStyle/>
          <a:p>
            <a:pPr algn="just"/>
            <a:r>
              <a:rPr lang="en-US" sz="2000">
                <a:solidFill>
                  <a:schemeClr val="bg1"/>
                </a:solidFill>
              </a:rPr>
              <a:t>*Motor generates internal capacitance and inductance to complete Buck converter </a:t>
            </a:r>
            <a:endParaRPr lang="en-US">
              <a:solidFill>
                <a:schemeClr val="bg1"/>
              </a:solidFill>
            </a:endParaRPr>
          </a:p>
        </p:txBody>
      </p:sp>
    </p:spTree>
    <p:extLst>
      <p:ext uri="{BB962C8B-B14F-4D97-AF65-F5344CB8AC3E}">
        <p14:creationId xmlns:p14="http://schemas.microsoft.com/office/powerpoint/2010/main" val="33348026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1B5EC-00BC-482D-D1F7-9A3B45E36679}"/>
              </a:ext>
            </a:extLst>
          </p:cNvPr>
          <p:cNvSpPr>
            <a:spLocks noGrp="1"/>
          </p:cNvSpPr>
          <p:nvPr>
            <p:ph type="title"/>
          </p:nvPr>
        </p:nvSpPr>
        <p:spPr/>
        <p:txBody>
          <a:bodyPr>
            <a:normAutofit/>
          </a:bodyPr>
          <a:lstStyle/>
          <a:p>
            <a:r>
              <a:rPr lang="en-US"/>
              <a:t>Open-Loop Control</a:t>
            </a:r>
            <a:br>
              <a:rPr lang="en-US"/>
            </a:br>
            <a:r>
              <a:rPr lang="en-US" sz="2800"/>
              <a:t>Buck Converter (III)</a:t>
            </a:r>
            <a:endParaRPr lang="en-US"/>
          </a:p>
        </p:txBody>
      </p:sp>
      <p:sp>
        <p:nvSpPr>
          <p:cNvPr id="3" name="Content Placeholder 2">
            <a:extLst>
              <a:ext uri="{FF2B5EF4-FFF2-40B4-BE49-F238E27FC236}">
                <a16:creationId xmlns:a16="http://schemas.microsoft.com/office/drawing/2014/main" id="{A1F2F9D7-6032-BABA-65D2-0A256FC74BD5}"/>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4651972B-2F84-1FA2-B15E-B32E91D2B0BF}"/>
              </a:ext>
            </a:extLst>
          </p:cNvPr>
          <p:cNvSpPr>
            <a:spLocks noGrp="1"/>
          </p:cNvSpPr>
          <p:nvPr>
            <p:ph type="sldNum" sz="quarter" idx="12"/>
          </p:nvPr>
        </p:nvSpPr>
        <p:spPr/>
        <p:txBody>
          <a:bodyPr/>
          <a:lstStyle/>
          <a:p>
            <a:fld id="{73B850FF-6169-4056-8077-06FFA93A5366}" type="slidenum">
              <a:rPr lang="en-US" smtClean="0"/>
              <a:t>13</a:t>
            </a:fld>
            <a:endParaRPr lang="en-US"/>
          </a:p>
        </p:txBody>
      </p:sp>
    </p:spTree>
    <p:extLst>
      <p:ext uri="{BB962C8B-B14F-4D97-AF65-F5344CB8AC3E}">
        <p14:creationId xmlns:p14="http://schemas.microsoft.com/office/powerpoint/2010/main" val="32185334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56979-5E22-AC0A-807D-5219E7EA32A6}"/>
              </a:ext>
            </a:extLst>
          </p:cNvPr>
          <p:cNvSpPr>
            <a:spLocks noGrp="1"/>
          </p:cNvSpPr>
          <p:nvPr>
            <p:ph type="title"/>
          </p:nvPr>
        </p:nvSpPr>
        <p:spPr/>
        <p:txBody>
          <a:bodyPr>
            <a:normAutofit/>
          </a:bodyPr>
          <a:lstStyle/>
          <a:p>
            <a:r>
              <a:rPr lang="en-US"/>
              <a:t>Speed Measurement </a:t>
            </a:r>
            <a:br>
              <a:rPr lang="en-US"/>
            </a:br>
            <a:r>
              <a:rPr lang="en-US" sz="2800"/>
              <a:t>Tachometer</a:t>
            </a:r>
          </a:p>
        </p:txBody>
      </p:sp>
      <p:pic>
        <p:nvPicPr>
          <p:cNvPr id="5" name="Content Placeholder 4" descr="A diagram of a circuit&#10;&#10;Description automatically generated">
            <a:extLst>
              <a:ext uri="{FF2B5EF4-FFF2-40B4-BE49-F238E27FC236}">
                <a16:creationId xmlns:a16="http://schemas.microsoft.com/office/drawing/2014/main" id="{4F1702DF-F399-186E-17C6-54ED3EF075C6}"/>
              </a:ext>
            </a:extLst>
          </p:cNvPr>
          <p:cNvPicPr>
            <a:picLocks noGrp="1" noChangeAspect="1"/>
          </p:cNvPicPr>
          <p:nvPr>
            <p:ph sz="half" idx="1"/>
          </p:nvPr>
        </p:nvPicPr>
        <p:blipFill>
          <a:blip r:embed="rId2"/>
          <a:stretch>
            <a:fillRect/>
          </a:stretch>
        </p:blipFill>
        <p:spPr>
          <a:xfrm>
            <a:off x="7118621" y="2403614"/>
            <a:ext cx="3868475" cy="3068301"/>
          </a:xfrm>
        </p:spPr>
      </p:pic>
      <p:sp>
        <p:nvSpPr>
          <p:cNvPr id="7" name="Content Placeholder 6">
            <a:extLst>
              <a:ext uri="{FF2B5EF4-FFF2-40B4-BE49-F238E27FC236}">
                <a16:creationId xmlns:a16="http://schemas.microsoft.com/office/drawing/2014/main" id="{32361571-6030-6045-0B24-38E25CCCCDB1}"/>
              </a:ext>
            </a:extLst>
          </p:cNvPr>
          <p:cNvSpPr>
            <a:spLocks noGrp="1"/>
          </p:cNvSpPr>
          <p:nvPr>
            <p:ph sz="half" idx="2"/>
          </p:nvPr>
        </p:nvSpPr>
        <p:spPr>
          <a:xfrm>
            <a:off x="838200" y="1900884"/>
            <a:ext cx="5181600" cy="4417190"/>
          </a:xfrm>
        </p:spPr>
        <p:txBody>
          <a:bodyPr vert="horz" lIns="91440" tIns="45720" rIns="91440" bIns="45720" rtlCol="0" anchor="t">
            <a:normAutofit fontScale="92500" lnSpcReduction="20000"/>
          </a:bodyPr>
          <a:lstStyle/>
          <a:p>
            <a:r>
              <a:rPr lang="en-US"/>
              <a:t>Encoder</a:t>
            </a:r>
          </a:p>
          <a:p>
            <a:pPr lvl="1">
              <a:buFont typeface="Courier New" panose="020B0604020202020204" pitchFamily="34" charset="0"/>
              <a:buChar char="o"/>
            </a:pPr>
            <a:r>
              <a:rPr lang="en-US">
                <a:ea typeface="+mn-lt"/>
                <a:cs typeface="+mn-lt"/>
              </a:rPr>
              <a:t>A device which converts a mechanical information of a shaft or position into an electrical signal</a:t>
            </a:r>
          </a:p>
          <a:p>
            <a:pPr lvl="1">
              <a:buFont typeface="Courier New" panose="020B0604020202020204" pitchFamily="34" charset="0"/>
              <a:buChar char="o"/>
            </a:pPr>
            <a:endParaRPr lang="en-US">
              <a:ea typeface="+mn-lt"/>
              <a:cs typeface="+mn-lt"/>
            </a:endParaRPr>
          </a:p>
          <a:p>
            <a:r>
              <a:rPr lang="en-US"/>
              <a:t>Frequency to Voltage Converter</a:t>
            </a:r>
          </a:p>
          <a:p>
            <a:pPr lvl="1">
              <a:buFont typeface="Courier New" panose="020B0604020202020204" pitchFamily="34" charset="0"/>
              <a:buChar char="o"/>
            </a:pPr>
            <a:r>
              <a:rPr lang="en-US">
                <a:ea typeface="+mn-lt"/>
                <a:cs typeface="+mn-lt"/>
              </a:rPr>
              <a:t>A device that generates an output voltage or current proportional to the frequency of a sinusoidal input signal.</a:t>
            </a:r>
          </a:p>
          <a:p>
            <a:pPr lvl="1">
              <a:buFont typeface="Courier New" panose="020B0604020202020204" pitchFamily="34" charset="0"/>
              <a:buChar char="o"/>
            </a:pPr>
            <a:endParaRPr lang="en-US"/>
          </a:p>
        </p:txBody>
      </p:sp>
      <p:sp>
        <p:nvSpPr>
          <p:cNvPr id="4" name="Slide Number Placeholder 3">
            <a:extLst>
              <a:ext uri="{FF2B5EF4-FFF2-40B4-BE49-F238E27FC236}">
                <a16:creationId xmlns:a16="http://schemas.microsoft.com/office/drawing/2014/main" id="{D5CAC2D8-BB7D-3F94-7D7C-6B607F162412}"/>
              </a:ext>
            </a:extLst>
          </p:cNvPr>
          <p:cNvSpPr>
            <a:spLocks noGrp="1"/>
          </p:cNvSpPr>
          <p:nvPr>
            <p:ph type="sldNum" sz="quarter" idx="12"/>
          </p:nvPr>
        </p:nvSpPr>
        <p:spPr/>
        <p:txBody>
          <a:bodyPr/>
          <a:lstStyle/>
          <a:p>
            <a:fld id="{73B850FF-6169-4056-8077-06FFA93A5366}" type="slidenum">
              <a:rPr lang="en-US" dirty="0" smtClean="0"/>
              <a:t>14</a:t>
            </a:fld>
            <a:endParaRPr lang="en-US"/>
          </a:p>
        </p:txBody>
      </p:sp>
      <p:sp>
        <p:nvSpPr>
          <p:cNvPr id="6" name="TextBox 5">
            <a:extLst>
              <a:ext uri="{FF2B5EF4-FFF2-40B4-BE49-F238E27FC236}">
                <a16:creationId xmlns:a16="http://schemas.microsoft.com/office/drawing/2014/main" id="{0258654A-2CDC-1BBA-BF30-F6952AED6D87}"/>
              </a:ext>
            </a:extLst>
          </p:cNvPr>
          <p:cNvSpPr txBox="1"/>
          <p:nvPr/>
        </p:nvSpPr>
        <p:spPr>
          <a:xfrm>
            <a:off x="10796648" y="-1"/>
            <a:ext cx="139535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chemeClr val="bg1"/>
                </a:solidFill>
              </a:rPr>
              <a:t>Nicholas George</a:t>
            </a:r>
          </a:p>
        </p:txBody>
      </p:sp>
    </p:spTree>
    <p:extLst>
      <p:ext uri="{BB962C8B-B14F-4D97-AF65-F5344CB8AC3E}">
        <p14:creationId xmlns:p14="http://schemas.microsoft.com/office/powerpoint/2010/main" val="1306573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B343E-EA71-A618-2487-28B0D0C092A4}"/>
              </a:ext>
            </a:extLst>
          </p:cNvPr>
          <p:cNvSpPr>
            <a:spLocks noGrp="1"/>
          </p:cNvSpPr>
          <p:nvPr>
            <p:ph type="title"/>
          </p:nvPr>
        </p:nvSpPr>
        <p:spPr/>
        <p:txBody>
          <a:bodyPr>
            <a:normAutofit/>
          </a:bodyPr>
          <a:lstStyle/>
          <a:p>
            <a:r>
              <a:rPr lang="en-US">
                <a:ea typeface="+mj-lt"/>
                <a:cs typeface="+mj-lt"/>
              </a:rPr>
              <a:t>Speed Measurement </a:t>
            </a:r>
            <a:br>
              <a:rPr lang="en-US"/>
            </a:br>
            <a:r>
              <a:rPr lang="en-US" sz="2800"/>
              <a:t>Encoder </a:t>
            </a:r>
            <a:r>
              <a:rPr lang="en-US" sz="2800" b="0">
                <a:ea typeface="+mj-lt"/>
                <a:cs typeface="+mj-lt"/>
              </a:rPr>
              <a:t>(OPB829AZ)</a:t>
            </a:r>
            <a:endParaRPr lang="en-US" sz="2800"/>
          </a:p>
        </p:txBody>
      </p:sp>
      <p:sp>
        <p:nvSpPr>
          <p:cNvPr id="3" name="Content Placeholder 2">
            <a:extLst>
              <a:ext uri="{FF2B5EF4-FFF2-40B4-BE49-F238E27FC236}">
                <a16:creationId xmlns:a16="http://schemas.microsoft.com/office/drawing/2014/main" id="{A487D6B8-9055-AD13-398B-A5CA4BBA4B5B}"/>
              </a:ext>
            </a:extLst>
          </p:cNvPr>
          <p:cNvSpPr>
            <a:spLocks noGrp="1"/>
          </p:cNvSpPr>
          <p:nvPr>
            <p:ph sz="half" idx="1"/>
          </p:nvPr>
        </p:nvSpPr>
        <p:spPr/>
        <p:txBody>
          <a:bodyPr vert="horz" lIns="91440" tIns="45720" rIns="91440" bIns="45720" rtlCol="0" anchor="t">
            <a:normAutofit fontScale="77500" lnSpcReduction="20000"/>
          </a:bodyPr>
          <a:lstStyle/>
          <a:p>
            <a:r>
              <a:rPr lang="en-US"/>
              <a:t>The optical sensor utilized works as a slotted optical switch. The device consists of an infrared light emitting diode and a NPN phototransistor. When the light emitted from the LED goes through one of the 16 slits of the wheel and hits the phototransistor, an electrical pulse is generated. This creates the switching waveform that represents the frequency of the tire rotation.</a:t>
            </a:r>
          </a:p>
          <a:p>
            <a:pPr lvl="1">
              <a:buFont typeface="Courier New" panose="020B0604020202020204" pitchFamily="34" charset="0"/>
              <a:buChar char="o"/>
            </a:pPr>
            <a:endParaRPr lang="en-US"/>
          </a:p>
        </p:txBody>
      </p:sp>
      <p:pic>
        <p:nvPicPr>
          <p:cNvPr id="6" name="Content Placeholder 5" descr="A screen shot of a computer&#10;&#10;Description automatically generated">
            <a:extLst>
              <a:ext uri="{FF2B5EF4-FFF2-40B4-BE49-F238E27FC236}">
                <a16:creationId xmlns:a16="http://schemas.microsoft.com/office/drawing/2014/main" id="{BA5E17A3-1857-824C-865D-A0E10CCA536D}"/>
              </a:ext>
            </a:extLst>
          </p:cNvPr>
          <p:cNvPicPr>
            <a:picLocks noGrp="1" noChangeAspect="1"/>
          </p:cNvPicPr>
          <p:nvPr>
            <p:ph sz="half" idx="2"/>
          </p:nvPr>
        </p:nvPicPr>
        <p:blipFill rotWithShape="1">
          <a:blip r:embed="rId2"/>
          <a:srcRect t="7819" r="259" b="3087"/>
          <a:stretch/>
        </p:blipFill>
        <p:spPr>
          <a:xfrm>
            <a:off x="7062849" y="4037413"/>
            <a:ext cx="3806055" cy="2139857"/>
          </a:xfrm>
        </p:spPr>
      </p:pic>
      <p:sp>
        <p:nvSpPr>
          <p:cNvPr id="5" name="Slide Number Placeholder 4">
            <a:extLst>
              <a:ext uri="{FF2B5EF4-FFF2-40B4-BE49-F238E27FC236}">
                <a16:creationId xmlns:a16="http://schemas.microsoft.com/office/drawing/2014/main" id="{7D70DCCB-0573-66E1-EC3F-070B0FD6A633}"/>
              </a:ext>
            </a:extLst>
          </p:cNvPr>
          <p:cNvSpPr>
            <a:spLocks noGrp="1"/>
          </p:cNvSpPr>
          <p:nvPr>
            <p:ph type="sldNum" sz="quarter" idx="12"/>
          </p:nvPr>
        </p:nvSpPr>
        <p:spPr/>
        <p:txBody>
          <a:bodyPr/>
          <a:lstStyle/>
          <a:p>
            <a:fld id="{73B850FF-6169-4056-8077-06FFA93A5366}" type="slidenum">
              <a:rPr lang="en-US" smtClean="0"/>
              <a:t>15</a:t>
            </a:fld>
            <a:endParaRPr lang="en-US"/>
          </a:p>
        </p:txBody>
      </p:sp>
      <p:pic>
        <p:nvPicPr>
          <p:cNvPr id="7" name="Picture 6" descr="Rotary encoder basics and applications, Part 1: Optical encoders">
            <a:extLst>
              <a:ext uri="{FF2B5EF4-FFF2-40B4-BE49-F238E27FC236}">
                <a16:creationId xmlns:a16="http://schemas.microsoft.com/office/drawing/2014/main" id="{1269C231-7D4F-C0E5-3AD3-2F2D5F9CE112}"/>
              </a:ext>
            </a:extLst>
          </p:cNvPr>
          <p:cNvPicPr>
            <a:picLocks noChangeAspect="1"/>
          </p:cNvPicPr>
          <p:nvPr/>
        </p:nvPicPr>
        <p:blipFill>
          <a:blip r:embed="rId3"/>
          <a:stretch>
            <a:fillRect/>
          </a:stretch>
        </p:blipFill>
        <p:spPr>
          <a:xfrm>
            <a:off x="7356764" y="1689561"/>
            <a:ext cx="3317174" cy="1984568"/>
          </a:xfrm>
          <a:prstGeom prst="rect">
            <a:avLst/>
          </a:prstGeom>
        </p:spPr>
      </p:pic>
      <p:sp>
        <p:nvSpPr>
          <p:cNvPr id="8" name="TextBox 7">
            <a:extLst>
              <a:ext uri="{FF2B5EF4-FFF2-40B4-BE49-F238E27FC236}">
                <a16:creationId xmlns:a16="http://schemas.microsoft.com/office/drawing/2014/main" id="{D12F1E12-D5E0-5517-99FD-FB0740782340}"/>
              </a:ext>
            </a:extLst>
          </p:cNvPr>
          <p:cNvSpPr txBox="1"/>
          <p:nvPr/>
        </p:nvSpPr>
        <p:spPr>
          <a:xfrm>
            <a:off x="10796648" y="-1"/>
            <a:ext cx="139535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chemeClr val="bg1"/>
                </a:solidFill>
              </a:rPr>
              <a:t>Nicholas George</a:t>
            </a:r>
          </a:p>
        </p:txBody>
      </p:sp>
    </p:spTree>
    <p:extLst>
      <p:ext uri="{BB962C8B-B14F-4D97-AF65-F5344CB8AC3E}">
        <p14:creationId xmlns:p14="http://schemas.microsoft.com/office/powerpoint/2010/main" val="26886414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770E4-73E5-68D9-7F88-4F4B8F2CD095}"/>
              </a:ext>
            </a:extLst>
          </p:cNvPr>
          <p:cNvSpPr>
            <a:spLocks noGrp="1"/>
          </p:cNvSpPr>
          <p:nvPr>
            <p:ph type="title"/>
          </p:nvPr>
        </p:nvSpPr>
        <p:spPr/>
        <p:txBody>
          <a:bodyPr>
            <a:normAutofit/>
          </a:bodyPr>
          <a:lstStyle/>
          <a:p>
            <a:r>
              <a:rPr lang="en-US">
                <a:ea typeface="+mj-lt"/>
                <a:cs typeface="+mj-lt"/>
              </a:rPr>
              <a:t>Speed Measurement </a:t>
            </a:r>
            <a:br>
              <a:rPr lang="en-US" sz="2800"/>
            </a:br>
            <a:r>
              <a:rPr lang="en-US" sz="2800"/>
              <a:t>Frequency to Voltage Converter</a:t>
            </a:r>
            <a:r>
              <a:rPr lang="en-US" sz="2800" b="0"/>
              <a:t> (</a:t>
            </a:r>
            <a:r>
              <a:rPr lang="en-US" sz="2800" b="0">
                <a:ea typeface="+mj-lt"/>
                <a:cs typeface="+mj-lt"/>
              </a:rPr>
              <a:t>LM2907N)</a:t>
            </a:r>
            <a:endParaRPr lang="en-US"/>
          </a:p>
        </p:txBody>
      </p:sp>
      <p:sp>
        <p:nvSpPr>
          <p:cNvPr id="7" name="Text Placeholder 6">
            <a:extLst>
              <a:ext uri="{FF2B5EF4-FFF2-40B4-BE49-F238E27FC236}">
                <a16:creationId xmlns:a16="http://schemas.microsoft.com/office/drawing/2014/main" id="{9F8A943D-84E4-BEAA-FC36-A26A519D4859}"/>
              </a:ext>
            </a:extLst>
          </p:cNvPr>
          <p:cNvSpPr>
            <a:spLocks noGrp="1"/>
          </p:cNvSpPr>
          <p:nvPr>
            <p:ph type="body" idx="1"/>
          </p:nvPr>
        </p:nvSpPr>
        <p:spPr>
          <a:xfrm>
            <a:off x="6193580" y="1693222"/>
            <a:ext cx="5157787" cy="2486457"/>
          </a:xfrm>
        </p:spPr>
        <p:txBody>
          <a:bodyPr>
            <a:normAutofit fontScale="55000" lnSpcReduction="20000"/>
          </a:bodyPr>
          <a:lstStyle/>
          <a:p>
            <a:pPr marL="342900" indent="-342900">
              <a:buChar char="•"/>
            </a:pPr>
            <a:r>
              <a:rPr lang="en-US"/>
              <a:t>Charge Pump</a:t>
            </a:r>
          </a:p>
          <a:p>
            <a:pPr marL="800100" lvl="1" indent="-342900">
              <a:buFont typeface="Courier New" panose="020B0604020202020204" pitchFamily="34" charset="0"/>
              <a:buChar char="o"/>
            </a:pPr>
            <a:r>
              <a:rPr lang="en-US" b="0">
                <a:ea typeface="+mn-lt"/>
                <a:cs typeface="+mn-lt"/>
              </a:rPr>
              <a:t>A charge pump system is used to translate the frequency of a square wave to a voltage. At the start of every positive half cycle of the input signal a 180-µA constant current charges C1 until its voltage has increased by VCC/2. The capacitor is held at that voltage until the input signal begins a negative half cycle. Then the 180-µA constant current discharges capacitor C1 until its voltage has dropped by VCC/2. This voltage is held until the next positive half cycle and the process repeats. This generates pulses of current flowing into and out of capacitor C1 at the same frequency as the input signal. For every full cycle, the charge pump mirrors both current pulses as positive current pulses into the parallel combination of resistor R1 and capacitor C2. Therefore, every full cycle, the amount of charge leaving pin 3 is equal to the sum of the charge entering C1 and leaving C1.</a:t>
            </a:r>
            <a:endParaRPr lang="en-US"/>
          </a:p>
        </p:txBody>
      </p:sp>
      <p:pic>
        <p:nvPicPr>
          <p:cNvPr id="10" name="Content Placeholder 9" descr="A diagram of a graph&#10;&#10;Description automatically generated">
            <a:extLst>
              <a:ext uri="{FF2B5EF4-FFF2-40B4-BE49-F238E27FC236}">
                <a16:creationId xmlns:a16="http://schemas.microsoft.com/office/drawing/2014/main" id="{1E21F065-2939-AFBD-042F-3FBAB184A16A}"/>
              </a:ext>
            </a:extLst>
          </p:cNvPr>
          <p:cNvPicPr>
            <a:picLocks noGrp="1" noChangeAspect="1"/>
          </p:cNvPicPr>
          <p:nvPr>
            <p:ph sz="half" idx="2"/>
          </p:nvPr>
        </p:nvPicPr>
        <p:blipFill>
          <a:blip r:embed="rId2"/>
          <a:stretch>
            <a:fillRect/>
          </a:stretch>
        </p:blipFill>
        <p:spPr>
          <a:xfrm>
            <a:off x="5151241" y="4917444"/>
            <a:ext cx="1888673" cy="1327564"/>
          </a:xfrm>
        </p:spPr>
      </p:pic>
      <p:sp>
        <p:nvSpPr>
          <p:cNvPr id="8" name="Text Placeholder 7">
            <a:extLst>
              <a:ext uri="{FF2B5EF4-FFF2-40B4-BE49-F238E27FC236}">
                <a16:creationId xmlns:a16="http://schemas.microsoft.com/office/drawing/2014/main" id="{5BCF2455-2709-29F7-1D58-DF4041A88966}"/>
              </a:ext>
            </a:extLst>
          </p:cNvPr>
          <p:cNvSpPr>
            <a:spLocks noGrp="1"/>
          </p:cNvSpPr>
          <p:nvPr>
            <p:ph type="body" sz="quarter" idx="3"/>
          </p:nvPr>
        </p:nvSpPr>
        <p:spPr>
          <a:xfrm>
            <a:off x="838200" y="1693223"/>
            <a:ext cx="5183188" cy="1289030"/>
          </a:xfrm>
        </p:spPr>
        <p:txBody>
          <a:bodyPr>
            <a:normAutofit fontScale="55000" lnSpcReduction="20000"/>
          </a:bodyPr>
          <a:lstStyle/>
          <a:p>
            <a:pPr marL="342900" indent="-342900">
              <a:buChar char="•"/>
            </a:pPr>
            <a:r>
              <a:rPr lang="en-US"/>
              <a:t>Schmitt Trigger</a:t>
            </a:r>
          </a:p>
          <a:p>
            <a:pPr marL="800100" lvl="1" indent="-342900">
              <a:buFont typeface="Courier New" panose="020B0604020202020204" pitchFamily="34" charset="0"/>
              <a:buChar char="o"/>
            </a:pPr>
            <a:r>
              <a:rPr lang="en-US" b="0">
                <a:ea typeface="+mn-lt"/>
                <a:cs typeface="+mn-lt"/>
              </a:rPr>
              <a:t>Different switching thresholds for positive and negative-going inputs </a:t>
            </a:r>
            <a:endParaRPr lang="en-US">
              <a:ea typeface="+mn-lt"/>
              <a:cs typeface="+mn-lt"/>
            </a:endParaRPr>
          </a:p>
          <a:p>
            <a:pPr marL="800100" lvl="1" indent="-342900">
              <a:buFont typeface="Courier New" panose="020B0604020202020204" pitchFamily="34" charset="0"/>
              <a:buChar char="o"/>
            </a:pPr>
            <a:r>
              <a:rPr lang="en-US" b="0">
                <a:ea typeface="+mn-lt"/>
                <a:cs typeface="+mn-lt"/>
              </a:rPr>
              <a:t>Turn a noisy or slowly varying input into a clean output </a:t>
            </a:r>
            <a:endParaRPr lang="en-US">
              <a:ea typeface="+mn-lt"/>
              <a:cs typeface="+mn-lt"/>
            </a:endParaRPr>
          </a:p>
          <a:p>
            <a:pPr marL="800100" lvl="1" indent="-342900">
              <a:buFont typeface="Courier New" panose="020B0604020202020204" pitchFamily="34" charset="0"/>
              <a:buChar char="o"/>
            </a:pPr>
            <a:r>
              <a:rPr lang="en-US" b="0">
                <a:ea typeface="+mn-lt"/>
                <a:cs typeface="+mn-lt"/>
              </a:rPr>
              <a:t>Hysteresis voltage: The voltage range between UTP &amp; LTP</a:t>
            </a:r>
            <a:endParaRPr lang="en-US"/>
          </a:p>
        </p:txBody>
      </p:sp>
      <p:pic>
        <p:nvPicPr>
          <p:cNvPr id="6" name="Content Placeholder 5">
            <a:extLst>
              <a:ext uri="{FF2B5EF4-FFF2-40B4-BE49-F238E27FC236}">
                <a16:creationId xmlns:a16="http://schemas.microsoft.com/office/drawing/2014/main" id="{BABE308D-BF37-29ED-678B-944B77E8A412}"/>
              </a:ext>
            </a:extLst>
          </p:cNvPr>
          <p:cNvPicPr>
            <a:picLocks noGrp="1" noChangeAspect="1"/>
          </p:cNvPicPr>
          <p:nvPr>
            <p:ph sz="quarter" idx="4"/>
          </p:nvPr>
        </p:nvPicPr>
        <p:blipFill>
          <a:blip r:embed="rId3"/>
          <a:stretch>
            <a:fillRect/>
          </a:stretch>
        </p:blipFill>
        <p:spPr>
          <a:xfrm>
            <a:off x="2995544" y="4922378"/>
            <a:ext cx="1887798" cy="1317698"/>
          </a:xfrm>
        </p:spPr>
      </p:pic>
      <p:sp>
        <p:nvSpPr>
          <p:cNvPr id="5" name="Slide Number Placeholder 4">
            <a:extLst>
              <a:ext uri="{FF2B5EF4-FFF2-40B4-BE49-F238E27FC236}">
                <a16:creationId xmlns:a16="http://schemas.microsoft.com/office/drawing/2014/main" id="{96B52DBC-9A0C-6438-B1C1-525FA0EDC1CC}"/>
              </a:ext>
            </a:extLst>
          </p:cNvPr>
          <p:cNvSpPr>
            <a:spLocks noGrp="1"/>
          </p:cNvSpPr>
          <p:nvPr>
            <p:ph type="sldNum" sz="quarter" idx="12"/>
          </p:nvPr>
        </p:nvSpPr>
        <p:spPr/>
        <p:txBody>
          <a:bodyPr/>
          <a:lstStyle/>
          <a:p>
            <a:fld id="{73B850FF-6169-4056-8077-06FFA93A5366}" type="slidenum">
              <a:rPr lang="en-US" smtClean="0"/>
              <a:t>16</a:t>
            </a:fld>
            <a:endParaRPr lang="en-US"/>
          </a:p>
        </p:txBody>
      </p:sp>
      <p:pic>
        <p:nvPicPr>
          <p:cNvPr id="12" name="Picture 11" descr="A diagram of a charge pump">
            <a:extLst>
              <a:ext uri="{FF2B5EF4-FFF2-40B4-BE49-F238E27FC236}">
                <a16:creationId xmlns:a16="http://schemas.microsoft.com/office/drawing/2014/main" id="{D53607D5-629C-BA28-EC2B-30B4EC5E30E0}"/>
              </a:ext>
            </a:extLst>
          </p:cNvPr>
          <p:cNvPicPr>
            <a:picLocks noChangeAspect="1"/>
          </p:cNvPicPr>
          <p:nvPr/>
        </p:nvPicPr>
        <p:blipFill rotWithShape="1">
          <a:blip r:embed="rId4"/>
          <a:srcRect l="2527" t="7100" r="12996" b="1479"/>
          <a:stretch/>
        </p:blipFill>
        <p:spPr>
          <a:xfrm>
            <a:off x="7317180" y="4919351"/>
            <a:ext cx="1872042" cy="1323429"/>
          </a:xfrm>
          <a:prstGeom prst="rect">
            <a:avLst/>
          </a:prstGeom>
        </p:spPr>
      </p:pic>
      <p:pic>
        <p:nvPicPr>
          <p:cNvPr id="14" name="Content Placeholder 5" descr="A screen shot of a computer&#10;&#10;Description automatically generated">
            <a:extLst>
              <a:ext uri="{FF2B5EF4-FFF2-40B4-BE49-F238E27FC236}">
                <a16:creationId xmlns:a16="http://schemas.microsoft.com/office/drawing/2014/main" id="{362287C3-16F8-A1ED-9A73-CF6007E0E8DB}"/>
              </a:ext>
            </a:extLst>
          </p:cNvPr>
          <p:cNvPicPr>
            <a:picLocks noChangeAspect="1"/>
          </p:cNvPicPr>
          <p:nvPr/>
        </p:nvPicPr>
        <p:blipFill rotWithShape="1">
          <a:blip r:embed="rId5"/>
          <a:srcRect t="7819" r="259" b="3087"/>
          <a:stretch/>
        </p:blipFill>
        <p:spPr>
          <a:xfrm>
            <a:off x="838198" y="4918166"/>
            <a:ext cx="1886212" cy="1328377"/>
          </a:xfrm>
          <a:prstGeom prst="rect">
            <a:avLst/>
          </a:prstGeom>
        </p:spPr>
      </p:pic>
      <p:pic>
        <p:nvPicPr>
          <p:cNvPr id="15" name="Picture 14" descr="A screen shot of a computer">
            <a:extLst>
              <a:ext uri="{FF2B5EF4-FFF2-40B4-BE49-F238E27FC236}">
                <a16:creationId xmlns:a16="http://schemas.microsoft.com/office/drawing/2014/main" id="{9D3C8C73-45DE-E138-6FFD-F52E6C21A5C1}"/>
              </a:ext>
            </a:extLst>
          </p:cNvPr>
          <p:cNvPicPr>
            <a:picLocks noChangeAspect="1"/>
          </p:cNvPicPr>
          <p:nvPr/>
        </p:nvPicPr>
        <p:blipFill rotWithShape="1">
          <a:blip r:embed="rId6"/>
          <a:srcRect t="7692" r="-361" b="4327"/>
          <a:stretch/>
        </p:blipFill>
        <p:spPr>
          <a:xfrm>
            <a:off x="9474529" y="4923806"/>
            <a:ext cx="1872352" cy="1335106"/>
          </a:xfrm>
          <a:prstGeom prst="rect">
            <a:avLst/>
          </a:prstGeom>
        </p:spPr>
      </p:pic>
      <p:sp>
        <p:nvSpPr>
          <p:cNvPr id="25" name="Arrow: Curved Down 24">
            <a:extLst>
              <a:ext uri="{FF2B5EF4-FFF2-40B4-BE49-F238E27FC236}">
                <a16:creationId xmlns:a16="http://schemas.microsoft.com/office/drawing/2014/main" id="{AB929379-42B1-E4D2-A585-165A205ECDBC}"/>
              </a:ext>
            </a:extLst>
          </p:cNvPr>
          <p:cNvSpPr/>
          <p:nvPr/>
        </p:nvSpPr>
        <p:spPr>
          <a:xfrm>
            <a:off x="6877792" y="4492831"/>
            <a:ext cx="613558" cy="336466"/>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Arrow: Curved Down 25">
            <a:extLst>
              <a:ext uri="{FF2B5EF4-FFF2-40B4-BE49-F238E27FC236}">
                <a16:creationId xmlns:a16="http://schemas.microsoft.com/office/drawing/2014/main" id="{DCE3A4BD-0302-F504-928C-5B2A722C1E9C}"/>
              </a:ext>
            </a:extLst>
          </p:cNvPr>
          <p:cNvSpPr/>
          <p:nvPr/>
        </p:nvSpPr>
        <p:spPr>
          <a:xfrm>
            <a:off x="9045038" y="4492831"/>
            <a:ext cx="613558" cy="336466"/>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 name="Arrow: Curved Down 26">
            <a:extLst>
              <a:ext uri="{FF2B5EF4-FFF2-40B4-BE49-F238E27FC236}">
                <a16:creationId xmlns:a16="http://schemas.microsoft.com/office/drawing/2014/main" id="{32214BC8-D473-D5EA-57D8-735C0739276F}"/>
              </a:ext>
            </a:extLst>
          </p:cNvPr>
          <p:cNvSpPr/>
          <p:nvPr/>
        </p:nvSpPr>
        <p:spPr>
          <a:xfrm>
            <a:off x="4710544" y="4492830"/>
            <a:ext cx="613558" cy="336466"/>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Arrow: Curved Down 27">
            <a:extLst>
              <a:ext uri="{FF2B5EF4-FFF2-40B4-BE49-F238E27FC236}">
                <a16:creationId xmlns:a16="http://schemas.microsoft.com/office/drawing/2014/main" id="{14FEA3E0-0BDC-FDC8-B3A9-9694A6A5DBBB}"/>
              </a:ext>
            </a:extLst>
          </p:cNvPr>
          <p:cNvSpPr/>
          <p:nvPr/>
        </p:nvSpPr>
        <p:spPr>
          <a:xfrm>
            <a:off x="2543298" y="4492831"/>
            <a:ext cx="613558" cy="336466"/>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extBox 3">
            <a:extLst>
              <a:ext uri="{FF2B5EF4-FFF2-40B4-BE49-F238E27FC236}">
                <a16:creationId xmlns:a16="http://schemas.microsoft.com/office/drawing/2014/main" id="{E2515E39-066D-60DC-55C5-76EB1CF8A67B}"/>
              </a:ext>
            </a:extLst>
          </p:cNvPr>
          <p:cNvSpPr txBox="1"/>
          <p:nvPr/>
        </p:nvSpPr>
        <p:spPr>
          <a:xfrm>
            <a:off x="10796648" y="-1"/>
            <a:ext cx="139535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chemeClr val="bg1"/>
                </a:solidFill>
              </a:rPr>
              <a:t>Nicholas George</a:t>
            </a:r>
          </a:p>
        </p:txBody>
      </p:sp>
    </p:spTree>
    <p:extLst>
      <p:ext uri="{BB962C8B-B14F-4D97-AF65-F5344CB8AC3E}">
        <p14:creationId xmlns:p14="http://schemas.microsoft.com/office/powerpoint/2010/main" val="8281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6617B-B08A-EE17-2282-FDDF025CAE9A}"/>
              </a:ext>
            </a:extLst>
          </p:cNvPr>
          <p:cNvSpPr>
            <a:spLocks noGrp="1"/>
          </p:cNvSpPr>
          <p:nvPr>
            <p:ph type="title"/>
          </p:nvPr>
        </p:nvSpPr>
        <p:spPr/>
        <p:txBody>
          <a:bodyPr>
            <a:normAutofit/>
          </a:bodyPr>
          <a:lstStyle/>
          <a:p>
            <a:r>
              <a:rPr lang="en-US">
                <a:ea typeface="+mj-lt"/>
                <a:cs typeface="+mj-lt"/>
              </a:rPr>
              <a:t>Speed Measurement </a:t>
            </a:r>
            <a:br>
              <a:rPr lang="en-US" sz="2800"/>
            </a:br>
            <a:r>
              <a:rPr lang="en-US" sz="2800"/>
              <a:t>Analog to Digital Converter (ADC)</a:t>
            </a:r>
            <a:endParaRPr lang="en-US"/>
          </a:p>
        </p:txBody>
      </p:sp>
      <p:sp>
        <p:nvSpPr>
          <p:cNvPr id="3" name="Content Placeholder 2">
            <a:extLst>
              <a:ext uri="{FF2B5EF4-FFF2-40B4-BE49-F238E27FC236}">
                <a16:creationId xmlns:a16="http://schemas.microsoft.com/office/drawing/2014/main" id="{EE6943DE-18C7-BD89-C1B9-176689F54243}"/>
              </a:ext>
            </a:extLst>
          </p:cNvPr>
          <p:cNvSpPr>
            <a:spLocks noGrp="1"/>
          </p:cNvSpPr>
          <p:nvPr>
            <p:ph sz="half" idx="1"/>
          </p:nvPr>
        </p:nvSpPr>
        <p:spPr/>
        <p:txBody>
          <a:bodyPr vert="horz" lIns="91440" tIns="45720" rIns="91440" bIns="45720" rtlCol="0" anchor="t">
            <a:normAutofit/>
          </a:bodyPr>
          <a:lstStyle/>
          <a:p>
            <a:r>
              <a:rPr lang="en-US" sz="1200">
                <a:ea typeface="+mn-lt"/>
                <a:cs typeface="+mn-lt"/>
              </a:rPr>
              <a:t>A basic ADC circuit is comprised of comparators. A voltage input (Vin) signal is applied to the input of the comparator, while a reference voltage (</a:t>
            </a:r>
            <a:r>
              <a:rPr lang="en-US" sz="1200" err="1">
                <a:ea typeface="+mn-lt"/>
                <a:cs typeface="+mn-lt"/>
              </a:rPr>
              <a:t>Vref</a:t>
            </a:r>
            <a:r>
              <a:rPr lang="en-US" sz="1200">
                <a:ea typeface="+mn-lt"/>
                <a:cs typeface="+mn-lt"/>
              </a:rPr>
              <a:t>) is applied to the other. A comparison of the voltages is made, and the output of the comparator will either be high or low.</a:t>
            </a:r>
            <a:r>
              <a:rPr lang="en-US" sz="1200">
                <a:latin typeface="Avenir Next LT Pro"/>
                <a:cs typeface="Times New Roman"/>
              </a:rPr>
              <a:t> </a:t>
            </a:r>
            <a:r>
              <a:rPr lang="en-US" sz="1200">
                <a:latin typeface="Times New Roman"/>
                <a:cs typeface="Times New Roman"/>
              </a:rPr>
              <a:t>One comparator could be considered a 1-bit ADC. To increase the bit size of the ADC, comparators are stacked. The general equation is:</a:t>
            </a:r>
            <a:endParaRPr lang="en-US" sz="1200">
              <a:latin typeface="Avenir Next LT Pro"/>
              <a:cs typeface="Times New Roman"/>
            </a:endParaRPr>
          </a:p>
          <a:p>
            <a:pPr marL="0" indent="0" algn="ctr">
              <a:buNone/>
            </a:pPr>
            <a:r>
              <a:rPr lang="en-US" sz="1200">
                <a:latin typeface="AvenirNext LT Pro Medium"/>
                <a:cs typeface="Segoe UI"/>
              </a:rPr>
              <a:t>n−bit ADC = 2^n−1</a:t>
            </a:r>
            <a:endParaRPr lang="en-US" sz="1200">
              <a:latin typeface="AvenirNext LT Pro Medium"/>
            </a:endParaRPr>
          </a:p>
          <a:p>
            <a:r>
              <a:rPr lang="en-US" sz="1200">
                <a:latin typeface="Times New Roman"/>
                <a:ea typeface="Segoe UI"/>
                <a:cs typeface="Segoe UI"/>
              </a:rPr>
              <a:t>The resolution of the ADC and be calculated to find the amount of voltage required to make a change in the digital output.</a:t>
            </a:r>
            <a:r>
              <a:rPr lang="en-US" sz="1200">
                <a:latin typeface="Times New Roman"/>
                <a:ea typeface="Times New Roman"/>
                <a:cs typeface="Times New Roman"/>
              </a:rPr>
              <a:t> </a:t>
            </a:r>
            <a:endParaRPr lang="en-US"/>
          </a:p>
          <a:p>
            <a:pPr marL="0" indent="0" algn="ctr">
              <a:buNone/>
            </a:pPr>
            <a:r>
              <a:rPr lang="en-US" sz="1200">
                <a:latin typeface="AvenirNext LT Pro Medium"/>
                <a:ea typeface="STIXGeneral"/>
                <a:cs typeface="STIXGeneral"/>
              </a:rPr>
              <a:t>Vmax / distinguishable</a:t>
            </a:r>
            <a:r>
              <a:rPr lang="en-US" sz="1200" baseline="0">
                <a:latin typeface="AvenirNext LT Pro Medium"/>
                <a:ea typeface="STIXGeneral"/>
                <a:cs typeface="STIXGeneral"/>
              </a:rPr>
              <a:t> </a:t>
            </a:r>
            <a:r>
              <a:rPr lang="en-US" sz="1200" baseline="0">
                <a:latin typeface="AvenirNext LT Pro Medium"/>
                <a:ea typeface="MathJax_Math-italic"/>
                <a:cs typeface="MathJax_Math-italic"/>
              </a:rPr>
              <a:t>outputs</a:t>
            </a:r>
          </a:p>
          <a:p>
            <a:pPr rtl="0"/>
            <a:r>
              <a:rPr lang="en-US" sz="1200">
                <a:latin typeface="Times New Roman"/>
                <a:ea typeface="Segoe UI"/>
                <a:cs typeface="Segoe UI"/>
              </a:rPr>
              <a:t>The voltage is read as a fraction of the system voltage. This value is a floating point from 0.0(VSS) to 1.0(VCC). A change in analog input voltage, given by the equation above, will create a change in the digital output voltage by;</a:t>
            </a:r>
            <a:r>
              <a:rPr lang="en-US" sz="1200">
                <a:latin typeface="Times New Roman"/>
                <a:ea typeface="Times New Roman"/>
                <a:cs typeface="Times New Roman"/>
              </a:rPr>
              <a:t> </a:t>
            </a:r>
          </a:p>
          <a:p>
            <a:pPr marL="0" indent="0" algn="ctr">
              <a:buNone/>
            </a:pPr>
            <a:r>
              <a:rPr lang="en-US" sz="1200">
                <a:latin typeface="AvenirNext LT Pro Medium"/>
                <a:ea typeface="STIXGeneral"/>
                <a:cs typeface="STIXGeneral"/>
              </a:rPr>
              <a:t>1 / distinguishable</a:t>
            </a:r>
            <a:r>
              <a:rPr lang="en-US" sz="1200" baseline="0">
                <a:latin typeface="AvenirNext LT Pro Medium"/>
                <a:ea typeface="STIXGeneral"/>
                <a:cs typeface="STIXGeneral"/>
              </a:rPr>
              <a:t> </a:t>
            </a:r>
            <a:r>
              <a:rPr lang="en-US" sz="1200" baseline="0">
                <a:latin typeface="AvenirNext LT Pro Medium"/>
                <a:ea typeface="MathJax_Math-italic"/>
                <a:cs typeface="MathJax_Math-italic"/>
              </a:rPr>
              <a:t>outputs</a:t>
            </a:r>
          </a:p>
          <a:p>
            <a:pPr rtl="0"/>
            <a:endParaRPr lang="en-US" sz="1200">
              <a:latin typeface="Times New Roman"/>
              <a:ea typeface="Times New Roman"/>
              <a:cs typeface="Times New Roman"/>
            </a:endParaRPr>
          </a:p>
        </p:txBody>
      </p:sp>
      <p:sp>
        <p:nvSpPr>
          <p:cNvPr id="4" name="Slide Number Placeholder 3">
            <a:extLst>
              <a:ext uri="{FF2B5EF4-FFF2-40B4-BE49-F238E27FC236}">
                <a16:creationId xmlns:a16="http://schemas.microsoft.com/office/drawing/2014/main" id="{BCDD03F4-FDAC-B720-A157-54E02281457A}"/>
              </a:ext>
            </a:extLst>
          </p:cNvPr>
          <p:cNvSpPr>
            <a:spLocks noGrp="1"/>
          </p:cNvSpPr>
          <p:nvPr>
            <p:ph type="sldNum" sz="quarter" idx="12"/>
          </p:nvPr>
        </p:nvSpPr>
        <p:spPr/>
        <p:txBody>
          <a:bodyPr/>
          <a:lstStyle/>
          <a:p>
            <a:fld id="{73B850FF-6169-4056-8077-06FFA93A5366}" type="slidenum">
              <a:rPr lang="en-US" smtClean="0"/>
              <a:t>17</a:t>
            </a:fld>
            <a:endParaRPr lang="en-US"/>
          </a:p>
        </p:txBody>
      </p:sp>
      <p:pic>
        <p:nvPicPr>
          <p:cNvPr id="6" name="Content Placeholder 5" descr="A diagram of a triangle and a square&#10;&#10;Description automatically generated">
            <a:extLst>
              <a:ext uri="{FF2B5EF4-FFF2-40B4-BE49-F238E27FC236}">
                <a16:creationId xmlns:a16="http://schemas.microsoft.com/office/drawing/2014/main" id="{742BA06B-DB2B-7AF8-5519-EA8FC78270AB}"/>
              </a:ext>
            </a:extLst>
          </p:cNvPr>
          <p:cNvPicPr>
            <a:picLocks noGrp="1" noChangeAspect="1"/>
          </p:cNvPicPr>
          <p:nvPr>
            <p:ph sz="half" idx="2"/>
          </p:nvPr>
        </p:nvPicPr>
        <p:blipFill>
          <a:blip r:embed="rId2"/>
          <a:stretch>
            <a:fillRect/>
          </a:stretch>
        </p:blipFill>
        <p:spPr>
          <a:xfrm>
            <a:off x="6534150" y="2698603"/>
            <a:ext cx="4824589" cy="24266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a:extLst>
              <a:ext uri="{FF2B5EF4-FFF2-40B4-BE49-F238E27FC236}">
                <a16:creationId xmlns:a16="http://schemas.microsoft.com/office/drawing/2014/main" id="{AAA816F0-A75C-0A20-891D-59785342636F}"/>
              </a:ext>
            </a:extLst>
          </p:cNvPr>
          <p:cNvSpPr txBox="1"/>
          <p:nvPr/>
        </p:nvSpPr>
        <p:spPr>
          <a:xfrm>
            <a:off x="10796648" y="-1"/>
            <a:ext cx="139535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chemeClr val="bg1"/>
                </a:solidFill>
              </a:rPr>
              <a:t>Nicholas George</a:t>
            </a:r>
          </a:p>
        </p:txBody>
      </p:sp>
    </p:spTree>
    <p:extLst>
      <p:ext uri="{BB962C8B-B14F-4D97-AF65-F5344CB8AC3E}">
        <p14:creationId xmlns:p14="http://schemas.microsoft.com/office/powerpoint/2010/main" val="3565319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77C54-971D-9151-9AD4-C328E7DB02BC}"/>
              </a:ext>
            </a:extLst>
          </p:cNvPr>
          <p:cNvSpPr>
            <a:spLocks noGrp="1"/>
          </p:cNvSpPr>
          <p:nvPr>
            <p:ph type="title"/>
          </p:nvPr>
        </p:nvSpPr>
        <p:spPr/>
        <p:txBody>
          <a:bodyPr>
            <a:normAutofit/>
          </a:bodyPr>
          <a:lstStyle/>
          <a:p>
            <a:r>
              <a:rPr lang="en-US"/>
              <a:t>Speed Measurement</a:t>
            </a:r>
            <a:br>
              <a:rPr lang="en-US"/>
            </a:br>
            <a:r>
              <a:rPr lang="en-US" sz="2800"/>
              <a:t>Results</a:t>
            </a:r>
            <a:endParaRPr lang="en-US"/>
          </a:p>
        </p:txBody>
      </p:sp>
      <p:sp>
        <p:nvSpPr>
          <p:cNvPr id="5" name="Slide Number Placeholder 4">
            <a:extLst>
              <a:ext uri="{FF2B5EF4-FFF2-40B4-BE49-F238E27FC236}">
                <a16:creationId xmlns:a16="http://schemas.microsoft.com/office/drawing/2014/main" id="{B8DC95DB-A4CE-7D9D-3EA2-BB00931815E1}"/>
              </a:ext>
            </a:extLst>
          </p:cNvPr>
          <p:cNvSpPr>
            <a:spLocks noGrp="1"/>
          </p:cNvSpPr>
          <p:nvPr>
            <p:ph type="sldNum" sz="quarter" idx="12"/>
          </p:nvPr>
        </p:nvSpPr>
        <p:spPr/>
        <p:txBody>
          <a:bodyPr/>
          <a:lstStyle/>
          <a:p>
            <a:fld id="{73B850FF-6169-4056-8077-06FFA93A5366}" type="slidenum">
              <a:rPr lang="en-US" smtClean="0"/>
              <a:t>18</a:t>
            </a:fld>
            <a:endParaRPr lang="en-US"/>
          </a:p>
        </p:txBody>
      </p:sp>
      <p:pic>
        <p:nvPicPr>
          <p:cNvPr id="9" name="Picture 8">
            <a:extLst>
              <a:ext uri="{FF2B5EF4-FFF2-40B4-BE49-F238E27FC236}">
                <a16:creationId xmlns:a16="http://schemas.microsoft.com/office/drawing/2014/main" id="{E2D1F063-5993-35D6-303F-B179668FEA39}"/>
              </a:ext>
            </a:extLst>
          </p:cNvPr>
          <p:cNvPicPr>
            <a:picLocks noChangeAspect="1"/>
          </p:cNvPicPr>
          <p:nvPr/>
        </p:nvPicPr>
        <p:blipFill>
          <a:blip r:embed="rId2"/>
          <a:stretch>
            <a:fillRect/>
          </a:stretch>
        </p:blipFill>
        <p:spPr>
          <a:xfrm>
            <a:off x="606852" y="2010858"/>
            <a:ext cx="10978296" cy="3994207"/>
          </a:xfrm>
          <a:prstGeom prst="rect">
            <a:avLst/>
          </a:prstGeom>
        </p:spPr>
      </p:pic>
    </p:spTree>
    <p:extLst>
      <p:ext uri="{BB962C8B-B14F-4D97-AF65-F5344CB8AC3E}">
        <p14:creationId xmlns:p14="http://schemas.microsoft.com/office/powerpoint/2010/main" val="989724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9EB4-FCF8-734B-6BCB-ABD73CE9C400}"/>
              </a:ext>
            </a:extLst>
          </p:cNvPr>
          <p:cNvSpPr>
            <a:spLocks noGrp="1"/>
          </p:cNvSpPr>
          <p:nvPr>
            <p:ph type="title"/>
          </p:nvPr>
        </p:nvSpPr>
        <p:spPr/>
        <p:txBody>
          <a:bodyPr>
            <a:noAutofit/>
          </a:bodyPr>
          <a:lstStyle/>
          <a:p>
            <a:r>
              <a:rPr lang="en-US"/>
              <a:t>Results</a:t>
            </a:r>
          </a:p>
        </p:txBody>
      </p:sp>
      <p:sp>
        <p:nvSpPr>
          <p:cNvPr id="3" name="Text Placeholder 2">
            <a:extLst>
              <a:ext uri="{FF2B5EF4-FFF2-40B4-BE49-F238E27FC236}">
                <a16:creationId xmlns:a16="http://schemas.microsoft.com/office/drawing/2014/main" id="{FC4D5457-F491-B7A5-CAD2-EF4A64A91CBA}"/>
              </a:ext>
            </a:extLst>
          </p:cNvPr>
          <p:cNvSpPr>
            <a:spLocks noGrp="1"/>
          </p:cNvSpPr>
          <p:nvPr>
            <p:ph type="body" idx="1"/>
          </p:nvPr>
        </p:nvSpPr>
        <p:spPr/>
        <p:txBody>
          <a:bodyPr/>
          <a:lstStyle/>
          <a:p>
            <a:r>
              <a:rPr lang="en-US"/>
              <a:t>Driving </a:t>
            </a:r>
          </a:p>
        </p:txBody>
      </p:sp>
      <p:sp>
        <p:nvSpPr>
          <p:cNvPr id="4" name="Content Placeholder 3">
            <a:extLst>
              <a:ext uri="{FF2B5EF4-FFF2-40B4-BE49-F238E27FC236}">
                <a16:creationId xmlns:a16="http://schemas.microsoft.com/office/drawing/2014/main" id="{24E8BC7C-71A4-CBAD-6222-BBF000F0DB1D}"/>
              </a:ext>
            </a:extLst>
          </p:cNvPr>
          <p:cNvSpPr>
            <a:spLocks noGrp="1"/>
          </p:cNvSpPr>
          <p:nvPr>
            <p:ph sz="half" idx="2"/>
          </p:nvPr>
        </p:nvSpPr>
        <p:spPr/>
        <p:txBody>
          <a:bodyPr/>
          <a:lstStyle/>
          <a:p>
            <a:endParaRPr lang="en-US"/>
          </a:p>
        </p:txBody>
      </p:sp>
      <p:sp>
        <p:nvSpPr>
          <p:cNvPr id="5" name="Text Placeholder 4">
            <a:extLst>
              <a:ext uri="{FF2B5EF4-FFF2-40B4-BE49-F238E27FC236}">
                <a16:creationId xmlns:a16="http://schemas.microsoft.com/office/drawing/2014/main" id="{DA8A5B6F-25AD-1BDB-56D0-7B610D357F13}"/>
              </a:ext>
            </a:extLst>
          </p:cNvPr>
          <p:cNvSpPr>
            <a:spLocks noGrp="1"/>
          </p:cNvSpPr>
          <p:nvPr>
            <p:ph type="body" sz="quarter" idx="3"/>
          </p:nvPr>
        </p:nvSpPr>
        <p:spPr/>
        <p:txBody>
          <a:bodyPr/>
          <a:lstStyle/>
          <a:p>
            <a:r>
              <a:rPr lang="en-US"/>
              <a:t>Steering</a:t>
            </a:r>
          </a:p>
        </p:txBody>
      </p:sp>
      <p:sp>
        <p:nvSpPr>
          <p:cNvPr id="6" name="Content Placeholder 5">
            <a:extLst>
              <a:ext uri="{FF2B5EF4-FFF2-40B4-BE49-F238E27FC236}">
                <a16:creationId xmlns:a16="http://schemas.microsoft.com/office/drawing/2014/main" id="{8F76B420-98F7-3EB3-6D47-ACA09DAF2052}"/>
              </a:ext>
            </a:extLst>
          </p:cNvPr>
          <p:cNvSpPr>
            <a:spLocks noGrp="1"/>
          </p:cNvSpPr>
          <p:nvPr>
            <p:ph sz="quarter" idx="4"/>
          </p:nvPr>
        </p:nvSpPr>
        <p:spPr/>
        <p:txBody>
          <a:bodyPr/>
          <a:lstStyle/>
          <a:p>
            <a:endParaRPr lang="en-US"/>
          </a:p>
        </p:txBody>
      </p:sp>
      <p:sp>
        <p:nvSpPr>
          <p:cNvPr id="8" name="Slide Number Placeholder 7">
            <a:extLst>
              <a:ext uri="{FF2B5EF4-FFF2-40B4-BE49-F238E27FC236}">
                <a16:creationId xmlns:a16="http://schemas.microsoft.com/office/drawing/2014/main" id="{7B0ACC61-81C9-C827-2E7D-D5ECCC65B34A}"/>
              </a:ext>
            </a:extLst>
          </p:cNvPr>
          <p:cNvSpPr>
            <a:spLocks noGrp="1"/>
          </p:cNvSpPr>
          <p:nvPr>
            <p:ph type="sldNum" sz="quarter" idx="12"/>
          </p:nvPr>
        </p:nvSpPr>
        <p:spPr/>
        <p:txBody>
          <a:bodyPr/>
          <a:lstStyle/>
          <a:p>
            <a:fld id="{73B850FF-6169-4056-8077-06FFA93A5366}" type="slidenum">
              <a:rPr lang="en-US" smtClean="0"/>
              <a:t>19</a:t>
            </a:fld>
            <a:endParaRPr lang="en-US"/>
          </a:p>
        </p:txBody>
      </p:sp>
    </p:spTree>
    <p:extLst>
      <p:ext uri="{BB962C8B-B14F-4D97-AF65-F5344CB8AC3E}">
        <p14:creationId xmlns:p14="http://schemas.microsoft.com/office/powerpoint/2010/main" val="30225873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9EB4-FCF8-734B-6BCB-ABD73CE9C400}"/>
              </a:ext>
            </a:extLst>
          </p:cNvPr>
          <p:cNvSpPr>
            <a:spLocks noGrp="1"/>
          </p:cNvSpPr>
          <p:nvPr>
            <p:ph type="title"/>
          </p:nvPr>
        </p:nvSpPr>
        <p:spPr/>
        <p:txBody>
          <a:bodyPr>
            <a:noAutofit/>
          </a:bodyPr>
          <a:lstStyle/>
          <a:p>
            <a:r>
              <a:rPr lang="en-US"/>
              <a:t>Problems/Solutions</a:t>
            </a:r>
          </a:p>
        </p:txBody>
      </p:sp>
      <p:sp>
        <p:nvSpPr>
          <p:cNvPr id="3" name="Text Placeholder 2">
            <a:extLst>
              <a:ext uri="{FF2B5EF4-FFF2-40B4-BE49-F238E27FC236}">
                <a16:creationId xmlns:a16="http://schemas.microsoft.com/office/drawing/2014/main" id="{FC4D5457-F491-B7A5-CAD2-EF4A64A91CBA}"/>
              </a:ext>
            </a:extLst>
          </p:cNvPr>
          <p:cNvSpPr>
            <a:spLocks noGrp="1"/>
          </p:cNvSpPr>
          <p:nvPr>
            <p:ph type="body" idx="1"/>
          </p:nvPr>
        </p:nvSpPr>
        <p:spPr/>
        <p:txBody>
          <a:bodyPr/>
          <a:lstStyle/>
          <a:p>
            <a:r>
              <a:rPr lang="en-US"/>
              <a:t>Driving </a:t>
            </a:r>
          </a:p>
        </p:txBody>
      </p:sp>
      <p:sp>
        <p:nvSpPr>
          <p:cNvPr id="4" name="Content Placeholder 3">
            <a:extLst>
              <a:ext uri="{FF2B5EF4-FFF2-40B4-BE49-F238E27FC236}">
                <a16:creationId xmlns:a16="http://schemas.microsoft.com/office/drawing/2014/main" id="{24E8BC7C-71A4-CBAD-6222-BBF000F0DB1D}"/>
              </a:ext>
            </a:extLst>
          </p:cNvPr>
          <p:cNvSpPr>
            <a:spLocks noGrp="1"/>
          </p:cNvSpPr>
          <p:nvPr>
            <p:ph sz="half" idx="2"/>
          </p:nvPr>
        </p:nvSpPr>
        <p:spPr/>
        <p:txBody>
          <a:bodyPr vert="horz" lIns="91440" tIns="45720" rIns="91440" bIns="45720" rtlCol="0" anchor="t">
            <a:normAutofit/>
          </a:bodyPr>
          <a:lstStyle/>
          <a:p>
            <a:endParaRPr lang="en-US"/>
          </a:p>
        </p:txBody>
      </p:sp>
      <p:sp>
        <p:nvSpPr>
          <p:cNvPr id="5" name="Text Placeholder 4">
            <a:extLst>
              <a:ext uri="{FF2B5EF4-FFF2-40B4-BE49-F238E27FC236}">
                <a16:creationId xmlns:a16="http://schemas.microsoft.com/office/drawing/2014/main" id="{DA8A5B6F-25AD-1BDB-56D0-7B610D357F13}"/>
              </a:ext>
            </a:extLst>
          </p:cNvPr>
          <p:cNvSpPr>
            <a:spLocks noGrp="1"/>
          </p:cNvSpPr>
          <p:nvPr>
            <p:ph type="body" sz="quarter" idx="3"/>
          </p:nvPr>
        </p:nvSpPr>
        <p:spPr/>
        <p:txBody>
          <a:bodyPr/>
          <a:lstStyle/>
          <a:p>
            <a:r>
              <a:rPr lang="en-US"/>
              <a:t>Steering</a:t>
            </a:r>
          </a:p>
        </p:txBody>
      </p:sp>
      <p:sp>
        <p:nvSpPr>
          <p:cNvPr id="6" name="Content Placeholder 5">
            <a:extLst>
              <a:ext uri="{FF2B5EF4-FFF2-40B4-BE49-F238E27FC236}">
                <a16:creationId xmlns:a16="http://schemas.microsoft.com/office/drawing/2014/main" id="{8F76B420-98F7-3EB3-6D47-ACA09DAF2052}"/>
              </a:ext>
            </a:extLst>
          </p:cNvPr>
          <p:cNvSpPr>
            <a:spLocks noGrp="1"/>
          </p:cNvSpPr>
          <p:nvPr>
            <p:ph sz="quarter" idx="4"/>
          </p:nvPr>
        </p:nvSpPr>
        <p:spPr/>
        <p:txBody>
          <a:bodyPr>
            <a:normAutofit/>
          </a:bodyPr>
          <a:lstStyle/>
          <a:p>
            <a:endParaRPr lang="en-US"/>
          </a:p>
        </p:txBody>
      </p:sp>
      <p:sp>
        <p:nvSpPr>
          <p:cNvPr id="8" name="Slide Number Placeholder 7">
            <a:extLst>
              <a:ext uri="{FF2B5EF4-FFF2-40B4-BE49-F238E27FC236}">
                <a16:creationId xmlns:a16="http://schemas.microsoft.com/office/drawing/2014/main" id="{7B0ACC61-81C9-C827-2E7D-D5ECCC65B34A}"/>
              </a:ext>
            </a:extLst>
          </p:cNvPr>
          <p:cNvSpPr>
            <a:spLocks noGrp="1"/>
          </p:cNvSpPr>
          <p:nvPr>
            <p:ph type="sldNum" sz="quarter" idx="12"/>
          </p:nvPr>
        </p:nvSpPr>
        <p:spPr/>
        <p:txBody>
          <a:bodyPr/>
          <a:lstStyle/>
          <a:p>
            <a:fld id="{73B850FF-6169-4056-8077-06FFA93A5366}" type="slidenum">
              <a:rPr lang="en-US" smtClean="0"/>
              <a:t>20</a:t>
            </a:fld>
            <a:endParaRPr lang="en-US"/>
          </a:p>
        </p:txBody>
      </p:sp>
    </p:spTree>
    <p:extLst>
      <p:ext uri="{BB962C8B-B14F-4D97-AF65-F5344CB8AC3E}">
        <p14:creationId xmlns:p14="http://schemas.microsoft.com/office/powerpoint/2010/main" val="39779295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9EB4-FCF8-734B-6BCB-ABD73CE9C400}"/>
              </a:ext>
            </a:extLst>
          </p:cNvPr>
          <p:cNvSpPr>
            <a:spLocks noGrp="1"/>
          </p:cNvSpPr>
          <p:nvPr>
            <p:ph type="title"/>
          </p:nvPr>
        </p:nvSpPr>
        <p:spPr/>
        <p:txBody>
          <a:bodyPr>
            <a:noAutofit/>
          </a:bodyPr>
          <a:lstStyle/>
          <a:p>
            <a:r>
              <a:rPr lang="en-US"/>
              <a:t>Questions</a:t>
            </a:r>
          </a:p>
        </p:txBody>
      </p:sp>
      <p:sp>
        <p:nvSpPr>
          <p:cNvPr id="3" name="Text Placeholder 2">
            <a:extLst>
              <a:ext uri="{FF2B5EF4-FFF2-40B4-BE49-F238E27FC236}">
                <a16:creationId xmlns:a16="http://schemas.microsoft.com/office/drawing/2014/main" id="{FC4D5457-F491-B7A5-CAD2-EF4A64A91CBA}"/>
              </a:ext>
            </a:extLst>
          </p:cNvPr>
          <p:cNvSpPr>
            <a:spLocks noGrp="1"/>
          </p:cNvSpPr>
          <p:nvPr>
            <p:ph type="body" idx="1"/>
          </p:nvPr>
        </p:nvSpPr>
        <p:spPr>
          <a:xfrm>
            <a:off x="839788" y="1291106"/>
            <a:ext cx="5157787" cy="448279"/>
          </a:xfrm>
        </p:spPr>
        <p:txBody>
          <a:bodyPr>
            <a:normAutofit fontScale="92500"/>
          </a:bodyPr>
          <a:lstStyle/>
          <a:p>
            <a:r>
              <a:rPr lang="en-US"/>
              <a:t>Driving </a:t>
            </a:r>
          </a:p>
        </p:txBody>
      </p:sp>
      <p:sp>
        <p:nvSpPr>
          <p:cNvPr id="4" name="Content Placeholder 3">
            <a:extLst>
              <a:ext uri="{FF2B5EF4-FFF2-40B4-BE49-F238E27FC236}">
                <a16:creationId xmlns:a16="http://schemas.microsoft.com/office/drawing/2014/main" id="{24E8BC7C-71A4-CBAD-6222-BBF000F0DB1D}"/>
              </a:ext>
            </a:extLst>
          </p:cNvPr>
          <p:cNvSpPr>
            <a:spLocks noGrp="1"/>
          </p:cNvSpPr>
          <p:nvPr>
            <p:ph sz="half" idx="2"/>
          </p:nvPr>
        </p:nvSpPr>
        <p:spPr>
          <a:xfrm>
            <a:off x="839788" y="1711818"/>
            <a:ext cx="5157787" cy="4939336"/>
          </a:xfrm>
        </p:spPr>
        <p:txBody>
          <a:bodyPr vert="horz" lIns="91440" tIns="45720" rIns="91440" bIns="45720" rtlCol="0" anchor="t">
            <a:noAutofit/>
          </a:bodyPr>
          <a:lstStyle/>
          <a:p>
            <a:pPr lvl="1"/>
            <a:r>
              <a:rPr lang="en-US" sz="1100" b="1">
                <a:latin typeface="Calibri"/>
                <a:cs typeface="Calibri"/>
              </a:rPr>
              <a:t>Why is the gate driver needed? VGS? VDS? </a:t>
            </a:r>
            <a:endParaRPr lang="en-US" sz="1100">
              <a:latin typeface="Calibri"/>
              <a:cs typeface="Calibri"/>
            </a:endParaRPr>
          </a:p>
          <a:p>
            <a:pPr lvl="2"/>
            <a:r>
              <a:rPr lang="en-US" sz="1100">
                <a:latin typeface="Calibri"/>
                <a:cs typeface="Calibri"/>
              </a:rPr>
              <a:t>The gate driver is needed to boost the current supplied by the PWM of the micro-controller. </a:t>
            </a:r>
          </a:p>
          <a:p>
            <a:pPr lvl="1"/>
            <a:r>
              <a:rPr lang="en-US" sz="1100" b="1">
                <a:latin typeface="Calibri"/>
                <a:cs typeface="Calibri"/>
              </a:rPr>
              <a:t>Why do we use a MOSFET? Why not a BJT? </a:t>
            </a:r>
            <a:endParaRPr lang="en-US" sz="1100">
              <a:latin typeface="Calibri"/>
              <a:cs typeface="Calibri"/>
            </a:endParaRPr>
          </a:p>
          <a:p>
            <a:pPr lvl="2"/>
            <a:r>
              <a:rPr lang="en-US" sz="1100">
                <a:latin typeface="Calibri"/>
                <a:cs typeface="Calibri"/>
              </a:rPr>
              <a:t>MOSFETs are voltage-controlled and BJTs are current-controlled. We want a linear relationship between voltage and motor speed. So, we utilize a MOSFET.</a:t>
            </a:r>
          </a:p>
          <a:p>
            <a:pPr lvl="1"/>
            <a:r>
              <a:rPr lang="en-US" sz="1100" b="1">
                <a:latin typeface="Calibri"/>
                <a:cs typeface="Calibri"/>
              </a:rPr>
              <a:t>In what mode(s) does a MOSFET act as a switch? An amplifier? How does this differ? </a:t>
            </a:r>
            <a:endParaRPr lang="en-US" sz="1100">
              <a:latin typeface="Calibri"/>
              <a:cs typeface="Calibri"/>
            </a:endParaRPr>
          </a:p>
          <a:p>
            <a:pPr lvl="2"/>
            <a:r>
              <a:rPr lang="en-US" sz="1100">
                <a:latin typeface="Calibri"/>
                <a:cs typeface="Calibri"/>
              </a:rPr>
              <a:t>MOSFET’s have three modes. Cut-off, triode and saturation. It will act as a switch in the cut-off and saturation region. It will act as an amplifier in the triode region.</a:t>
            </a:r>
          </a:p>
          <a:p>
            <a:pPr lvl="1"/>
            <a:r>
              <a:rPr lang="en-US" sz="1100" b="1">
                <a:latin typeface="Calibri"/>
                <a:cs typeface="Calibri"/>
              </a:rPr>
              <a:t>Will the circuit in Figure 1 work without the diode? Explain. </a:t>
            </a:r>
            <a:endParaRPr lang="en-US" sz="1100">
              <a:latin typeface="Calibri"/>
              <a:cs typeface="Calibri"/>
            </a:endParaRPr>
          </a:p>
          <a:p>
            <a:pPr lvl="2"/>
            <a:r>
              <a:rPr lang="en-US" sz="1100">
                <a:latin typeface="Calibri"/>
                <a:cs typeface="Calibri"/>
              </a:rPr>
              <a:t>The circuit in Figure 1 does not include a diode. It will work without a diode. However, a diode should be placed after the microcontroller to prevent damage to the microcontroller. We don’t want the microcontroller to draw current from the circuit from the motor's internal capacitance. </a:t>
            </a:r>
          </a:p>
          <a:p>
            <a:pPr lvl="1"/>
            <a:r>
              <a:rPr lang="en-US" sz="1100" b="1">
                <a:latin typeface="Calibri"/>
                <a:cs typeface="Calibri"/>
              </a:rPr>
              <a:t>Why do we use low-side configuration? (Hint: With a 7.2V Battery would the MOSFET turn completely off in high-side configuration? Justify.)</a:t>
            </a:r>
            <a:endParaRPr lang="en-US" sz="1100">
              <a:latin typeface="Calibri"/>
              <a:cs typeface="Calibri"/>
            </a:endParaRPr>
          </a:p>
          <a:p>
            <a:pPr lvl="2"/>
            <a:r>
              <a:rPr lang="en-US" sz="1100">
                <a:latin typeface="Calibri"/>
                <a:cs typeface="Calibri"/>
              </a:rPr>
              <a:t>A low side configuration is used due to the low conduction losses given at higher duty cycles. This configuration includes analysis for power loss and has great efficiency with the gate driver.</a:t>
            </a:r>
          </a:p>
          <a:p>
            <a:endParaRPr lang="en-US"/>
          </a:p>
        </p:txBody>
      </p:sp>
      <p:sp>
        <p:nvSpPr>
          <p:cNvPr id="5" name="Text Placeholder 4">
            <a:extLst>
              <a:ext uri="{FF2B5EF4-FFF2-40B4-BE49-F238E27FC236}">
                <a16:creationId xmlns:a16="http://schemas.microsoft.com/office/drawing/2014/main" id="{DA8A5B6F-25AD-1BDB-56D0-7B610D357F13}"/>
              </a:ext>
            </a:extLst>
          </p:cNvPr>
          <p:cNvSpPr>
            <a:spLocks noGrp="1"/>
          </p:cNvSpPr>
          <p:nvPr>
            <p:ph type="body" sz="quarter" idx="3"/>
          </p:nvPr>
        </p:nvSpPr>
        <p:spPr>
          <a:xfrm>
            <a:off x="6172200" y="1291106"/>
            <a:ext cx="5183188" cy="448279"/>
          </a:xfrm>
        </p:spPr>
        <p:txBody>
          <a:bodyPr>
            <a:normAutofit fontScale="92500"/>
          </a:bodyPr>
          <a:lstStyle/>
          <a:p>
            <a:r>
              <a:rPr lang="en-US"/>
              <a:t>Steering</a:t>
            </a:r>
          </a:p>
        </p:txBody>
      </p:sp>
      <p:sp>
        <p:nvSpPr>
          <p:cNvPr id="6" name="Content Placeholder 5">
            <a:extLst>
              <a:ext uri="{FF2B5EF4-FFF2-40B4-BE49-F238E27FC236}">
                <a16:creationId xmlns:a16="http://schemas.microsoft.com/office/drawing/2014/main" id="{8F76B420-98F7-3EB3-6D47-ACA09DAF2052}"/>
              </a:ext>
            </a:extLst>
          </p:cNvPr>
          <p:cNvSpPr>
            <a:spLocks noGrp="1"/>
          </p:cNvSpPr>
          <p:nvPr>
            <p:ph sz="quarter" idx="4"/>
          </p:nvPr>
        </p:nvSpPr>
        <p:spPr>
          <a:xfrm>
            <a:off x="6172200" y="1722550"/>
            <a:ext cx="5183188" cy="4660295"/>
          </a:xfrm>
        </p:spPr>
        <p:txBody>
          <a:bodyPr vert="horz" lIns="91440" tIns="45720" rIns="91440" bIns="45720" rtlCol="0" anchor="t">
            <a:noAutofit/>
          </a:bodyPr>
          <a:lstStyle/>
          <a:p>
            <a:pPr lvl="1"/>
            <a:r>
              <a:rPr lang="en-US" sz="900" b="1">
                <a:latin typeface="Calibri"/>
                <a:cs typeface="Calibri"/>
              </a:rPr>
              <a:t>Why create a linear representation of the final graph? </a:t>
            </a:r>
            <a:endParaRPr lang="en-US" sz="900">
              <a:latin typeface="Calibri"/>
              <a:cs typeface="Calibri"/>
            </a:endParaRPr>
          </a:p>
          <a:p>
            <a:pPr lvl="2"/>
            <a:r>
              <a:rPr lang="en-US" sz="900">
                <a:latin typeface="Calibri"/>
                <a:cs typeface="Calibri"/>
              </a:rPr>
              <a:t>To better understand the relationship between the output voltage ADC and the distance (m). </a:t>
            </a:r>
          </a:p>
          <a:p>
            <a:pPr lvl="2"/>
            <a:r>
              <a:rPr lang="en-US" sz="900">
                <a:latin typeface="Calibri"/>
                <a:cs typeface="Calibri"/>
              </a:rPr>
              <a:t>It shows the accuracy of the sensors.</a:t>
            </a:r>
          </a:p>
          <a:p>
            <a:pPr lvl="1"/>
            <a:r>
              <a:rPr lang="en-US" sz="900" b="1">
                <a:latin typeface="Calibri"/>
                <a:cs typeface="Calibri"/>
              </a:rPr>
              <a:t>What is the operational range of the sensor? </a:t>
            </a:r>
            <a:endParaRPr lang="en-US" sz="900">
              <a:latin typeface="Calibri"/>
              <a:cs typeface="Calibri"/>
            </a:endParaRPr>
          </a:p>
          <a:p>
            <a:pPr lvl="2"/>
            <a:r>
              <a:rPr lang="en-US" sz="900">
                <a:latin typeface="Calibri"/>
                <a:cs typeface="Calibri"/>
              </a:rPr>
              <a:t>Arduino: 0V-5V</a:t>
            </a:r>
          </a:p>
          <a:p>
            <a:pPr lvl="1"/>
            <a:r>
              <a:rPr lang="en-US" sz="900" b="1">
                <a:latin typeface="Calibri"/>
                <a:cs typeface="Calibri"/>
              </a:rPr>
              <a:t>Is there a delay in the sensor and is this delay negligible? </a:t>
            </a:r>
            <a:endParaRPr lang="en-US" sz="900">
              <a:latin typeface="Calibri"/>
              <a:cs typeface="Calibri"/>
            </a:endParaRPr>
          </a:p>
          <a:p>
            <a:pPr lvl="2"/>
            <a:r>
              <a:rPr lang="en-US" sz="900">
                <a:latin typeface="Calibri"/>
                <a:cs typeface="Calibri"/>
              </a:rPr>
              <a:t>Yes, there is a delay in the sensor, but it is negligible.</a:t>
            </a:r>
          </a:p>
          <a:p>
            <a:pPr lvl="1"/>
            <a:r>
              <a:rPr lang="en-US" sz="900" b="1">
                <a:latin typeface="Calibri"/>
                <a:cs typeface="Calibri"/>
              </a:rPr>
              <a:t>What is the purpose of the two diodes in the circuit? Could one of these diodes be removed? </a:t>
            </a:r>
            <a:endParaRPr lang="en-US" sz="900">
              <a:latin typeface="Calibri"/>
              <a:cs typeface="Calibri"/>
            </a:endParaRPr>
          </a:p>
          <a:p>
            <a:pPr lvl="2"/>
            <a:r>
              <a:rPr lang="en-US" sz="900">
                <a:latin typeface="Calibri"/>
                <a:cs typeface="Calibri"/>
              </a:rPr>
              <a:t>Diodes ae used for conducting the current in one direction (a positive direction).</a:t>
            </a:r>
          </a:p>
          <a:p>
            <a:pPr lvl="2"/>
            <a:r>
              <a:rPr lang="en-US" sz="900">
                <a:latin typeface="Calibri"/>
                <a:cs typeface="Calibri"/>
              </a:rPr>
              <a:t>The Zener diode is not necessary and we did not include it in our circuit design.</a:t>
            </a:r>
          </a:p>
          <a:p>
            <a:pPr lvl="1"/>
            <a:r>
              <a:rPr lang="en-US" sz="900" b="1">
                <a:latin typeface="Calibri"/>
                <a:cs typeface="Calibri"/>
              </a:rPr>
              <a:t>What are the four stages of the sensing circuit above? </a:t>
            </a:r>
            <a:endParaRPr lang="en-US" sz="900">
              <a:latin typeface="Calibri"/>
              <a:cs typeface="Calibri"/>
            </a:endParaRPr>
          </a:p>
          <a:p>
            <a:pPr lvl="2"/>
            <a:r>
              <a:rPr lang="en-US" sz="900">
                <a:latin typeface="Calibri"/>
                <a:cs typeface="Calibri"/>
              </a:rPr>
              <a:t>LC Resonate Circuit</a:t>
            </a:r>
          </a:p>
          <a:p>
            <a:pPr lvl="3"/>
            <a:r>
              <a:rPr lang="en-US" sz="900">
                <a:latin typeface="Calibri"/>
                <a:cs typeface="Calibri"/>
              </a:rPr>
              <a:t>Inductor: L1</a:t>
            </a:r>
          </a:p>
          <a:p>
            <a:pPr lvl="3"/>
            <a:r>
              <a:rPr lang="en-US" sz="900">
                <a:latin typeface="Calibri"/>
                <a:cs typeface="Calibri"/>
              </a:rPr>
              <a:t>Capacitor: C1</a:t>
            </a:r>
          </a:p>
          <a:p>
            <a:pPr lvl="2"/>
            <a:r>
              <a:rPr lang="en-US" sz="900">
                <a:latin typeface="Calibri"/>
                <a:cs typeface="Calibri"/>
              </a:rPr>
              <a:t>Amplification Circuit</a:t>
            </a:r>
          </a:p>
          <a:p>
            <a:pPr lvl="3"/>
            <a:r>
              <a:rPr lang="en-US" sz="900">
                <a:latin typeface="Calibri"/>
                <a:cs typeface="Calibri"/>
              </a:rPr>
              <a:t>Op-Amp (Operational Amplifier): LM324</a:t>
            </a:r>
          </a:p>
          <a:p>
            <a:pPr lvl="3"/>
            <a:r>
              <a:rPr lang="en-US" sz="900">
                <a:latin typeface="Calibri"/>
                <a:cs typeface="Calibri"/>
              </a:rPr>
              <a:t>2 Resistors: R1 &amp; R2</a:t>
            </a:r>
          </a:p>
          <a:p>
            <a:pPr lvl="2"/>
            <a:r>
              <a:rPr lang="en-US" sz="900">
                <a:latin typeface="Calibri"/>
                <a:cs typeface="Calibri"/>
              </a:rPr>
              <a:t>Rectification Circuit</a:t>
            </a:r>
          </a:p>
          <a:p>
            <a:pPr lvl="3"/>
            <a:r>
              <a:rPr lang="en-US" sz="900">
                <a:latin typeface="Calibri"/>
                <a:cs typeface="Calibri"/>
              </a:rPr>
              <a:t>Diode</a:t>
            </a:r>
          </a:p>
          <a:p>
            <a:pPr lvl="2"/>
            <a:r>
              <a:rPr lang="en-US" sz="900">
                <a:latin typeface="Calibri"/>
                <a:cs typeface="Calibri"/>
              </a:rPr>
              <a:t>Peak Detection Low Pass Filter</a:t>
            </a:r>
          </a:p>
          <a:p>
            <a:pPr lvl="3"/>
            <a:r>
              <a:rPr lang="en-US" sz="900">
                <a:latin typeface="Calibri"/>
                <a:cs typeface="Calibri"/>
              </a:rPr>
              <a:t>Capacitor: Cp</a:t>
            </a:r>
          </a:p>
          <a:p>
            <a:pPr lvl="3"/>
            <a:r>
              <a:rPr lang="en-US" sz="900">
                <a:latin typeface="Calibri"/>
                <a:cs typeface="Calibri"/>
              </a:rPr>
              <a:t>Resistor: Rp</a:t>
            </a:r>
          </a:p>
          <a:p>
            <a:endParaRPr lang="en-US"/>
          </a:p>
        </p:txBody>
      </p:sp>
      <p:sp>
        <p:nvSpPr>
          <p:cNvPr id="8" name="Slide Number Placeholder 7">
            <a:extLst>
              <a:ext uri="{FF2B5EF4-FFF2-40B4-BE49-F238E27FC236}">
                <a16:creationId xmlns:a16="http://schemas.microsoft.com/office/drawing/2014/main" id="{7B0ACC61-81C9-C827-2E7D-D5ECCC65B34A}"/>
              </a:ext>
            </a:extLst>
          </p:cNvPr>
          <p:cNvSpPr>
            <a:spLocks noGrp="1"/>
          </p:cNvSpPr>
          <p:nvPr>
            <p:ph type="sldNum" sz="quarter" idx="12"/>
          </p:nvPr>
        </p:nvSpPr>
        <p:spPr/>
        <p:txBody>
          <a:bodyPr/>
          <a:lstStyle/>
          <a:p>
            <a:fld id="{73B850FF-6169-4056-8077-06FFA93A5366}" type="slidenum">
              <a:rPr lang="en-US" smtClean="0"/>
              <a:t>21</a:t>
            </a:fld>
            <a:endParaRPr lang="en-US"/>
          </a:p>
        </p:txBody>
      </p:sp>
    </p:spTree>
    <p:extLst>
      <p:ext uri="{BB962C8B-B14F-4D97-AF65-F5344CB8AC3E}">
        <p14:creationId xmlns:p14="http://schemas.microsoft.com/office/powerpoint/2010/main" val="1294756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26B0FCFA-8A2E-4F10-87BD-34565BD7C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5" name="Rectangle 14">
            <a:extLst>
              <a:ext uri="{FF2B5EF4-FFF2-40B4-BE49-F238E27FC236}">
                <a16:creationId xmlns:a16="http://schemas.microsoft.com/office/drawing/2014/main" id="{32DA72A5-2775-4FE6-9A97-1C8DEE0E0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7" name="Picture 16">
            <a:extLst>
              <a:ext uri="{FF2B5EF4-FFF2-40B4-BE49-F238E27FC236}">
                <a16:creationId xmlns:a16="http://schemas.microsoft.com/office/drawing/2014/main" id="{28966E53-3C41-4F5A-A432-755BFE5D75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609600" y="533400"/>
            <a:ext cx="2438400" cy="2438400"/>
          </a:xfrm>
          <a:prstGeom prst="rect">
            <a:avLst/>
          </a:prstGeom>
        </p:spPr>
      </p:pic>
      <p:pic>
        <p:nvPicPr>
          <p:cNvPr id="19" name="Picture 18">
            <a:extLst>
              <a:ext uri="{FF2B5EF4-FFF2-40B4-BE49-F238E27FC236}">
                <a16:creationId xmlns:a16="http://schemas.microsoft.com/office/drawing/2014/main" id="{D47F75BB-A3CB-4161-B316-A2A9C88F72D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a:off x="10820400" y="3144779"/>
            <a:ext cx="1371600" cy="2548349"/>
          </a:xfrm>
          <a:prstGeom prst="rect">
            <a:avLst/>
          </a:prstGeom>
        </p:spPr>
      </p:pic>
      <p:sp>
        <p:nvSpPr>
          <p:cNvPr id="2" name="Title 1">
            <a:extLst>
              <a:ext uri="{FF2B5EF4-FFF2-40B4-BE49-F238E27FC236}">
                <a16:creationId xmlns:a16="http://schemas.microsoft.com/office/drawing/2014/main" id="{EC65FDEF-AA97-D271-821A-0345012E639D}"/>
              </a:ext>
            </a:extLst>
          </p:cNvPr>
          <p:cNvSpPr>
            <a:spLocks noGrp="1"/>
          </p:cNvSpPr>
          <p:nvPr>
            <p:ph type="title"/>
          </p:nvPr>
        </p:nvSpPr>
        <p:spPr>
          <a:xfrm>
            <a:off x="3429000" y="775412"/>
            <a:ext cx="7391400" cy="2593263"/>
          </a:xfrm>
        </p:spPr>
        <p:txBody>
          <a:bodyPr vert="horz" lIns="91440" tIns="45720" rIns="91440" bIns="45720" rtlCol="0" anchor="b">
            <a:normAutofit/>
          </a:bodyPr>
          <a:lstStyle/>
          <a:p>
            <a:r>
              <a:rPr lang="en-US" sz="5200">
                <a:solidFill>
                  <a:schemeClr val="tx2"/>
                </a:solidFill>
              </a:rPr>
              <a:t>Lab 2: Model Identification</a:t>
            </a:r>
          </a:p>
          <a:p>
            <a:endParaRPr lang="en-US" sz="5200">
              <a:solidFill>
                <a:schemeClr val="tx2"/>
              </a:solidFill>
            </a:endParaRPr>
          </a:p>
        </p:txBody>
      </p:sp>
      <p:sp>
        <p:nvSpPr>
          <p:cNvPr id="4" name="Slide Number Placeholder 3">
            <a:extLst>
              <a:ext uri="{FF2B5EF4-FFF2-40B4-BE49-F238E27FC236}">
                <a16:creationId xmlns:a16="http://schemas.microsoft.com/office/drawing/2014/main" id="{CCE18A18-3FB3-08FD-49BB-A330ADE3CDB2}"/>
              </a:ext>
            </a:extLst>
          </p:cNvPr>
          <p:cNvSpPr>
            <a:spLocks noGrp="1"/>
          </p:cNvSpPr>
          <p:nvPr>
            <p:ph type="sldNum" sz="quarter" idx="12"/>
          </p:nvPr>
        </p:nvSpPr>
        <p:spPr>
          <a:xfrm>
            <a:off x="8610600" y="6324600"/>
            <a:ext cx="2743200" cy="365125"/>
          </a:xfrm>
        </p:spPr>
        <p:txBody>
          <a:bodyPr vert="horz" lIns="91440" tIns="45720" rIns="91440" bIns="45720" rtlCol="0" anchor="ctr">
            <a:normAutofit/>
          </a:bodyPr>
          <a:lstStyle/>
          <a:p>
            <a:pPr>
              <a:spcAft>
                <a:spcPts val="600"/>
              </a:spcAft>
            </a:pPr>
            <a:fld id="{73B850FF-6169-4056-8077-06FFA93A5366}" type="slidenum">
              <a:rPr lang="en-US">
                <a:solidFill>
                  <a:schemeClr val="tx1">
                    <a:alpha val="60000"/>
                  </a:schemeClr>
                </a:solidFill>
              </a:rPr>
              <a:pPr>
                <a:spcAft>
                  <a:spcPts val="600"/>
                </a:spcAft>
              </a:pPr>
              <a:t>22</a:t>
            </a:fld>
            <a:endParaRPr lang="en-US">
              <a:solidFill>
                <a:schemeClr val="tx1">
                  <a:alpha val="60000"/>
                </a:schemeClr>
              </a:solidFill>
            </a:endParaRPr>
          </a:p>
        </p:txBody>
      </p:sp>
    </p:spTree>
    <p:extLst>
      <p:ext uri="{BB962C8B-B14F-4D97-AF65-F5344CB8AC3E}">
        <p14:creationId xmlns:p14="http://schemas.microsoft.com/office/powerpoint/2010/main" val="22792981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9EB4-FCF8-734B-6BCB-ABD73CE9C400}"/>
              </a:ext>
            </a:extLst>
          </p:cNvPr>
          <p:cNvSpPr>
            <a:spLocks noGrp="1"/>
          </p:cNvSpPr>
          <p:nvPr>
            <p:ph type="title"/>
          </p:nvPr>
        </p:nvSpPr>
        <p:spPr/>
        <p:txBody>
          <a:bodyPr>
            <a:noAutofit/>
          </a:bodyPr>
          <a:lstStyle/>
          <a:p>
            <a:r>
              <a:rPr lang="en-US"/>
              <a:t>General Objectives</a:t>
            </a:r>
          </a:p>
        </p:txBody>
      </p:sp>
      <p:sp>
        <p:nvSpPr>
          <p:cNvPr id="3" name="Text Placeholder 2">
            <a:extLst>
              <a:ext uri="{FF2B5EF4-FFF2-40B4-BE49-F238E27FC236}">
                <a16:creationId xmlns:a16="http://schemas.microsoft.com/office/drawing/2014/main" id="{FC4D5457-F491-B7A5-CAD2-EF4A64A91CBA}"/>
              </a:ext>
            </a:extLst>
          </p:cNvPr>
          <p:cNvSpPr>
            <a:spLocks noGrp="1"/>
          </p:cNvSpPr>
          <p:nvPr>
            <p:ph type="body" idx="1"/>
          </p:nvPr>
        </p:nvSpPr>
        <p:spPr/>
        <p:txBody>
          <a:bodyPr/>
          <a:lstStyle/>
          <a:p>
            <a:r>
              <a:rPr lang="en-US"/>
              <a:t>Driving </a:t>
            </a:r>
          </a:p>
        </p:txBody>
      </p:sp>
      <p:sp>
        <p:nvSpPr>
          <p:cNvPr id="4" name="Content Placeholder 3">
            <a:extLst>
              <a:ext uri="{FF2B5EF4-FFF2-40B4-BE49-F238E27FC236}">
                <a16:creationId xmlns:a16="http://schemas.microsoft.com/office/drawing/2014/main" id="{24E8BC7C-71A4-CBAD-6222-BBF000F0DB1D}"/>
              </a:ext>
            </a:extLst>
          </p:cNvPr>
          <p:cNvSpPr>
            <a:spLocks noGrp="1"/>
          </p:cNvSpPr>
          <p:nvPr>
            <p:ph sz="half" idx="2"/>
          </p:nvPr>
        </p:nvSpPr>
        <p:spPr/>
        <p:txBody>
          <a:bodyPr vert="horz" lIns="91440" tIns="45720" rIns="91440" bIns="45720" rtlCol="0" anchor="t">
            <a:normAutofit fontScale="70000" lnSpcReduction="20000"/>
          </a:bodyPr>
          <a:lstStyle/>
          <a:p>
            <a:pPr>
              <a:lnSpc>
                <a:spcPct val="90000"/>
              </a:lnSpc>
            </a:pPr>
            <a:r>
              <a:rPr lang="en-US"/>
              <a:t>Apply programming methods in </a:t>
            </a:r>
            <a:r>
              <a:rPr lang="en-US" err="1"/>
              <a:t>mbed</a:t>
            </a:r>
            <a:r>
              <a:rPr lang="en-US"/>
              <a:t> to deepen comprehension of microcontroller functionalities.</a:t>
            </a:r>
          </a:p>
          <a:p>
            <a:pPr>
              <a:lnSpc>
                <a:spcPct val="90000"/>
              </a:lnSpc>
            </a:pPr>
            <a:r>
              <a:rPr lang="en-US"/>
              <a:t>Create and execute a circuit dedicated to facilitating the motor model identification procedure.</a:t>
            </a:r>
          </a:p>
          <a:p>
            <a:pPr>
              <a:lnSpc>
                <a:spcPct val="90000"/>
              </a:lnSpc>
            </a:pPr>
            <a:r>
              <a:rPr lang="en-US"/>
              <a:t>Confirm the accuracy of the system model through computer-based simulation.</a:t>
            </a:r>
          </a:p>
          <a:p>
            <a:endParaRPr lang="en-US"/>
          </a:p>
        </p:txBody>
      </p:sp>
      <p:sp>
        <p:nvSpPr>
          <p:cNvPr id="5" name="Text Placeholder 4">
            <a:extLst>
              <a:ext uri="{FF2B5EF4-FFF2-40B4-BE49-F238E27FC236}">
                <a16:creationId xmlns:a16="http://schemas.microsoft.com/office/drawing/2014/main" id="{DA8A5B6F-25AD-1BDB-56D0-7B610D357F13}"/>
              </a:ext>
            </a:extLst>
          </p:cNvPr>
          <p:cNvSpPr>
            <a:spLocks noGrp="1"/>
          </p:cNvSpPr>
          <p:nvPr>
            <p:ph type="body" sz="quarter" idx="3"/>
          </p:nvPr>
        </p:nvSpPr>
        <p:spPr/>
        <p:txBody>
          <a:bodyPr/>
          <a:lstStyle/>
          <a:p>
            <a:r>
              <a:rPr lang="en-US"/>
              <a:t>Steering</a:t>
            </a:r>
          </a:p>
        </p:txBody>
      </p:sp>
      <p:sp>
        <p:nvSpPr>
          <p:cNvPr id="6" name="Content Placeholder 5">
            <a:extLst>
              <a:ext uri="{FF2B5EF4-FFF2-40B4-BE49-F238E27FC236}">
                <a16:creationId xmlns:a16="http://schemas.microsoft.com/office/drawing/2014/main" id="{8F76B420-98F7-3EB3-6D47-ACA09DAF2052}"/>
              </a:ext>
            </a:extLst>
          </p:cNvPr>
          <p:cNvSpPr>
            <a:spLocks noGrp="1"/>
          </p:cNvSpPr>
          <p:nvPr>
            <p:ph sz="quarter" idx="4"/>
          </p:nvPr>
        </p:nvSpPr>
        <p:spPr/>
        <p:txBody>
          <a:bodyPr vert="horz" lIns="91440" tIns="45720" rIns="91440" bIns="45720" rtlCol="0" anchor="t">
            <a:normAutofit fontScale="70000" lnSpcReduction="20000"/>
          </a:bodyPr>
          <a:lstStyle/>
          <a:p>
            <a:br>
              <a:rPr lang="en-US"/>
            </a:br>
            <a:r>
              <a:rPr lang="en-US">
                <a:solidFill>
                  <a:srgbClr val="FFFFFF"/>
                </a:solidFill>
                <a:ea typeface="+mn-lt"/>
                <a:cs typeface="+mn-lt"/>
              </a:rPr>
              <a:t>Develop the required circuitry to carry out a step response test on the servo motor.</a:t>
            </a:r>
            <a:endParaRPr lang="en-US">
              <a:solidFill>
                <a:srgbClr val="FFFFFF"/>
              </a:solidFill>
            </a:endParaRPr>
          </a:p>
          <a:p>
            <a:r>
              <a:rPr lang="en-US">
                <a:solidFill>
                  <a:srgbClr val="FFFFFF"/>
                </a:solidFill>
                <a:ea typeface="+mn-lt"/>
                <a:cs typeface="+mn-lt"/>
              </a:rPr>
              <a:t>Gather and document data essential for the estimation of the transfer function.</a:t>
            </a:r>
            <a:endParaRPr lang="en-US"/>
          </a:p>
          <a:p>
            <a:r>
              <a:rPr lang="en-US">
                <a:solidFill>
                  <a:srgbClr val="FFFFFF"/>
                </a:solidFill>
                <a:ea typeface="+mn-lt"/>
                <a:cs typeface="+mn-lt"/>
              </a:rPr>
              <a:t>Apply software tools and the collected data to approximate the transfer function.</a:t>
            </a:r>
            <a:endParaRPr lang="en-US"/>
          </a:p>
          <a:p>
            <a:r>
              <a:rPr lang="en-US">
                <a:solidFill>
                  <a:srgbClr val="FFFFFF"/>
                </a:solidFill>
                <a:ea typeface="+mn-lt"/>
                <a:cs typeface="+mn-lt"/>
              </a:rPr>
              <a:t>Execute the simulation and contrast its outcomes with real-world results.</a:t>
            </a:r>
            <a:endParaRPr lang="en-US"/>
          </a:p>
          <a:p>
            <a:pPr marL="0" indent="0">
              <a:buNone/>
            </a:pPr>
            <a:endParaRPr lang="en-US"/>
          </a:p>
        </p:txBody>
      </p:sp>
      <p:sp>
        <p:nvSpPr>
          <p:cNvPr id="8" name="Slide Number Placeholder 7">
            <a:extLst>
              <a:ext uri="{FF2B5EF4-FFF2-40B4-BE49-F238E27FC236}">
                <a16:creationId xmlns:a16="http://schemas.microsoft.com/office/drawing/2014/main" id="{7B0ACC61-81C9-C827-2E7D-D5ECCC65B34A}"/>
              </a:ext>
            </a:extLst>
          </p:cNvPr>
          <p:cNvSpPr>
            <a:spLocks noGrp="1"/>
          </p:cNvSpPr>
          <p:nvPr>
            <p:ph type="sldNum" sz="quarter" idx="12"/>
          </p:nvPr>
        </p:nvSpPr>
        <p:spPr/>
        <p:txBody>
          <a:bodyPr/>
          <a:lstStyle/>
          <a:p>
            <a:fld id="{73B850FF-6169-4056-8077-06FFA93A5366}" type="slidenum">
              <a:rPr lang="en-US" smtClean="0"/>
              <a:t>23</a:t>
            </a:fld>
            <a:endParaRPr lang="en-US"/>
          </a:p>
        </p:txBody>
      </p:sp>
    </p:spTree>
    <p:extLst>
      <p:ext uri="{BB962C8B-B14F-4D97-AF65-F5344CB8AC3E}">
        <p14:creationId xmlns:p14="http://schemas.microsoft.com/office/powerpoint/2010/main" val="39398923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9EB4-FCF8-734B-6BCB-ABD73CE9C400}"/>
              </a:ext>
            </a:extLst>
          </p:cNvPr>
          <p:cNvSpPr>
            <a:spLocks noGrp="1"/>
          </p:cNvSpPr>
          <p:nvPr>
            <p:ph type="title"/>
          </p:nvPr>
        </p:nvSpPr>
        <p:spPr/>
        <p:txBody>
          <a:bodyPr>
            <a:noAutofit/>
          </a:bodyPr>
          <a:lstStyle/>
          <a:p>
            <a:r>
              <a:rPr lang="en-US"/>
              <a:t>Main Specifications</a:t>
            </a:r>
          </a:p>
        </p:txBody>
      </p:sp>
      <p:sp>
        <p:nvSpPr>
          <p:cNvPr id="3" name="Text Placeholder 2">
            <a:extLst>
              <a:ext uri="{FF2B5EF4-FFF2-40B4-BE49-F238E27FC236}">
                <a16:creationId xmlns:a16="http://schemas.microsoft.com/office/drawing/2014/main" id="{FC4D5457-F491-B7A5-CAD2-EF4A64A91CBA}"/>
              </a:ext>
            </a:extLst>
          </p:cNvPr>
          <p:cNvSpPr>
            <a:spLocks noGrp="1"/>
          </p:cNvSpPr>
          <p:nvPr>
            <p:ph type="body" idx="1"/>
          </p:nvPr>
        </p:nvSpPr>
        <p:spPr/>
        <p:txBody>
          <a:bodyPr/>
          <a:lstStyle/>
          <a:p>
            <a:r>
              <a:rPr lang="en-US"/>
              <a:t>Driving </a:t>
            </a:r>
          </a:p>
        </p:txBody>
      </p:sp>
      <p:sp>
        <p:nvSpPr>
          <p:cNvPr id="4" name="Content Placeholder 3">
            <a:extLst>
              <a:ext uri="{FF2B5EF4-FFF2-40B4-BE49-F238E27FC236}">
                <a16:creationId xmlns:a16="http://schemas.microsoft.com/office/drawing/2014/main" id="{24E8BC7C-71A4-CBAD-6222-BBF000F0DB1D}"/>
              </a:ext>
            </a:extLst>
          </p:cNvPr>
          <p:cNvSpPr>
            <a:spLocks noGrp="1"/>
          </p:cNvSpPr>
          <p:nvPr>
            <p:ph sz="half" idx="2"/>
          </p:nvPr>
        </p:nvSpPr>
        <p:spPr/>
        <p:txBody>
          <a:bodyPr vert="horz" lIns="91440" tIns="45720" rIns="91440" bIns="45720" rtlCol="0" anchor="t">
            <a:normAutofit fontScale="85000" lnSpcReduction="20000"/>
          </a:bodyPr>
          <a:lstStyle/>
          <a:p>
            <a:r>
              <a:rPr lang="en-US">
                <a:ea typeface="+mn-lt"/>
                <a:cs typeface="+mn-lt"/>
              </a:rPr>
              <a:t>Motor voltage: 7.4V </a:t>
            </a:r>
          </a:p>
          <a:p>
            <a:r>
              <a:rPr lang="en-US">
                <a:ea typeface="+mn-lt"/>
                <a:cs typeface="+mn-lt"/>
              </a:rPr>
              <a:t>Switching frequency: ≥20 kHz</a:t>
            </a:r>
          </a:p>
          <a:p>
            <a:r>
              <a:rPr lang="en-US">
                <a:ea typeface="+mn-lt"/>
                <a:cs typeface="+mn-lt"/>
              </a:rPr>
              <a:t>Speed range: 0-100% unidirectional </a:t>
            </a:r>
          </a:p>
          <a:p>
            <a:pPr lvl="1">
              <a:buFont typeface="Courier New" panose="020B0604020202020204" pitchFamily="34" charset="0"/>
              <a:buChar char="o"/>
            </a:pPr>
            <a:r>
              <a:rPr lang="en-US">
                <a:ea typeface="+mn-lt"/>
                <a:cs typeface="+mn-lt"/>
              </a:rPr>
              <a:t>Design to match the DC motor’s rated voltage</a:t>
            </a:r>
            <a:endParaRPr lang="en-US"/>
          </a:p>
          <a:p>
            <a:r>
              <a:rPr lang="en-US">
                <a:ea typeface="+mn-lt"/>
                <a:cs typeface="+mn-lt"/>
              </a:rPr>
              <a:t>External voltage (speed) reference: 0-3.3V </a:t>
            </a:r>
          </a:p>
          <a:p>
            <a:r>
              <a:rPr lang="en-US">
                <a:ea typeface="+mn-lt"/>
                <a:cs typeface="+mn-lt"/>
              </a:rPr>
              <a:t>Feedback: Hall Effect Sensor</a:t>
            </a:r>
            <a:endParaRPr lang="en-US"/>
          </a:p>
        </p:txBody>
      </p:sp>
      <p:sp>
        <p:nvSpPr>
          <p:cNvPr id="5" name="Text Placeholder 4">
            <a:extLst>
              <a:ext uri="{FF2B5EF4-FFF2-40B4-BE49-F238E27FC236}">
                <a16:creationId xmlns:a16="http://schemas.microsoft.com/office/drawing/2014/main" id="{DA8A5B6F-25AD-1BDB-56D0-7B610D357F13}"/>
              </a:ext>
            </a:extLst>
          </p:cNvPr>
          <p:cNvSpPr>
            <a:spLocks noGrp="1"/>
          </p:cNvSpPr>
          <p:nvPr>
            <p:ph type="body" sz="quarter" idx="3"/>
          </p:nvPr>
        </p:nvSpPr>
        <p:spPr/>
        <p:txBody>
          <a:bodyPr/>
          <a:lstStyle/>
          <a:p>
            <a:r>
              <a:rPr lang="en-US"/>
              <a:t>Steering</a:t>
            </a:r>
          </a:p>
        </p:txBody>
      </p:sp>
      <p:sp>
        <p:nvSpPr>
          <p:cNvPr id="6" name="Content Placeholder 5">
            <a:extLst>
              <a:ext uri="{FF2B5EF4-FFF2-40B4-BE49-F238E27FC236}">
                <a16:creationId xmlns:a16="http://schemas.microsoft.com/office/drawing/2014/main" id="{8F76B420-98F7-3EB3-6D47-ACA09DAF2052}"/>
              </a:ext>
            </a:extLst>
          </p:cNvPr>
          <p:cNvSpPr>
            <a:spLocks noGrp="1"/>
          </p:cNvSpPr>
          <p:nvPr>
            <p:ph sz="quarter" idx="4"/>
          </p:nvPr>
        </p:nvSpPr>
        <p:spPr/>
        <p:txBody>
          <a:bodyPr vert="horz" lIns="91440" tIns="45720" rIns="91440" bIns="45720" rtlCol="0" anchor="t">
            <a:normAutofit fontScale="85000" lnSpcReduction="20000"/>
          </a:bodyPr>
          <a:lstStyle/>
          <a:p>
            <a:r>
              <a:rPr lang="en-US">
                <a:ea typeface="+mn-lt"/>
                <a:cs typeface="+mn-lt"/>
              </a:rPr>
              <a:t>Servo voltage: 4.8V - 6V </a:t>
            </a:r>
          </a:p>
          <a:p>
            <a:r>
              <a:rPr lang="en-US">
                <a:ea typeface="+mn-lt"/>
                <a:cs typeface="+mn-lt"/>
              </a:rPr>
              <a:t>Communication frequency: 50Hz</a:t>
            </a:r>
          </a:p>
          <a:p>
            <a:r>
              <a:rPr lang="en-US">
                <a:ea typeface="+mn-lt"/>
                <a:cs typeface="+mn-lt"/>
              </a:rPr>
              <a:t>Servo Rotational range: 180⁰ </a:t>
            </a:r>
          </a:p>
          <a:p>
            <a:r>
              <a:rPr lang="en-US">
                <a:ea typeface="+mn-lt"/>
                <a:cs typeface="+mn-lt"/>
              </a:rPr>
              <a:t>Feedback: LC circuit for a given inductance (at 20 kHz)</a:t>
            </a:r>
            <a:endParaRPr lang="en-US"/>
          </a:p>
        </p:txBody>
      </p:sp>
      <p:sp>
        <p:nvSpPr>
          <p:cNvPr id="8" name="Slide Number Placeholder 7">
            <a:extLst>
              <a:ext uri="{FF2B5EF4-FFF2-40B4-BE49-F238E27FC236}">
                <a16:creationId xmlns:a16="http://schemas.microsoft.com/office/drawing/2014/main" id="{7B0ACC61-81C9-C827-2E7D-D5ECCC65B34A}"/>
              </a:ext>
            </a:extLst>
          </p:cNvPr>
          <p:cNvSpPr>
            <a:spLocks noGrp="1"/>
          </p:cNvSpPr>
          <p:nvPr>
            <p:ph type="sldNum" sz="quarter" idx="12"/>
          </p:nvPr>
        </p:nvSpPr>
        <p:spPr/>
        <p:txBody>
          <a:bodyPr/>
          <a:lstStyle/>
          <a:p>
            <a:fld id="{73B850FF-6169-4056-8077-06FFA93A5366}" type="slidenum">
              <a:rPr lang="en-US" smtClean="0"/>
              <a:t>24</a:t>
            </a:fld>
            <a:endParaRPr lang="en-US"/>
          </a:p>
        </p:txBody>
      </p:sp>
    </p:spTree>
    <p:extLst>
      <p:ext uri="{BB962C8B-B14F-4D97-AF65-F5344CB8AC3E}">
        <p14:creationId xmlns:p14="http://schemas.microsoft.com/office/powerpoint/2010/main" val="12621332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9BCE0-96DC-B70B-8EDF-80B5D47430D2}"/>
              </a:ext>
            </a:extLst>
          </p:cNvPr>
          <p:cNvSpPr>
            <a:spLocks noGrp="1"/>
          </p:cNvSpPr>
          <p:nvPr>
            <p:ph type="title"/>
          </p:nvPr>
        </p:nvSpPr>
        <p:spPr/>
        <p:txBody>
          <a:bodyPr>
            <a:normAutofit/>
          </a:bodyPr>
          <a:lstStyle/>
          <a:p>
            <a:r>
              <a:rPr lang="en-US" sz="4400" b="1" baseline="0">
                <a:solidFill>
                  <a:srgbClr val="FFFFFF"/>
                </a:solidFill>
                <a:latin typeface="Avenir Next LT Pro"/>
              </a:rPr>
              <a:t>Motor Model ID (Part I)</a:t>
            </a:r>
            <a:br>
              <a:rPr lang="en-US">
                <a:solidFill>
                  <a:srgbClr val="FFFFFF"/>
                </a:solidFill>
                <a:latin typeface="Avenir Next LT Pro"/>
              </a:rPr>
            </a:br>
            <a:r>
              <a:rPr lang="en-US" sz="2800">
                <a:ea typeface="+mj-lt"/>
                <a:cs typeface="+mj-lt"/>
              </a:rPr>
              <a:t>Permanent DC Motor</a:t>
            </a:r>
            <a:endParaRPr lang="en-US" sz="2800" b="0">
              <a:ea typeface="+mj-lt"/>
              <a:cs typeface="+mj-lt"/>
            </a:endParaRPr>
          </a:p>
        </p:txBody>
      </p:sp>
      <p:sp>
        <p:nvSpPr>
          <p:cNvPr id="4" name="Content Placeholder 3">
            <a:extLst>
              <a:ext uri="{FF2B5EF4-FFF2-40B4-BE49-F238E27FC236}">
                <a16:creationId xmlns:a16="http://schemas.microsoft.com/office/drawing/2014/main" id="{3A4A3ADD-3FC4-B75E-819A-E5F6B49AABBF}"/>
              </a:ext>
            </a:extLst>
          </p:cNvPr>
          <p:cNvSpPr>
            <a:spLocks noGrp="1"/>
          </p:cNvSpPr>
          <p:nvPr>
            <p:ph sz="half" idx="1"/>
          </p:nvPr>
        </p:nvSpPr>
        <p:spPr/>
        <p:txBody>
          <a:bodyPr vert="horz" lIns="91440" tIns="45720" rIns="91440" bIns="45720" rtlCol="0" anchor="t">
            <a:normAutofit/>
          </a:bodyPr>
          <a:lstStyle/>
          <a:p>
            <a:r>
              <a:rPr lang="en-US" sz="1600">
                <a:latin typeface="Times New Roman"/>
                <a:cs typeface="Times New Roman"/>
              </a:rPr>
              <a:t>A permanent magnet DC (PMDC) motor has poles made of permanent magnets. It consists of:</a:t>
            </a:r>
          </a:p>
          <a:p>
            <a:pPr lvl="1">
              <a:buFont typeface="Courier New" panose="020B0604020202020204" pitchFamily="34" charset="0"/>
              <a:buChar char="o"/>
            </a:pPr>
            <a:r>
              <a:rPr lang="en-US" sz="1200">
                <a:latin typeface="Times New Roman"/>
                <a:cs typeface="Times New Roman"/>
              </a:rPr>
              <a:t>A permanent magnetic structure that is static </a:t>
            </a:r>
          </a:p>
          <a:p>
            <a:pPr lvl="1">
              <a:buFont typeface="Courier New" panose="020B0604020202020204" pitchFamily="34" charset="0"/>
              <a:buChar char="o"/>
            </a:pPr>
            <a:r>
              <a:rPr lang="en-US" sz="1200">
                <a:latin typeface="Times New Roman"/>
                <a:cs typeface="Times New Roman"/>
              </a:rPr>
              <a:t>The field produces a magnetic medium </a:t>
            </a:r>
          </a:p>
          <a:p>
            <a:pPr lvl="1">
              <a:buFont typeface="Courier New" panose="020B0604020202020204" pitchFamily="34" charset="0"/>
              <a:buChar char="o"/>
            </a:pPr>
            <a:r>
              <a:rPr lang="en-US" sz="1200">
                <a:latin typeface="Times New Roman"/>
                <a:cs typeface="Times New Roman"/>
              </a:rPr>
              <a:t>An armature which rotates </a:t>
            </a:r>
          </a:p>
          <a:p>
            <a:pPr lvl="1">
              <a:buFont typeface="Courier New" panose="020B0604020202020204" pitchFamily="34" charset="0"/>
              <a:buChar char="o"/>
            </a:pPr>
            <a:r>
              <a:rPr lang="en-US" sz="1200">
                <a:latin typeface="Times New Roman"/>
                <a:cs typeface="Times New Roman"/>
              </a:rPr>
              <a:t>The armature produces voltage and torque under the action of the magnetic field </a:t>
            </a:r>
          </a:p>
          <a:p>
            <a:r>
              <a:rPr lang="en-US" sz="1600">
                <a:latin typeface="Times New Roman"/>
                <a:cs typeface="Times New Roman"/>
              </a:rPr>
              <a:t>In the design of permanent-magnet DC motors, the flux of a PMDC motor is fixed. And the only way of speed control for PMDC motors is armature voltage control.</a:t>
            </a:r>
            <a:endParaRPr lang="en-US" sz="1600"/>
          </a:p>
          <a:p>
            <a:endParaRPr lang="en-US"/>
          </a:p>
        </p:txBody>
      </p:sp>
      <p:pic>
        <p:nvPicPr>
          <p:cNvPr id="8" name="Content Placeholder 7" descr="A diagram of a magnet&#10;&#10;Description automatically generated">
            <a:extLst>
              <a:ext uri="{FF2B5EF4-FFF2-40B4-BE49-F238E27FC236}">
                <a16:creationId xmlns:a16="http://schemas.microsoft.com/office/drawing/2014/main" id="{8689DF18-02A2-5B50-6D10-E6EADBE6AB67}"/>
              </a:ext>
            </a:extLst>
          </p:cNvPr>
          <p:cNvPicPr>
            <a:picLocks noGrp="1" noChangeAspect="1"/>
          </p:cNvPicPr>
          <p:nvPr>
            <p:ph sz="half" idx="2"/>
          </p:nvPr>
        </p:nvPicPr>
        <p:blipFill>
          <a:blip r:embed="rId2"/>
          <a:stretch>
            <a:fillRect/>
          </a:stretch>
        </p:blipFill>
        <p:spPr>
          <a:xfrm>
            <a:off x="6830724" y="2169958"/>
            <a:ext cx="3547876" cy="2524619"/>
          </a:xfrm>
        </p:spPr>
      </p:pic>
      <p:sp>
        <p:nvSpPr>
          <p:cNvPr id="7" name="Slide Number Placeholder 6">
            <a:extLst>
              <a:ext uri="{FF2B5EF4-FFF2-40B4-BE49-F238E27FC236}">
                <a16:creationId xmlns:a16="http://schemas.microsoft.com/office/drawing/2014/main" id="{F37777FF-AF40-E62E-87E2-45A1BAE131AE}"/>
              </a:ext>
            </a:extLst>
          </p:cNvPr>
          <p:cNvSpPr>
            <a:spLocks noGrp="1"/>
          </p:cNvSpPr>
          <p:nvPr>
            <p:ph type="sldNum" sz="quarter" idx="12"/>
          </p:nvPr>
        </p:nvSpPr>
        <p:spPr/>
        <p:txBody>
          <a:bodyPr/>
          <a:lstStyle/>
          <a:p>
            <a:fld id="{73B850FF-6169-4056-8077-06FFA93A5366}" type="slidenum">
              <a:rPr lang="en-US" smtClean="0"/>
              <a:t>25</a:t>
            </a:fld>
            <a:endParaRPr lang="en-US"/>
          </a:p>
        </p:txBody>
      </p:sp>
      <p:sp>
        <p:nvSpPr>
          <p:cNvPr id="10" name="TextBox 9">
            <a:extLst>
              <a:ext uri="{FF2B5EF4-FFF2-40B4-BE49-F238E27FC236}">
                <a16:creationId xmlns:a16="http://schemas.microsoft.com/office/drawing/2014/main" id="{437E341F-82A1-6A44-ACFD-5D34AB589272}"/>
              </a:ext>
            </a:extLst>
          </p:cNvPr>
          <p:cNvSpPr txBox="1"/>
          <p:nvPr/>
        </p:nvSpPr>
        <p:spPr>
          <a:xfrm>
            <a:off x="10796648" y="-1"/>
            <a:ext cx="139535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chemeClr val="bg1"/>
                </a:solidFill>
              </a:rPr>
              <a:t>Nicholas George</a:t>
            </a:r>
          </a:p>
        </p:txBody>
      </p:sp>
    </p:spTree>
    <p:extLst>
      <p:ext uri="{BB962C8B-B14F-4D97-AF65-F5344CB8AC3E}">
        <p14:creationId xmlns:p14="http://schemas.microsoft.com/office/powerpoint/2010/main" val="14188528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BDF47-1BB3-B5E2-FEB6-58E4DBE3A67A}"/>
              </a:ext>
            </a:extLst>
          </p:cNvPr>
          <p:cNvSpPr>
            <a:spLocks noGrp="1"/>
          </p:cNvSpPr>
          <p:nvPr>
            <p:ph type="title"/>
          </p:nvPr>
        </p:nvSpPr>
        <p:spPr/>
        <p:txBody>
          <a:bodyPr>
            <a:normAutofit/>
          </a:bodyPr>
          <a:lstStyle/>
          <a:p>
            <a:r>
              <a:rPr lang="en-US"/>
              <a:t>Motor Model ID (Part I)</a:t>
            </a:r>
            <a:br>
              <a:rPr lang="en-US"/>
            </a:br>
            <a:r>
              <a:rPr lang="en-US" sz="2800"/>
              <a:t>Armature Resistance</a:t>
            </a:r>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AA2BB04-B586-01C0-5806-45C4105903F8}"/>
                  </a:ext>
                </a:extLst>
              </p:cNvPr>
              <p:cNvSpPr>
                <a:spLocks noGrp="1"/>
              </p:cNvSpPr>
              <p:nvPr>
                <p:ph idx="1"/>
              </p:nvPr>
            </p:nvSpPr>
            <p:spPr>
              <a:xfrm>
                <a:off x="838200" y="1949451"/>
                <a:ext cx="10515600" cy="996950"/>
              </a:xfrm>
            </p:spPr>
            <p:txBody>
              <a:bodyPr>
                <a:normAutofit fontScale="92500" lnSpcReduction="20000"/>
              </a:bodyPr>
              <a:lstStyle/>
              <a:p>
                <a:r>
                  <a:rPr lang="en-US"/>
                  <a:t>Measured the DMM’s lead resistance (0.2 </a:t>
                </a:r>
                <a14:m>
                  <m:oMath xmlns:m="http://schemas.openxmlformats.org/officeDocument/2006/math">
                    <m:r>
                      <m:rPr>
                        <m:sty m:val="p"/>
                      </m:rPr>
                      <a:rPr lang="en-US" b="0" i="0" smtClean="0">
                        <a:latin typeface="Cambria Math" panose="02040503050406030204" pitchFamily="18" charset="0"/>
                      </a:rPr>
                      <m:t>Ω</m:t>
                    </m:r>
                  </m:oMath>
                </a14:m>
                <a:r>
                  <a:rPr lang="en-US"/>
                  <a:t>)</a:t>
                </a:r>
              </a:p>
              <a:p>
                <a:r>
                  <a:rPr lang="en-US"/>
                  <a:t>Resistance was measured at 10 different points along the armature.</a:t>
                </a:r>
              </a:p>
              <a:p>
                <a:pPr marL="0" indent="0">
                  <a:buNone/>
                </a:pPr>
                <a:endParaRPr lang="en-US"/>
              </a:p>
              <a:p>
                <a:endParaRPr lang="en-US"/>
              </a:p>
            </p:txBody>
          </p:sp>
        </mc:Choice>
        <mc:Fallback>
          <p:sp>
            <p:nvSpPr>
              <p:cNvPr id="3" name="Content Placeholder 2">
                <a:extLst>
                  <a:ext uri="{FF2B5EF4-FFF2-40B4-BE49-F238E27FC236}">
                    <a16:creationId xmlns:a16="http://schemas.microsoft.com/office/drawing/2014/main" id="{0AA2BB04-B586-01C0-5806-45C4105903F8}"/>
                  </a:ext>
                </a:extLst>
              </p:cNvPr>
              <p:cNvSpPr>
                <a:spLocks noGrp="1" noRot="1" noChangeAspect="1" noMove="1" noResize="1" noEditPoints="1" noAdjustHandles="1" noChangeArrowheads="1" noChangeShapeType="1" noTextEdit="1"/>
              </p:cNvSpPr>
              <p:nvPr>
                <p:ph idx="1"/>
              </p:nvPr>
            </p:nvSpPr>
            <p:spPr>
              <a:xfrm>
                <a:off x="838200" y="1949451"/>
                <a:ext cx="10515600" cy="996950"/>
              </a:xfrm>
              <a:blipFill>
                <a:blip r:embed="rId2"/>
                <a:stretch>
                  <a:fillRect l="-928" t="-9202" b="-981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05D7CE3-420C-80CF-4F15-BCAE4F90650E}"/>
              </a:ext>
            </a:extLst>
          </p:cNvPr>
          <p:cNvSpPr>
            <a:spLocks noGrp="1"/>
          </p:cNvSpPr>
          <p:nvPr>
            <p:ph type="sldNum" sz="quarter" idx="12"/>
          </p:nvPr>
        </p:nvSpPr>
        <p:spPr/>
        <p:txBody>
          <a:bodyPr/>
          <a:lstStyle/>
          <a:p>
            <a:fld id="{73B850FF-6169-4056-8077-06FFA93A5366}" type="slidenum">
              <a:rPr lang="en-US" smtClean="0"/>
              <a:t>26</a:t>
            </a:fld>
            <a:endParaRPr lang="en-US"/>
          </a:p>
        </p:txBody>
      </p:sp>
      <p:pic>
        <p:nvPicPr>
          <p:cNvPr id="6" name="Picture 5">
            <a:extLst>
              <a:ext uri="{FF2B5EF4-FFF2-40B4-BE49-F238E27FC236}">
                <a16:creationId xmlns:a16="http://schemas.microsoft.com/office/drawing/2014/main" id="{4BDE3F76-715D-C478-387B-E30F05156604}"/>
              </a:ext>
            </a:extLst>
          </p:cNvPr>
          <p:cNvPicPr>
            <a:picLocks noChangeAspect="1"/>
          </p:cNvPicPr>
          <p:nvPr/>
        </p:nvPicPr>
        <p:blipFill>
          <a:blip r:embed="rId3"/>
          <a:stretch>
            <a:fillRect/>
          </a:stretch>
        </p:blipFill>
        <p:spPr>
          <a:xfrm>
            <a:off x="2649804" y="2946401"/>
            <a:ext cx="7065696" cy="3716431"/>
          </a:xfrm>
          <a:prstGeom prst="rect">
            <a:avLst/>
          </a:prstGeom>
        </p:spPr>
      </p:pic>
    </p:spTree>
    <p:extLst>
      <p:ext uri="{BB962C8B-B14F-4D97-AF65-F5344CB8AC3E}">
        <p14:creationId xmlns:p14="http://schemas.microsoft.com/office/powerpoint/2010/main" val="13126750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B5D48-95D9-6C2B-CDD3-E145388BA351}"/>
              </a:ext>
            </a:extLst>
          </p:cNvPr>
          <p:cNvSpPr>
            <a:spLocks noGrp="1"/>
          </p:cNvSpPr>
          <p:nvPr>
            <p:ph type="title"/>
          </p:nvPr>
        </p:nvSpPr>
        <p:spPr/>
        <p:txBody>
          <a:bodyPr>
            <a:normAutofit/>
          </a:bodyPr>
          <a:lstStyle/>
          <a:p>
            <a:r>
              <a:rPr lang="en-US"/>
              <a:t>Motor Model ID (Part I)</a:t>
            </a:r>
            <a:br>
              <a:rPr lang="en-US"/>
            </a:br>
            <a:r>
              <a:rPr lang="en-US" sz="2800"/>
              <a:t>Frequency Sweep</a:t>
            </a:r>
            <a:endParaRPr lang="en-US"/>
          </a:p>
        </p:txBody>
      </p:sp>
      <p:sp>
        <p:nvSpPr>
          <p:cNvPr id="3" name="Content Placeholder 2">
            <a:extLst>
              <a:ext uri="{FF2B5EF4-FFF2-40B4-BE49-F238E27FC236}">
                <a16:creationId xmlns:a16="http://schemas.microsoft.com/office/drawing/2014/main" id="{7F1224D6-8AA9-C43A-05F3-82722AB1D357}"/>
              </a:ext>
            </a:extLst>
          </p:cNvPr>
          <p:cNvSpPr>
            <a:spLocks noGrp="1"/>
          </p:cNvSpPr>
          <p:nvPr>
            <p:ph idx="1"/>
          </p:nvPr>
        </p:nvSpPr>
        <p:spPr/>
        <p:txBody>
          <a:bodyPr/>
          <a:lstStyle/>
          <a:p>
            <a:r>
              <a:rPr lang="en-US"/>
              <a:t>1 Hz to 5 MHz spaced in log scale (10 pts/decade)</a:t>
            </a:r>
          </a:p>
          <a:p>
            <a:r>
              <a:rPr lang="en-US"/>
              <a:t>Measured </a:t>
            </a:r>
          </a:p>
          <a:p>
            <a:pPr lvl="1"/>
            <a:r>
              <a:rPr lang="en-US"/>
              <a:t>Supply voltage, motor voltage, resistor voltage, and phase shift</a:t>
            </a:r>
          </a:p>
          <a:p>
            <a:r>
              <a:rPr lang="en-US"/>
              <a:t>Calculated</a:t>
            </a:r>
          </a:p>
          <a:p>
            <a:pPr lvl="1"/>
            <a:r>
              <a:rPr lang="en-US"/>
              <a:t>Motor current, impedance, reactance and inductance</a:t>
            </a:r>
          </a:p>
          <a:p>
            <a:endParaRPr lang="en-US"/>
          </a:p>
        </p:txBody>
      </p:sp>
      <p:sp>
        <p:nvSpPr>
          <p:cNvPr id="4" name="Slide Number Placeholder 3">
            <a:extLst>
              <a:ext uri="{FF2B5EF4-FFF2-40B4-BE49-F238E27FC236}">
                <a16:creationId xmlns:a16="http://schemas.microsoft.com/office/drawing/2014/main" id="{DF0F103A-A51C-9760-B3D3-BE2B80B10704}"/>
              </a:ext>
            </a:extLst>
          </p:cNvPr>
          <p:cNvSpPr>
            <a:spLocks noGrp="1"/>
          </p:cNvSpPr>
          <p:nvPr>
            <p:ph type="sldNum" sz="quarter" idx="12"/>
          </p:nvPr>
        </p:nvSpPr>
        <p:spPr/>
        <p:txBody>
          <a:bodyPr/>
          <a:lstStyle/>
          <a:p>
            <a:fld id="{73B850FF-6169-4056-8077-06FFA93A5366}" type="slidenum">
              <a:rPr lang="en-US" smtClean="0"/>
              <a:t>27</a:t>
            </a:fld>
            <a:endParaRPr lang="en-US"/>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D126DE2F-CBB1-4F63-E8DD-68739DECAAC6}"/>
                  </a:ext>
                </a:extLst>
              </p:cNvPr>
              <p:cNvSpPr txBox="1"/>
              <p:nvPr/>
            </p:nvSpPr>
            <p:spPr>
              <a:xfrm>
                <a:off x="1035304" y="5194300"/>
                <a:ext cx="1397000" cy="56387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𝑖</m:t>
                          </m:r>
                        </m:e>
                        <m:sub>
                          <m:r>
                            <a:rPr lang="en-US" b="0" i="1" smtClean="0">
                              <a:solidFill>
                                <a:schemeClr val="bg1"/>
                              </a:solidFill>
                              <a:latin typeface="Cambria Math" panose="02040503050406030204" pitchFamily="18" charset="0"/>
                            </a:rPr>
                            <m:t>𝑚</m:t>
                          </m:r>
                        </m:sub>
                      </m:sSub>
                      <m:r>
                        <a:rPr lang="en-US" b="0" i="1" smtClean="0">
                          <a:solidFill>
                            <a:schemeClr val="bg1"/>
                          </a:solidFill>
                          <a:latin typeface="Cambria Math" panose="02040503050406030204" pitchFamily="18" charset="0"/>
                        </a:rPr>
                        <m:t>=</m:t>
                      </m:r>
                      <m:f>
                        <m:fPr>
                          <m:ctrlPr>
                            <a:rPr lang="en-US" b="0" i="1" smtClean="0">
                              <a:solidFill>
                                <a:schemeClr val="bg1"/>
                              </a:solidFill>
                              <a:latin typeface="Cambria Math" panose="02040503050406030204" pitchFamily="18" charset="0"/>
                            </a:rPr>
                          </m:ctrlPr>
                        </m:fPr>
                        <m:num>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𝑉</m:t>
                              </m:r>
                            </m:e>
                            <m:sub>
                              <m:r>
                                <a:rPr lang="en-US" b="0" i="1" smtClean="0">
                                  <a:solidFill>
                                    <a:schemeClr val="bg1"/>
                                  </a:solidFill>
                                  <a:latin typeface="Cambria Math" panose="02040503050406030204" pitchFamily="18" charset="0"/>
                                </a:rPr>
                                <m:t>𝑅</m:t>
                              </m:r>
                            </m:sub>
                          </m:sSub>
                        </m:num>
                        <m:den>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𝑅</m:t>
                              </m:r>
                            </m:e>
                            <m:sub>
                              <m:r>
                                <a:rPr lang="en-US" b="0" i="1" smtClean="0">
                                  <a:solidFill>
                                    <a:schemeClr val="bg1"/>
                                  </a:solidFill>
                                  <a:latin typeface="Cambria Math" panose="02040503050406030204" pitchFamily="18" charset="0"/>
                                </a:rPr>
                                <m:t>1</m:t>
                              </m:r>
                            </m:sub>
                          </m:sSub>
                        </m:den>
                      </m:f>
                    </m:oMath>
                  </m:oMathPara>
                </a14:m>
                <a:endParaRPr lang="en-US"/>
              </a:p>
            </p:txBody>
          </p:sp>
        </mc:Choice>
        <mc:Fallback>
          <p:sp>
            <p:nvSpPr>
              <p:cNvPr id="5" name="TextBox 4">
                <a:extLst>
                  <a:ext uri="{FF2B5EF4-FFF2-40B4-BE49-F238E27FC236}">
                    <a16:creationId xmlns:a16="http://schemas.microsoft.com/office/drawing/2014/main" id="{D126DE2F-CBB1-4F63-E8DD-68739DECAAC6}"/>
                  </a:ext>
                </a:extLst>
              </p:cNvPr>
              <p:cNvSpPr txBox="1">
                <a:spLocks noRot="1" noChangeAspect="1" noMove="1" noResize="1" noEditPoints="1" noAdjustHandles="1" noChangeArrowheads="1" noChangeShapeType="1" noTextEdit="1"/>
              </p:cNvSpPr>
              <p:nvPr/>
            </p:nvSpPr>
            <p:spPr>
              <a:xfrm>
                <a:off x="1035304" y="5194300"/>
                <a:ext cx="1397000" cy="56387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B0AA7E17-0BF8-ADFA-ECD0-5F71505BEAC4}"/>
                  </a:ext>
                </a:extLst>
              </p:cNvPr>
              <p:cNvSpPr txBox="1"/>
              <p:nvPr/>
            </p:nvSpPr>
            <p:spPr>
              <a:xfrm>
                <a:off x="4296277" y="5212933"/>
                <a:ext cx="867737" cy="5653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𝑍</m:t>
                          </m:r>
                        </m:e>
                        <m:sub>
                          <m:r>
                            <a:rPr lang="en-US" b="0" i="1" smtClean="0">
                              <a:solidFill>
                                <a:schemeClr val="bg1"/>
                              </a:solidFill>
                              <a:latin typeface="Cambria Math" panose="02040503050406030204" pitchFamily="18" charset="0"/>
                            </a:rPr>
                            <m:t>𝑎</m:t>
                          </m:r>
                        </m:sub>
                      </m:sSub>
                      <m:r>
                        <a:rPr lang="en-US" b="0" i="1" smtClean="0">
                          <a:solidFill>
                            <a:schemeClr val="bg1"/>
                          </a:solidFill>
                          <a:latin typeface="Cambria Math" panose="02040503050406030204" pitchFamily="18" charset="0"/>
                        </a:rPr>
                        <m:t>=</m:t>
                      </m:r>
                      <m:f>
                        <m:fPr>
                          <m:ctrlPr>
                            <a:rPr lang="en-US" b="0" i="1" smtClean="0">
                              <a:solidFill>
                                <a:schemeClr val="bg1"/>
                              </a:solidFill>
                              <a:latin typeface="Cambria Math" panose="02040503050406030204" pitchFamily="18" charset="0"/>
                            </a:rPr>
                          </m:ctrlPr>
                        </m:fPr>
                        <m:num>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𝑉</m:t>
                              </m:r>
                            </m:e>
                            <m:sub>
                              <m:r>
                                <a:rPr lang="en-US" b="0" i="1" smtClean="0">
                                  <a:solidFill>
                                    <a:schemeClr val="bg1"/>
                                  </a:solidFill>
                                  <a:latin typeface="Cambria Math" panose="02040503050406030204" pitchFamily="18" charset="0"/>
                                </a:rPr>
                                <m:t>𝑚</m:t>
                              </m:r>
                            </m:sub>
                          </m:sSub>
                        </m:num>
                        <m:den>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𝑖</m:t>
                              </m:r>
                            </m:e>
                            <m:sub>
                              <m:r>
                                <a:rPr lang="en-US" b="0" i="1" smtClean="0">
                                  <a:solidFill>
                                    <a:schemeClr val="bg1"/>
                                  </a:solidFill>
                                  <a:latin typeface="Cambria Math" panose="02040503050406030204" pitchFamily="18" charset="0"/>
                                </a:rPr>
                                <m:t>𝑚</m:t>
                              </m:r>
                            </m:sub>
                          </m:sSub>
                        </m:den>
                      </m:f>
                    </m:oMath>
                  </m:oMathPara>
                </a14:m>
                <a:endParaRPr lang="en-US">
                  <a:solidFill>
                    <a:schemeClr val="bg1"/>
                  </a:solidFill>
                </a:endParaRPr>
              </a:p>
            </p:txBody>
          </p:sp>
        </mc:Choice>
        <mc:Fallback>
          <p:sp>
            <p:nvSpPr>
              <p:cNvPr id="6" name="TextBox 5">
                <a:extLst>
                  <a:ext uri="{FF2B5EF4-FFF2-40B4-BE49-F238E27FC236}">
                    <a16:creationId xmlns:a16="http://schemas.microsoft.com/office/drawing/2014/main" id="{B0AA7E17-0BF8-ADFA-ECD0-5F71505BEAC4}"/>
                  </a:ext>
                </a:extLst>
              </p:cNvPr>
              <p:cNvSpPr txBox="1">
                <a:spLocks noRot="1" noChangeAspect="1" noMove="1" noResize="1" noEditPoints="1" noAdjustHandles="1" noChangeArrowheads="1" noChangeShapeType="1" noTextEdit="1"/>
              </p:cNvSpPr>
              <p:nvPr/>
            </p:nvSpPr>
            <p:spPr>
              <a:xfrm>
                <a:off x="4296277" y="5212933"/>
                <a:ext cx="867737" cy="56534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BA5722E7-3BE1-953D-ECA5-F87A5A8A17BD}"/>
                  </a:ext>
                </a:extLst>
              </p:cNvPr>
              <p:cNvSpPr txBox="1"/>
              <p:nvPr/>
            </p:nvSpPr>
            <p:spPr>
              <a:xfrm>
                <a:off x="7027987" y="5199333"/>
                <a:ext cx="1582613" cy="5636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𝑋</m:t>
                          </m:r>
                        </m:e>
                        <m:sub>
                          <m:r>
                            <a:rPr lang="en-US" b="0" i="1" smtClean="0">
                              <a:solidFill>
                                <a:schemeClr val="bg1"/>
                              </a:solidFill>
                              <a:latin typeface="Cambria Math" panose="02040503050406030204" pitchFamily="18" charset="0"/>
                            </a:rPr>
                            <m:t>𝑎</m:t>
                          </m:r>
                        </m:sub>
                      </m:sSub>
                      <m:r>
                        <a:rPr lang="en-US" b="0" i="1" smtClean="0">
                          <a:solidFill>
                            <a:schemeClr val="bg1"/>
                          </a:solidFill>
                          <a:latin typeface="Cambria Math" panose="02040503050406030204" pitchFamily="18" charset="0"/>
                        </a:rPr>
                        <m:t>=</m:t>
                      </m:r>
                      <m:rad>
                        <m:radPr>
                          <m:degHide m:val="on"/>
                          <m:ctrlPr>
                            <a:rPr lang="en-US" b="0" i="1" smtClean="0">
                              <a:solidFill>
                                <a:schemeClr val="bg1"/>
                              </a:solidFill>
                              <a:latin typeface="Cambria Math" panose="02040503050406030204" pitchFamily="18" charset="0"/>
                            </a:rPr>
                          </m:ctrlPr>
                        </m:radPr>
                        <m:deg/>
                        <m:e>
                          <m:sSubSup>
                            <m:sSubSupPr>
                              <m:ctrlPr>
                                <a:rPr lang="en-US" b="0" i="1" smtClean="0">
                                  <a:solidFill>
                                    <a:schemeClr val="bg1"/>
                                  </a:solidFill>
                                  <a:latin typeface="Cambria Math" panose="02040503050406030204" pitchFamily="18" charset="0"/>
                                </a:rPr>
                              </m:ctrlPr>
                            </m:sSubSupPr>
                            <m:e>
                              <m:r>
                                <a:rPr lang="en-US" b="0" i="1" smtClean="0">
                                  <a:solidFill>
                                    <a:schemeClr val="bg1"/>
                                  </a:solidFill>
                                  <a:latin typeface="Cambria Math" panose="02040503050406030204" pitchFamily="18" charset="0"/>
                                </a:rPr>
                                <m:t>𝑍</m:t>
                              </m:r>
                            </m:e>
                            <m:sub>
                              <m:r>
                                <a:rPr lang="en-US" b="0" i="1" smtClean="0">
                                  <a:solidFill>
                                    <a:schemeClr val="bg1"/>
                                  </a:solidFill>
                                  <a:latin typeface="Cambria Math" panose="02040503050406030204" pitchFamily="18" charset="0"/>
                                </a:rPr>
                                <m:t>𝑎</m:t>
                              </m:r>
                            </m:sub>
                            <m:sup>
                              <m:r>
                                <a:rPr lang="en-US" b="0" i="1" smtClean="0">
                                  <a:solidFill>
                                    <a:schemeClr val="bg1"/>
                                  </a:solidFill>
                                  <a:latin typeface="Cambria Math" panose="02040503050406030204" pitchFamily="18" charset="0"/>
                                </a:rPr>
                                <m:t>2</m:t>
                              </m:r>
                            </m:sup>
                          </m:sSubSup>
                          <m:r>
                            <a:rPr lang="en-US" b="0" i="1" smtClean="0">
                              <a:solidFill>
                                <a:schemeClr val="bg1"/>
                              </a:solidFill>
                              <a:latin typeface="Cambria Math" panose="02040503050406030204" pitchFamily="18" charset="0"/>
                            </a:rPr>
                            <m:t>−</m:t>
                          </m:r>
                          <m:sSubSup>
                            <m:sSubSupPr>
                              <m:ctrlPr>
                                <a:rPr lang="en-US" b="0" i="1" smtClean="0">
                                  <a:solidFill>
                                    <a:schemeClr val="bg1"/>
                                  </a:solidFill>
                                  <a:latin typeface="Cambria Math" panose="02040503050406030204" pitchFamily="18" charset="0"/>
                                </a:rPr>
                              </m:ctrlPr>
                            </m:sSubSupPr>
                            <m:e>
                              <m:r>
                                <a:rPr lang="en-US" b="0" i="1" smtClean="0">
                                  <a:solidFill>
                                    <a:schemeClr val="bg1"/>
                                  </a:solidFill>
                                  <a:latin typeface="Cambria Math" panose="02040503050406030204" pitchFamily="18" charset="0"/>
                                </a:rPr>
                                <m:t>𝑅</m:t>
                              </m:r>
                            </m:e>
                            <m:sub>
                              <m:r>
                                <a:rPr lang="en-US" b="0" i="1" smtClean="0">
                                  <a:solidFill>
                                    <a:schemeClr val="bg1"/>
                                  </a:solidFill>
                                  <a:latin typeface="Cambria Math" panose="02040503050406030204" pitchFamily="18" charset="0"/>
                                </a:rPr>
                                <m:t>𝑎</m:t>
                              </m:r>
                            </m:sub>
                            <m:sup>
                              <m:r>
                                <a:rPr lang="en-US" b="0" i="1" smtClean="0">
                                  <a:solidFill>
                                    <a:schemeClr val="bg1"/>
                                  </a:solidFill>
                                  <a:latin typeface="Cambria Math" panose="02040503050406030204" pitchFamily="18" charset="0"/>
                                </a:rPr>
                                <m:t>2</m:t>
                              </m:r>
                            </m:sup>
                          </m:sSubSup>
                        </m:e>
                      </m:rad>
                    </m:oMath>
                  </m:oMathPara>
                </a14:m>
                <a:endParaRPr lang="en-US">
                  <a:solidFill>
                    <a:schemeClr val="bg1"/>
                  </a:solidFill>
                </a:endParaRPr>
              </a:p>
            </p:txBody>
          </p:sp>
        </mc:Choice>
        <mc:Fallback>
          <p:sp>
            <p:nvSpPr>
              <p:cNvPr id="7" name="TextBox 6">
                <a:extLst>
                  <a:ext uri="{FF2B5EF4-FFF2-40B4-BE49-F238E27FC236}">
                    <a16:creationId xmlns:a16="http://schemas.microsoft.com/office/drawing/2014/main" id="{BA5722E7-3BE1-953D-ECA5-F87A5A8A17BD}"/>
                  </a:ext>
                </a:extLst>
              </p:cNvPr>
              <p:cNvSpPr txBox="1">
                <a:spLocks noRot="1" noChangeAspect="1" noMove="1" noResize="1" noEditPoints="1" noAdjustHandles="1" noChangeArrowheads="1" noChangeShapeType="1" noTextEdit="1"/>
              </p:cNvSpPr>
              <p:nvPr/>
            </p:nvSpPr>
            <p:spPr>
              <a:xfrm>
                <a:off x="7027987" y="5199333"/>
                <a:ext cx="1582613" cy="563680"/>
              </a:xfrm>
              <a:prstGeom prst="rect">
                <a:avLst/>
              </a:prstGeom>
              <a:blipFill>
                <a:blip r:embed="rId4"/>
                <a:stretch>
                  <a:fillRect b="-217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896081B7-54E3-41B5-253D-79CBA932D769}"/>
                  </a:ext>
                </a:extLst>
              </p:cNvPr>
              <p:cNvSpPr txBox="1"/>
              <p:nvPr/>
            </p:nvSpPr>
            <p:spPr>
              <a:xfrm>
                <a:off x="10285111" y="5191029"/>
                <a:ext cx="871585" cy="5671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𝐿</m:t>
                          </m:r>
                        </m:e>
                        <m:sub>
                          <m:r>
                            <a:rPr lang="en-US" b="0" i="1" smtClean="0">
                              <a:solidFill>
                                <a:schemeClr val="bg1"/>
                              </a:solidFill>
                              <a:latin typeface="Cambria Math" panose="02040503050406030204" pitchFamily="18" charset="0"/>
                            </a:rPr>
                            <m:t>𝑎</m:t>
                          </m:r>
                        </m:sub>
                      </m:sSub>
                      <m:r>
                        <a:rPr lang="en-US" b="0" i="1" smtClean="0">
                          <a:solidFill>
                            <a:schemeClr val="bg1"/>
                          </a:solidFill>
                          <a:latin typeface="Cambria Math" panose="02040503050406030204" pitchFamily="18" charset="0"/>
                        </a:rPr>
                        <m:t>=</m:t>
                      </m:r>
                      <m:f>
                        <m:fPr>
                          <m:ctrlPr>
                            <a:rPr lang="en-US" b="0" i="1" smtClean="0">
                              <a:solidFill>
                                <a:schemeClr val="bg1"/>
                              </a:solidFill>
                              <a:latin typeface="Cambria Math" panose="02040503050406030204" pitchFamily="18" charset="0"/>
                            </a:rPr>
                          </m:ctrlPr>
                        </m:fPr>
                        <m:num>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𝑋</m:t>
                              </m:r>
                            </m:e>
                            <m:sub>
                              <m:r>
                                <a:rPr lang="en-US" b="0" i="1" smtClean="0">
                                  <a:solidFill>
                                    <a:schemeClr val="bg1"/>
                                  </a:solidFill>
                                  <a:latin typeface="Cambria Math" panose="02040503050406030204" pitchFamily="18" charset="0"/>
                                </a:rPr>
                                <m:t>𝑎</m:t>
                              </m:r>
                            </m:sub>
                          </m:sSub>
                        </m:num>
                        <m:den>
                          <m:r>
                            <a:rPr lang="en-US" b="0" i="1" smtClean="0">
                              <a:solidFill>
                                <a:schemeClr val="bg1"/>
                              </a:solidFill>
                              <a:latin typeface="Cambria Math" panose="02040503050406030204" pitchFamily="18" charset="0"/>
                            </a:rPr>
                            <m:t>𝜋</m:t>
                          </m:r>
                          <m:r>
                            <a:rPr lang="en-US" b="0" i="1" smtClean="0">
                              <a:solidFill>
                                <a:schemeClr val="bg1"/>
                              </a:solidFill>
                              <a:latin typeface="Cambria Math" panose="02040503050406030204" pitchFamily="18" charset="0"/>
                            </a:rPr>
                            <m:t>𝑓</m:t>
                          </m:r>
                        </m:den>
                      </m:f>
                    </m:oMath>
                  </m:oMathPara>
                </a14:m>
                <a:endParaRPr lang="en-US">
                  <a:solidFill>
                    <a:schemeClr val="bg1"/>
                  </a:solidFill>
                </a:endParaRPr>
              </a:p>
            </p:txBody>
          </p:sp>
        </mc:Choice>
        <mc:Fallback>
          <p:sp>
            <p:nvSpPr>
              <p:cNvPr id="9" name="TextBox 8">
                <a:extLst>
                  <a:ext uri="{FF2B5EF4-FFF2-40B4-BE49-F238E27FC236}">
                    <a16:creationId xmlns:a16="http://schemas.microsoft.com/office/drawing/2014/main" id="{896081B7-54E3-41B5-253D-79CBA932D769}"/>
                  </a:ext>
                </a:extLst>
              </p:cNvPr>
              <p:cNvSpPr txBox="1">
                <a:spLocks noRot="1" noChangeAspect="1" noMove="1" noResize="1" noEditPoints="1" noAdjustHandles="1" noChangeArrowheads="1" noChangeShapeType="1" noTextEdit="1"/>
              </p:cNvSpPr>
              <p:nvPr/>
            </p:nvSpPr>
            <p:spPr>
              <a:xfrm>
                <a:off x="10285111" y="5191029"/>
                <a:ext cx="871585" cy="567143"/>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461967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54169-E3B0-EF39-423F-B4534F2D81FF}"/>
              </a:ext>
            </a:extLst>
          </p:cNvPr>
          <p:cNvSpPr>
            <a:spLocks noGrp="1"/>
          </p:cNvSpPr>
          <p:nvPr>
            <p:ph type="title"/>
          </p:nvPr>
        </p:nvSpPr>
        <p:spPr/>
        <p:txBody>
          <a:bodyPr>
            <a:normAutofit/>
          </a:bodyPr>
          <a:lstStyle/>
          <a:p>
            <a:r>
              <a:rPr lang="en-US"/>
              <a:t>Motor Model ID (Part I)</a:t>
            </a:r>
            <a:br>
              <a:rPr lang="en-US"/>
            </a:br>
            <a:r>
              <a:rPr lang="en-US" sz="2800"/>
              <a:t>Frequency Sweep Results </a:t>
            </a:r>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26F2A55-132D-58C5-4599-B29745DC9A98}"/>
                  </a:ext>
                </a:extLst>
              </p:cNvPr>
              <p:cNvSpPr>
                <a:spLocks noGrp="1"/>
              </p:cNvSpPr>
              <p:nvPr>
                <p:ph idx="1"/>
              </p:nvPr>
            </p:nvSpPr>
            <p:spPr>
              <a:xfrm>
                <a:off x="838200" y="1949450"/>
                <a:ext cx="10515600" cy="4740275"/>
              </a:xfrm>
            </p:spPr>
            <p:txBody>
              <a:bodyPr>
                <a:normAutofit fontScale="92500" lnSpcReduction="10000"/>
              </a:bodyPr>
              <a:lstStyle/>
              <a:p>
                <a:r>
                  <a:rPr lang="en-US"/>
                  <a:t>Phase Shift was plotted to determine resonant frequency</a:t>
                </a:r>
              </a:p>
              <a:p>
                <a:endParaRPr lang="en-US"/>
              </a:p>
              <a:p>
                <a:endParaRPr lang="en-US"/>
              </a:p>
              <a:p>
                <a:endParaRPr lang="en-US"/>
              </a:p>
              <a:p>
                <a:endParaRPr lang="en-US"/>
              </a:p>
              <a:p>
                <a:endParaRPr lang="en-US"/>
              </a:p>
              <a:p>
                <a:endParaRPr lang="en-US"/>
              </a:p>
              <a:p>
                <a:r>
                  <a:rPr lang="en-US"/>
                  <a:t>Best estimation for resonant frequency is 1.35 MHz</a:t>
                </a:r>
              </a:p>
              <a:p>
                <a14:m>
                  <m:oMath xmlns:m="http://schemas.openxmlformats.org/officeDocument/2006/math">
                    <m:r>
                      <a:rPr lang="en-US" b="0" i="1" smtClean="0">
                        <a:latin typeface="Cambria Math" panose="02040503050406030204" pitchFamily="18" charset="0"/>
                      </a:rPr>
                      <m:t>𝐿</m:t>
                    </m:r>
                    <m:r>
                      <a:rPr lang="en-US" b="0" i="1" smtClean="0">
                        <a:latin typeface="Cambria Math" panose="02040503050406030204" pitchFamily="18" charset="0"/>
                      </a:rPr>
                      <m:t>=156.03 </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rPr>
                      <m:t>𝐻</m:t>
                    </m:r>
                  </m:oMath>
                </a14:m>
                <a:endParaRPr lang="en-US"/>
              </a:p>
              <a:p>
                <a:endParaRPr lang="en-US"/>
              </a:p>
            </p:txBody>
          </p:sp>
        </mc:Choice>
        <mc:Fallback>
          <p:sp>
            <p:nvSpPr>
              <p:cNvPr id="3" name="Content Placeholder 2">
                <a:extLst>
                  <a:ext uri="{FF2B5EF4-FFF2-40B4-BE49-F238E27FC236}">
                    <a16:creationId xmlns:a16="http://schemas.microsoft.com/office/drawing/2014/main" id="{126F2A55-132D-58C5-4599-B29745DC9A98}"/>
                  </a:ext>
                </a:extLst>
              </p:cNvPr>
              <p:cNvSpPr>
                <a:spLocks noGrp="1" noRot="1" noChangeAspect="1" noMove="1" noResize="1" noEditPoints="1" noAdjustHandles="1" noChangeArrowheads="1" noChangeShapeType="1" noTextEdit="1"/>
              </p:cNvSpPr>
              <p:nvPr>
                <p:ph idx="1"/>
              </p:nvPr>
            </p:nvSpPr>
            <p:spPr>
              <a:xfrm>
                <a:off x="838200" y="1949450"/>
                <a:ext cx="10515600" cy="4740275"/>
              </a:xfrm>
              <a:blipFill>
                <a:blip r:embed="rId2"/>
                <a:stretch>
                  <a:fillRect l="-928" t="-103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602B509-9DF5-5318-2369-DA07F4C159FD}"/>
              </a:ext>
            </a:extLst>
          </p:cNvPr>
          <p:cNvSpPr>
            <a:spLocks noGrp="1"/>
          </p:cNvSpPr>
          <p:nvPr>
            <p:ph type="sldNum" sz="quarter" idx="12"/>
          </p:nvPr>
        </p:nvSpPr>
        <p:spPr/>
        <p:txBody>
          <a:bodyPr/>
          <a:lstStyle/>
          <a:p>
            <a:fld id="{73B850FF-6169-4056-8077-06FFA93A5366}" type="slidenum">
              <a:rPr lang="en-US" smtClean="0"/>
              <a:t>28</a:t>
            </a:fld>
            <a:endParaRPr lang="en-US"/>
          </a:p>
        </p:txBody>
      </p:sp>
      <p:pic>
        <p:nvPicPr>
          <p:cNvPr id="6" name="Picture 5" title="Inserting image...">
            <a:extLst>
              <a:ext uri="{FF2B5EF4-FFF2-40B4-BE49-F238E27FC236}">
                <a16:creationId xmlns:a16="http://schemas.microsoft.com/office/drawing/2014/main" id="{345F8A2A-2004-A4CD-6D2D-81D2FE75AF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5851" y="-368968"/>
            <a:ext cx="13937059" cy="5807108"/>
          </a:xfrm>
          <a:prstGeom prst="rect">
            <a:avLst/>
          </a:prstGeom>
        </p:spPr>
      </p:pic>
    </p:spTree>
    <p:extLst>
      <p:ext uri="{BB962C8B-B14F-4D97-AF65-F5344CB8AC3E}">
        <p14:creationId xmlns:p14="http://schemas.microsoft.com/office/powerpoint/2010/main" val="15149041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B198F-207E-F775-FC4B-30EEFBF80687}"/>
              </a:ext>
            </a:extLst>
          </p:cNvPr>
          <p:cNvSpPr>
            <a:spLocks noGrp="1"/>
          </p:cNvSpPr>
          <p:nvPr>
            <p:ph type="title"/>
          </p:nvPr>
        </p:nvSpPr>
        <p:spPr/>
        <p:txBody>
          <a:bodyPr>
            <a:normAutofit/>
          </a:bodyPr>
          <a:lstStyle/>
          <a:p>
            <a:r>
              <a:rPr lang="en-US"/>
              <a:t>Motor Model ID (Part II)</a:t>
            </a:r>
            <a:br>
              <a:rPr lang="en-US"/>
            </a:br>
            <a:r>
              <a:rPr lang="en-US" sz="2800"/>
              <a:t>Electrical Motor Model</a:t>
            </a:r>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5796D9B-977A-871B-6F7B-26C9DF1C2F41}"/>
                  </a:ext>
                </a:extLst>
              </p:cNvPr>
              <p:cNvSpPr>
                <a:spLocks noGrp="1"/>
              </p:cNvSpPr>
              <p:nvPr>
                <p:ph idx="1"/>
              </p:nvPr>
            </p:nvSpPr>
            <p:spPr/>
            <p:txBody>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𝑎</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a:t>: Armature Current</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𝑎</m:t>
                        </m:r>
                      </m:sub>
                    </m:sSub>
                  </m:oMath>
                </a14:m>
                <a:r>
                  <a:rPr lang="en-US"/>
                  <a:t>: Armature Resistance</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𝑎</m:t>
                        </m:r>
                      </m:sub>
                    </m:sSub>
                  </m:oMath>
                </a14:m>
                <a:r>
                  <a:rPr lang="en-US"/>
                  <a:t>: Armature Inductance</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𝑏</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a:t>: Back emf</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𝑎</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a:t>: Applied Voltage</a:t>
                </a:r>
              </a:p>
              <a:p>
                <a:endParaRPr lang="en-US"/>
              </a:p>
            </p:txBody>
          </p:sp>
        </mc:Choice>
        <mc:Fallback>
          <p:sp>
            <p:nvSpPr>
              <p:cNvPr id="3" name="Content Placeholder 2">
                <a:extLst>
                  <a:ext uri="{FF2B5EF4-FFF2-40B4-BE49-F238E27FC236}">
                    <a16:creationId xmlns:a16="http://schemas.microsoft.com/office/drawing/2014/main" id="{15796D9B-977A-871B-6F7B-26C9DF1C2F41}"/>
                  </a:ext>
                </a:extLst>
              </p:cNvPr>
              <p:cNvSpPr>
                <a:spLocks noGrp="1" noRot="1" noChangeAspect="1" noMove="1" noResize="1" noEditPoints="1" noAdjustHandles="1" noChangeArrowheads="1" noChangeShapeType="1" noTextEdit="1"/>
              </p:cNvSpPr>
              <p:nvPr>
                <p:ph idx="1"/>
              </p:nvPr>
            </p:nvSpPr>
            <p:spPr>
              <a:blipFill>
                <a:blip r:embed="rId2"/>
                <a:stretch>
                  <a:fillRect t="-101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3FE2F662-FF3C-9753-3CFA-3DAE3CF1956A}"/>
              </a:ext>
            </a:extLst>
          </p:cNvPr>
          <p:cNvSpPr>
            <a:spLocks noGrp="1"/>
          </p:cNvSpPr>
          <p:nvPr>
            <p:ph type="sldNum" sz="quarter" idx="12"/>
          </p:nvPr>
        </p:nvSpPr>
        <p:spPr/>
        <p:txBody>
          <a:bodyPr/>
          <a:lstStyle/>
          <a:p>
            <a:fld id="{73B850FF-6169-4056-8077-06FFA93A5366}" type="slidenum">
              <a:rPr lang="en-US" smtClean="0"/>
              <a:t>29</a:t>
            </a:fld>
            <a:endParaRPr lang="en-US"/>
          </a:p>
        </p:txBody>
      </p:sp>
      <p:pic>
        <p:nvPicPr>
          <p:cNvPr id="5" name="Picture 4">
            <a:extLst>
              <a:ext uri="{FF2B5EF4-FFF2-40B4-BE49-F238E27FC236}">
                <a16:creationId xmlns:a16="http://schemas.microsoft.com/office/drawing/2014/main" id="{101F0A4E-6FEF-B32A-9E66-BC5C4C7CAD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0457" y="1842611"/>
            <a:ext cx="6480286" cy="3172778"/>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110C5058-89E2-8441-896E-3433D2607E16}"/>
                  </a:ext>
                </a:extLst>
              </p:cNvPr>
              <p:cNvSpPr txBox="1"/>
              <p:nvPr/>
            </p:nvSpPr>
            <p:spPr>
              <a:xfrm>
                <a:off x="2266950" y="5518171"/>
                <a:ext cx="7658100" cy="7167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bg1"/>
                          </a:solidFill>
                          <a:latin typeface="Cambria Math" panose="02040503050406030204" pitchFamily="18" charset="0"/>
                        </a:rPr>
                        <m:t>0=</m:t>
                      </m:r>
                      <m:sSub>
                        <m:sSubPr>
                          <m:ctrlPr>
                            <a:rPr lang="en-US" sz="2400" b="0" i="1" smtClean="0">
                              <a:solidFill>
                                <a:schemeClr val="bg1"/>
                              </a:solidFill>
                              <a:latin typeface="Cambria Math" panose="02040503050406030204" pitchFamily="18" charset="0"/>
                            </a:rPr>
                          </m:ctrlPr>
                        </m:sSubPr>
                        <m:e>
                          <m:r>
                            <a:rPr lang="en-US" sz="2400" b="0" i="1" smtClean="0">
                              <a:solidFill>
                                <a:schemeClr val="bg1"/>
                              </a:solidFill>
                              <a:latin typeface="Cambria Math" panose="02040503050406030204" pitchFamily="18" charset="0"/>
                            </a:rPr>
                            <m:t>𝑒</m:t>
                          </m:r>
                        </m:e>
                        <m:sub>
                          <m:r>
                            <a:rPr lang="en-US" sz="2400" b="0" i="1" smtClean="0">
                              <a:solidFill>
                                <a:schemeClr val="bg1"/>
                              </a:solidFill>
                              <a:latin typeface="Cambria Math" panose="02040503050406030204" pitchFamily="18" charset="0"/>
                            </a:rPr>
                            <m:t>𝑎</m:t>
                          </m:r>
                        </m:sub>
                      </m:sSub>
                      <m:d>
                        <m:dPr>
                          <m:ctrlPr>
                            <a:rPr lang="en-US" sz="2400" b="0" i="1" smtClean="0">
                              <a:solidFill>
                                <a:schemeClr val="bg1"/>
                              </a:solidFill>
                              <a:latin typeface="Cambria Math" panose="02040503050406030204" pitchFamily="18" charset="0"/>
                            </a:rPr>
                          </m:ctrlPr>
                        </m:dPr>
                        <m:e>
                          <m:r>
                            <a:rPr lang="en-US" sz="2400" b="0" i="1" smtClean="0">
                              <a:solidFill>
                                <a:schemeClr val="bg1"/>
                              </a:solidFill>
                              <a:latin typeface="Cambria Math" panose="02040503050406030204" pitchFamily="18" charset="0"/>
                            </a:rPr>
                            <m:t>𝑡</m:t>
                          </m:r>
                        </m:e>
                      </m:d>
                      <m:r>
                        <a:rPr lang="en-US" sz="2400" b="0" i="1" smtClean="0">
                          <a:solidFill>
                            <a:schemeClr val="bg1"/>
                          </a:solidFill>
                          <a:latin typeface="Cambria Math" panose="02040503050406030204" pitchFamily="18" charset="0"/>
                        </a:rPr>
                        <m:t>−</m:t>
                      </m:r>
                      <m:sSub>
                        <m:sSubPr>
                          <m:ctrlPr>
                            <a:rPr lang="en-US" sz="2400" b="0" i="1" smtClean="0">
                              <a:solidFill>
                                <a:schemeClr val="bg1"/>
                              </a:solidFill>
                              <a:latin typeface="Cambria Math" panose="02040503050406030204" pitchFamily="18" charset="0"/>
                            </a:rPr>
                          </m:ctrlPr>
                        </m:sSubPr>
                        <m:e>
                          <m:r>
                            <a:rPr lang="en-US" sz="2400" b="0" i="1" smtClean="0">
                              <a:solidFill>
                                <a:schemeClr val="bg1"/>
                              </a:solidFill>
                              <a:latin typeface="Cambria Math" panose="02040503050406030204" pitchFamily="18" charset="0"/>
                            </a:rPr>
                            <m:t>𝑅</m:t>
                          </m:r>
                        </m:e>
                        <m:sub>
                          <m:r>
                            <a:rPr lang="en-US" sz="2400" b="0" i="1" smtClean="0">
                              <a:solidFill>
                                <a:schemeClr val="bg1"/>
                              </a:solidFill>
                              <a:latin typeface="Cambria Math" panose="02040503050406030204" pitchFamily="18" charset="0"/>
                            </a:rPr>
                            <m:t>𝑎</m:t>
                          </m:r>
                        </m:sub>
                      </m:sSub>
                      <m:sSub>
                        <m:sSubPr>
                          <m:ctrlPr>
                            <a:rPr lang="en-US" sz="2400" b="0" i="1" smtClean="0">
                              <a:solidFill>
                                <a:schemeClr val="bg1"/>
                              </a:solidFill>
                              <a:latin typeface="Cambria Math" panose="02040503050406030204" pitchFamily="18" charset="0"/>
                            </a:rPr>
                          </m:ctrlPr>
                        </m:sSubPr>
                        <m:e>
                          <m:r>
                            <a:rPr lang="en-US" sz="2400" b="0" i="1" smtClean="0">
                              <a:solidFill>
                                <a:schemeClr val="bg1"/>
                              </a:solidFill>
                              <a:latin typeface="Cambria Math" panose="02040503050406030204" pitchFamily="18" charset="0"/>
                            </a:rPr>
                            <m:t>𝑖</m:t>
                          </m:r>
                        </m:e>
                        <m:sub>
                          <m:r>
                            <a:rPr lang="en-US" sz="2400" b="0" i="1" smtClean="0">
                              <a:solidFill>
                                <a:schemeClr val="bg1"/>
                              </a:solidFill>
                              <a:latin typeface="Cambria Math" panose="02040503050406030204" pitchFamily="18" charset="0"/>
                            </a:rPr>
                            <m:t>𝑎</m:t>
                          </m:r>
                        </m:sub>
                      </m:sSub>
                      <m:d>
                        <m:dPr>
                          <m:ctrlPr>
                            <a:rPr lang="en-US" sz="2400" b="0" i="1" smtClean="0">
                              <a:solidFill>
                                <a:schemeClr val="bg1"/>
                              </a:solidFill>
                              <a:latin typeface="Cambria Math" panose="02040503050406030204" pitchFamily="18" charset="0"/>
                            </a:rPr>
                          </m:ctrlPr>
                        </m:dPr>
                        <m:e>
                          <m:r>
                            <a:rPr lang="en-US" sz="2400" b="0" i="1" smtClean="0">
                              <a:solidFill>
                                <a:schemeClr val="bg1"/>
                              </a:solidFill>
                              <a:latin typeface="Cambria Math" panose="02040503050406030204" pitchFamily="18" charset="0"/>
                            </a:rPr>
                            <m:t>𝑡</m:t>
                          </m:r>
                        </m:e>
                      </m:d>
                      <m:r>
                        <a:rPr lang="en-US" sz="2400" b="0" i="1" smtClean="0">
                          <a:solidFill>
                            <a:schemeClr val="bg1"/>
                          </a:solidFill>
                          <a:latin typeface="Cambria Math" panose="02040503050406030204" pitchFamily="18" charset="0"/>
                        </a:rPr>
                        <m:t>−</m:t>
                      </m:r>
                      <m:sSub>
                        <m:sSubPr>
                          <m:ctrlPr>
                            <a:rPr lang="en-US" sz="2400" b="0" i="1" smtClean="0">
                              <a:solidFill>
                                <a:schemeClr val="bg1"/>
                              </a:solidFill>
                              <a:latin typeface="Cambria Math" panose="02040503050406030204" pitchFamily="18" charset="0"/>
                            </a:rPr>
                          </m:ctrlPr>
                        </m:sSubPr>
                        <m:e>
                          <m:r>
                            <a:rPr lang="en-US" sz="2400" b="0" i="1" smtClean="0">
                              <a:solidFill>
                                <a:schemeClr val="bg1"/>
                              </a:solidFill>
                              <a:latin typeface="Cambria Math" panose="02040503050406030204" pitchFamily="18" charset="0"/>
                            </a:rPr>
                            <m:t>𝐿</m:t>
                          </m:r>
                        </m:e>
                        <m:sub>
                          <m:r>
                            <a:rPr lang="en-US" sz="2400" b="0" i="1" smtClean="0">
                              <a:solidFill>
                                <a:schemeClr val="bg1"/>
                              </a:solidFill>
                              <a:latin typeface="Cambria Math" panose="02040503050406030204" pitchFamily="18" charset="0"/>
                            </a:rPr>
                            <m:t>𝑎</m:t>
                          </m:r>
                        </m:sub>
                      </m:sSub>
                      <m:f>
                        <m:fPr>
                          <m:ctrlPr>
                            <a:rPr lang="en-US" sz="2400" b="0" i="1" smtClean="0">
                              <a:solidFill>
                                <a:schemeClr val="bg1"/>
                              </a:solidFill>
                              <a:latin typeface="Cambria Math" panose="02040503050406030204" pitchFamily="18" charset="0"/>
                            </a:rPr>
                          </m:ctrlPr>
                        </m:fPr>
                        <m:num>
                          <m:r>
                            <a:rPr lang="en-US" sz="2400" b="0" i="1" smtClean="0">
                              <a:solidFill>
                                <a:schemeClr val="bg1"/>
                              </a:solidFill>
                              <a:latin typeface="Cambria Math" panose="02040503050406030204" pitchFamily="18" charset="0"/>
                            </a:rPr>
                            <m:t>𝑑</m:t>
                          </m:r>
                          <m:sSub>
                            <m:sSubPr>
                              <m:ctrlPr>
                                <a:rPr lang="en-US" sz="2400" b="0" i="1" smtClean="0">
                                  <a:solidFill>
                                    <a:schemeClr val="bg1"/>
                                  </a:solidFill>
                                  <a:latin typeface="Cambria Math" panose="02040503050406030204" pitchFamily="18" charset="0"/>
                                </a:rPr>
                              </m:ctrlPr>
                            </m:sSubPr>
                            <m:e>
                              <m:r>
                                <a:rPr lang="en-US" sz="2400" b="0" i="1" smtClean="0">
                                  <a:solidFill>
                                    <a:schemeClr val="bg1"/>
                                  </a:solidFill>
                                  <a:latin typeface="Cambria Math" panose="02040503050406030204" pitchFamily="18" charset="0"/>
                                </a:rPr>
                                <m:t>𝑖</m:t>
                              </m:r>
                            </m:e>
                            <m:sub>
                              <m:r>
                                <a:rPr lang="en-US" sz="2400" b="0" i="1" smtClean="0">
                                  <a:solidFill>
                                    <a:schemeClr val="bg1"/>
                                  </a:solidFill>
                                  <a:latin typeface="Cambria Math" panose="02040503050406030204" pitchFamily="18" charset="0"/>
                                </a:rPr>
                                <m:t>𝑎</m:t>
                              </m:r>
                            </m:sub>
                          </m:sSub>
                          <m:d>
                            <m:dPr>
                              <m:ctrlPr>
                                <a:rPr lang="en-US" sz="2400" b="0" i="1" smtClean="0">
                                  <a:solidFill>
                                    <a:schemeClr val="bg1"/>
                                  </a:solidFill>
                                  <a:latin typeface="Cambria Math" panose="02040503050406030204" pitchFamily="18" charset="0"/>
                                </a:rPr>
                              </m:ctrlPr>
                            </m:dPr>
                            <m:e>
                              <m:r>
                                <a:rPr lang="en-US" sz="2400" b="0" i="1" smtClean="0">
                                  <a:solidFill>
                                    <a:schemeClr val="bg1"/>
                                  </a:solidFill>
                                  <a:latin typeface="Cambria Math" panose="02040503050406030204" pitchFamily="18" charset="0"/>
                                </a:rPr>
                                <m:t>𝑡</m:t>
                              </m:r>
                            </m:e>
                          </m:d>
                        </m:num>
                        <m:den>
                          <m:r>
                            <a:rPr lang="en-US" sz="2400" b="0" i="1" smtClean="0">
                              <a:solidFill>
                                <a:schemeClr val="bg1"/>
                              </a:solidFill>
                              <a:latin typeface="Cambria Math" panose="02040503050406030204" pitchFamily="18" charset="0"/>
                            </a:rPr>
                            <m:t>𝑑𝑡</m:t>
                          </m:r>
                        </m:den>
                      </m:f>
                      <m:r>
                        <a:rPr lang="en-US" sz="2400" b="0" i="1" smtClean="0">
                          <a:solidFill>
                            <a:schemeClr val="bg1"/>
                          </a:solidFill>
                          <a:latin typeface="Cambria Math" panose="02040503050406030204" pitchFamily="18" charset="0"/>
                        </a:rPr>
                        <m:t>−</m:t>
                      </m:r>
                      <m:sSub>
                        <m:sSubPr>
                          <m:ctrlPr>
                            <a:rPr lang="en-US" sz="2400" b="0" i="1" smtClean="0">
                              <a:solidFill>
                                <a:schemeClr val="bg1"/>
                              </a:solidFill>
                              <a:latin typeface="Cambria Math" panose="02040503050406030204" pitchFamily="18" charset="0"/>
                            </a:rPr>
                          </m:ctrlPr>
                        </m:sSubPr>
                        <m:e>
                          <m:r>
                            <a:rPr lang="en-US" sz="2400" b="0" i="1" smtClean="0">
                              <a:solidFill>
                                <a:schemeClr val="bg1"/>
                              </a:solidFill>
                              <a:latin typeface="Cambria Math" panose="02040503050406030204" pitchFamily="18" charset="0"/>
                            </a:rPr>
                            <m:t>𝑒</m:t>
                          </m:r>
                        </m:e>
                        <m:sub>
                          <m:r>
                            <a:rPr lang="en-US" sz="2400" b="0" i="1" smtClean="0">
                              <a:solidFill>
                                <a:schemeClr val="bg1"/>
                              </a:solidFill>
                              <a:latin typeface="Cambria Math" panose="02040503050406030204" pitchFamily="18" charset="0"/>
                            </a:rPr>
                            <m:t>𝑏</m:t>
                          </m:r>
                        </m:sub>
                      </m:sSub>
                      <m:r>
                        <a:rPr lang="en-US" sz="2400" b="0" i="1" smtClean="0">
                          <a:solidFill>
                            <a:schemeClr val="bg1"/>
                          </a:solidFill>
                          <a:latin typeface="Cambria Math" panose="02040503050406030204" pitchFamily="18" charset="0"/>
                        </a:rPr>
                        <m:t>(</m:t>
                      </m:r>
                      <m:r>
                        <a:rPr lang="en-US" sz="2400" b="0" i="1" smtClean="0">
                          <a:solidFill>
                            <a:schemeClr val="bg1"/>
                          </a:solidFill>
                          <a:latin typeface="Cambria Math" panose="02040503050406030204" pitchFamily="18" charset="0"/>
                        </a:rPr>
                        <m:t>𝑡</m:t>
                      </m:r>
                      <m:r>
                        <a:rPr lang="en-US" sz="2400" b="0" i="1" smtClean="0">
                          <a:solidFill>
                            <a:schemeClr val="bg1"/>
                          </a:solidFill>
                          <a:latin typeface="Cambria Math" panose="02040503050406030204" pitchFamily="18" charset="0"/>
                        </a:rPr>
                        <m:t>)</m:t>
                      </m:r>
                    </m:oMath>
                  </m:oMathPara>
                </a14:m>
                <a:endParaRPr lang="en-US" sz="2400"/>
              </a:p>
            </p:txBody>
          </p:sp>
        </mc:Choice>
        <mc:Fallback>
          <p:sp>
            <p:nvSpPr>
              <p:cNvPr id="6" name="TextBox 5">
                <a:extLst>
                  <a:ext uri="{FF2B5EF4-FFF2-40B4-BE49-F238E27FC236}">
                    <a16:creationId xmlns:a16="http://schemas.microsoft.com/office/drawing/2014/main" id="{110C5058-89E2-8441-896E-3433D2607E16}"/>
                  </a:ext>
                </a:extLst>
              </p:cNvPr>
              <p:cNvSpPr txBox="1">
                <a:spLocks noRot="1" noChangeAspect="1" noMove="1" noResize="1" noEditPoints="1" noAdjustHandles="1" noChangeArrowheads="1" noChangeShapeType="1" noTextEdit="1"/>
              </p:cNvSpPr>
              <p:nvPr/>
            </p:nvSpPr>
            <p:spPr>
              <a:xfrm>
                <a:off x="2266950" y="5518171"/>
                <a:ext cx="7658100" cy="716735"/>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690296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351DF-62E6-BF6E-5050-435261A7E322}"/>
              </a:ext>
            </a:extLst>
          </p:cNvPr>
          <p:cNvSpPr>
            <a:spLocks noGrp="1"/>
          </p:cNvSpPr>
          <p:nvPr>
            <p:ph type="title"/>
          </p:nvPr>
        </p:nvSpPr>
        <p:spPr/>
        <p:txBody>
          <a:bodyPr>
            <a:normAutofit/>
          </a:bodyPr>
          <a:lstStyle/>
          <a:p>
            <a:r>
              <a:rPr lang="en-US"/>
              <a:t>Motor Model ID (Part II)</a:t>
            </a:r>
            <a:br>
              <a:rPr lang="en-US"/>
            </a:br>
            <a:r>
              <a:rPr lang="en-US" sz="2800"/>
              <a:t>Mechanical Motor Model</a:t>
            </a:r>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A2F57D8-4FCC-C750-BCEE-D6E9FB2E70A5}"/>
                  </a:ext>
                </a:extLst>
              </p:cNvPr>
              <p:cNvSpPr>
                <a:spLocks noGrp="1"/>
              </p:cNvSpPr>
              <p:nvPr>
                <p:ph idx="1"/>
              </p:nvPr>
            </p:nvSpPr>
            <p:spPr/>
            <p:txBody>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𝑚</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a:t>: Motor Torque</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𝐿</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a:t>: Load Torque</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𝑚</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a:t>: Angular Displacement</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𝑚</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a:t>: Angular Velocity</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𝐽</m:t>
                        </m:r>
                      </m:e>
                      <m:sub>
                        <m:r>
                          <a:rPr lang="en-US" b="0" i="1" smtClean="0">
                            <a:latin typeface="Cambria Math" panose="02040503050406030204" pitchFamily="18" charset="0"/>
                          </a:rPr>
                          <m:t>𝑚</m:t>
                        </m:r>
                      </m:sub>
                    </m:sSub>
                  </m:oMath>
                </a14:m>
                <a:r>
                  <a:rPr lang="en-US"/>
                  <a:t>: Motor Inertia</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𝑚</m:t>
                        </m:r>
                      </m:sub>
                    </m:sSub>
                  </m:oMath>
                </a14:m>
                <a:r>
                  <a:rPr lang="en-US"/>
                  <a:t>: Viscous Friction</a:t>
                </a:r>
              </a:p>
            </p:txBody>
          </p:sp>
        </mc:Choice>
        <mc:Fallback>
          <p:sp>
            <p:nvSpPr>
              <p:cNvPr id="3" name="Content Placeholder 2">
                <a:extLst>
                  <a:ext uri="{FF2B5EF4-FFF2-40B4-BE49-F238E27FC236}">
                    <a16:creationId xmlns:a16="http://schemas.microsoft.com/office/drawing/2014/main" id="{2A2F57D8-4FCC-C750-BCEE-D6E9FB2E70A5}"/>
                  </a:ext>
                </a:extLst>
              </p:cNvPr>
              <p:cNvSpPr>
                <a:spLocks noGrp="1" noRot="1" noChangeAspect="1" noMove="1" noResize="1" noEditPoints="1" noAdjustHandles="1" noChangeArrowheads="1" noChangeShapeType="1" noTextEdit="1"/>
              </p:cNvSpPr>
              <p:nvPr>
                <p:ph idx="1"/>
              </p:nvPr>
            </p:nvSpPr>
            <p:spPr>
              <a:blipFill>
                <a:blip r:embed="rId2"/>
                <a:stretch>
                  <a:fillRect t="-101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D5A6DD5D-6D56-9154-F812-091ED74E7565}"/>
              </a:ext>
            </a:extLst>
          </p:cNvPr>
          <p:cNvSpPr>
            <a:spLocks noGrp="1"/>
          </p:cNvSpPr>
          <p:nvPr>
            <p:ph type="sldNum" sz="quarter" idx="12"/>
          </p:nvPr>
        </p:nvSpPr>
        <p:spPr/>
        <p:txBody>
          <a:bodyPr/>
          <a:lstStyle/>
          <a:p>
            <a:fld id="{73B850FF-6169-4056-8077-06FFA93A5366}" type="slidenum">
              <a:rPr lang="en-US" smtClean="0"/>
              <a:t>30</a:t>
            </a:fld>
            <a:endParaRPr lang="en-US"/>
          </a:p>
        </p:txBody>
      </p:sp>
      <p:pic>
        <p:nvPicPr>
          <p:cNvPr id="5" name="Picture 4">
            <a:extLst>
              <a:ext uri="{FF2B5EF4-FFF2-40B4-BE49-F238E27FC236}">
                <a16:creationId xmlns:a16="http://schemas.microsoft.com/office/drawing/2014/main" id="{1C0A8516-F551-A1A9-A4AC-1BE3FCD4B7D8}"/>
              </a:ext>
            </a:extLst>
          </p:cNvPr>
          <p:cNvPicPr>
            <a:picLocks noChangeAspect="1"/>
          </p:cNvPicPr>
          <p:nvPr/>
        </p:nvPicPr>
        <p:blipFill rotWithShape="1">
          <a:blip r:embed="rId3">
            <a:extLst>
              <a:ext uri="{28A0092B-C50C-407E-A947-70E740481C1C}">
                <a14:useLocalDpi xmlns:a14="http://schemas.microsoft.com/office/drawing/2010/main" val="0"/>
              </a:ext>
            </a:extLst>
          </a:blip>
          <a:srcRect t="5952" b="5073"/>
          <a:stretch/>
        </p:blipFill>
        <p:spPr>
          <a:xfrm>
            <a:off x="6095999" y="1346201"/>
            <a:ext cx="5986047" cy="2895600"/>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B64B0B3-0C77-E30F-452F-5479705FACC2}"/>
                  </a:ext>
                </a:extLst>
              </p:cNvPr>
              <p:cNvSpPr txBox="1"/>
              <p:nvPr/>
            </p:nvSpPr>
            <p:spPr>
              <a:xfrm>
                <a:off x="5050713" y="5868214"/>
                <a:ext cx="40254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solidFill>
                                <a:schemeClr val="bg1"/>
                              </a:solidFill>
                              <a:latin typeface="Cambria Math" panose="02040503050406030204" pitchFamily="18" charset="0"/>
                            </a:rPr>
                          </m:ctrlPr>
                        </m:sSubPr>
                        <m:e>
                          <m:r>
                            <a:rPr lang="en-US" sz="2400" b="0" i="1" smtClean="0">
                              <a:solidFill>
                                <a:schemeClr val="bg1"/>
                              </a:solidFill>
                              <a:latin typeface="Cambria Math" panose="02040503050406030204" pitchFamily="18" charset="0"/>
                            </a:rPr>
                            <m:t>𝐽</m:t>
                          </m:r>
                        </m:e>
                        <m:sub>
                          <m:r>
                            <a:rPr lang="en-US" sz="2400" b="0" i="1" smtClean="0">
                              <a:solidFill>
                                <a:schemeClr val="bg1"/>
                              </a:solidFill>
                              <a:latin typeface="Cambria Math" panose="02040503050406030204" pitchFamily="18" charset="0"/>
                            </a:rPr>
                            <m:t>𝑚</m:t>
                          </m:r>
                        </m:sub>
                      </m:sSub>
                    </m:oMath>
                  </m:oMathPara>
                </a14:m>
                <a:endParaRPr lang="en-US" sz="2400"/>
              </a:p>
            </p:txBody>
          </p:sp>
        </mc:Choice>
        <mc:Fallback>
          <p:sp>
            <p:nvSpPr>
              <p:cNvPr id="6" name="TextBox 5">
                <a:extLst>
                  <a:ext uri="{FF2B5EF4-FFF2-40B4-BE49-F238E27FC236}">
                    <a16:creationId xmlns:a16="http://schemas.microsoft.com/office/drawing/2014/main" id="{9B64B0B3-0C77-E30F-452F-5479705FACC2}"/>
                  </a:ext>
                </a:extLst>
              </p:cNvPr>
              <p:cNvSpPr txBox="1">
                <a:spLocks noRot="1" noChangeAspect="1" noMove="1" noResize="1" noEditPoints="1" noAdjustHandles="1" noChangeArrowheads="1" noChangeShapeType="1" noTextEdit="1"/>
              </p:cNvSpPr>
              <p:nvPr/>
            </p:nvSpPr>
            <p:spPr>
              <a:xfrm>
                <a:off x="5050713" y="5868214"/>
                <a:ext cx="402546" cy="369332"/>
              </a:xfrm>
              <a:prstGeom prst="rect">
                <a:avLst/>
              </a:prstGeom>
              <a:blipFill>
                <a:blip r:embed="rId4"/>
                <a:stretch>
                  <a:fillRect l="-24242" b="-30000"/>
                </a:stretch>
              </a:blipFill>
            </p:spPr>
            <p:txBody>
              <a:bodyPr/>
              <a:lstStyle/>
              <a:p>
                <a:r>
                  <a:rPr lang="en-US">
                    <a:noFill/>
                  </a:rPr>
                  <a:t> </a:t>
                </a:r>
              </a:p>
            </p:txBody>
          </p:sp>
        </mc:Fallback>
      </mc:AlternateContent>
    </p:spTree>
    <p:extLst>
      <p:ext uri="{BB962C8B-B14F-4D97-AF65-F5344CB8AC3E}">
        <p14:creationId xmlns:p14="http://schemas.microsoft.com/office/powerpoint/2010/main" val="35108129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E52B4-7B40-9EBA-315B-8CCCE41DBD84}"/>
              </a:ext>
            </a:extLst>
          </p:cNvPr>
          <p:cNvSpPr>
            <a:spLocks noGrp="1"/>
          </p:cNvSpPr>
          <p:nvPr>
            <p:ph type="title"/>
          </p:nvPr>
        </p:nvSpPr>
        <p:spPr/>
        <p:txBody>
          <a:bodyPr>
            <a:normAutofit/>
          </a:bodyPr>
          <a:lstStyle/>
          <a:p>
            <a:r>
              <a:rPr lang="en-US">
                <a:ea typeface="+mj-lt"/>
                <a:cs typeface="+mj-lt"/>
              </a:rPr>
              <a:t>Motor Model ID (Part II)</a:t>
            </a:r>
            <a:br>
              <a:rPr lang="en-US"/>
            </a:br>
            <a:r>
              <a:rPr lang="en-US" sz="2800"/>
              <a:t>Transfer function</a:t>
            </a:r>
          </a:p>
        </p:txBody>
      </p:sp>
      <p:sp>
        <p:nvSpPr>
          <p:cNvPr id="5" name="Text Placeholder 4">
            <a:extLst>
              <a:ext uri="{FF2B5EF4-FFF2-40B4-BE49-F238E27FC236}">
                <a16:creationId xmlns:a16="http://schemas.microsoft.com/office/drawing/2014/main" id="{60B53DE9-9481-F65B-F2B9-11E4FC9316DC}"/>
              </a:ext>
            </a:extLst>
          </p:cNvPr>
          <p:cNvSpPr>
            <a:spLocks noGrp="1"/>
          </p:cNvSpPr>
          <p:nvPr>
            <p:ph type="body" idx="1"/>
          </p:nvPr>
        </p:nvSpPr>
        <p:spPr>
          <a:xfrm>
            <a:off x="1081631" y="1761375"/>
            <a:ext cx="3109294" cy="823912"/>
          </a:xfrm>
        </p:spPr>
        <p:txBody>
          <a:bodyPr/>
          <a:lstStyle/>
          <a:p>
            <a:pPr algn="ctr"/>
            <a:r>
              <a:rPr lang="en-US"/>
              <a:t>Electrical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35A3504-F865-B3B2-5927-2E0E2FE54188}"/>
                  </a:ext>
                </a:extLst>
              </p:cNvPr>
              <p:cNvSpPr>
                <a:spLocks noGrp="1"/>
              </p:cNvSpPr>
              <p:nvPr>
                <p:ph sz="half" idx="2"/>
              </p:nvPr>
            </p:nvSpPr>
            <p:spPr>
              <a:xfrm>
                <a:off x="838200" y="2666999"/>
                <a:ext cx="3596156" cy="1118939"/>
              </a:xfrm>
            </p:spPr>
            <p:txBody>
              <a:bodyPr vert="horz" lIns="91440" tIns="45720" rIns="91440" bIns="45720" rtlCol="0" anchor="t">
                <a:normAutofit/>
              </a:bodyPr>
              <a:lstStyle/>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Ω</m:t>
                              </m:r>
                            </m:e>
                            <m:sub>
                              <m:r>
                                <a:rPr lang="en-US" b="0" i="1" smtClean="0">
                                  <a:latin typeface="Cambria Math" panose="02040503050406030204" pitchFamily="18" charset="0"/>
                                </a:rPr>
                                <m:t>𝑚</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𝑚</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𝐿</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𝐽</m:t>
                              </m:r>
                            </m:e>
                            <m:sub>
                              <m:r>
                                <a:rPr lang="en-US" b="0" i="1" smtClean="0">
                                  <a:latin typeface="Cambria Math" panose="02040503050406030204" pitchFamily="18" charset="0"/>
                                </a:rPr>
                                <m:t>𝑚</m:t>
                              </m:r>
                            </m:sub>
                          </m:sSub>
                          <m:r>
                            <a:rPr lang="en-US" b="0" i="1" smtClean="0">
                              <a:latin typeface="Cambria Math" panose="02040503050406030204" pitchFamily="18" charset="0"/>
                            </a:rPr>
                            <m:t>𝑠</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𝑚</m:t>
                              </m:r>
                            </m:sub>
                          </m:sSub>
                        </m:den>
                      </m:f>
                    </m:oMath>
                  </m:oMathPara>
                </a14:m>
                <a:endParaRPr lang="en-US"/>
              </a:p>
            </p:txBody>
          </p:sp>
        </mc:Choice>
        <mc:Fallback>
          <p:sp>
            <p:nvSpPr>
              <p:cNvPr id="3" name="Content Placeholder 2">
                <a:extLst>
                  <a:ext uri="{FF2B5EF4-FFF2-40B4-BE49-F238E27FC236}">
                    <a16:creationId xmlns:a16="http://schemas.microsoft.com/office/drawing/2014/main" id="{C35A3504-F865-B3B2-5927-2E0E2FE54188}"/>
                  </a:ext>
                </a:extLst>
              </p:cNvPr>
              <p:cNvSpPr>
                <a:spLocks noGrp="1" noRot="1" noChangeAspect="1" noMove="1" noResize="1" noEditPoints="1" noAdjustHandles="1" noChangeArrowheads="1" noChangeShapeType="1" noTextEdit="1"/>
              </p:cNvSpPr>
              <p:nvPr>
                <p:ph sz="half" idx="2"/>
              </p:nvPr>
            </p:nvSpPr>
            <p:spPr>
              <a:xfrm>
                <a:off x="838200" y="2666999"/>
                <a:ext cx="3596156" cy="1118939"/>
              </a:xfrm>
              <a:blipFill>
                <a:blip r:embed="rId2"/>
                <a:stretch>
                  <a:fillRect/>
                </a:stretch>
              </a:blipFill>
            </p:spPr>
            <p:txBody>
              <a:bodyPr/>
              <a:lstStyle/>
              <a:p>
                <a:r>
                  <a:rPr lang="en-US">
                    <a:noFill/>
                  </a:rPr>
                  <a:t> </a:t>
                </a:r>
              </a:p>
            </p:txBody>
          </p:sp>
        </mc:Fallback>
      </mc:AlternateContent>
      <p:sp>
        <p:nvSpPr>
          <p:cNvPr id="6" name="Text Placeholder 5">
            <a:extLst>
              <a:ext uri="{FF2B5EF4-FFF2-40B4-BE49-F238E27FC236}">
                <a16:creationId xmlns:a16="http://schemas.microsoft.com/office/drawing/2014/main" id="{25C25283-6010-2057-8806-F78D3B8DB5D4}"/>
              </a:ext>
            </a:extLst>
          </p:cNvPr>
          <p:cNvSpPr>
            <a:spLocks noGrp="1"/>
          </p:cNvSpPr>
          <p:nvPr>
            <p:ph type="body" sz="quarter" idx="3"/>
          </p:nvPr>
        </p:nvSpPr>
        <p:spPr>
          <a:xfrm>
            <a:off x="7928998" y="1737184"/>
            <a:ext cx="3114903" cy="823912"/>
          </a:xfrm>
        </p:spPr>
        <p:txBody>
          <a:bodyPr/>
          <a:lstStyle/>
          <a:p>
            <a:pPr algn="ctr"/>
            <a:r>
              <a:rPr lang="en-US"/>
              <a:t>Mechanical</a:t>
            </a:r>
          </a:p>
        </p:txBody>
      </p:sp>
      <mc:AlternateContent xmlns:mc="http://schemas.openxmlformats.org/markup-compatibility/2006">
        <mc:Choice xmlns:a14="http://schemas.microsoft.com/office/drawing/2010/main" Requires="a14">
          <p:sp>
            <p:nvSpPr>
              <p:cNvPr id="7" name="Content Placeholder 6">
                <a:extLst>
                  <a:ext uri="{FF2B5EF4-FFF2-40B4-BE49-F238E27FC236}">
                    <a16:creationId xmlns:a16="http://schemas.microsoft.com/office/drawing/2014/main" id="{5C17E29C-644F-2595-F40A-F99B7BA610F0}"/>
                  </a:ext>
                </a:extLst>
              </p:cNvPr>
              <p:cNvSpPr>
                <a:spLocks noGrp="1"/>
              </p:cNvSpPr>
              <p:nvPr>
                <p:ph sz="quarter" idx="4"/>
              </p:nvPr>
            </p:nvSpPr>
            <p:spPr>
              <a:xfrm>
                <a:off x="7619100" y="2667000"/>
                <a:ext cx="3734700" cy="1118938"/>
              </a:xfrm>
            </p:spPr>
            <p:txBody>
              <a:bodyPr vert="horz" lIns="91440" tIns="45720" rIns="91440" bIns="45720" rtlCol="0" anchor="t">
                <a:normAutofit/>
              </a:bodyPr>
              <a:lstStyle/>
              <a:p>
                <a:pPr marL="0" indent="0" algn="ctr">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𝑎</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𝑏</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𝑎</m:t>
                              </m:r>
                            </m:sub>
                          </m:sSub>
                          <m:r>
                            <a:rPr lang="en-US" b="0" i="1" smtClean="0">
                              <a:latin typeface="Cambria Math" panose="02040503050406030204" pitchFamily="18" charset="0"/>
                            </a:rPr>
                            <m:t>𝑠</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𝑚</m:t>
                              </m:r>
                            </m:sub>
                          </m:sSub>
                        </m:den>
                      </m:f>
                    </m:oMath>
                  </m:oMathPara>
                </a14:m>
                <a:endParaRPr lang="en-US"/>
              </a:p>
            </p:txBody>
          </p:sp>
        </mc:Choice>
        <mc:Fallback>
          <p:sp>
            <p:nvSpPr>
              <p:cNvPr id="7" name="Content Placeholder 6">
                <a:extLst>
                  <a:ext uri="{FF2B5EF4-FFF2-40B4-BE49-F238E27FC236}">
                    <a16:creationId xmlns:a16="http://schemas.microsoft.com/office/drawing/2014/main" id="{5C17E29C-644F-2595-F40A-F99B7BA610F0}"/>
                  </a:ext>
                </a:extLst>
              </p:cNvPr>
              <p:cNvSpPr>
                <a:spLocks noGrp="1" noRot="1" noChangeAspect="1" noMove="1" noResize="1" noEditPoints="1" noAdjustHandles="1" noChangeArrowheads="1" noChangeShapeType="1" noTextEdit="1"/>
              </p:cNvSpPr>
              <p:nvPr>
                <p:ph sz="quarter" idx="4"/>
              </p:nvPr>
            </p:nvSpPr>
            <p:spPr>
              <a:xfrm>
                <a:off x="7619100" y="2667000"/>
                <a:ext cx="3734700" cy="1118938"/>
              </a:xfrm>
              <a:blipFill>
                <a:blip r:embed="rId3"/>
                <a:stretch>
                  <a:fillRect/>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BFD054B-8B3C-F1C8-E680-24A85668AD25}"/>
              </a:ext>
            </a:extLst>
          </p:cNvPr>
          <p:cNvSpPr>
            <a:spLocks noGrp="1"/>
          </p:cNvSpPr>
          <p:nvPr>
            <p:ph type="sldNum" sz="quarter" idx="12"/>
          </p:nvPr>
        </p:nvSpPr>
        <p:spPr/>
        <p:txBody>
          <a:bodyPr/>
          <a:lstStyle/>
          <a:p>
            <a:fld id="{73B850FF-6169-4056-8077-06FFA93A5366}" type="slidenum">
              <a:rPr lang="en-US" smtClean="0"/>
              <a:t>31</a:t>
            </a:fld>
            <a:endParaRPr lang="en-US"/>
          </a:p>
        </p:txBody>
      </p:sp>
      <p:sp>
        <p:nvSpPr>
          <p:cNvPr id="13" name="Text Placeholder 5">
            <a:extLst>
              <a:ext uri="{FF2B5EF4-FFF2-40B4-BE49-F238E27FC236}">
                <a16:creationId xmlns:a16="http://schemas.microsoft.com/office/drawing/2014/main" id="{73FF5966-D80E-633A-DCF5-A7914108350B}"/>
              </a:ext>
            </a:extLst>
          </p:cNvPr>
          <p:cNvSpPr txBox="1">
            <a:spLocks/>
          </p:cNvSpPr>
          <p:nvPr/>
        </p:nvSpPr>
        <p:spPr>
          <a:xfrm>
            <a:off x="4538548" y="4303798"/>
            <a:ext cx="3114903" cy="823912"/>
          </a:xfrm>
          <a:prstGeom prst="rect">
            <a:avLst/>
          </a:prstGeom>
        </p:spPr>
        <p:txBody>
          <a:bodyPr vert="horz" lIns="91440" tIns="45720" rIns="91440" bIns="45720" rtlCol="0" anchor="b">
            <a:normAutofit/>
          </a:bodyPr>
          <a:lstStyle>
            <a:lvl1pPr marL="0" indent="0" algn="l" defTabSz="914400" rtl="0" eaLnBrk="1" latinLnBrk="0" hangingPunct="1">
              <a:lnSpc>
                <a:spcPct val="110000"/>
              </a:lnSpc>
              <a:spcBef>
                <a:spcPts val="1000"/>
              </a:spcBef>
              <a:buClr>
                <a:schemeClr val="accent1"/>
              </a:buClr>
              <a:buFont typeface="Arial" panose="020B0604020202020204" pitchFamily="34" charset="0"/>
              <a:buNone/>
              <a:defRPr sz="2400" b="1" kern="1200">
                <a:solidFill>
                  <a:schemeClr val="bg1"/>
                </a:solidFill>
                <a:latin typeface="+mn-lt"/>
                <a:ea typeface="+mn-ea"/>
                <a:cs typeface="+mn-cs"/>
              </a:defRPr>
            </a:lvl1pPr>
            <a:lvl2pPr marL="457200" indent="0" algn="l" defTabSz="914400" rtl="0" eaLnBrk="1" latinLnBrk="0" hangingPunct="1">
              <a:lnSpc>
                <a:spcPct val="110000"/>
              </a:lnSpc>
              <a:spcBef>
                <a:spcPts val="500"/>
              </a:spcBef>
              <a:buClr>
                <a:schemeClr val="accent1"/>
              </a:buClr>
              <a:buFont typeface="Arial" panose="020B0604020202020204" pitchFamily="34" charset="0"/>
              <a:buNone/>
              <a:defRPr sz="2000" b="1" kern="1200">
                <a:solidFill>
                  <a:schemeClr val="bg1"/>
                </a:solidFill>
                <a:latin typeface="+mn-lt"/>
                <a:ea typeface="+mn-ea"/>
                <a:cs typeface="+mn-cs"/>
              </a:defRPr>
            </a:lvl2pPr>
            <a:lvl3pPr marL="914400" indent="0" algn="l" defTabSz="914400" rtl="0" eaLnBrk="1" latinLnBrk="0" hangingPunct="1">
              <a:lnSpc>
                <a:spcPct val="110000"/>
              </a:lnSpc>
              <a:spcBef>
                <a:spcPts val="500"/>
              </a:spcBef>
              <a:buClr>
                <a:schemeClr val="accent1"/>
              </a:buClr>
              <a:buFont typeface="Arial" panose="020B0604020202020204" pitchFamily="34" charset="0"/>
              <a:buNone/>
              <a:defRPr sz="1800" b="1" kern="1200">
                <a:solidFill>
                  <a:schemeClr val="bg1"/>
                </a:solidFill>
                <a:latin typeface="+mn-lt"/>
                <a:ea typeface="+mn-ea"/>
                <a:cs typeface="+mn-cs"/>
              </a:defRPr>
            </a:lvl3pPr>
            <a:lvl4pPr marL="1371600" indent="0" algn="l" defTabSz="914400" rtl="0" eaLnBrk="1" latinLnBrk="0" hangingPunct="1">
              <a:lnSpc>
                <a:spcPct val="110000"/>
              </a:lnSpc>
              <a:spcBef>
                <a:spcPts val="500"/>
              </a:spcBef>
              <a:buClr>
                <a:schemeClr val="accent1"/>
              </a:buClr>
              <a:buFont typeface="Arial" panose="020B0604020202020204" pitchFamily="34" charset="0"/>
              <a:buNone/>
              <a:defRPr sz="1600" b="1" kern="1200">
                <a:solidFill>
                  <a:schemeClr val="bg1"/>
                </a:solidFill>
                <a:latin typeface="+mn-lt"/>
                <a:ea typeface="+mn-ea"/>
                <a:cs typeface="+mn-cs"/>
              </a:defRPr>
            </a:lvl4pPr>
            <a:lvl5pPr marL="1828800" indent="0" algn="l" defTabSz="914400" rtl="0" eaLnBrk="1" latinLnBrk="0" hangingPunct="1">
              <a:lnSpc>
                <a:spcPct val="110000"/>
              </a:lnSpc>
              <a:spcBef>
                <a:spcPts val="500"/>
              </a:spcBef>
              <a:buClr>
                <a:schemeClr val="accent1"/>
              </a:buClr>
              <a:buFont typeface="Arial" panose="020B0604020202020204" pitchFamily="34" charset="0"/>
              <a:buNone/>
              <a:defRPr sz="1600" b="1"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a:t>Combined</a:t>
            </a:r>
          </a:p>
        </p:txBody>
      </p:sp>
      <mc:AlternateContent xmlns:mc="http://schemas.openxmlformats.org/markup-compatibility/2006">
        <mc:Choice xmlns:a14="http://schemas.microsoft.com/office/drawing/2010/main" Requires="a14">
          <p:sp>
            <p:nvSpPr>
              <p:cNvPr id="15" name="Content Placeholder 6">
                <a:extLst>
                  <a:ext uri="{FF2B5EF4-FFF2-40B4-BE49-F238E27FC236}">
                    <a16:creationId xmlns:a16="http://schemas.microsoft.com/office/drawing/2014/main" id="{2928A648-4A10-7A6D-7ACC-AE4EDC9BA7B0}"/>
                  </a:ext>
                </a:extLst>
              </p:cNvPr>
              <p:cNvSpPr txBox="1">
                <a:spLocks/>
              </p:cNvSpPr>
              <p:nvPr/>
            </p:nvSpPr>
            <p:spPr>
              <a:xfrm>
                <a:off x="352926" y="5029148"/>
                <a:ext cx="11470106" cy="1114980"/>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𝐾</m:t>
                          </m:r>
                        </m:num>
                        <m:den>
                          <m:r>
                            <a:rPr lang="en-US" b="0" i="1" smtClean="0">
                              <a:latin typeface="Cambria Math" panose="02040503050406030204" pitchFamily="18" charset="0"/>
                            </a:rPr>
                            <m:t>𝐽</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𝑎</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𝐽</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𝑎</m:t>
                                  </m:r>
                                </m:sub>
                              </m:sSub>
                              <m:r>
                                <a:rPr lang="en-US" b="0" i="1" smtClean="0">
                                  <a:latin typeface="Cambria Math" panose="02040503050406030204" pitchFamily="18" charset="0"/>
                                </a:rPr>
                                <m:t>+</m:t>
                              </m:r>
                              <m:r>
                                <a:rPr lang="en-US" b="0" i="1" smtClean="0">
                                  <a:latin typeface="Cambria Math" panose="02040503050406030204" pitchFamily="18" charset="0"/>
                                </a:rPr>
                                <m:t>𝐵</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𝑎</m:t>
                                  </m:r>
                                </m:sub>
                              </m:sSub>
                            </m:e>
                          </m:d>
                          <m:r>
                            <a:rPr lang="en-US" b="0" i="1" smtClean="0">
                              <a:latin typeface="Cambria Math" panose="02040503050406030204" pitchFamily="18" charset="0"/>
                            </a:rPr>
                            <m:t>𝑠</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𝑎</m:t>
                              </m:r>
                            </m:sub>
                          </m:sSub>
                          <m:r>
                            <a:rPr lang="en-US" b="0" i="1" smtClean="0">
                              <a:latin typeface="Cambria Math" panose="02040503050406030204" pitchFamily="18" charset="0"/>
                            </a:rPr>
                            <m:t>𝐵</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2</m:t>
                              </m:r>
                            </m:sup>
                          </m:sSup>
                        </m:den>
                      </m:f>
                    </m:oMath>
                  </m:oMathPara>
                </a14:m>
                <a:endParaRPr lang="en-US"/>
              </a:p>
              <a:p>
                <a:endParaRPr lang="en-US"/>
              </a:p>
            </p:txBody>
          </p:sp>
        </mc:Choice>
        <mc:Fallback>
          <p:sp>
            <p:nvSpPr>
              <p:cNvPr id="15" name="Content Placeholder 6">
                <a:extLst>
                  <a:ext uri="{FF2B5EF4-FFF2-40B4-BE49-F238E27FC236}">
                    <a16:creationId xmlns:a16="http://schemas.microsoft.com/office/drawing/2014/main" id="{2928A648-4A10-7A6D-7ACC-AE4EDC9BA7B0}"/>
                  </a:ext>
                </a:extLst>
              </p:cNvPr>
              <p:cNvSpPr txBox="1">
                <a:spLocks noRot="1" noChangeAspect="1" noMove="1" noResize="1" noEditPoints="1" noAdjustHandles="1" noChangeArrowheads="1" noChangeShapeType="1" noTextEdit="1"/>
              </p:cNvSpPr>
              <p:nvPr/>
            </p:nvSpPr>
            <p:spPr>
              <a:xfrm>
                <a:off x="352926" y="5029148"/>
                <a:ext cx="11470106" cy="111498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953153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F99FB-DD0A-613B-0B70-90C0EE4BF74B}"/>
              </a:ext>
            </a:extLst>
          </p:cNvPr>
          <p:cNvSpPr>
            <a:spLocks noGrp="1"/>
          </p:cNvSpPr>
          <p:nvPr>
            <p:ph type="title"/>
          </p:nvPr>
        </p:nvSpPr>
        <p:spPr/>
        <p:txBody>
          <a:bodyPr/>
          <a:lstStyle/>
          <a:p>
            <a:r>
              <a:rPr lang="en-US"/>
              <a:t>Time constant</a:t>
            </a:r>
          </a:p>
        </p:txBody>
      </p:sp>
      <p:pic>
        <p:nvPicPr>
          <p:cNvPr id="5" name="Content Placeholder 4" descr="A screen shot of a graph&#10;&#10;Description automatically generated">
            <a:extLst>
              <a:ext uri="{FF2B5EF4-FFF2-40B4-BE49-F238E27FC236}">
                <a16:creationId xmlns:a16="http://schemas.microsoft.com/office/drawing/2014/main" id="{C3C72F41-C35C-2A84-6E1F-DDEE21FEFF99}"/>
              </a:ext>
            </a:extLst>
          </p:cNvPr>
          <p:cNvPicPr>
            <a:picLocks noGrp="1" noChangeAspect="1"/>
          </p:cNvPicPr>
          <p:nvPr>
            <p:ph idx="1"/>
          </p:nvPr>
        </p:nvPicPr>
        <p:blipFill rotWithShape="1">
          <a:blip r:embed="rId2"/>
          <a:srcRect t="1132" r="269" b="755"/>
          <a:stretch/>
        </p:blipFill>
        <p:spPr>
          <a:xfrm>
            <a:off x="6369132" y="1933662"/>
            <a:ext cx="5903770" cy="4148599"/>
          </a:xfrm>
        </p:spPr>
      </p:pic>
      <p:sp>
        <p:nvSpPr>
          <p:cNvPr id="4" name="Slide Number Placeholder 3">
            <a:extLst>
              <a:ext uri="{FF2B5EF4-FFF2-40B4-BE49-F238E27FC236}">
                <a16:creationId xmlns:a16="http://schemas.microsoft.com/office/drawing/2014/main" id="{8FF6F75F-BC7B-0E21-3A1C-DFEBE2395CF2}"/>
              </a:ext>
            </a:extLst>
          </p:cNvPr>
          <p:cNvSpPr>
            <a:spLocks noGrp="1"/>
          </p:cNvSpPr>
          <p:nvPr>
            <p:ph type="sldNum" sz="quarter" idx="12"/>
          </p:nvPr>
        </p:nvSpPr>
        <p:spPr/>
        <p:txBody>
          <a:bodyPr/>
          <a:lstStyle/>
          <a:p>
            <a:fld id="{73B850FF-6169-4056-8077-06FFA93A5366}" type="slidenum">
              <a:rPr lang="en-US" smtClean="0"/>
              <a:t>32</a:t>
            </a:fld>
            <a:endParaRPr lang="en-US"/>
          </a:p>
        </p:txBody>
      </p:sp>
      <p:pic>
        <p:nvPicPr>
          <p:cNvPr id="7" name="Picture 6" descr="A screen shot of a computer&#10;&#10;Description automatically generated">
            <a:extLst>
              <a:ext uri="{FF2B5EF4-FFF2-40B4-BE49-F238E27FC236}">
                <a16:creationId xmlns:a16="http://schemas.microsoft.com/office/drawing/2014/main" id="{57480662-B869-2FD9-69C5-35D6D8780055}"/>
              </a:ext>
            </a:extLst>
          </p:cNvPr>
          <p:cNvPicPr>
            <a:picLocks noChangeAspect="1"/>
          </p:cNvPicPr>
          <p:nvPr/>
        </p:nvPicPr>
        <p:blipFill>
          <a:blip r:embed="rId3"/>
          <a:stretch>
            <a:fillRect/>
          </a:stretch>
        </p:blipFill>
        <p:spPr>
          <a:xfrm>
            <a:off x="399198" y="1819563"/>
            <a:ext cx="5969934" cy="4148599"/>
          </a:xfrm>
          <a:prstGeom prst="rect">
            <a:avLst/>
          </a:prstGeom>
        </p:spPr>
      </p:pic>
    </p:spTree>
    <p:extLst>
      <p:ext uri="{BB962C8B-B14F-4D97-AF65-F5344CB8AC3E}">
        <p14:creationId xmlns:p14="http://schemas.microsoft.com/office/powerpoint/2010/main" val="36148538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49FDE-3223-C354-8482-56408F7D0892}"/>
              </a:ext>
            </a:extLst>
          </p:cNvPr>
          <p:cNvSpPr>
            <a:spLocks noGrp="1"/>
          </p:cNvSpPr>
          <p:nvPr>
            <p:ph type="title"/>
          </p:nvPr>
        </p:nvSpPr>
        <p:spPr/>
        <p:txBody>
          <a:bodyPr/>
          <a:lstStyle/>
          <a:p>
            <a:r>
              <a:rPr lang="en-US"/>
              <a:t>Simulink</a:t>
            </a:r>
          </a:p>
        </p:txBody>
      </p:sp>
      <p:pic>
        <p:nvPicPr>
          <p:cNvPr id="5" name="Content Placeholder 4" descr="A graph on a black background&#10;&#10;Description automatically generated">
            <a:extLst>
              <a:ext uri="{FF2B5EF4-FFF2-40B4-BE49-F238E27FC236}">
                <a16:creationId xmlns:a16="http://schemas.microsoft.com/office/drawing/2014/main" id="{B626622F-7C49-897F-EDB7-E5F425B08597}"/>
              </a:ext>
            </a:extLst>
          </p:cNvPr>
          <p:cNvPicPr>
            <a:picLocks noGrp="1" noChangeAspect="1"/>
          </p:cNvPicPr>
          <p:nvPr>
            <p:ph idx="1"/>
          </p:nvPr>
        </p:nvPicPr>
        <p:blipFill>
          <a:blip r:embed="rId2"/>
          <a:stretch>
            <a:fillRect/>
          </a:stretch>
        </p:blipFill>
        <p:spPr>
          <a:xfrm>
            <a:off x="1314015" y="933120"/>
            <a:ext cx="8262632" cy="4013676"/>
          </a:xfrm>
        </p:spPr>
      </p:pic>
      <p:sp>
        <p:nvSpPr>
          <p:cNvPr id="4" name="Slide Number Placeholder 3">
            <a:extLst>
              <a:ext uri="{FF2B5EF4-FFF2-40B4-BE49-F238E27FC236}">
                <a16:creationId xmlns:a16="http://schemas.microsoft.com/office/drawing/2014/main" id="{4C84EA62-8ADC-3DA6-3EE9-6304264E4656}"/>
              </a:ext>
            </a:extLst>
          </p:cNvPr>
          <p:cNvSpPr>
            <a:spLocks noGrp="1"/>
          </p:cNvSpPr>
          <p:nvPr>
            <p:ph type="sldNum" sz="quarter" idx="12"/>
          </p:nvPr>
        </p:nvSpPr>
        <p:spPr/>
        <p:txBody>
          <a:bodyPr/>
          <a:lstStyle/>
          <a:p>
            <a:fld id="{73B850FF-6169-4056-8077-06FFA93A5366}" type="slidenum">
              <a:rPr lang="en-US" smtClean="0"/>
              <a:t>33</a:t>
            </a:fld>
            <a:endParaRPr lang="en-US"/>
          </a:p>
        </p:txBody>
      </p:sp>
      <p:pic>
        <p:nvPicPr>
          <p:cNvPr id="6" name="Picture 5" descr="A screenshot of a computer screen&#10;&#10;Description automatically generated">
            <a:extLst>
              <a:ext uri="{FF2B5EF4-FFF2-40B4-BE49-F238E27FC236}">
                <a16:creationId xmlns:a16="http://schemas.microsoft.com/office/drawing/2014/main" id="{66558BFB-02E7-A0BB-0A06-04A2E58AD389}"/>
              </a:ext>
            </a:extLst>
          </p:cNvPr>
          <p:cNvPicPr>
            <a:picLocks noChangeAspect="1"/>
          </p:cNvPicPr>
          <p:nvPr/>
        </p:nvPicPr>
        <p:blipFill>
          <a:blip r:embed="rId3"/>
          <a:stretch>
            <a:fillRect/>
          </a:stretch>
        </p:blipFill>
        <p:spPr>
          <a:xfrm>
            <a:off x="4682836" y="2562058"/>
            <a:ext cx="7384472" cy="3539922"/>
          </a:xfrm>
          <a:prstGeom prst="rect">
            <a:avLst/>
          </a:prstGeom>
        </p:spPr>
      </p:pic>
      <p:pic>
        <p:nvPicPr>
          <p:cNvPr id="7" name="Picture 6" descr="A diagram of a motor&#10;&#10;Description automatically generated">
            <a:extLst>
              <a:ext uri="{FF2B5EF4-FFF2-40B4-BE49-F238E27FC236}">
                <a16:creationId xmlns:a16="http://schemas.microsoft.com/office/drawing/2014/main" id="{134F1461-3A0F-2E69-6DBA-D24F54455725}"/>
              </a:ext>
            </a:extLst>
          </p:cNvPr>
          <p:cNvPicPr>
            <a:picLocks noChangeAspect="1"/>
          </p:cNvPicPr>
          <p:nvPr/>
        </p:nvPicPr>
        <p:blipFill>
          <a:blip r:embed="rId4"/>
          <a:stretch>
            <a:fillRect/>
          </a:stretch>
        </p:blipFill>
        <p:spPr>
          <a:xfrm>
            <a:off x="5555673" y="3247114"/>
            <a:ext cx="5622966" cy="1294005"/>
          </a:xfrm>
          <a:prstGeom prst="rect">
            <a:avLst/>
          </a:prstGeom>
        </p:spPr>
      </p:pic>
    </p:spTree>
    <p:extLst>
      <p:ext uri="{BB962C8B-B14F-4D97-AF65-F5344CB8AC3E}">
        <p14:creationId xmlns:p14="http://schemas.microsoft.com/office/powerpoint/2010/main" val="39019184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9EB4-FCF8-734B-6BCB-ABD73CE9C400}"/>
              </a:ext>
            </a:extLst>
          </p:cNvPr>
          <p:cNvSpPr>
            <a:spLocks noGrp="1"/>
          </p:cNvSpPr>
          <p:nvPr>
            <p:ph type="title"/>
          </p:nvPr>
        </p:nvSpPr>
        <p:spPr/>
        <p:txBody>
          <a:bodyPr>
            <a:noAutofit/>
          </a:bodyPr>
          <a:lstStyle/>
          <a:p>
            <a:r>
              <a:rPr lang="en-US"/>
              <a:t>Results</a:t>
            </a:r>
          </a:p>
        </p:txBody>
      </p:sp>
      <p:sp>
        <p:nvSpPr>
          <p:cNvPr id="3" name="Text Placeholder 2">
            <a:extLst>
              <a:ext uri="{FF2B5EF4-FFF2-40B4-BE49-F238E27FC236}">
                <a16:creationId xmlns:a16="http://schemas.microsoft.com/office/drawing/2014/main" id="{FC4D5457-F491-B7A5-CAD2-EF4A64A91CBA}"/>
              </a:ext>
            </a:extLst>
          </p:cNvPr>
          <p:cNvSpPr>
            <a:spLocks noGrp="1"/>
          </p:cNvSpPr>
          <p:nvPr>
            <p:ph type="body" idx="1"/>
          </p:nvPr>
        </p:nvSpPr>
        <p:spPr/>
        <p:txBody>
          <a:bodyPr/>
          <a:lstStyle/>
          <a:p>
            <a:r>
              <a:rPr lang="en-US"/>
              <a:t>Driving </a:t>
            </a:r>
          </a:p>
        </p:txBody>
      </p:sp>
      <p:sp>
        <p:nvSpPr>
          <p:cNvPr id="4" name="Content Placeholder 3">
            <a:extLst>
              <a:ext uri="{FF2B5EF4-FFF2-40B4-BE49-F238E27FC236}">
                <a16:creationId xmlns:a16="http://schemas.microsoft.com/office/drawing/2014/main" id="{24E8BC7C-71A4-CBAD-6222-BBF000F0DB1D}"/>
              </a:ext>
            </a:extLst>
          </p:cNvPr>
          <p:cNvSpPr>
            <a:spLocks noGrp="1"/>
          </p:cNvSpPr>
          <p:nvPr>
            <p:ph sz="half" idx="2"/>
          </p:nvPr>
        </p:nvSpPr>
        <p:spPr/>
        <p:txBody>
          <a:bodyPr/>
          <a:lstStyle/>
          <a:p>
            <a:endParaRPr lang="en-US"/>
          </a:p>
        </p:txBody>
      </p:sp>
      <p:sp>
        <p:nvSpPr>
          <p:cNvPr id="5" name="Text Placeholder 4">
            <a:extLst>
              <a:ext uri="{FF2B5EF4-FFF2-40B4-BE49-F238E27FC236}">
                <a16:creationId xmlns:a16="http://schemas.microsoft.com/office/drawing/2014/main" id="{DA8A5B6F-25AD-1BDB-56D0-7B610D357F13}"/>
              </a:ext>
            </a:extLst>
          </p:cNvPr>
          <p:cNvSpPr>
            <a:spLocks noGrp="1"/>
          </p:cNvSpPr>
          <p:nvPr>
            <p:ph type="body" sz="quarter" idx="3"/>
          </p:nvPr>
        </p:nvSpPr>
        <p:spPr/>
        <p:txBody>
          <a:bodyPr/>
          <a:lstStyle/>
          <a:p>
            <a:r>
              <a:rPr lang="en-US"/>
              <a:t>Steering</a:t>
            </a:r>
          </a:p>
        </p:txBody>
      </p:sp>
      <p:sp>
        <p:nvSpPr>
          <p:cNvPr id="6" name="Content Placeholder 5">
            <a:extLst>
              <a:ext uri="{FF2B5EF4-FFF2-40B4-BE49-F238E27FC236}">
                <a16:creationId xmlns:a16="http://schemas.microsoft.com/office/drawing/2014/main" id="{8F76B420-98F7-3EB3-6D47-ACA09DAF2052}"/>
              </a:ext>
            </a:extLst>
          </p:cNvPr>
          <p:cNvSpPr>
            <a:spLocks noGrp="1"/>
          </p:cNvSpPr>
          <p:nvPr>
            <p:ph sz="quarter" idx="4"/>
          </p:nvPr>
        </p:nvSpPr>
        <p:spPr/>
        <p:txBody>
          <a:bodyPr/>
          <a:lstStyle/>
          <a:p>
            <a:endParaRPr lang="en-US"/>
          </a:p>
        </p:txBody>
      </p:sp>
      <p:sp>
        <p:nvSpPr>
          <p:cNvPr id="8" name="Slide Number Placeholder 7">
            <a:extLst>
              <a:ext uri="{FF2B5EF4-FFF2-40B4-BE49-F238E27FC236}">
                <a16:creationId xmlns:a16="http://schemas.microsoft.com/office/drawing/2014/main" id="{7B0ACC61-81C9-C827-2E7D-D5ECCC65B34A}"/>
              </a:ext>
            </a:extLst>
          </p:cNvPr>
          <p:cNvSpPr>
            <a:spLocks noGrp="1"/>
          </p:cNvSpPr>
          <p:nvPr>
            <p:ph type="sldNum" sz="quarter" idx="12"/>
          </p:nvPr>
        </p:nvSpPr>
        <p:spPr/>
        <p:txBody>
          <a:bodyPr/>
          <a:lstStyle/>
          <a:p>
            <a:fld id="{73B850FF-6169-4056-8077-06FFA93A5366}" type="slidenum">
              <a:rPr lang="en-US" smtClean="0"/>
              <a:t>34</a:t>
            </a:fld>
            <a:endParaRPr lang="en-US"/>
          </a:p>
        </p:txBody>
      </p:sp>
    </p:spTree>
    <p:extLst>
      <p:ext uri="{BB962C8B-B14F-4D97-AF65-F5344CB8AC3E}">
        <p14:creationId xmlns:p14="http://schemas.microsoft.com/office/powerpoint/2010/main" val="19118808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9EB4-FCF8-734B-6BCB-ABD73CE9C400}"/>
              </a:ext>
            </a:extLst>
          </p:cNvPr>
          <p:cNvSpPr>
            <a:spLocks noGrp="1"/>
          </p:cNvSpPr>
          <p:nvPr>
            <p:ph type="title"/>
          </p:nvPr>
        </p:nvSpPr>
        <p:spPr/>
        <p:txBody>
          <a:bodyPr>
            <a:noAutofit/>
          </a:bodyPr>
          <a:lstStyle/>
          <a:p>
            <a:r>
              <a:rPr lang="en-US">
                <a:ea typeface="+mj-lt"/>
                <a:cs typeface="+mj-lt"/>
              </a:rPr>
              <a:t>Problems/Solutions</a:t>
            </a:r>
            <a:endParaRPr lang="en-US" b="0">
              <a:ea typeface="+mj-lt"/>
              <a:cs typeface="+mj-lt"/>
            </a:endParaRPr>
          </a:p>
        </p:txBody>
      </p:sp>
      <p:sp>
        <p:nvSpPr>
          <p:cNvPr id="3" name="Text Placeholder 2">
            <a:extLst>
              <a:ext uri="{FF2B5EF4-FFF2-40B4-BE49-F238E27FC236}">
                <a16:creationId xmlns:a16="http://schemas.microsoft.com/office/drawing/2014/main" id="{FC4D5457-F491-B7A5-CAD2-EF4A64A91CBA}"/>
              </a:ext>
            </a:extLst>
          </p:cNvPr>
          <p:cNvSpPr>
            <a:spLocks noGrp="1"/>
          </p:cNvSpPr>
          <p:nvPr>
            <p:ph type="body" idx="1"/>
          </p:nvPr>
        </p:nvSpPr>
        <p:spPr/>
        <p:txBody>
          <a:bodyPr/>
          <a:lstStyle/>
          <a:p>
            <a:r>
              <a:rPr lang="en-US"/>
              <a:t>Driving </a:t>
            </a:r>
          </a:p>
        </p:txBody>
      </p:sp>
      <p:sp>
        <p:nvSpPr>
          <p:cNvPr id="4" name="Content Placeholder 3">
            <a:extLst>
              <a:ext uri="{FF2B5EF4-FFF2-40B4-BE49-F238E27FC236}">
                <a16:creationId xmlns:a16="http://schemas.microsoft.com/office/drawing/2014/main" id="{24E8BC7C-71A4-CBAD-6222-BBF000F0DB1D}"/>
              </a:ext>
            </a:extLst>
          </p:cNvPr>
          <p:cNvSpPr>
            <a:spLocks noGrp="1"/>
          </p:cNvSpPr>
          <p:nvPr>
            <p:ph sz="half" idx="2"/>
          </p:nvPr>
        </p:nvSpPr>
        <p:spPr/>
        <p:txBody>
          <a:bodyPr/>
          <a:lstStyle/>
          <a:p>
            <a:endParaRPr lang="en-US"/>
          </a:p>
        </p:txBody>
      </p:sp>
      <p:sp>
        <p:nvSpPr>
          <p:cNvPr id="5" name="Text Placeholder 4">
            <a:extLst>
              <a:ext uri="{FF2B5EF4-FFF2-40B4-BE49-F238E27FC236}">
                <a16:creationId xmlns:a16="http://schemas.microsoft.com/office/drawing/2014/main" id="{DA8A5B6F-25AD-1BDB-56D0-7B610D357F13}"/>
              </a:ext>
            </a:extLst>
          </p:cNvPr>
          <p:cNvSpPr>
            <a:spLocks noGrp="1"/>
          </p:cNvSpPr>
          <p:nvPr>
            <p:ph type="body" sz="quarter" idx="3"/>
          </p:nvPr>
        </p:nvSpPr>
        <p:spPr/>
        <p:txBody>
          <a:bodyPr/>
          <a:lstStyle/>
          <a:p>
            <a:r>
              <a:rPr lang="en-US"/>
              <a:t>Steering</a:t>
            </a:r>
          </a:p>
        </p:txBody>
      </p:sp>
      <p:sp>
        <p:nvSpPr>
          <p:cNvPr id="6" name="Content Placeholder 5">
            <a:extLst>
              <a:ext uri="{FF2B5EF4-FFF2-40B4-BE49-F238E27FC236}">
                <a16:creationId xmlns:a16="http://schemas.microsoft.com/office/drawing/2014/main" id="{8F76B420-98F7-3EB3-6D47-ACA09DAF2052}"/>
              </a:ext>
            </a:extLst>
          </p:cNvPr>
          <p:cNvSpPr>
            <a:spLocks noGrp="1"/>
          </p:cNvSpPr>
          <p:nvPr>
            <p:ph sz="quarter" idx="4"/>
          </p:nvPr>
        </p:nvSpPr>
        <p:spPr/>
        <p:txBody>
          <a:bodyPr/>
          <a:lstStyle/>
          <a:p>
            <a:endParaRPr lang="en-US"/>
          </a:p>
        </p:txBody>
      </p:sp>
      <p:sp>
        <p:nvSpPr>
          <p:cNvPr id="8" name="Slide Number Placeholder 7">
            <a:extLst>
              <a:ext uri="{FF2B5EF4-FFF2-40B4-BE49-F238E27FC236}">
                <a16:creationId xmlns:a16="http://schemas.microsoft.com/office/drawing/2014/main" id="{7B0ACC61-81C9-C827-2E7D-D5ECCC65B34A}"/>
              </a:ext>
            </a:extLst>
          </p:cNvPr>
          <p:cNvSpPr>
            <a:spLocks noGrp="1"/>
          </p:cNvSpPr>
          <p:nvPr>
            <p:ph type="sldNum" sz="quarter" idx="12"/>
          </p:nvPr>
        </p:nvSpPr>
        <p:spPr/>
        <p:txBody>
          <a:bodyPr/>
          <a:lstStyle/>
          <a:p>
            <a:fld id="{73B850FF-6169-4056-8077-06FFA93A5366}" type="slidenum">
              <a:rPr lang="en-US" smtClean="0"/>
              <a:t>35</a:t>
            </a:fld>
            <a:endParaRPr lang="en-US"/>
          </a:p>
        </p:txBody>
      </p:sp>
    </p:spTree>
    <p:extLst>
      <p:ext uri="{BB962C8B-B14F-4D97-AF65-F5344CB8AC3E}">
        <p14:creationId xmlns:p14="http://schemas.microsoft.com/office/powerpoint/2010/main" val="25962127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9EB4-FCF8-734B-6BCB-ABD73CE9C400}"/>
              </a:ext>
            </a:extLst>
          </p:cNvPr>
          <p:cNvSpPr>
            <a:spLocks noGrp="1"/>
          </p:cNvSpPr>
          <p:nvPr>
            <p:ph type="title"/>
          </p:nvPr>
        </p:nvSpPr>
        <p:spPr/>
        <p:txBody>
          <a:bodyPr>
            <a:noAutofit/>
          </a:bodyPr>
          <a:lstStyle/>
          <a:p>
            <a:r>
              <a:rPr lang="en-US"/>
              <a:t>Questions</a:t>
            </a:r>
          </a:p>
        </p:txBody>
      </p:sp>
      <p:sp>
        <p:nvSpPr>
          <p:cNvPr id="3" name="Text Placeholder 2">
            <a:extLst>
              <a:ext uri="{FF2B5EF4-FFF2-40B4-BE49-F238E27FC236}">
                <a16:creationId xmlns:a16="http://schemas.microsoft.com/office/drawing/2014/main" id="{FC4D5457-F491-B7A5-CAD2-EF4A64A91CBA}"/>
              </a:ext>
            </a:extLst>
          </p:cNvPr>
          <p:cNvSpPr>
            <a:spLocks noGrp="1"/>
          </p:cNvSpPr>
          <p:nvPr>
            <p:ph type="body" idx="1"/>
          </p:nvPr>
        </p:nvSpPr>
        <p:spPr/>
        <p:txBody>
          <a:bodyPr/>
          <a:lstStyle/>
          <a:p>
            <a:r>
              <a:rPr lang="en-US"/>
              <a:t>Driving </a:t>
            </a:r>
          </a:p>
        </p:txBody>
      </p:sp>
      <p:sp>
        <p:nvSpPr>
          <p:cNvPr id="4" name="Content Placeholder 3">
            <a:extLst>
              <a:ext uri="{FF2B5EF4-FFF2-40B4-BE49-F238E27FC236}">
                <a16:creationId xmlns:a16="http://schemas.microsoft.com/office/drawing/2014/main" id="{24E8BC7C-71A4-CBAD-6222-BBF000F0DB1D}"/>
              </a:ext>
            </a:extLst>
          </p:cNvPr>
          <p:cNvSpPr>
            <a:spLocks noGrp="1"/>
          </p:cNvSpPr>
          <p:nvPr>
            <p:ph sz="half" idx="2"/>
          </p:nvPr>
        </p:nvSpPr>
        <p:spPr/>
        <p:txBody>
          <a:bodyPr>
            <a:normAutofit/>
          </a:bodyPr>
          <a:lstStyle/>
          <a:p>
            <a:endParaRPr lang="en-US"/>
          </a:p>
        </p:txBody>
      </p:sp>
      <p:sp>
        <p:nvSpPr>
          <p:cNvPr id="5" name="Text Placeholder 4">
            <a:extLst>
              <a:ext uri="{FF2B5EF4-FFF2-40B4-BE49-F238E27FC236}">
                <a16:creationId xmlns:a16="http://schemas.microsoft.com/office/drawing/2014/main" id="{DA8A5B6F-25AD-1BDB-56D0-7B610D357F13}"/>
              </a:ext>
            </a:extLst>
          </p:cNvPr>
          <p:cNvSpPr>
            <a:spLocks noGrp="1"/>
          </p:cNvSpPr>
          <p:nvPr>
            <p:ph type="body" sz="quarter" idx="3"/>
          </p:nvPr>
        </p:nvSpPr>
        <p:spPr/>
        <p:txBody>
          <a:bodyPr/>
          <a:lstStyle/>
          <a:p>
            <a:r>
              <a:rPr lang="en-US"/>
              <a:t>Steering</a:t>
            </a:r>
          </a:p>
        </p:txBody>
      </p:sp>
      <p:sp>
        <p:nvSpPr>
          <p:cNvPr id="6" name="Content Placeholder 5">
            <a:extLst>
              <a:ext uri="{FF2B5EF4-FFF2-40B4-BE49-F238E27FC236}">
                <a16:creationId xmlns:a16="http://schemas.microsoft.com/office/drawing/2014/main" id="{8F76B420-98F7-3EB3-6D47-ACA09DAF2052}"/>
              </a:ext>
            </a:extLst>
          </p:cNvPr>
          <p:cNvSpPr>
            <a:spLocks noGrp="1"/>
          </p:cNvSpPr>
          <p:nvPr>
            <p:ph sz="quarter" idx="4"/>
          </p:nvPr>
        </p:nvSpPr>
        <p:spPr/>
        <p:txBody>
          <a:bodyPr vert="horz" lIns="91440" tIns="45720" rIns="91440" bIns="45720" rtlCol="0" anchor="t">
            <a:normAutofit/>
          </a:bodyPr>
          <a:lstStyle/>
          <a:p>
            <a:pPr>
              <a:lnSpc>
                <a:spcPct val="90000"/>
              </a:lnSpc>
            </a:pPr>
            <a:endParaRPr lang="en-US"/>
          </a:p>
        </p:txBody>
      </p:sp>
      <p:sp>
        <p:nvSpPr>
          <p:cNvPr id="8" name="Slide Number Placeholder 7">
            <a:extLst>
              <a:ext uri="{FF2B5EF4-FFF2-40B4-BE49-F238E27FC236}">
                <a16:creationId xmlns:a16="http://schemas.microsoft.com/office/drawing/2014/main" id="{7B0ACC61-81C9-C827-2E7D-D5ECCC65B34A}"/>
              </a:ext>
            </a:extLst>
          </p:cNvPr>
          <p:cNvSpPr>
            <a:spLocks noGrp="1"/>
          </p:cNvSpPr>
          <p:nvPr>
            <p:ph type="sldNum" sz="quarter" idx="12"/>
          </p:nvPr>
        </p:nvSpPr>
        <p:spPr/>
        <p:txBody>
          <a:bodyPr/>
          <a:lstStyle/>
          <a:p>
            <a:fld id="{73B850FF-6169-4056-8077-06FFA93A5366}" type="slidenum">
              <a:rPr lang="en-US" smtClean="0"/>
              <a:t>36</a:t>
            </a:fld>
            <a:endParaRPr lang="en-US"/>
          </a:p>
        </p:txBody>
      </p:sp>
    </p:spTree>
    <p:extLst>
      <p:ext uri="{BB962C8B-B14F-4D97-AF65-F5344CB8AC3E}">
        <p14:creationId xmlns:p14="http://schemas.microsoft.com/office/powerpoint/2010/main" val="32070484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26B0FCFA-8A2E-4F10-87BD-34565BD7C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5" name="Rectangle 14">
            <a:extLst>
              <a:ext uri="{FF2B5EF4-FFF2-40B4-BE49-F238E27FC236}">
                <a16:creationId xmlns:a16="http://schemas.microsoft.com/office/drawing/2014/main" id="{32DA72A5-2775-4FE6-9A97-1C8DEE0E0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7" name="Picture 16">
            <a:extLst>
              <a:ext uri="{FF2B5EF4-FFF2-40B4-BE49-F238E27FC236}">
                <a16:creationId xmlns:a16="http://schemas.microsoft.com/office/drawing/2014/main" id="{28966E53-3C41-4F5A-A432-755BFE5D75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609600" y="533400"/>
            <a:ext cx="2438400" cy="2438400"/>
          </a:xfrm>
          <a:prstGeom prst="rect">
            <a:avLst/>
          </a:prstGeom>
        </p:spPr>
      </p:pic>
      <p:pic>
        <p:nvPicPr>
          <p:cNvPr id="19" name="Picture 18">
            <a:extLst>
              <a:ext uri="{FF2B5EF4-FFF2-40B4-BE49-F238E27FC236}">
                <a16:creationId xmlns:a16="http://schemas.microsoft.com/office/drawing/2014/main" id="{D47F75BB-A3CB-4161-B316-A2A9C88F72D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a:off x="10820400" y="3144779"/>
            <a:ext cx="1371600" cy="2548349"/>
          </a:xfrm>
          <a:prstGeom prst="rect">
            <a:avLst/>
          </a:prstGeom>
        </p:spPr>
      </p:pic>
      <p:sp>
        <p:nvSpPr>
          <p:cNvPr id="2" name="Title 1">
            <a:extLst>
              <a:ext uri="{FF2B5EF4-FFF2-40B4-BE49-F238E27FC236}">
                <a16:creationId xmlns:a16="http://schemas.microsoft.com/office/drawing/2014/main" id="{EC65FDEF-AA97-D271-821A-0345012E639D}"/>
              </a:ext>
            </a:extLst>
          </p:cNvPr>
          <p:cNvSpPr>
            <a:spLocks noGrp="1"/>
          </p:cNvSpPr>
          <p:nvPr>
            <p:ph type="title"/>
          </p:nvPr>
        </p:nvSpPr>
        <p:spPr>
          <a:xfrm>
            <a:off x="3429000" y="775412"/>
            <a:ext cx="7391400" cy="2593263"/>
          </a:xfrm>
        </p:spPr>
        <p:txBody>
          <a:bodyPr vert="horz" lIns="91440" tIns="45720" rIns="91440" bIns="45720" rtlCol="0" anchor="b">
            <a:normAutofit/>
          </a:bodyPr>
          <a:lstStyle/>
          <a:p>
            <a:r>
              <a:rPr lang="en-US" sz="5200">
                <a:solidFill>
                  <a:schemeClr val="tx2"/>
                </a:solidFill>
              </a:rPr>
              <a:t>Lab 3: Control Design and Implementation</a:t>
            </a:r>
          </a:p>
          <a:p>
            <a:endParaRPr lang="en-US" sz="5200">
              <a:solidFill>
                <a:schemeClr val="tx2"/>
              </a:solidFill>
            </a:endParaRPr>
          </a:p>
        </p:txBody>
      </p:sp>
      <p:sp>
        <p:nvSpPr>
          <p:cNvPr id="4" name="Slide Number Placeholder 3">
            <a:extLst>
              <a:ext uri="{FF2B5EF4-FFF2-40B4-BE49-F238E27FC236}">
                <a16:creationId xmlns:a16="http://schemas.microsoft.com/office/drawing/2014/main" id="{CCE18A18-3FB3-08FD-49BB-A330ADE3CDB2}"/>
              </a:ext>
            </a:extLst>
          </p:cNvPr>
          <p:cNvSpPr>
            <a:spLocks noGrp="1"/>
          </p:cNvSpPr>
          <p:nvPr>
            <p:ph type="sldNum" sz="quarter" idx="12"/>
          </p:nvPr>
        </p:nvSpPr>
        <p:spPr>
          <a:xfrm>
            <a:off x="8610600" y="6324600"/>
            <a:ext cx="2743200" cy="365125"/>
          </a:xfrm>
        </p:spPr>
        <p:txBody>
          <a:bodyPr vert="horz" lIns="91440" tIns="45720" rIns="91440" bIns="45720" rtlCol="0" anchor="ctr">
            <a:normAutofit/>
          </a:bodyPr>
          <a:lstStyle/>
          <a:p>
            <a:pPr>
              <a:spcAft>
                <a:spcPts val="600"/>
              </a:spcAft>
            </a:pPr>
            <a:fld id="{73B850FF-6169-4056-8077-06FFA93A5366}" type="slidenum">
              <a:rPr lang="en-US">
                <a:solidFill>
                  <a:schemeClr val="tx1">
                    <a:alpha val="60000"/>
                  </a:schemeClr>
                </a:solidFill>
              </a:rPr>
              <a:pPr>
                <a:spcAft>
                  <a:spcPts val="600"/>
                </a:spcAft>
              </a:pPr>
              <a:t>37</a:t>
            </a:fld>
            <a:endParaRPr lang="en-US">
              <a:solidFill>
                <a:schemeClr val="tx1">
                  <a:alpha val="60000"/>
                </a:schemeClr>
              </a:solidFill>
            </a:endParaRPr>
          </a:p>
        </p:txBody>
      </p:sp>
    </p:spTree>
    <p:extLst>
      <p:ext uri="{BB962C8B-B14F-4D97-AF65-F5344CB8AC3E}">
        <p14:creationId xmlns:p14="http://schemas.microsoft.com/office/powerpoint/2010/main" val="35368561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9EB4-FCF8-734B-6BCB-ABD73CE9C400}"/>
              </a:ext>
            </a:extLst>
          </p:cNvPr>
          <p:cNvSpPr>
            <a:spLocks noGrp="1"/>
          </p:cNvSpPr>
          <p:nvPr>
            <p:ph type="title"/>
          </p:nvPr>
        </p:nvSpPr>
        <p:spPr/>
        <p:txBody>
          <a:bodyPr>
            <a:noAutofit/>
          </a:bodyPr>
          <a:lstStyle/>
          <a:p>
            <a:r>
              <a:rPr lang="en-US"/>
              <a:t>General Objectives</a:t>
            </a:r>
          </a:p>
        </p:txBody>
      </p:sp>
      <p:sp>
        <p:nvSpPr>
          <p:cNvPr id="3" name="Text Placeholder 2">
            <a:extLst>
              <a:ext uri="{FF2B5EF4-FFF2-40B4-BE49-F238E27FC236}">
                <a16:creationId xmlns:a16="http://schemas.microsoft.com/office/drawing/2014/main" id="{FC4D5457-F491-B7A5-CAD2-EF4A64A91CBA}"/>
              </a:ext>
            </a:extLst>
          </p:cNvPr>
          <p:cNvSpPr>
            <a:spLocks noGrp="1"/>
          </p:cNvSpPr>
          <p:nvPr>
            <p:ph type="body" idx="1"/>
          </p:nvPr>
        </p:nvSpPr>
        <p:spPr/>
        <p:txBody>
          <a:bodyPr/>
          <a:lstStyle/>
          <a:p>
            <a:r>
              <a:rPr lang="en-US"/>
              <a:t>Driving </a:t>
            </a:r>
          </a:p>
        </p:txBody>
      </p:sp>
      <p:sp>
        <p:nvSpPr>
          <p:cNvPr id="4" name="Content Placeholder 3">
            <a:extLst>
              <a:ext uri="{FF2B5EF4-FFF2-40B4-BE49-F238E27FC236}">
                <a16:creationId xmlns:a16="http://schemas.microsoft.com/office/drawing/2014/main" id="{24E8BC7C-71A4-CBAD-6222-BBF000F0DB1D}"/>
              </a:ext>
            </a:extLst>
          </p:cNvPr>
          <p:cNvSpPr>
            <a:spLocks noGrp="1"/>
          </p:cNvSpPr>
          <p:nvPr>
            <p:ph sz="half" idx="2"/>
          </p:nvPr>
        </p:nvSpPr>
        <p:spPr/>
        <p:txBody>
          <a:bodyPr vert="horz" lIns="91440" tIns="45720" rIns="91440" bIns="45720" rtlCol="0" anchor="t">
            <a:normAutofit fontScale="55000" lnSpcReduction="20000"/>
          </a:bodyPr>
          <a:lstStyle/>
          <a:p>
            <a:pPr>
              <a:lnSpc>
                <a:spcPct val="100000"/>
              </a:lnSpc>
            </a:pPr>
            <a:r>
              <a:rPr lang="en-US">
                <a:solidFill>
                  <a:srgbClr val="FFFFFF"/>
                </a:solidFill>
                <a:ea typeface="+mn-lt"/>
                <a:cs typeface="+mn-lt"/>
              </a:rPr>
              <a:t>Construct a closed-loop controller for a DC motor and identify essential coefficient values.</a:t>
            </a:r>
            <a:endParaRPr lang="en-US">
              <a:solidFill>
                <a:srgbClr val="FFFFFF"/>
              </a:solidFill>
            </a:endParaRPr>
          </a:p>
          <a:p>
            <a:pPr>
              <a:lnSpc>
                <a:spcPct val="100000"/>
              </a:lnSpc>
            </a:pPr>
            <a:r>
              <a:rPr lang="en-US">
                <a:solidFill>
                  <a:srgbClr val="FFFFFF"/>
                </a:solidFill>
                <a:ea typeface="+mn-lt"/>
                <a:cs typeface="+mn-lt"/>
              </a:rPr>
              <a:t>Conduct simulations to compare the continuous time response of open versus closed-loop systems using MATLAB.</a:t>
            </a:r>
            <a:endParaRPr lang="en-US">
              <a:solidFill>
                <a:srgbClr val="FFFFFF"/>
              </a:solidFill>
            </a:endParaRPr>
          </a:p>
          <a:p>
            <a:pPr>
              <a:lnSpc>
                <a:spcPct val="100000"/>
              </a:lnSpc>
            </a:pPr>
            <a:r>
              <a:rPr lang="en-US">
                <a:solidFill>
                  <a:srgbClr val="FFFFFF"/>
                </a:solidFill>
                <a:ea typeface="+mn-lt"/>
                <a:cs typeface="+mn-lt"/>
              </a:rPr>
              <a:t>Assess the system's stability through its transfer function, applying the Nyquist stability criterion.</a:t>
            </a:r>
            <a:endParaRPr lang="en-US">
              <a:solidFill>
                <a:srgbClr val="FFFFFF"/>
              </a:solidFill>
            </a:endParaRPr>
          </a:p>
          <a:p>
            <a:pPr>
              <a:lnSpc>
                <a:spcPct val="100000"/>
              </a:lnSpc>
            </a:pPr>
            <a:r>
              <a:rPr lang="en-US">
                <a:solidFill>
                  <a:srgbClr val="FFFFFF"/>
                </a:solidFill>
                <a:ea typeface="+mn-lt"/>
                <a:cs typeface="+mn-lt"/>
              </a:rPr>
              <a:t>Execute simulations of the discretized model of the closed-loop system with Simulink software, and then compare these findings to the continuous time results obtained from MATLAB.</a:t>
            </a:r>
            <a:endParaRPr lang="en-US">
              <a:solidFill>
                <a:srgbClr val="FFFFFF"/>
              </a:solidFill>
            </a:endParaRPr>
          </a:p>
          <a:p>
            <a:pPr>
              <a:lnSpc>
                <a:spcPct val="100000"/>
              </a:lnSpc>
            </a:pPr>
            <a:r>
              <a:rPr lang="en-US">
                <a:solidFill>
                  <a:srgbClr val="FFFFFF"/>
                </a:solidFill>
                <a:ea typeface="+mn-lt"/>
                <a:cs typeface="+mn-lt"/>
              </a:rPr>
              <a:t>Execute the implementation of a microcontroller-based closed-loop control for the DC motor.</a:t>
            </a:r>
            <a:endParaRPr lang="en-US">
              <a:solidFill>
                <a:srgbClr val="FFFFFF"/>
              </a:solidFill>
            </a:endParaRPr>
          </a:p>
          <a:p>
            <a:pPr>
              <a:lnSpc>
                <a:spcPct val="100000"/>
              </a:lnSpc>
            </a:pPr>
            <a:r>
              <a:rPr lang="en-US">
                <a:solidFill>
                  <a:srgbClr val="FFFFFF"/>
                </a:solidFill>
                <a:ea typeface="+mn-lt"/>
                <a:cs typeface="+mn-lt"/>
              </a:rPr>
              <a:t>Perform comprehensive testing and validation of the full control system.</a:t>
            </a:r>
            <a:endParaRPr lang="en-US">
              <a:solidFill>
                <a:srgbClr val="FFFFFF"/>
              </a:solidFill>
            </a:endParaRPr>
          </a:p>
        </p:txBody>
      </p:sp>
      <p:sp>
        <p:nvSpPr>
          <p:cNvPr id="5" name="Text Placeholder 4">
            <a:extLst>
              <a:ext uri="{FF2B5EF4-FFF2-40B4-BE49-F238E27FC236}">
                <a16:creationId xmlns:a16="http://schemas.microsoft.com/office/drawing/2014/main" id="{DA8A5B6F-25AD-1BDB-56D0-7B610D357F13}"/>
              </a:ext>
            </a:extLst>
          </p:cNvPr>
          <p:cNvSpPr>
            <a:spLocks noGrp="1"/>
          </p:cNvSpPr>
          <p:nvPr>
            <p:ph type="body" sz="quarter" idx="3"/>
          </p:nvPr>
        </p:nvSpPr>
        <p:spPr/>
        <p:txBody>
          <a:bodyPr/>
          <a:lstStyle/>
          <a:p>
            <a:r>
              <a:rPr lang="en-US"/>
              <a:t>Steering</a:t>
            </a:r>
          </a:p>
        </p:txBody>
      </p:sp>
      <p:sp>
        <p:nvSpPr>
          <p:cNvPr id="6" name="Content Placeholder 5">
            <a:extLst>
              <a:ext uri="{FF2B5EF4-FFF2-40B4-BE49-F238E27FC236}">
                <a16:creationId xmlns:a16="http://schemas.microsoft.com/office/drawing/2014/main" id="{8F76B420-98F7-3EB3-6D47-ACA09DAF2052}"/>
              </a:ext>
            </a:extLst>
          </p:cNvPr>
          <p:cNvSpPr>
            <a:spLocks noGrp="1"/>
          </p:cNvSpPr>
          <p:nvPr>
            <p:ph sz="quarter" idx="4"/>
          </p:nvPr>
        </p:nvSpPr>
        <p:spPr/>
        <p:txBody>
          <a:bodyPr vert="horz" lIns="91440" tIns="45720" rIns="91440" bIns="45720" rtlCol="0" anchor="t">
            <a:normAutofit fontScale="55000" lnSpcReduction="20000"/>
          </a:bodyPr>
          <a:lstStyle/>
          <a:p>
            <a:r>
              <a:rPr lang="en-US" sz="1400"/>
              <a:t>Develop a closed-loop DC motor controller and establish the required coefficient values.</a:t>
            </a:r>
          </a:p>
          <a:p>
            <a:r>
              <a:rPr lang="en-US" sz="1400"/>
              <a:t>Perform simulations of the open versus closed-loop system's continuous time response using MATLAB.</a:t>
            </a:r>
          </a:p>
          <a:p>
            <a:r>
              <a:rPr lang="en-US" sz="1400"/>
              <a:t>Evaluate the system's stability through its transfer function using the Nyquist stability criterion.</a:t>
            </a:r>
          </a:p>
          <a:p>
            <a:r>
              <a:rPr lang="en-US" sz="1400"/>
              <a:t>Simulate the discretized model of the closed-loop system using Simulink software and compare these results with continuous time outcomes from MATLAB.</a:t>
            </a:r>
          </a:p>
          <a:p>
            <a:r>
              <a:rPr lang="en-US" sz="1400"/>
              <a:t>Implement a microcontroller-based closed-loop control for the DC motor.</a:t>
            </a:r>
          </a:p>
          <a:p>
            <a:r>
              <a:rPr lang="en-US" sz="1400"/>
              <a:t>Conduct thorough testing and validation of the entire control system.</a:t>
            </a:r>
          </a:p>
        </p:txBody>
      </p:sp>
      <p:sp>
        <p:nvSpPr>
          <p:cNvPr id="8" name="Slide Number Placeholder 7">
            <a:extLst>
              <a:ext uri="{FF2B5EF4-FFF2-40B4-BE49-F238E27FC236}">
                <a16:creationId xmlns:a16="http://schemas.microsoft.com/office/drawing/2014/main" id="{7B0ACC61-81C9-C827-2E7D-D5ECCC65B34A}"/>
              </a:ext>
            </a:extLst>
          </p:cNvPr>
          <p:cNvSpPr>
            <a:spLocks noGrp="1"/>
          </p:cNvSpPr>
          <p:nvPr>
            <p:ph type="sldNum" sz="quarter" idx="12"/>
          </p:nvPr>
        </p:nvSpPr>
        <p:spPr/>
        <p:txBody>
          <a:bodyPr/>
          <a:lstStyle/>
          <a:p>
            <a:fld id="{73B850FF-6169-4056-8077-06FFA93A5366}" type="slidenum">
              <a:rPr lang="en-US" smtClean="0"/>
              <a:t>38</a:t>
            </a:fld>
            <a:endParaRPr lang="en-US"/>
          </a:p>
        </p:txBody>
      </p:sp>
    </p:spTree>
    <p:extLst>
      <p:ext uri="{BB962C8B-B14F-4D97-AF65-F5344CB8AC3E}">
        <p14:creationId xmlns:p14="http://schemas.microsoft.com/office/powerpoint/2010/main" val="1772584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9EB4-FCF8-734B-6BCB-ABD73CE9C400}"/>
              </a:ext>
            </a:extLst>
          </p:cNvPr>
          <p:cNvSpPr>
            <a:spLocks noGrp="1"/>
          </p:cNvSpPr>
          <p:nvPr>
            <p:ph type="title"/>
          </p:nvPr>
        </p:nvSpPr>
        <p:spPr/>
        <p:txBody>
          <a:bodyPr>
            <a:noAutofit/>
          </a:bodyPr>
          <a:lstStyle/>
          <a:p>
            <a:r>
              <a:rPr lang="en-US"/>
              <a:t>Main Specifications</a:t>
            </a:r>
          </a:p>
        </p:txBody>
      </p:sp>
      <p:sp>
        <p:nvSpPr>
          <p:cNvPr id="3" name="Text Placeholder 2">
            <a:extLst>
              <a:ext uri="{FF2B5EF4-FFF2-40B4-BE49-F238E27FC236}">
                <a16:creationId xmlns:a16="http://schemas.microsoft.com/office/drawing/2014/main" id="{FC4D5457-F491-B7A5-CAD2-EF4A64A91CBA}"/>
              </a:ext>
            </a:extLst>
          </p:cNvPr>
          <p:cNvSpPr>
            <a:spLocks noGrp="1"/>
          </p:cNvSpPr>
          <p:nvPr>
            <p:ph type="body" idx="1"/>
          </p:nvPr>
        </p:nvSpPr>
        <p:spPr/>
        <p:txBody>
          <a:bodyPr/>
          <a:lstStyle/>
          <a:p>
            <a:r>
              <a:rPr lang="en-US"/>
              <a:t>Driving </a:t>
            </a:r>
          </a:p>
        </p:txBody>
      </p:sp>
      <p:sp>
        <p:nvSpPr>
          <p:cNvPr id="4" name="Content Placeholder 3">
            <a:extLst>
              <a:ext uri="{FF2B5EF4-FFF2-40B4-BE49-F238E27FC236}">
                <a16:creationId xmlns:a16="http://schemas.microsoft.com/office/drawing/2014/main" id="{24E8BC7C-71A4-CBAD-6222-BBF000F0DB1D}"/>
              </a:ext>
            </a:extLst>
          </p:cNvPr>
          <p:cNvSpPr>
            <a:spLocks noGrp="1"/>
          </p:cNvSpPr>
          <p:nvPr>
            <p:ph sz="half" idx="2"/>
          </p:nvPr>
        </p:nvSpPr>
        <p:spPr/>
        <p:txBody>
          <a:bodyPr vert="horz" lIns="91440" tIns="45720" rIns="91440" bIns="45720" rtlCol="0" anchor="t">
            <a:normAutofit fontScale="77500" lnSpcReduction="20000"/>
          </a:bodyPr>
          <a:lstStyle/>
          <a:p>
            <a:r>
              <a:rPr lang="en-US">
                <a:ea typeface="+mn-lt"/>
                <a:cs typeface="+mn-lt"/>
              </a:rPr>
              <a:t>Motor voltage: 7.4V </a:t>
            </a:r>
          </a:p>
          <a:p>
            <a:r>
              <a:rPr lang="en-US">
                <a:ea typeface="+mn-lt"/>
                <a:cs typeface="+mn-lt"/>
              </a:rPr>
              <a:t>Switching frequency: ≥20 kHz</a:t>
            </a:r>
          </a:p>
          <a:p>
            <a:r>
              <a:rPr lang="en-US">
                <a:ea typeface="+mn-lt"/>
                <a:cs typeface="+mn-lt"/>
              </a:rPr>
              <a:t>Speed range: 0-100% unidirectional</a:t>
            </a:r>
          </a:p>
          <a:p>
            <a:pPr lvl="1">
              <a:buFont typeface="Courier New" panose="020B0604020202020204" pitchFamily="34" charset="0"/>
              <a:buChar char="o"/>
            </a:pPr>
            <a:r>
              <a:rPr lang="en-US">
                <a:ea typeface="+mn-lt"/>
                <a:cs typeface="+mn-lt"/>
              </a:rPr>
              <a:t>Design to match the DC motor’s rated voltage</a:t>
            </a:r>
            <a:endParaRPr lang="en-US"/>
          </a:p>
          <a:p>
            <a:r>
              <a:rPr lang="en-US">
                <a:ea typeface="+mn-lt"/>
                <a:cs typeface="+mn-lt"/>
              </a:rPr>
              <a:t>External voltage (speed) reference: 0-3.3V </a:t>
            </a:r>
          </a:p>
          <a:p>
            <a:r>
              <a:rPr lang="en-US">
                <a:ea typeface="+mn-lt"/>
                <a:cs typeface="+mn-lt"/>
              </a:rPr>
              <a:t>Feedback: Reflective Object Sensor</a:t>
            </a:r>
            <a:endParaRPr lang="en-US"/>
          </a:p>
        </p:txBody>
      </p:sp>
      <p:sp>
        <p:nvSpPr>
          <p:cNvPr id="5" name="Text Placeholder 4">
            <a:extLst>
              <a:ext uri="{FF2B5EF4-FFF2-40B4-BE49-F238E27FC236}">
                <a16:creationId xmlns:a16="http://schemas.microsoft.com/office/drawing/2014/main" id="{DA8A5B6F-25AD-1BDB-56D0-7B610D357F13}"/>
              </a:ext>
            </a:extLst>
          </p:cNvPr>
          <p:cNvSpPr>
            <a:spLocks noGrp="1"/>
          </p:cNvSpPr>
          <p:nvPr>
            <p:ph type="body" sz="quarter" idx="3"/>
          </p:nvPr>
        </p:nvSpPr>
        <p:spPr/>
        <p:txBody>
          <a:bodyPr/>
          <a:lstStyle/>
          <a:p>
            <a:r>
              <a:rPr lang="en-US"/>
              <a:t>Steering</a:t>
            </a:r>
          </a:p>
        </p:txBody>
      </p:sp>
      <p:sp>
        <p:nvSpPr>
          <p:cNvPr id="6" name="Content Placeholder 5">
            <a:extLst>
              <a:ext uri="{FF2B5EF4-FFF2-40B4-BE49-F238E27FC236}">
                <a16:creationId xmlns:a16="http://schemas.microsoft.com/office/drawing/2014/main" id="{8F76B420-98F7-3EB3-6D47-ACA09DAF2052}"/>
              </a:ext>
            </a:extLst>
          </p:cNvPr>
          <p:cNvSpPr>
            <a:spLocks noGrp="1"/>
          </p:cNvSpPr>
          <p:nvPr>
            <p:ph sz="quarter" idx="4"/>
          </p:nvPr>
        </p:nvSpPr>
        <p:spPr/>
        <p:txBody>
          <a:bodyPr vert="horz" lIns="91440" tIns="45720" rIns="91440" bIns="45720" rtlCol="0" anchor="t">
            <a:normAutofit fontScale="77500" lnSpcReduction="20000"/>
          </a:bodyPr>
          <a:lstStyle/>
          <a:p>
            <a:r>
              <a:rPr lang="en-US">
                <a:ea typeface="+mn-lt"/>
                <a:cs typeface="+mn-lt"/>
              </a:rPr>
              <a:t>Servo voltage: 4.8V - 6V </a:t>
            </a:r>
          </a:p>
          <a:p>
            <a:r>
              <a:rPr lang="en-US">
                <a:ea typeface="+mn-lt"/>
                <a:cs typeface="+mn-lt"/>
              </a:rPr>
              <a:t>Communication frequency: 50Hz </a:t>
            </a:r>
          </a:p>
          <a:p>
            <a:r>
              <a:rPr lang="en-US">
                <a:ea typeface="+mn-lt"/>
                <a:cs typeface="+mn-lt"/>
              </a:rPr>
              <a:t>Servo Rotational range: 180⁰ </a:t>
            </a:r>
          </a:p>
          <a:p>
            <a:r>
              <a:rPr lang="en-US">
                <a:ea typeface="+mn-lt"/>
                <a:cs typeface="+mn-lt"/>
              </a:rPr>
              <a:t>Feedback: LC circuit for a given inductance (at 20 kHz)</a:t>
            </a:r>
            <a:endParaRPr lang="en-US"/>
          </a:p>
        </p:txBody>
      </p:sp>
      <p:sp>
        <p:nvSpPr>
          <p:cNvPr id="8" name="Slide Number Placeholder 7">
            <a:extLst>
              <a:ext uri="{FF2B5EF4-FFF2-40B4-BE49-F238E27FC236}">
                <a16:creationId xmlns:a16="http://schemas.microsoft.com/office/drawing/2014/main" id="{7B0ACC61-81C9-C827-2E7D-D5ECCC65B34A}"/>
              </a:ext>
            </a:extLst>
          </p:cNvPr>
          <p:cNvSpPr>
            <a:spLocks noGrp="1"/>
          </p:cNvSpPr>
          <p:nvPr>
            <p:ph type="sldNum" sz="quarter" idx="12"/>
          </p:nvPr>
        </p:nvSpPr>
        <p:spPr/>
        <p:txBody>
          <a:bodyPr/>
          <a:lstStyle/>
          <a:p>
            <a:fld id="{73B850FF-6169-4056-8077-06FFA93A5366}" type="slidenum">
              <a:rPr lang="en-US" smtClean="0"/>
              <a:t>39</a:t>
            </a:fld>
            <a:endParaRPr lang="en-US"/>
          </a:p>
        </p:txBody>
      </p:sp>
    </p:spTree>
    <p:extLst>
      <p:ext uri="{BB962C8B-B14F-4D97-AF65-F5344CB8AC3E}">
        <p14:creationId xmlns:p14="http://schemas.microsoft.com/office/powerpoint/2010/main" val="7821393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9EB4-FCF8-734B-6BCB-ABD73CE9C400}"/>
              </a:ext>
            </a:extLst>
          </p:cNvPr>
          <p:cNvSpPr>
            <a:spLocks noGrp="1"/>
          </p:cNvSpPr>
          <p:nvPr>
            <p:ph type="title"/>
          </p:nvPr>
        </p:nvSpPr>
        <p:spPr/>
        <p:txBody>
          <a:bodyPr>
            <a:noAutofit/>
          </a:bodyPr>
          <a:lstStyle/>
          <a:p>
            <a:r>
              <a:rPr lang="en-US"/>
              <a:t>Results</a:t>
            </a:r>
          </a:p>
        </p:txBody>
      </p:sp>
      <p:sp>
        <p:nvSpPr>
          <p:cNvPr id="3" name="Text Placeholder 2">
            <a:extLst>
              <a:ext uri="{FF2B5EF4-FFF2-40B4-BE49-F238E27FC236}">
                <a16:creationId xmlns:a16="http://schemas.microsoft.com/office/drawing/2014/main" id="{FC4D5457-F491-B7A5-CAD2-EF4A64A91CBA}"/>
              </a:ext>
            </a:extLst>
          </p:cNvPr>
          <p:cNvSpPr>
            <a:spLocks noGrp="1"/>
          </p:cNvSpPr>
          <p:nvPr>
            <p:ph type="body" idx="1"/>
          </p:nvPr>
        </p:nvSpPr>
        <p:spPr/>
        <p:txBody>
          <a:bodyPr/>
          <a:lstStyle/>
          <a:p>
            <a:r>
              <a:rPr lang="en-US"/>
              <a:t>Driving </a:t>
            </a:r>
          </a:p>
        </p:txBody>
      </p:sp>
      <p:sp>
        <p:nvSpPr>
          <p:cNvPr id="4" name="Content Placeholder 3">
            <a:extLst>
              <a:ext uri="{FF2B5EF4-FFF2-40B4-BE49-F238E27FC236}">
                <a16:creationId xmlns:a16="http://schemas.microsoft.com/office/drawing/2014/main" id="{24E8BC7C-71A4-CBAD-6222-BBF000F0DB1D}"/>
              </a:ext>
            </a:extLst>
          </p:cNvPr>
          <p:cNvSpPr>
            <a:spLocks noGrp="1"/>
          </p:cNvSpPr>
          <p:nvPr>
            <p:ph sz="half" idx="2"/>
          </p:nvPr>
        </p:nvSpPr>
        <p:spPr/>
        <p:txBody>
          <a:bodyPr/>
          <a:lstStyle/>
          <a:p>
            <a:endParaRPr lang="en-US"/>
          </a:p>
        </p:txBody>
      </p:sp>
      <p:sp>
        <p:nvSpPr>
          <p:cNvPr id="5" name="Text Placeholder 4">
            <a:extLst>
              <a:ext uri="{FF2B5EF4-FFF2-40B4-BE49-F238E27FC236}">
                <a16:creationId xmlns:a16="http://schemas.microsoft.com/office/drawing/2014/main" id="{DA8A5B6F-25AD-1BDB-56D0-7B610D357F13}"/>
              </a:ext>
            </a:extLst>
          </p:cNvPr>
          <p:cNvSpPr>
            <a:spLocks noGrp="1"/>
          </p:cNvSpPr>
          <p:nvPr>
            <p:ph type="body" sz="quarter" idx="3"/>
          </p:nvPr>
        </p:nvSpPr>
        <p:spPr/>
        <p:txBody>
          <a:bodyPr/>
          <a:lstStyle/>
          <a:p>
            <a:r>
              <a:rPr lang="en-US"/>
              <a:t>Steering</a:t>
            </a:r>
          </a:p>
        </p:txBody>
      </p:sp>
      <p:sp>
        <p:nvSpPr>
          <p:cNvPr id="6" name="Content Placeholder 5">
            <a:extLst>
              <a:ext uri="{FF2B5EF4-FFF2-40B4-BE49-F238E27FC236}">
                <a16:creationId xmlns:a16="http://schemas.microsoft.com/office/drawing/2014/main" id="{8F76B420-98F7-3EB3-6D47-ACA09DAF2052}"/>
              </a:ext>
            </a:extLst>
          </p:cNvPr>
          <p:cNvSpPr>
            <a:spLocks noGrp="1"/>
          </p:cNvSpPr>
          <p:nvPr>
            <p:ph sz="quarter" idx="4"/>
          </p:nvPr>
        </p:nvSpPr>
        <p:spPr/>
        <p:txBody>
          <a:bodyPr/>
          <a:lstStyle/>
          <a:p>
            <a:endParaRPr lang="en-US"/>
          </a:p>
        </p:txBody>
      </p:sp>
      <p:sp>
        <p:nvSpPr>
          <p:cNvPr id="8" name="Slide Number Placeholder 7">
            <a:extLst>
              <a:ext uri="{FF2B5EF4-FFF2-40B4-BE49-F238E27FC236}">
                <a16:creationId xmlns:a16="http://schemas.microsoft.com/office/drawing/2014/main" id="{7B0ACC61-81C9-C827-2E7D-D5ECCC65B34A}"/>
              </a:ext>
            </a:extLst>
          </p:cNvPr>
          <p:cNvSpPr>
            <a:spLocks noGrp="1"/>
          </p:cNvSpPr>
          <p:nvPr>
            <p:ph type="sldNum" sz="quarter" idx="12"/>
          </p:nvPr>
        </p:nvSpPr>
        <p:spPr/>
        <p:txBody>
          <a:bodyPr/>
          <a:lstStyle/>
          <a:p>
            <a:fld id="{73B850FF-6169-4056-8077-06FFA93A5366}" type="slidenum">
              <a:rPr lang="en-US" smtClean="0"/>
              <a:t>40</a:t>
            </a:fld>
            <a:endParaRPr lang="en-US"/>
          </a:p>
        </p:txBody>
      </p:sp>
    </p:spTree>
    <p:extLst>
      <p:ext uri="{BB962C8B-B14F-4D97-AF65-F5344CB8AC3E}">
        <p14:creationId xmlns:p14="http://schemas.microsoft.com/office/powerpoint/2010/main" val="12102088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9EB4-FCF8-734B-6BCB-ABD73CE9C400}"/>
              </a:ext>
            </a:extLst>
          </p:cNvPr>
          <p:cNvSpPr>
            <a:spLocks noGrp="1"/>
          </p:cNvSpPr>
          <p:nvPr>
            <p:ph type="title"/>
          </p:nvPr>
        </p:nvSpPr>
        <p:spPr/>
        <p:txBody>
          <a:bodyPr>
            <a:noAutofit/>
          </a:bodyPr>
          <a:lstStyle/>
          <a:p>
            <a:r>
              <a:rPr lang="en-US">
                <a:ea typeface="+mj-lt"/>
                <a:cs typeface="+mj-lt"/>
              </a:rPr>
              <a:t>Problems/Solutions</a:t>
            </a:r>
            <a:endParaRPr lang="en-US" b="0">
              <a:ea typeface="+mj-lt"/>
              <a:cs typeface="+mj-lt"/>
            </a:endParaRPr>
          </a:p>
        </p:txBody>
      </p:sp>
      <p:sp>
        <p:nvSpPr>
          <p:cNvPr id="3" name="Text Placeholder 2">
            <a:extLst>
              <a:ext uri="{FF2B5EF4-FFF2-40B4-BE49-F238E27FC236}">
                <a16:creationId xmlns:a16="http://schemas.microsoft.com/office/drawing/2014/main" id="{FC4D5457-F491-B7A5-CAD2-EF4A64A91CBA}"/>
              </a:ext>
            </a:extLst>
          </p:cNvPr>
          <p:cNvSpPr>
            <a:spLocks noGrp="1"/>
          </p:cNvSpPr>
          <p:nvPr>
            <p:ph type="body" idx="1"/>
          </p:nvPr>
        </p:nvSpPr>
        <p:spPr>
          <a:xfrm>
            <a:off x="839788" y="1752600"/>
            <a:ext cx="5157787" cy="472991"/>
          </a:xfrm>
        </p:spPr>
        <p:txBody>
          <a:bodyPr/>
          <a:lstStyle/>
          <a:p>
            <a:r>
              <a:rPr lang="en-US"/>
              <a:t>Driving </a:t>
            </a:r>
          </a:p>
        </p:txBody>
      </p:sp>
      <p:sp>
        <p:nvSpPr>
          <p:cNvPr id="4" name="Content Placeholder 3">
            <a:extLst>
              <a:ext uri="{FF2B5EF4-FFF2-40B4-BE49-F238E27FC236}">
                <a16:creationId xmlns:a16="http://schemas.microsoft.com/office/drawing/2014/main" id="{24E8BC7C-71A4-CBAD-6222-BBF000F0DB1D}"/>
              </a:ext>
            </a:extLst>
          </p:cNvPr>
          <p:cNvSpPr>
            <a:spLocks noGrp="1"/>
          </p:cNvSpPr>
          <p:nvPr>
            <p:ph sz="half" idx="2"/>
          </p:nvPr>
        </p:nvSpPr>
        <p:spPr>
          <a:xfrm>
            <a:off x="839788" y="2225841"/>
            <a:ext cx="5157787" cy="3963821"/>
          </a:xfrm>
        </p:spPr>
        <p:txBody>
          <a:bodyPr/>
          <a:lstStyle/>
          <a:p>
            <a:endParaRPr lang="en-US"/>
          </a:p>
        </p:txBody>
      </p:sp>
      <p:sp>
        <p:nvSpPr>
          <p:cNvPr id="5" name="Text Placeholder 4">
            <a:extLst>
              <a:ext uri="{FF2B5EF4-FFF2-40B4-BE49-F238E27FC236}">
                <a16:creationId xmlns:a16="http://schemas.microsoft.com/office/drawing/2014/main" id="{DA8A5B6F-25AD-1BDB-56D0-7B610D357F13}"/>
              </a:ext>
            </a:extLst>
          </p:cNvPr>
          <p:cNvSpPr>
            <a:spLocks noGrp="1"/>
          </p:cNvSpPr>
          <p:nvPr>
            <p:ph type="body" sz="quarter" idx="3"/>
          </p:nvPr>
        </p:nvSpPr>
        <p:spPr>
          <a:xfrm>
            <a:off x="6172200" y="1752600"/>
            <a:ext cx="5173162" cy="472991"/>
          </a:xfrm>
        </p:spPr>
        <p:txBody>
          <a:bodyPr/>
          <a:lstStyle/>
          <a:p>
            <a:r>
              <a:rPr lang="en-US"/>
              <a:t>Steering</a:t>
            </a:r>
          </a:p>
        </p:txBody>
      </p:sp>
      <p:sp>
        <p:nvSpPr>
          <p:cNvPr id="6" name="Content Placeholder 5">
            <a:extLst>
              <a:ext uri="{FF2B5EF4-FFF2-40B4-BE49-F238E27FC236}">
                <a16:creationId xmlns:a16="http://schemas.microsoft.com/office/drawing/2014/main" id="{8F76B420-98F7-3EB3-6D47-ACA09DAF2052}"/>
              </a:ext>
            </a:extLst>
          </p:cNvPr>
          <p:cNvSpPr>
            <a:spLocks noGrp="1"/>
          </p:cNvSpPr>
          <p:nvPr>
            <p:ph sz="quarter" idx="4"/>
          </p:nvPr>
        </p:nvSpPr>
        <p:spPr>
          <a:xfrm>
            <a:off x="6172200" y="2225842"/>
            <a:ext cx="5173162" cy="3963820"/>
          </a:xfrm>
        </p:spPr>
        <p:txBody>
          <a:bodyPr/>
          <a:lstStyle/>
          <a:p>
            <a:endParaRPr lang="en-US"/>
          </a:p>
        </p:txBody>
      </p:sp>
      <p:sp>
        <p:nvSpPr>
          <p:cNvPr id="8" name="Slide Number Placeholder 7">
            <a:extLst>
              <a:ext uri="{FF2B5EF4-FFF2-40B4-BE49-F238E27FC236}">
                <a16:creationId xmlns:a16="http://schemas.microsoft.com/office/drawing/2014/main" id="{7B0ACC61-81C9-C827-2E7D-D5ECCC65B34A}"/>
              </a:ext>
            </a:extLst>
          </p:cNvPr>
          <p:cNvSpPr>
            <a:spLocks noGrp="1"/>
          </p:cNvSpPr>
          <p:nvPr>
            <p:ph type="sldNum" sz="quarter" idx="12"/>
          </p:nvPr>
        </p:nvSpPr>
        <p:spPr/>
        <p:txBody>
          <a:bodyPr/>
          <a:lstStyle/>
          <a:p>
            <a:fld id="{73B850FF-6169-4056-8077-06FFA93A5366}" type="slidenum">
              <a:rPr lang="en-US" smtClean="0"/>
              <a:t>41</a:t>
            </a:fld>
            <a:endParaRPr lang="en-US"/>
          </a:p>
        </p:txBody>
      </p:sp>
    </p:spTree>
    <p:extLst>
      <p:ext uri="{BB962C8B-B14F-4D97-AF65-F5344CB8AC3E}">
        <p14:creationId xmlns:p14="http://schemas.microsoft.com/office/powerpoint/2010/main" val="34423189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9EB4-FCF8-734B-6BCB-ABD73CE9C400}"/>
              </a:ext>
            </a:extLst>
          </p:cNvPr>
          <p:cNvSpPr>
            <a:spLocks noGrp="1"/>
          </p:cNvSpPr>
          <p:nvPr>
            <p:ph type="title"/>
          </p:nvPr>
        </p:nvSpPr>
        <p:spPr/>
        <p:txBody>
          <a:bodyPr>
            <a:noAutofit/>
          </a:bodyPr>
          <a:lstStyle/>
          <a:p>
            <a:r>
              <a:rPr lang="en-US"/>
              <a:t>Questions</a:t>
            </a:r>
          </a:p>
        </p:txBody>
      </p:sp>
      <p:sp>
        <p:nvSpPr>
          <p:cNvPr id="3" name="Text Placeholder 2">
            <a:extLst>
              <a:ext uri="{FF2B5EF4-FFF2-40B4-BE49-F238E27FC236}">
                <a16:creationId xmlns:a16="http://schemas.microsoft.com/office/drawing/2014/main" id="{FC4D5457-F491-B7A5-CAD2-EF4A64A91CBA}"/>
              </a:ext>
            </a:extLst>
          </p:cNvPr>
          <p:cNvSpPr>
            <a:spLocks noGrp="1"/>
          </p:cNvSpPr>
          <p:nvPr>
            <p:ph type="body" idx="1"/>
          </p:nvPr>
        </p:nvSpPr>
        <p:spPr/>
        <p:txBody>
          <a:bodyPr/>
          <a:lstStyle/>
          <a:p>
            <a:r>
              <a:rPr lang="en-US"/>
              <a:t>Driving </a:t>
            </a:r>
          </a:p>
        </p:txBody>
      </p:sp>
      <p:sp>
        <p:nvSpPr>
          <p:cNvPr id="4" name="Content Placeholder 3">
            <a:extLst>
              <a:ext uri="{FF2B5EF4-FFF2-40B4-BE49-F238E27FC236}">
                <a16:creationId xmlns:a16="http://schemas.microsoft.com/office/drawing/2014/main" id="{24E8BC7C-71A4-CBAD-6222-BBF000F0DB1D}"/>
              </a:ext>
            </a:extLst>
          </p:cNvPr>
          <p:cNvSpPr>
            <a:spLocks noGrp="1"/>
          </p:cNvSpPr>
          <p:nvPr>
            <p:ph sz="half" idx="2"/>
          </p:nvPr>
        </p:nvSpPr>
        <p:spPr/>
        <p:txBody>
          <a:bodyPr/>
          <a:lstStyle/>
          <a:p>
            <a:endParaRPr lang="en-US"/>
          </a:p>
        </p:txBody>
      </p:sp>
      <p:sp>
        <p:nvSpPr>
          <p:cNvPr id="5" name="Text Placeholder 4">
            <a:extLst>
              <a:ext uri="{FF2B5EF4-FFF2-40B4-BE49-F238E27FC236}">
                <a16:creationId xmlns:a16="http://schemas.microsoft.com/office/drawing/2014/main" id="{DA8A5B6F-25AD-1BDB-56D0-7B610D357F13}"/>
              </a:ext>
            </a:extLst>
          </p:cNvPr>
          <p:cNvSpPr>
            <a:spLocks noGrp="1"/>
          </p:cNvSpPr>
          <p:nvPr>
            <p:ph type="body" sz="quarter" idx="3"/>
          </p:nvPr>
        </p:nvSpPr>
        <p:spPr/>
        <p:txBody>
          <a:bodyPr/>
          <a:lstStyle/>
          <a:p>
            <a:r>
              <a:rPr lang="en-US"/>
              <a:t>Steering</a:t>
            </a:r>
          </a:p>
        </p:txBody>
      </p:sp>
      <p:sp>
        <p:nvSpPr>
          <p:cNvPr id="6" name="Content Placeholder 5">
            <a:extLst>
              <a:ext uri="{FF2B5EF4-FFF2-40B4-BE49-F238E27FC236}">
                <a16:creationId xmlns:a16="http://schemas.microsoft.com/office/drawing/2014/main" id="{8F76B420-98F7-3EB3-6D47-ACA09DAF2052}"/>
              </a:ext>
            </a:extLst>
          </p:cNvPr>
          <p:cNvSpPr>
            <a:spLocks noGrp="1"/>
          </p:cNvSpPr>
          <p:nvPr>
            <p:ph sz="quarter" idx="4"/>
          </p:nvPr>
        </p:nvSpPr>
        <p:spPr/>
        <p:txBody>
          <a:bodyPr/>
          <a:lstStyle/>
          <a:p>
            <a:endParaRPr lang="en-US"/>
          </a:p>
        </p:txBody>
      </p:sp>
      <p:sp>
        <p:nvSpPr>
          <p:cNvPr id="8" name="Slide Number Placeholder 7">
            <a:extLst>
              <a:ext uri="{FF2B5EF4-FFF2-40B4-BE49-F238E27FC236}">
                <a16:creationId xmlns:a16="http://schemas.microsoft.com/office/drawing/2014/main" id="{7B0ACC61-81C9-C827-2E7D-D5ECCC65B34A}"/>
              </a:ext>
            </a:extLst>
          </p:cNvPr>
          <p:cNvSpPr>
            <a:spLocks noGrp="1"/>
          </p:cNvSpPr>
          <p:nvPr>
            <p:ph type="sldNum" sz="quarter" idx="12"/>
          </p:nvPr>
        </p:nvSpPr>
        <p:spPr/>
        <p:txBody>
          <a:bodyPr/>
          <a:lstStyle/>
          <a:p>
            <a:fld id="{73B850FF-6169-4056-8077-06FFA93A5366}" type="slidenum">
              <a:rPr lang="en-US" dirty="0" smtClean="0"/>
              <a:t>42</a:t>
            </a:fld>
            <a:endParaRPr lang="en-US"/>
          </a:p>
        </p:txBody>
      </p:sp>
    </p:spTree>
    <p:extLst>
      <p:ext uri="{BB962C8B-B14F-4D97-AF65-F5344CB8AC3E}">
        <p14:creationId xmlns:p14="http://schemas.microsoft.com/office/powerpoint/2010/main" val="9981694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26B0FCFA-8A2E-4F10-87BD-34565BD7C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5" name="Rectangle 14">
            <a:extLst>
              <a:ext uri="{FF2B5EF4-FFF2-40B4-BE49-F238E27FC236}">
                <a16:creationId xmlns:a16="http://schemas.microsoft.com/office/drawing/2014/main" id="{32DA72A5-2775-4FE6-9A97-1C8DEE0E0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7" name="Picture 16">
            <a:extLst>
              <a:ext uri="{FF2B5EF4-FFF2-40B4-BE49-F238E27FC236}">
                <a16:creationId xmlns:a16="http://schemas.microsoft.com/office/drawing/2014/main" id="{28966E53-3C41-4F5A-A432-755BFE5D75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609600" y="533400"/>
            <a:ext cx="2438400" cy="2438400"/>
          </a:xfrm>
          <a:prstGeom prst="rect">
            <a:avLst/>
          </a:prstGeom>
        </p:spPr>
      </p:pic>
      <p:pic>
        <p:nvPicPr>
          <p:cNvPr id="19" name="Picture 18">
            <a:extLst>
              <a:ext uri="{FF2B5EF4-FFF2-40B4-BE49-F238E27FC236}">
                <a16:creationId xmlns:a16="http://schemas.microsoft.com/office/drawing/2014/main" id="{D47F75BB-A3CB-4161-B316-A2A9C88F72D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a:off x="10820400" y="3144779"/>
            <a:ext cx="1371600" cy="2548349"/>
          </a:xfrm>
          <a:prstGeom prst="rect">
            <a:avLst/>
          </a:prstGeom>
        </p:spPr>
      </p:pic>
      <p:sp>
        <p:nvSpPr>
          <p:cNvPr id="2" name="Title 1">
            <a:extLst>
              <a:ext uri="{FF2B5EF4-FFF2-40B4-BE49-F238E27FC236}">
                <a16:creationId xmlns:a16="http://schemas.microsoft.com/office/drawing/2014/main" id="{EC65FDEF-AA97-D271-821A-0345012E639D}"/>
              </a:ext>
            </a:extLst>
          </p:cNvPr>
          <p:cNvSpPr>
            <a:spLocks noGrp="1"/>
          </p:cNvSpPr>
          <p:nvPr>
            <p:ph type="title"/>
          </p:nvPr>
        </p:nvSpPr>
        <p:spPr>
          <a:xfrm>
            <a:off x="3429000" y="700285"/>
            <a:ext cx="7670441" cy="4031403"/>
          </a:xfrm>
        </p:spPr>
        <p:txBody>
          <a:bodyPr vert="horz" lIns="91440" tIns="45720" rIns="91440" bIns="45720" rtlCol="0" anchor="b">
            <a:normAutofit/>
          </a:bodyPr>
          <a:lstStyle/>
          <a:p>
            <a:r>
              <a:rPr lang="en-US" sz="5200">
                <a:solidFill>
                  <a:schemeClr val="tx2"/>
                </a:solidFill>
              </a:rPr>
              <a:t>Lab 5: Subsystem Integration- Combination and State Logic</a:t>
            </a:r>
          </a:p>
          <a:p>
            <a:endParaRPr lang="en-US" sz="5200">
              <a:solidFill>
                <a:schemeClr val="tx2"/>
              </a:solidFill>
            </a:endParaRPr>
          </a:p>
        </p:txBody>
      </p:sp>
      <p:sp>
        <p:nvSpPr>
          <p:cNvPr id="4" name="Slide Number Placeholder 3">
            <a:extLst>
              <a:ext uri="{FF2B5EF4-FFF2-40B4-BE49-F238E27FC236}">
                <a16:creationId xmlns:a16="http://schemas.microsoft.com/office/drawing/2014/main" id="{CCE18A18-3FB3-08FD-49BB-A330ADE3CDB2}"/>
              </a:ext>
            </a:extLst>
          </p:cNvPr>
          <p:cNvSpPr>
            <a:spLocks noGrp="1"/>
          </p:cNvSpPr>
          <p:nvPr>
            <p:ph type="sldNum" sz="quarter" idx="12"/>
          </p:nvPr>
        </p:nvSpPr>
        <p:spPr>
          <a:xfrm>
            <a:off x="8610600" y="6324600"/>
            <a:ext cx="2743200" cy="365125"/>
          </a:xfrm>
        </p:spPr>
        <p:txBody>
          <a:bodyPr vert="horz" lIns="91440" tIns="45720" rIns="91440" bIns="45720" rtlCol="0" anchor="ctr">
            <a:normAutofit/>
          </a:bodyPr>
          <a:lstStyle/>
          <a:p>
            <a:pPr>
              <a:spcAft>
                <a:spcPts val="600"/>
              </a:spcAft>
            </a:pPr>
            <a:fld id="{73B850FF-6169-4056-8077-06FFA93A5366}" type="slidenum">
              <a:rPr lang="en-US" dirty="0">
                <a:solidFill>
                  <a:schemeClr val="tx1">
                    <a:alpha val="60000"/>
                  </a:schemeClr>
                </a:solidFill>
              </a:rPr>
              <a:pPr>
                <a:spcAft>
                  <a:spcPts val="600"/>
                </a:spcAft>
              </a:pPr>
              <a:t>43</a:t>
            </a:fld>
            <a:endParaRPr lang="en-US">
              <a:solidFill>
                <a:schemeClr val="tx1">
                  <a:alpha val="60000"/>
                </a:schemeClr>
              </a:solidFill>
            </a:endParaRPr>
          </a:p>
        </p:txBody>
      </p:sp>
    </p:spTree>
    <p:extLst>
      <p:ext uri="{BB962C8B-B14F-4D97-AF65-F5344CB8AC3E}">
        <p14:creationId xmlns:p14="http://schemas.microsoft.com/office/powerpoint/2010/main" val="32319993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CD755-4B8A-73A4-CF3D-3A844ACE975B}"/>
              </a:ext>
            </a:extLst>
          </p:cNvPr>
          <p:cNvSpPr>
            <a:spLocks noGrp="1"/>
          </p:cNvSpPr>
          <p:nvPr>
            <p:ph type="title"/>
          </p:nvPr>
        </p:nvSpPr>
        <p:spPr/>
        <p:txBody>
          <a:bodyPr/>
          <a:lstStyle/>
          <a:p>
            <a:r>
              <a:rPr lang="en-US">
                <a:ea typeface="+mj-lt"/>
                <a:cs typeface="+mj-lt"/>
              </a:rPr>
              <a:t>General Objectives</a:t>
            </a:r>
            <a:endParaRPr lang="en-US"/>
          </a:p>
        </p:txBody>
      </p:sp>
      <p:sp>
        <p:nvSpPr>
          <p:cNvPr id="3" name="Content Placeholder 2">
            <a:extLst>
              <a:ext uri="{FF2B5EF4-FFF2-40B4-BE49-F238E27FC236}">
                <a16:creationId xmlns:a16="http://schemas.microsoft.com/office/drawing/2014/main" id="{EAB3C3A4-3682-91F4-752A-977AB511F8E5}"/>
              </a:ext>
            </a:extLst>
          </p:cNvPr>
          <p:cNvSpPr>
            <a:spLocks noGrp="1"/>
          </p:cNvSpPr>
          <p:nvPr>
            <p:ph idx="1"/>
          </p:nvPr>
        </p:nvSpPr>
        <p:spPr/>
        <p:txBody>
          <a:bodyPr vert="horz" lIns="91440" tIns="45720" rIns="91440" bIns="45720" rtlCol="0" anchor="t">
            <a:normAutofit/>
          </a:bodyPr>
          <a:lstStyle/>
          <a:p>
            <a:r>
              <a:rPr lang="en-US"/>
              <a:t>Integrate driving and steering teams.</a:t>
            </a:r>
          </a:p>
          <a:p>
            <a:r>
              <a:rPr lang="en-US"/>
              <a:t>Implement State Logic for vehicle operation.</a:t>
            </a:r>
          </a:p>
          <a:p>
            <a:r>
              <a:rPr lang="en-US"/>
              <a:t>System Integration</a:t>
            </a:r>
          </a:p>
          <a:p>
            <a:pPr lvl="1">
              <a:buFont typeface="Courier New" panose="020B0604020202020204" pitchFamily="34" charset="0"/>
              <a:buChar char="o"/>
            </a:pPr>
            <a:r>
              <a:rPr lang="en-US"/>
              <a:t>Hardware: build necessary circuit and input/output.</a:t>
            </a:r>
          </a:p>
          <a:p>
            <a:pPr lvl="1">
              <a:buFont typeface="Courier New" panose="020B0604020202020204" pitchFamily="34" charset="0"/>
              <a:buChar char="o"/>
            </a:pPr>
            <a:r>
              <a:rPr lang="en-US"/>
              <a:t>Software: Combine the functions of driving and steering.</a:t>
            </a:r>
          </a:p>
        </p:txBody>
      </p:sp>
      <p:sp>
        <p:nvSpPr>
          <p:cNvPr id="4" name="Slide Number Placeholder 3">
            <a:extLst>
              <a:ext uri="{FF2B5EF4-FFF2-40B4-BE49-F238E27FC236}">
                <a16:creationId xmlns:a16="http://schemas.microsoft.com/office/drawing/2014/main" id="{D5AF299F-2210-B744-43C6-CE8171728DDC}"/>
              </a:ext>
            </a:extLst>
          </p:cNvPr>
          <p:cNvSpPr>
            <a:spLocks noGrp="1"/>
          </p:cNvSpPr>
          <p:nvPr>
            <p:ph type="sldNum" sz="quarter" idx="12"/>
          </p:nvPr>
        </p:nvSpPr>
        <p:spPr/>
        <p:txBody>
          <a:bodyPr/>
          <a:lstStyle/>
          <a:p>
            <a:fld id="{73B850FF-6169-4056-8077-06FFA93A5366}" type="slidenum">
              <a:rPr lang="en-US" smtClean="0"/>
              <a:t>44</a:t>
            </a:fld>
            <a:endParaRPr lang="en-US"/>
          </a:p>
        </p:txBody>
      </p:sp>
    </p:spTree>
    <p:extLst>
      <p:ext uri="{BB962C8B-B14F-4D97-AF65-F5344CB8AC3E}">
        <p14:creationId xmlns:p14="http://schemas.microsoft.com/office/powerpoint/2010/main" val="40759338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9EB4-FCF8-734B-6BCB-ABD73CE9C400}"/>
              </a:ext>
            </a:extLst>
          </p:cNvPr>
          <p:cNvSpPr>
            <a:spLocks noGrp="1"/>
          </p:cNvSpPr>
          <p:nvPr>
            <p:ph type="title"/>
          </p:nvPr>
        </p:nvSpPr>
        <p:spPr/>
        <p:txBody>
          <a:bodyPr>
            <a:noAutofit/>
          </a:bodyPr>
          <a:lstStyle/>
          <a:p>
            <a:r>
              <a:rPr lang="en-US"/>
              <a:t>Main Specifications</a:t>
            </a:r>
          </a:p>
        </p:txBody>
      </p:sp>
      <p:sp>
        <p:nvSpPr>
          <p:cNvPr id="3" name="Text Placeholder 2">
            <a:extLst>
              <a:ext uri="{FF2B5EF4-FFF2-40B4-BE49-F238E27FC236}">
                <a16:creationId xmlns:a16="http://schemas.microsoft.com/office/drawing/2014/main" id="{FC4D5457-F491-B7A5-CAD2-EF4A64A91CBA}"/>
              </a:ext>
            </a:extLst>
          </p:cNvPr>
          <p:cNvSpPr>
            <a:spLocks noGrp="1"/>
          </p:cNvSpPr>
          <p:nvPr>
            <p:ph type="body" idx="1"/>
          </p:nvPr>
        </p:nvSpPr>
        <p:spPr/>
        <p:txBody>
          <a:bodyPr/>
          <a:lstStyle/>
          <a:p>
            <a:r>
              <a:rPr lang="en-US"/>
              <a:t>Driving </a:t>
            </a:r>
          </a:p>
        </p:txBody>
      </p:sp>
      <p:sp>
        <p:nvSpPr>
          <p:cNvPr id="4" name="Content Placeholder 3">
            <a:extLst>
              <a:ext uri="{FF2B5EF4-FFF2-40B4-BE49-F238E27FC236}">
                <a16:creationId xmlns:a16="http://schemas.microsoft.com/office/drawing/2014/main" id="{24E8BC7C-71A4-CBAD-6222-BBF000F0DB1D}"/>
              </a:ext>
            </a:extLst>
          </p:cNvPr>
          <p:cNvSpPr>
            <a:spLocks noGrp="1"/>
          </p:cNvSpPr>
          <p:nvPr>
            <p:ph sz="half" idx="2"/>
          </p:nvPr>
        </p:nvSpPr>
        <p:spPr/>
        <p:txBody>
          <a:bodyPr/>
          <a:lstStyle/>
          <a:p>
            <a:endParaRPr lang="en-US"/>
          </a:p>
        </p:txBody>
      </p:sp>
      <p:sp>
        <p:nvSpPr>
          <p:cNvPr id="5" name="Text Placeholder 4">
            <a:extLst>
              <a:ext uri="{FF2B5EF4-FFF2-40B4-BE49-F238E27FC236}">
                <a16:creationId xmlns:a16="http://schemas.microsoft.com/office/drawing/2014/main" id="{DA8A5B6F-25AD-1BDB-56D0-7B610D357F13}"/>
              </a:ext>
            </a:extLst>
          </p:cNvPr>
          <p:cNvSpPr>
            <a:spLocks noGrp="1"/>
          </p:cNvSpPr>
          <p:nvPr>
            <p:ph type="body" sz="quarter" idx="3"/>
          </p:nvPr>
        </p:nvSpPr>
        <p:spPr/>
        <p:txBody>
          <a:bodyPr/>
          <a:lstStyle/>
          <a:p>
            <a:r>
              <a:rPr lang="en-US"/>
              <a:t>Steering</a:t>
            </a:r>
          </a:p>
        </p:txBody>
      </p:sp>
      <p:sp>
        <p:nvSpPr>
          <p:cNvPr id="6" name="Content Placeholder 5">
            <a:extLst>
              <a:ext uri="{FF2B5EF4-FFF2-40B4-BE49-F238E27FC236}">
                <a16:creationId xmlns:a16="http://schemas.microsoft.com/office/drawing/2014/main" id="{8F76B420-98F7-3EB3-6D47-ACA09DAF2052}"/>
              </a:ext>
            </a:extLst>
          </p:cNvPr>
          <p:cNvSpPr>
            <a:spLocks noGrp="1"/>
          </p:cNvSpPr>
          <p:nvPr>
            <p:ph sz="quarter" idx="4"/>
          </p:nvPr>
        </p:nvSpPr>
        <p:spPr/>
        <p:txBody>
          <a:bodyPr/>
          <a:lstStyle/>
          <a:p>
            <a:endParaRPr lang="en-US"/>
          </a:p>
        </p:txBody>
      </p:sp>
      <p:sp>
        <p:nvSpPr>
          <p:cNvPr id="8" name="Slide Number Placeholder 7">
            <a:extLst>
              <a:ext uri="{FF2B5EF4-FFF2-40B4-BE49-F238E27FC236}">
                <a16:creationId xmlns:a16="http://schemas.microsoft.com/office/drawing/2014/main" id="{7B0ACC61-81C9-C827-2E7D-D5ECCC65B34A}"/>
              </a:ext>
            </a:extLst>
          </p:cNvPr>
          <p:cNvSpPr>
            <a:spLocks noGrp="1"/>
          </p:cNvSpPr>
          <p:nvPr>
            <p:ph type="sldNum" sz="quarter" idx="12"/>
          </p:nvPr>
        </p:nvSpPr>
        <p:spPr/>
        <p:txBody>
          <a:bodyPr/>
          <a:lstStyle/>
          <a:p>
            <a:fld id="{73B850FF-6169-4056-8077-06FFA93A5366}" type="slidenum">
              <a:rPr lang="en-US" smtClean="0"/>
              <a:t>45</a:t>
            </a:fld>
            <a:endParaRPr lang="en-US"/>
          </a:p>
        </p:txBody>
      </p:sp>
    </p:spTree>
    <p:extLst>
      <p:ext uri="{BB962C8B-B14F-4D97-AF65-F5344CB8AC3E}">
        <p14:creationId xmlns:p14="http://schemas.microsoft.com/office/powerpoint/2010/main" val="19363153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9EB4-FCF8-734B-6BCB-ABD73CE9C400}"/>
              </a:ext>
            </a:extLst>
          </p:cNvPr>
          <p:cNvSpPr>
            <a:spLocks noGrp="1"/>
          </p:cNvSpPr>
          <p:nvPr>
            <p:ph type="title"/>
          </p:nvPr>
        </p:nvSpPr>
        <p:spPr/>
        <p:txBody>
          <a:bodyPr>
            <a:noAutofit/>
          </a:bodyPr>
          <a:lstStyle/>
          <a:p>
            <a:r>
              <a:rPr lang="en-US"/>
              <a:t>Results</a:t>
            </a:r>
          </a:p>
        </p:txBody>
      </p:sp>
      <p:sp>
        <p:nvSpPr>
          <p:cNvPr id="3" name="Text Placeholder 2">
            <a:extLst>
              <a:ext uri="{FF2B5EF4-FFF2-40B4-BE49-F238E27FC236}">
                <a16:creationId xmlns:a16="http://schemas.microsoft.com/office/drawing/2014/main" id="{FC4D5457-F491-B7A5-CAD2-EF4A64A91CBA}"/>
              </a:ext>
            </a:extLst>
          </p:cNvPr>
          <p:cNvSpPr>
            <a:spLocks noGrp="1"/>
          </p:cNvSpPr>
          <p:nvPr>
            <p:ph type="body" idx="1"/>
          </p:nvPr>
        </p:nvSpPr>
        <p:spPr/>
        <p:txBody>
          <a:bodyPr/>
          <a:lstStyle/>
          <a:p>
            <a:r>
              <a:rPr lang="en-US"/>
              <a:t>Driving </a:t>
            </a:r>
          </a:p>
        </p:txBody>
      </p:sp>
      <p:sp>
        <p:nvSpPr>
          <p:cNvPr id="4" name="Content Placeholder 3">
            <a:extLst>
              <a:ext uri="{FF2B5EF4-FFF2-40B4-BE49-F238E27FC236}">
                <a16:creationId xmlns:a16="http://schemas.microsoft.com/office/drawing/2014/main" id="{24E8BC7C-71A4-CBAD-6222-BBF000F0DB1D}"/>
              </a:ext>
            </a:extLst>
          </p:cNvPr>
          <p:cNvSpPr>
            <a:spLocks noGrp="1"/>
          </p:cNvSpPr>
          <p:nvPr>
            <p:ph sz="half" idx="2"/>
          </p:nvPr>
        </p:nvSpPr>
        <p:spPr/>
        <p:txBody>
          <a:bodyPr/>
          <a:lstStyle/>
          <a:p>
            <a:endParaRPr lang="en-US"/>
          </a:p>
        </p:txBody>
      </p:sp>
      <p:sp>
        <p:nvSpPr>
          <p:cNvPr id="5" name="Text Placeholder 4">
            <a:extLst>
              <a:ext uri="{FF2B5EF4-FFF2-40B4-BE49-F238E27FC236}">
                <a16:creationId xmlns:a16="http://schemas.microsoft.com/office/drawing/2014/main" id="{DA8A5B6F-25AD-1BDB-56D0-7B610D357F13}"/>
              </a:ext>
            </a:extLst>
          </p:cNvPr>
          <p:cNvSpPr>
            <a:spLocks noGrp="1"/>
          </p:cNvSpPr>
          <p:nvPr>
            <p:ph type="body" sz="quarter" idx="3"/>
          </p:nvPr>
        </p:nvSpPr>
        <p:spPr/>
        <p:txBody>
          <a:bodyPr/>
          <a:lstStyle/>
          <a:p>
            <a:r>
              <a:rPr lang="en-US"/>
              <a:t>Steering</a:t>
            </a:r>
          </a:p>
        </p:txBody>
      </p:sp>
      <p:sp>
        <p:nvSpPr>
          <p:cNvPr id="6" name="Content Placeholder 5">
            <a:extLst>
              <a:ext uri="{FF2B5EF4-FFF2-40B4-BE49-F238E27FC236}">
                <a16:creationId xmlns:a16="http://schemas.microsoft.com/office/drawing/2014/main" id="{8F76B420-98F7-3EB3-6D47-ACA09DAF2052}"/>
              </a:ext>
            </a:extLst>
          </p:cNvPr>
          <p:cNvSpPr>
            <a:spLocks noGrp="1"/>
          </p:cNvSpPr>
          <p:nvPr>
            <p:ph sz="quarter" idx="4"/>
          </p:nvPr>
        </p:nvSpPr>
        <p:spPr/>
        <p:txBody>
          <a:bodyPr/>
          <a:lstStyle/>
          <a:p>
            <a:endParaRPr lang="en-US"/>
          </a:p>
        </p:txBody>
      </p:sp>
      <p:sp>
        <p:nvSpPr>
          <p:cNvPr id="8" name="Slide Number Placeholder 7">
            <a:extLst>
              <a:ext uri="{FF2B5EF4-FFF2-40B4-BE49-F238E27FC236}">
                <a16:creationId xmlns:a16="http://schemas.microsoft.com/office/drawing/2014/main" id="{7B0ACC61-81C9-C827-2E7D-D5ECCC65B34A}"/>
              </a:ext>
            </a:extLst>
          </p:cNvPr>
          <p:cNvSpPr>
            <a:spLocks noGrp="1"/>
          </p:cNvSpPr>
          <p:nvPr>
            <p:ph type="sldNum" sz="quarter" idx="12"/>
          </p:nvPr>
        </p:nvSpPr>
        <p:spPr/>
        <p:txBody>
          <a:bodyPr/>
          <a:lstStyle/>
          <a:p>
            <a:fld id="{73B850FF-6169-4056-8077-06FFA93A5366}" type="slidenum">
              <a:rPr lang="en-US" smtClean="0"/>
              <a:t>46</a:t>
            </a:fld>
            <a:endParaRPr lang="en-US"/>
          </a:p>
        </p:txBody>
      </p:sp>
    </p:spTree>
    <p:extLst>
      <p:ext uri="{BB962C8B-B14F-4D97-AF65-F5344CB8AC3E}">
        <p14:creationId xmlns:p14="http://schemas.microsoft.com/office/powerpoint/2010/main" val="17158858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9EB4-FCF8-734B-6BCB-ABD73CE9C400}"/>
              </a:ext>
            </a:extLst>
          </p:cNvPr>
          <p:cNvSpPr>
            <a:spLocks noGrp="1"/>
          </p:cNvSpPr>
          <p:nvPr>
            <p:ph type="title"/>
          </p:nvPr>
        </p:nvSpPr>
        <p:spPr/>
        <p:txBody>
          <a:bodyPr>
            <a:noAutofit/>
          </a:bodyPr>
          <a:lstStyle/>
          <a:p>
            <a:r>
              <a:rPr lang="en-US">
                <a:ea typeface="+mj-lt"/>
                <a:cs typeface="+mj-lt"/>
              </a:rPr>
              <a:t>Problems/Solutions</a:t>
            </a:r>
            <a:endParaRPr lang="en-US" b="0">
              <a:ea typeface="+mj-lt"/>
              <a:cs typeface="+mj-lt"/>
            </a:endParaRPr>
          </a:p>
        </p:txBody>
      </p:sp>
      <p:sp>
        <p:nvSpPr>
          <p:cNvPr id="3" name="Text Placeholder 2">
            <a:extLst>
              <a:ext uri="{FF2B5EF4-FFF2-40B4-BE49-F238E27FC236}">
                <a16:creationId xmlns:a16="http://schemas.microsoft.com/office/drawing/2014/main" id="{FC4D5457-F491-B7A5-CAD2-EF4A64A91CBA}"/>
              </a:ext>
            </a:extLst>
          </p:cNvPr>
          <p:cNvSpPr>
            <a:spLocks noGrp="1"/>
          </p:cNvSpPr>
          <p:nvPr>
            <p:ph type="body" idx="1"/>
          </p:nvPr>
        </p:nvSpPr>
        <p:spPr/>
        <p:txBody>
          <a:bodyPr/>
          <a:lstStyle/>
          <a:p>
            <a:r>
              <a:rPr lang="en-US"/>
              <a:t>Driving </a:t>
            </a:r>
          </a:p>
        </p:txBody>
      </p:sp>
      <p:sp>
        <p:nvSpPr>
          <p:cNvPr id="4" name="Content Placeholder 3">
            <a:extLst>
              <a:ext uri="{FF2B5EF4-FFF2-40B4-BE49-F238E27FC236}">
                <a16:creationId xmlns:a16="http://schemas.microsoft.com/office/drawing/2014/main" id="{24E8BC7C-71A4-CBAD-6222-BBF000F0DB1D}"/>
              </a:ext>
            </a:extLst>
          </p:cNvPr>
          <p:cNvSpPr>
            <a:spLocks noGrp="1"/>
          </p:cNvSpPr>
          <p:nvPr>
            <p:ph sz="half" idx="2"/>
          </p:nvPr>
        </p:nvSpPr>
        <p:spPr/>
        <p:txBody>
          <a:bodyPr/>
          <a:lstStyle/>
          <a:p>
            <a:endParaRPr lang="en-US"/>
          </a:p>
        </p:txBody>
      </p:sp>
      <p:sp>
        <p:nvSpPr>
          <p:cNvPr id="5" name="Text Placeholder 4">
            <a:extLst>
              <a:ext uri="{FF2B5EF4-FFF2-40B4-BE49-F238E27FC236}">
                <a16:creationId xmlns:a16="http://schemas.microsoft.com/office/drawing/2014/main" id="{DA8A5B6F-25AD-1BDB-56D0-7B610D357F13}"/>
              </a:ext>
            </a:extLst>
          </p:cNvPr>
          <p:cNvSpPr>
            <a:spLocks noGrp="1"/>
          </p:cNvSpPr>
          <p:nvPr>
            <p:ph type="body" sz="quarter" idx="3"/>
          </p:nvPr>
        </p:nvSpPr>
        <p:spPr/>
        <p:txBody>
          <a:bodyPr/>
          <a:lstStyle/>
          <a:p>
            <a:r>
              <a:rPr lang="en-US"/>
              <a:t>Steering</a:t>
            </a:r>
          </a:p>
        </p:txBody>
      </p:sp>
      <p:sp>
        <p:nvSpPr>
          <p:cNvPr id="6" name="Content Placeholder 5">
            <a:extLst>
              <a:ext uri="{FF2B5EF4-FFF2-40B4-BE49-F238E27FC236}">
                <a16:creationId xmlns:a16="http://schemas.microsoft.com/office/drawing/2014/main" id="{8F76B420-98F7-3EB3-6D47-ACA09DAF2052}"/>
              </a:ext>
            </a:extLst>
          </p:cNvPr>
          <p:cNvSpPr>
            <a:spLocks noGrp="1"/>
          </p:cNvSpPr>
          <p:nvPr>
            <p:ph sz="quarter" idx="4"/>
          </p:nvPr>
        </p:nvSpPr>
        <p:spPr/>
        <p:txBody>
          <a:bodyPr/>
          <a:lstStyle/>
          <a:p>
            <a:endParaRPr lang="en-US"/>
          </a:p>
        </p:txBody>
      </p:sp>
      <p:sp>
        <p:nvSpPr>
          <p:cNvPr id="8" name="Slide Number Placeholder 7">
            <a:extLst>
              <a:ext uri="{FF2B5EF4-FFF2-40B4-BE49-F238E27FC236}">
                <a16:creationId xmlns:a16="http://schemas.microsoft.com/office/drawing/2014/main" id="{7B0ACC61-81C9-C827-2E7D-D5ECCC65B34A}"/>
              </a:ext>
            </a:extLst>
          </p:cNvPr>
          <p:cNvSpPr>
            <a:spLocks noGrp="1"/>
          </p:cNvSpPr>
          <p:nvPr>
            <p:ph type="sldNum" sz="quarter" idx="12"/>
          </p:nvPr>
        </p:nvSpPr>
        <p:spPr/>
        <p:txBody>
          <a:bodyPr/>
          <a:lstStyle/>
          <a:p>
            <a:fld id="{73B850FF-6169-4056-8077-06FFA93A5366}" type="slidenum">
              <a:rPr lang="en-US" smtClean="0"/>
              <a:t>47</a:t>
            </a:fld>
            <a:endParaRPr lang="en-US"/>
          </a:p>
        </p:txBody>
      </p:sp>
    </p:spTree>
    <p:extLst>
      <p:ext uri="{BB962C8B-B14F-4D97-AF65-F5344CB8AC3E}">
        <p14:creationId xmlns:p14="http://schemas.microsoft.com/office/powerpoint/2010/main" val="38662019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9EB4-FCF8-734B-6BCB-ABD73CE9C400}"/>
              </a:ext>
            </a:extLst>
          </p:cNvPr>
          <p:cNvSpPr>
            <a:spLocks noGrp="1"/>
          </p:cNvSpPr>
          <p:nvPr>
            <p:ph type="title"/>
          </p:nvPr>
        </p:nvSpPr>
        <p:spPr/>
        <p:txBody>
          <a:bodyPr>
            <a:noAutofit/>
          </a:bodyPr>
          <a:lstStyle/>
          <a:p>
            <a:r>
              <a:rPr lang="en-US"/>
              <a:t>Questions</a:t>
            </a:r>
          </a:p>
        </p:txBody>
      </p:sp>
      <p:sp>
        <p:nvSpPr>
          <p:cNvPr id="3" name="Text Placeholder 2">
            <a:extLst>
              <a:ext uri="{FF2B5EF4-FFF2-40B4-BE49-F238E27FC236}">
                <a16:creationId xmlns:a16="http://schemas.microsoft.com/office/drawing/2014/main" id="{FC4D5457-F491-B7A5-CAD2-EF4A64A91CBA}"/>
              </a:ext>
            </a:extLst>
          </p:cNvPr>
          <p:cNvSpPr>
            <a:spLocks noGrp="1"/>
          </p:cNvSpPr>
          <p:nvPr>
            <p:ph type="body" idx="1"/>
          </p:nvPr>
        </p:nvSpPr>
        <p:spPr/>
        <p:txBody>
          <a:bodyPr/>
          <a:lstStyle/>
          <a:p>
            <a:r>
              <a:rPr lang="en-US"/>
              <a:t>Driving </a:t>
            </a:r>
          </a:p>
        </p:txBody>
      </p:sp>
      <p:sp>
        <p:nvSpPr>
          <p:cNvPr id="4" name="Content Placeholder 3">
            <a:extLst>
              <a:ext uri="{FF2B5EF4-FFF2-40B4-BE49-F238E27FC236}">
                <a16:creationId xmlns:a16="http://schemas.microsoft.com/office/drawing/2014/main" id="{24E8BC7C-71A4-CBAD-6222-BBF000F0DB1D}"/>
              </a:ext>
            </a:extLst>
          </p:cNvPr>
          <p:cNvSpPr>
            <a:spLocks noGrp="1"/>
          </p:cNvSpPr>
          <p:nvPr>
            <p:ph sz="half" idx="2"/>
          </p:nvPr>
        </p:nvSpPr>
        <p:spPr/>
        <p:txBody>
          <a:bodyPr/>
          <a:lstStyle/>
          <a:p>
            <a:endParaRPr lang="en-US"/>
          </a:p>
        </p:txBody>
      </p:sp>
      <p:sp>
        <p:nvSpPr>
          <p:cNvPr id="5" name="Text Placeholder 4">
            <a:extLst>
              <a:ext uri="{FF2B5EF4-FFF2-40B4-BE49-F238E27FC236}">
                <a16:creationId xmlns:a16="http://schemas.microsoft.com/office/drawing/2014/main" id="{DA8A5B6F-25AD-1BDB-56D0-7B610D357F13}"/>
              </a:ext>
            </a:extLst>
          </p:cNvPr>
          <p:cNvSpPr>
            <a:spLocks noGrp="1"/>
          </p:cNvSpPr>
          <p:nvPr>
            <p:ph type="body" sz="quarter" idx="3"/>
          </p:nvPr>
        </p:nvSpPr>
        <p:spPr/>
        <p:txBody>
          <a:bodyPr/>
          <a:lstStyle/>
          <a:p>
            <a:r>
              <a:rPr lang="en-US"/>
              <a:t>Steering</a:t>
            </a:r>
          </a:p>
        </p:txBody>
      </p:sp>
      <p:sp>
        <p:nvSpPr>
          <p:cNvPr id="6" name="Content Placeholder 5">
            <a:extLst>
              <a:ext uri="{FF2B5EF4-FFF2-40B4-BE49-F238E27FC236}">
                <a16:creationId xmlns:a16="http://schemas.microsoft.com/office/drawing/2014/main" id="{8F76B420-98F7-3EB3-6D47-ACA09DAF2052}"/>
              </a:ext>
            </a:extLst>
          </p:cNvPr>
          <p:cNvSpPr>
            <a:spLocks noGrp="1"/>
          </p:cNvSpPr>
          <p:nvPr>
            <p:ph sz="quarter" idx="4"/>
          </p:nvPr>
        </p:nvSpPr>
        <p:spPr/>
        <p:txBody>
          <a:bodyPr/>
          <a:lstStyle/>
          <a:p>
            <a:endParaRPr lang="en-US"/>
          </a:p>
        </p:txBody>
      </p:sp>
      <p:sp>
        <p:nvSpPr>
          <p:cNvPr id="8" name="Slide Number Placeholder 7">
            <a:extLst>
              <a:ext uri="{FF2B5EF4-FFF2-40B4-BE49-F238E27FC236}">
                <a16:creationId xmlns:a16="http://schemas.microsoft.com/office/drawing/2014/main" id="{7B0ACC61-81C9-C827-2E7D-D5ECCC65B34A}"/>
              </a:ext>
            </a:extLst>
          </p:cNvPr>
          <p:cNvSpPr>
            <a:spLocks noGrp="1"/>
          </p:cNvSpPr>
          <p:nvPr>
            <p:ph type="sldNum" sz="quarter" idx="12"/>
          </p:nvPr>
        </p:nvSpPr>
        <p:spPr/>
        <p:txBody>
          <a:bodyPr/>
          <a:lstStyle/>
          <a:p>
            <a:fld id="{73B850FF-6169-4056-8077-06FFA93A5366}" type="slidenum">
              <a:rPr lang="en-US" smtClean="0"/>
              <a:t>48</a:t>
            </a:fld>
            <a:endParaRPr lang="en-US"/>
          </a:p>
        </p:txBody>
      </p:sp>
    </p:spTree>
    <p:extLst>
      <p:ext uri="{BB962C8B-B14F-4D97-AF65-F5344CB8AC3E}">
        <p14:creationId xmlns:p14="http://schemas.microsoft.com/office/powerpoint/2010/main" val="373254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26B0FCFA-8A2E-4F10-87BD-34565BD7C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5" name="Rectangle 14">
            <a:extLst>
              <a:ext uri="{FF2B5EF4-FFF2-40B4-BE49-F238E27FC236}">
                <a16:creationId xmlns:a16="http://schemas.microsoft.com/office/drawing/2014/main" id="{32DA72A5-2775-4FE6-9A97-1C8DEE0E0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7" name="Picture 16">
            <a:extLst>
              <a:ext uri="{FF2B5EF4-FFF2-40B4-BE49-F238E27FC236}">
                <a16:creationId xmlns:a16="http://schemas.microsoft.com/office/drawing/2014/main" id="{28966E53-3C41-4F5A-A432-755BFE5D75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609600" y="533400"/>
            <a:ext cx="2438400" cy="2438400"/>
          </a:xfrm>
          <a:prstGeom prst="rect">
            <a:avLst/>
          </a:prstGeom>
        </p:spPr>
      </p:pic>
      <p:pic>
        <p:nvPicPr>
          <p:cNvPr id="19" name="Picture 18">
            <a:extLst>
              <a:ext uri="{FF2B5EF4-FFF2-40B4-BE49-F238E27FC236}">
                <a16:creationId xmlns:a16="http://schemas.microsoft.com/office/drawing/2014/main" id="{D47F75BB-A3CB-4161-B316-A2A9C88F72D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a:off x="10820400" y="3144779"/>
            <a:ext cx="1371600" cy="2548349"/>
          </a:xfrm>
          <a:prstGeom prst="rect">
            <a:avLst/>
          </a:prstGeom>
        </p:spPr>
      </p:pic>
      <p:sp>
        <p:nvSpPr>
          <p:cNvPr id="2" name="Title 1">
            <a:extLst>
              <a:ext uri="{FF2B5EF4-FFF2-40B4-BE49-F238E27FC236}">
                <a16:creationId xmlns:a16="http://schemas.microsoft.com/office/drawing/2014/main" id="{EC65FDEF-AA97-D271-821A-0345012E639D}"/>
              </a:ext>
            </a:extLst>
          </p:cNvPr>
          <p:cNvSpPr>
            <a:spLocks noGrp="1"/>
          </p:cNvSpPr>
          <p:nvPr>
            <p:ph type="title"/>
          </p:nvPr>
        </p:nvSpPr>
        <p:spPr>
          <a:xfrm>
            <a:off x="3429000" y="775412"/>
            <a:ext cx="7391400" cy="2593263"/>
          </a:xfrm>
        </p:spPr>
        <p:txBody>
          <a:bodyPr vert="horz" lIns="91440" tIns="45720" rIns="91440" bIns="45720" rtlCol="0" anchor="b">
            <a:normAutofit/>
          </a:bodyPr>
          <a:lstStyle/>
          <a:p>
            <a:r>
              <a:rPr lang="en-US" sz="5200">
                <a:solidFill>
                  <a:schemeClr val="tx2"/>
                </a:solidFill>
              </a:rPr>
              <a:t>Lab 6: PID Control Design</a:t>
            </a:r>
          </a:p>
          <a:p>
            <a:endParaRPr lang="en-US" sz="5200">
              <a:solidFill>
                <a:schemeClr val="tx2"/>
              </a:solidFill>
            </a:endParaRPr>
          </a:p>
        </p:txBody>
      </p:sp>
      <p:sp>
        <p:nvSpPr>
          <p:cNvPr id="4" name="Slide Number Placeholder 3">
            <a:extLst>
              <a:ext uri="{FF2B5EF4-FFF2-40B4-BE49-F238E27FC236}">
                <a16:creationId xmlns:a16="http://schemas.microsoft.com/office/drawing/2014/main" id="{CCE18A18-3FB3-08FD-49BB-A330ADE3CDB2}"/>
              </a:ext>
            </a:extLst>
          </p:cNvPr>
          <p:cNvSpPr>
            <a:spLocks noGrp="1"/>
          </p:cNvSpPr>
          <p:nvPr>
            <p:ph type="sldNum" sz="quarter" idx="12"/>
          </p:nvPr>
        </p:nvSpPr>
        <p:spPr>
          <a:xfrm>
            <a:off x="8610600" y="6324600"/>
            <a:ext cx="2743200" cy="365125"/>
          </a:xfrm>
        </p:spPr>
        <p:txBody>
          <a:bodyPr vert="horz" lIns="91440" tIns="45720" rIns="91440" bIns="45720" rtlCol="0" anchor="ctr">
            <a:normAutofit/>
          </a:bodyPr>
          <a:lstStyle/>
          <a:p>
            <a:pPr>
              <a:spcAft>
                <a:spcPts val="600"/>
              </a:spcAft>
            </a:pPr>
            <a:fld id="{73B850FF-6169-4056-8077-06FFA93A5366}" type="slidenum">
              <a:rPr lang="en-US">
                <a:solidFill>
                  <a:schemeClr val="tx1">
                    <a:alpha val="60000"/>
                  </a:schemeClr>
                </a:solidFill>
              </a:rPr>
              <a:pPr>
                <a:spcAft>
                  <a:spcPts val="600"/>
                </a:spcAft>
              </a:pPr>
              <a:t>49</a:t>
            </a:fld>
            <a:endParaRPr lang="en-US">
              <a:solidFill>
                <a:schemeClr val="tx1">
                  <a:alpha val="60000"/>
                </a:schemeClr>
              </a:solidFill>
            </a:endParaRPr>
          </a:p>
        </p:txBody>
      </p:sp>
    </p:spTree>
    <p:extLst>
      <p:ext uri="{BB962C8B-B14F-4D97-AF65-F5344CB8AC3E}">
        <p14:creationId xmlns:p14="http://schemas.microsoft.com/office/powerpoint/2010/main" val="30006719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591A9-2EC0-FE87-9D52-2E1D0105BDFD}"/>
              </a:ext>
            </a:extLst>
          </p:cNvPr>
          <p:cNvSpPr>
            <a:spLocks noGrp="1"/>
          </p:cNvSpPr>
          <p:nvPr>
            <p:ph type="title"/>
          </p:nvPr>
        </p:nvSpPr>
        <p:spPr/>
        <p:txBody>
          <a:bodyPr/>
          <a:lstStyle/>
          <a:p>
            <a:r>
              <a:rPr lang="en-US">
                <a:ea typeface="+mj-lt"/>
                <a:cs typeface="+mj-lt"/>
              </a:rPr>
              <a:t>General Objectives</a:t>
            </a:r>
            <a:endParaRPr lang="en-US" b="0">
              <a:ea typeface="+mj-lt"/>
              <a:cs typeface="+mj-lt"/>
            </a:endParaRPr>
          </a:p>
        </p:txBody>
      </p:sp>
      <p:sp>
        <p:nvSpPr>
          <p:cNvPr id="3" name="Content Placeholder 2">
            <a:extLst>
              <a:ext uri="{FF2B5EF4-FFF2-40B4-BE49-F238E27FC236}">
                <a16:creationId xmlns:a16="http://schemas.microsoft.com/office/drawing/2014/main" id="{D45C45FF-091D-55E0-D2B2-51FCDB8E5E96}"/>
              </a:ext>
            </a:extLst>
          </p:cNvPr>
          <p:cNvSpPr>
            <a:spLocks noGrp="1"/>
          </p:cNvSpPr>
          <p:nvPr>
            <p:ph idx="1"/>
          </p:nvPr>
        </p:nvSpPr>
        <p:spPr/>
        <p:txBody>
          <a:bodyPr vert="horz" lIns="91440" tIns="45720" rIns="91440" bIns="45720" rtlCol="0" anchor="t">
            <a:normAutofit/>
          </a:bodyPr>
          <a:lstStyle/>
          <a:p>
            <a:pPr marL="457200" indent="-457200"/>
            <a:r>
              <a:rPr lang="en-US"/>
              <a:t>Design closed-loop system PID control for whole vehicle.</a:t>
            </a:r>
          </a:p>
          <a:p>
            <a:pPr marL="457200" indent="-457200"/>
            <a:r>
              <a:rPr lang="en-US"/>
              <a:t>Controller implementation on one microcontroller and performance analysis.</a:t>
            </a:r>
          </a:p>
        </p:txBody>
      </p:sp>
      <p:sp>
        <p:nvSpPr>
          <p:cNvPr id="4" name="Slide Number Placeholder 3">
            <a:extLst>
              <a:ext uri="{FF2B5EF4-FFF2-40B4-BE49-F238E27FC236}">
                <a16:creationId xmlns:a16="http://schemas.microsoft.com/office/drawing/2014/main" id="{5EB888D2-52E3-0041-D446-4805003D7FF9}"/>
              </a:ext>
            </a:extLst>
          </p:cNvPr>
          <p:cNvSpPr>
            <a:spLocks noGrp="1"/>
          </p:cNvSpPr>
          <p:nvPr>
            <p:ph type="sldNum" sz="quarter" idx="12"/>
          </p:nvPr>
        </p:nvSpPr>
        <p:spPr/>
        <p:txBody>
          <a:bodyPr/>
          <a:lstStyle/>
          <a:p>
            <a:fld id="{73B850FF-6169-4056-8077-06FFA93A5366}" type="slidenum">
              <a:rPr lang="en-US" dirty="0" smtClean="0"/>
              <a:t>50</a:t>
            </a:fld>
            <a:endParaRPr lang="en-US"/>
          </a:p>
        </p:txBody>
      </p:sp>
    </p:spTree>
    <p:extLst>
      <p:ext uri="{BB962C8B-B14F-4D97-AF65-F5344CB8AC3E}">
        <p14:creationId xmlns:p14="http://schemas.microsoft.com/office/powerpoint/2010/main" val="8940146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9EB4-FCF8-734B-6BCB-ABD73CE9C400}"/>
              </a:ext>
            </a:extLst>
          </p:cNvPr>
          <p:cNvSpPr>
            <a:spLocks noGrp="1"/>
          </p:cNvSpPr>
          <p:nvPr>
            <p:ph type="title"/>
          </p:nvPr>
        </p:nvSpPr>
        <p:spPr/>
        <p:txBody>
          <a:bodyPr>
            <a:noAutofit/>
          </a:bodyPr>
          <a:lstStyle/>
          <a:p>
            <a:r>
              <a:rPr lang="en-US"/>
              <a:t>Main Specifications</a:t>
            </a:r>
          </a:p>
        </p:txBody>
      </p:sp>
      <p:sp>
        <p:nvSpPr>
          <p:cNvPr id="3" name="Text Placeholder 2">
            <a:extLst>
              <a:ext uri="{FF2B5EF4-FFF2-40B4-BE49-F238E27FC236}">
                <a16:creationId xmlns:a16="http://schemas.microsoft.com/office/drawing/2014/main" id="{FC4D5457-F491-B7A5-CAD2-EF4A64A91CBA}"/>
              </a:ext>
            </a:extLst>
          </p:cNvPr>
          <p:cNvSpPr>
            <a:spLocks noGrp="1"/>
          </p:cNvSpPr>
          <p:nvPr>
            <p:ph type="body" idx="1"/>
          </p:nvPr>
        </p:nvSpPr>
        <p:spPr/>
        <p:txBody>
          <a:bodyPr/>
          <a:lstStyle/>
          <a:p>
            <a:r>
              <a:rPr lang="en-US"/>
              <a:t>Driving </a:t>
            </a:r>
          </a:p>
        </p:txBody>
      </p:sp>
      <p:sp>
        <p:nvSpPr>
          <p:cNvPr id="4" name="Content Placeholder 3">
            <a:extLst>
              <a:ext uri="{FF2B5EF4-FFF2-40B4-BE49-F238E27FC236}">
                <a16:creationId xmlns:a16="http://schemas.microsoft.com/office/drawing/2014/main" id="{24E8BC7C-71A4-CBAD-6222-BBF000F0DB1D}"/>
              </a:ext>
            </a:extLst>
          </p:cNvPr>
          <p:cNvSpPr>
            <a:spLocks noGrp="1"/>
          </p:cNvSpPr>
          <p:nvPr>
            <p:ph sz="half" idx="2"/>
          </p:nvPr>
        </p:nvSpPr>
        <p:spPr/>
        <p:txBody>
          <a:bodyPr/>
          <a:lstStyle/>
          <a:p>
            <a:endParaRPr lang="en-US"/>
          </a:p>
        </p:txBody>
      </p:sp>
      <p:sp>
        <p:nvSpPr>
          <p:cNvPr id="5" name="Text Placeholder 4">
            <a:extLst>
              <a:ext uri="{FF2B5EF4-FFF2-40B4-BE49-F238E27FC236}">
                <a16:creationId xmlns:a16="http://schemas.microsoft.com/office/drawing/2014/main" id="{DA8A5B6F-25AD-1BDB-56D0-7B610D357F13}"/>
              </a:ext>
            </a:extLst>
          </p:cNvPr>
          <p:cNvSpPr>
            <a:spLocks noGrp="1"/>
          </p:cNvSpPr>
          <p:nvPr>
            <p:ph type="body" sz="quarter" idx="3"/>
          </p:nvPr>
        </p:nvSpPr>
        <p:spPr/>
        <p:txBody>
          <a:bodyPr/>
          <a:lstStyle/>
          <a:p>
            <a:r>
              <a:rPr lang="en-US"/>
              <a:t>Steering</a:t>
            </a:r>
          </a:p>
        </p:txBody>
      </p:sp>
      <p:sp>
        <p:nvSpPr>
          <p:cNvPr id="6" name="Content Placeholder 5">
            <a:extLst>
              <a:ext uri="{FF2B5EF4-FFF2-40B4-BE49-F238E27FC236}">
                <a16:creationId xmlns:a16="http://schemas.microsoft.com/office/drawing/2014/main" id="{8F76B420-98F7-3EB3-6D47-ACA09DAF2052}"/>
              </a:ext>
            </a:extLst>
          </p:cNvPr>
          <p:cNvSpPr>
            <a:spLocks noGrp="1"/>
          </p:cNvSpPr>
          <p:nvPr>
            <p:ph sz="quarter" idx="4"/>
          </p:nvPr>
        </p:nvSpPr>
        <p:spPr/>
        <p:txBody>
          <a:bodyPr/>
          <a:lstStyle/>
          <a:p>
            <a:endParaRPr lang="en-US"/>
          </a:p>
        </p:txBody>
      </p:sp>
      <p:sp>
        <p:nvSpPr>
          <p:cNvPr id="8" name="Slide Number Placeholder 7">
            <a:extLst>
              <a:ext uri="{FF2B5EF4-FFF2-40B4-BE49-F238E27FC236}">
                <a16:creationId xmlns:a16="http://schemas.microsoft.com/office/drawing/2014/main" id="{7B0ACC61-81C9-C827-2E7D-D5ECCC65B34A}"/>
              </a:ext>
            </a:extLst>
          </p:cNvPr>
          <p:cNvSpPr>
            <a:spLocks noGrp="1"/>
          </p:cNvSpPr>
          <p:nvPr>
            <p:ph type="sldNum" sz="quarter" idx="12"/>
          </p:nvPr>
        </p:nvSpPr>
        <p:spPr/>
        <p:txBody>
          <a:bodyPr/>
          <a:lstStyle/>
          <a:p>
            <a:fld id="{73B850FF-6169-4056-8077-06FFA93A5366}" type="slidenum">
              <a:rPr lang="en-US" smtClean="0"/>
              <a:t>51</a:t>
            </a:fld>
            <a:endParaRPr lang="en-US"/>
          </a:p>
        </p:txBody>
      </p:sp>
    </p:spTree>
    <p:extLst>
      <p:ext uri="{BB962C8B-B14F-4D97-AF65-F5344CB8AC3E}">
        <p14:creationId xmlns:p14="http://schemas.microsoft.com/office/powerpoint/2010/main" val="1162638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9EB4-FCF8-734B-6BCB-ABD73CE9C400}"/>
              </a:ext>
            </a:extLst>
          </p:cNvPr>
          <p:cNvSpPr>
            <a:spLocks noGrp="1"/>
          </p:cNvSpPr>
          <p:nvPr>
            <p:ph type="title"/>
          </p:nvPr>
        </p:nvSpPr>
        <p:spPr/>
        <p:txBody>
          <a:bodyPr>
            <a:noAutofit/>
          </a:bodyPr>
          <a:lstStyle/>
          <a:p>
            <a:r>
              <a:rPr lang="en-US"/>
              <a:t>Results</a:t>
            </a:r>
          </a:p>
        </p:txBody>
      </p:sp>
      <p:sp>
        <p:nvSpPr>
          <p:cNvPr id="3" name="Text Placeholder 2">
            <a:extLst>
              <a:ext uri="{FF2B5EF4-FFF2-40B4-BE49-F238E27FC236}">
                <a16:creationId xmlns:a16="http://schemas.microsoft.com/office/drawing/2014/main" id="{FC4D5457-F491-B7A5-CAD2-EF4A64A91CBA}"/>
              </a:ext>
            </a:extLst>
          </p:cNvPr>
          <p:cNvSpPr>
            <a:spLocks noGrp="1"/>
          </p:cNvSpPr>
          <p:nvPr>
            <p:ph type="body" idx="1"/>
          </p:nvPr>
        </p:nvSpPr>
        <p:spPr/>
        <p:txBody>
          <a:bodyPr/>
          <a:lstStyle/>
          <a:p>
            <a:r>
              <a:rPr lang="en-US"/>
              <a:t>Driving </a:t>
            </a:r>
          </a:p>
        </p:txBody>
      </p:sp>
      <p:sp>
        <p:nvSpPr>
          <p:cNvPr id="4" name="Content Placeholder 3">
            <a:extLst>
              <a:ext uri="{FF2B5EF4-FFF2-40B4-BE49-F238E27FC236}">
                <a16:creationId xmlns:a16="http://schemas.microsoft.com/office/drawing/2014/main" id="{24E8BC7C-71A4-CBAD-6222-BBF000F0DB1D}"/>
              </a:ext>
            </a:extLst>
          </p:cNvPr>
          <p:cNvSpPr>
            <a:spLocks noGrp="1"/>
          </p:cNvSpPr>
          <p:nvPr>
            <p:ph sz="half" idx="2"/>
          </p:nvPr>
        </p:nvSpPr>
        <p:spPr/>
        <p:txBody>
          <a:bodyPr/>
          <a:lstStyle/>
          <a:p>
            <a:endParaRPr lang="en-US"/>
          </a:p>
        </p:txBody>
      </p:sp>
      <p:sp>
        <p:nvSpPr>
          <p:cNvPr id="5" name="Text Placeholder 4">
            <a:extLst>
              <a:ext uri="{FF2B5EF4-FFF2-40B4-BE49-F238E27FC236}">
                <a16:creationId xmlns:a16="http://schemas.microsoft.com/office/drawing/2014/main" id="{DA8A5B6F-25AD-1BDB-56D0-7B610D357F13}"/>
              </a:ext>
            </a:extLst>
          </p:cNvPr>
          <p:cNvSpPr>
            <a:spLocks noGrp="1"/>
          </p:cNvSpPr>
          <p:nvPr>
            <p:ph type="body" sz="quarter" idx="3"/>
          </p:nvPr>
        </p:nvSpPr>
        <p:spPr/>
        <p:txBody>
          <a:bodyPr/>
          <a:lstStyle/>
          <a:p>
            <a:r>
              <a:rPr lang="en-US"/>
              <a:t>Steering</a:t>
            </a:r>
          </a:p>
        </p:txBody>
      </p:sp>
      <p:sp>
        <p:nvSpPr>
          <p:cNvPr id="6" name="Content Placeholder 5">
            <a:extLst>
              <a:ext uri="{FF2B5EF4-FFF2-40B4-BE49-F238E27FC236}">
                <a16:creationId xmlns:a16="http://schemas.microsoft.com/office/drawing/2014/main" id="{8F76B420-98F7-3EB3-6D47-ACA09DAF2052}"/>
              </a:ext>
            </a:extLst>
          </p:cNvPr>
          <p:cNvSpPr>
            <a:spLocks noGrp="1"/>
          </p:cNvSpPr>
          <p:nvPr>
            <p:ph sz="quarter" idx="4"/>
          </p:nvPr>
        </p:nvSpPr>
        <p:spPr/>
        <p:txBody>
          <a:bodyPr/>
          <a:lstStyle/>
          <a:p>
            <a:endParaRPr lang="en-US"/>
          </a:p>
        </p:txBody>
      </p:sp>
      <p:sp>
        <p:nvSpPr>
          <p:cNvPr id="8" name="Slide Number Placeholder 7">
            <a:extLst>
              <a:ext uri="{FF2B5EF4-FFF2-40B4-BE49-F238E27FC236}">
                <a16:creationId xmlns:a16="http://schemas.microsoft.com/office/drawing/2014/main" id="{7B0ACC61-81C9-C827-2E7D-D5ECCC65B34A}"/>
              </a:ext>
            </a:extLst>
          </p:cNvPr>
          <p:cNvSpPr>
            <a:spLocks noGrp="1"/>
          </p:cNvSpPr>
          <p:nvPr>
            <p:ph type="sldNum" sz="quarter" idx="12"/>
          </p:nvPr>
        </p:nvSpPr>
        <p:spPr/>
        <p:txBody>
          <a:bodyPr/>
          <a:lstStyle/>
          <a:p>
            <a:fld id="{73B850FF-6169-4056-8077-06FFA93A5366}" type="slidenum">
              <a:rPr lang="en-US" smtClean="0"/>
              <a:t>52</a:t>
            </a:fld>
            <a:endParaRPr lang="en-US"/>
          </a:p>
        </p:txBody>
      </p:sp>
    </p:spTree>
    <p:extLst>
      <p:ext uri="{BB962C8B-B14F-4D97-AF65-F5344CB8AC3E}">
        <p14:creationId xmlns:p14="http://schemas.microsoft.com/office/powerpoint/2010/main" val="24071111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9EB4-FCF8-734B-6BCB-ABD73CE9C400}"/>
              </a:ext>
            </a:extLst>
          </p:cNvPr>
          <p:cNvSpPr>
            <a:spLocks noGrp="1"/>
          </p:cNvSpPr>
          <p:nvPr>
            <p:ph type="title"/>
          </p:nvPr>
        </p:nvSpPr>
        <p:spPr/>
        <p:txBody>
          <a:bodyPr>
            <a:noAutofit/>
          </a:bodyPr>
          <a:lstStyle/>
          <a:p>
            <a:r>
              <a:rPr lang="en-US">
                <a:ea typeface="+mj-lt"/>
                <a:cs typeface="+mj-lt"/>
              </a:rPr>
              <a:t>Problems/Solutions</a:t>
            </a:r>
            <a:endParaRPr lang="en-US" b="0">
              <a:ea typeface="+mj-lt"/>
              <a:cs typeface="+mj-lt"/>
            </a:endParaRPr>
          </a:p>
        </p:txBody>
      </p:sp>
      <p:sp>
        <p:nvSpPr>
          <p:cNvPr id="3" name="Text Placeholder 2">
            <a:extLst>
              <a:ext uri="{FF2B5EF4-FFF2-40B4-BE49-F238E27FC236}">
                <a16:creationId xmlns:a16="http://schemas.microsoft.com/office/drawing/2014/main" id="{FC4D5457-F491-B7A5-CAD2-EF4A64A91CBA}"/>
              </a:ext>
            </a:extLst>
          </p:cNvPr>
          <p:cNvSpPr>
            <a:spLocks noGrp="1"/>
          </p:cNvSpPr>
          <p:nvPr>
            <p:ph type="body" idx="1"/>
          </p:nvPr>
        </p:nvSpPr>
        <p:spPr/>
        <p:txBody>
          <a:bodyPr/>
          <a:lstStyle/>
          <a:p>
            <a:r>
              <a:rPr lang="en-US"/>
              <a:t>Driving </a:t>
            </a:r>
          </a:p>
        </p:txBody>
      </p:sp>
      <p:sp>
        <p:nvSpPr>
          <p:cNvPr id="4" name="Content Placeholder 3">
            <a:extLst>
              <a:ext uri="{FF2B5EF4-FFF2-40B4-BE49-F238E27FC236}">
                <a16:creationId xmlns:a16="http://schemas.microsoft.com/office/drawing/2014/main" id="{24E8BC7C-71A4-CBAD-6222-BBF000F0DB1D}"/>
              </a:ext>
            </a:extLst>
          </p:cNvPr>
          <p:cNvSpPr>
            <a:spLocks noGrp="1"/>
          </p:cNvSpPr>
          <p:nvPr>
            <p:ph sz="half" idx="2"/>
          </p:nvPr>
        </p:nvSpPr>
        <p:spPr/>
        <p:txBody>
          <a:bodyPr/>
          <a:lstStyle/>
          <a:p>
            <a:endParaRPr lang="en-US"/>
          </a:p>
        </p:txBody>
      </p:sp>
      <p:sp>
        <p:nvSpPr>
          <p:cNvPr id="5" name="Text Placeholder 4">
            <a:extLst>
              <a:ext uri="{FF2B5EF4-FFF2-40B4-BE49-F238E27FC236}">
                <a16:creationId xmlns:a16="http://schemas.microsoft.com/office/drawing/2014/main" id="{DA8A5B6F-25AD-1BDB-56D0-7B610D357F13}"/>
              </a:ext>
            </a:extLst>
          </p:cNvPr>
          <p:cNvSpPr>
            <a:spLocks noGrp="1"/>
          </p:cNvSpPr>
          <p:nvPr>
            <p:ph type="body" sz="quarter" idx="3"/>
          </p:nvPr>
        </p:nvSpPr>
        <p:spPr/>
        <p:txBody>
          <a:bodyPr/>
          <a:lstStyle/>
          <a:p>
            <a:r>
              <a:rPr lang="en-US"/>
              <a:t>Steering</a:t>
            </a:r>
          </a:p>
        </p:txBody>
      </p:sp>
      <p:sp>
        <p:nvSpPr>
          <p:cNvPr id="6" name="Content Placeholder 5">
            <a:extLst>
              <a:ext uri="{FF2B5EF4-FFF2-40B4-BE49-F238E27FC236}">
                <a16:creationId xmlns:a16="http://schemas.microsoft.com/office/drawing/2014/main" id="{8F76B420-98F7-3EB3-6D47-ACA09DAF2052}"/>
              </a:ext>
            </a:extLst>
          </p:cNvPr>
          <p:cNvSpPr>
            <a:spLocks noGrp="1"/>
          </p:cNvSpPr>
          <p:nvPr>
            <p:ph sz="quarter" idx="4"/>
          </p:nvPr>
        </p:nvSpPr>
        <p:spPr/>
        <p:txBody>
          <a:bodyPr/>
          <a:lstStyle/>
          <a:p>
            <a:endParaRPr lang="en-US"/>
          </a:p>
        </p:txBody>
      </p:sp>
      <p:sp>
        <p:nvSpPr>
          <p:cNvPr id="8" name="Slide Number Placeholder 7">
            <a:extLst>
              <a:ext uri="{FF2B5EF4-FFF2-40B4-BE49-F238E27FC236}">
                <a16:creationId xmlns:a16="http://schemas.microsoft.com/office/drawing/2014/main" id="{7B0ACC61-81C9-C827-2E7D-D5ECCC65B34A}"/>
              </a:ext>
            </a:extLst>
          </p:cNvPr>
          <p:cNvSpPr>
            <a:spLocks noGrp="1"/>
          </p:cNvSpPr>
          <p:nvPr>
            <p:ph type="sldNum" sz="quarter" idx="12"/>
          </p:nvPr>
        </p:nvSpPr>
        <p:spPr/>
        <p:txBody>
          <a:bodyPr/>
          <a:lstStyle/>
          <a:p>
            <a:fld id="{73B850FF-6169-4056-8077-06FFA93A5366}" type="slidenum">
              <a:rPr lang="en-US" smtClean="0"/>
              <a:t>53</a:t>
            </a:fld>
            <a:endParaRPr lang="en-US"/>
          </a:p>
        </p:txBody>
      </p:sp>
    </p:spTree>
    <p:extLst>
      <p:ext uri="{BB962C8B-B14F-4D97-AF65-F5344CB8AC3E}">
        <p14:creationId xmlns:p14="http://schemas.microsoft.com/office/powerpoint/2010/main" val="21863250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39EB4-FCF8-734B-6BCB-ABD73CE9C400}"/>
              </a:ext>
            </a:extLst>
          </p:cNvPr>
          <p:cNvSpPr>
            <a:spLocks noGrp="1"/>
          </p:cNvSpPr>
          <p:nvPr>
            <p:ph type="title"/>
          </p:nvPr>
        </p:nvSpPr>
        <p:spPr/>
        <p:txBody>
          <a:bodyPr>
            <a:noAutofit/>
          </a:bodyPr>
          <a:lstStyle/>
          <a:p>
            <a:r>
              <a:rPr lang="en-US"/>
              <a:t>Questions</a:t>
            </a:r>
          </a:p>
        </p:txBody>
      </p:sp>
      <p:sp>
        <p:nvSpPr>
          <p:cNvPr id="3" name="Text Placeholder 2">
            <a:extLst>
              <a:ext uri="{FF2B5EF4-FFF2-40B4-BE49-F238E27FC236}">
                <a16:creationId xmlns:a16="http://schemas.microsoft.com/office/drawing/2014/main" id="{FC4D5457-F491-B7A5-CAD2-EF4A64A91CBA}"/>
              </a:ext>
            </a:extLst>
          </p:cNvPr>
          <p:cNvSpPr>
            <a:spLocks noGrp="1"/>
          </p:cNvSpPr>
          <p:nvPr>
            <p:ph type="body" idx="1"/>
          </p:nvPr>
        </p:nvSpPr>
        <p:spPr/>
        <p:txBody>
          <a:bodyPr/>
          <a:lstStyle/>
          <a:p>
            <a:r>
              <a:rPr lang="en-US"/>
              <a:t>Driving </a:t>
            </a:r>
          </a:p>
        </p:txBody>
      </p:sp>
      <p:sp>
        <p:nvSpPr>
          <p:cNvPr id="4" name="Content Placeholder 3">
            <a:extLst>
              <a:ext uri="{FF2B5EF4-FFF2-40B4-BE49-F238E27FC236}">
                <a16:creationId xmlns:a16="http://schemas.microsoft.com/office/drawing/2014/main" id="{24E8BC7C-71A4-CBAD-6222-BBF000F0DB1D}"/>
              </a:ext>
            </a:extLst>
          </p:cNvPr>
          <p:cNvSpPr>
            <a:spLocks noGrp="1"/>
          </p:cNvSpPr>
          <p:nvPr>
            <p:ph sz="half" idx="2"/>
          </p:nvPr>
        </p:nvSpPr>
        <p:spPr/>
        <p:txBody>
          <a:bodyPr/>
          <a:lstStyle/>
          <a:p>
            <a:endParaRPr lang="en-US"/>
          </a:p>
        </p:txBody>
      </p:sp>
      <p:sp>
        <p:nvSpPr>
          <p:cNvPr id="5" name="Text Placeholder 4">
            <a:extLst>
              <a:ext uri="{FF2B5EF4-FFF2-40B4-BE49-F238E27FC236}">
                <a16:creationId xmlns:a16="http://schemas.microsoft.com/office/drawing/2014/main" id="{DA8A5B6F-25AD-1BDB-56D0-7B610D357F13}"/>
              </a:ext>
            </a:extLst>
          </p:cNvPr>
          <p:cNvSpPr>
            <a:spLocks noGrp="1"/>
          </p:cNvSpPr>
          <p:nvPr>
            <p:ph type="body" sz="quarter" idx="3"/>
          </p:nvPr>
        </p:nvSpPr>
        <p:spPr/>
        <p:txBody>
          <a:bodyPr/>
          <a:lstStyle/>
          <a:p>
            <a:r>
              <a:rPr lang="en-US"/>
              <a:t>Steering</a:t>
            </a:r>
          </a:p>
        </p:txBody>
      </p:sp>
      <p:sp>
        <p:nvSpPr>
          <p:cNvPr id="6" name="Content Placeholder 5">
            <a:extLst>
              <a:ext uri="{FF2B5EF4-FFF2-40B4-BE49-F238E27FC236}">
                <a16:creationId xmlns:a16="http://schemas.microsoft.com/office/drawing/2014/main" id="{8F76B420-98F7-3EB3-6D47-ACA09DAF2052}"/>
              </a:ext>
            </a:extLst>
          </p:cNvPr>
          <p:cNvSpPr>
            <a:spLocks noGrp="1"/>
          </p:cNvSpPr>
          <p:nvPr>
            <p:ph sz="quarter" idx="4"/>
          </p:nvPr>
        </p:nvSpPr>
        <p:spPr/>
        <p:txBody>
          <a:bodyPr/>
          <a:lstStyle/>
          <a:p>
            <a:endParaRPr lang="en-US"/>
          </a:p>
        </p:txBody>
      </p:sp>
      <p:sp>
        <p:nvSpPr>
          <p:cNvPr id="8" name="Slide Number Placeholder 7">
            <a:extLst>
              <a:ext uri="{FF2B5EF4-FFF2-40B4-BE49-F238E27FC236}">
                <a16:creationId xmlns:a16="http://schemas.microsoft.com/office/drawing/2014/main" id="{7B0ACC61-81C9-C827-2E7D-D5ECCC65B34A}"/>
              </a:ext>
            </a:extLst>
          </p:cNvPr>
          <p:cNvSpPr>
            <a:spLocks noGrp="1"/>
          </p:cNvSpPr>
          <p:nvPr>
            <p:ph type="sldNum" sz="quarter" idx="12"/>
          </p:nvPr>
        </p:nvSpPr>
        <p:spPr/>
        <p:txBody>
          <a:bodyPr/>
          <a:lstStyle/>
          <a:p>
            <a:fld id="{73B850FF-6169-4056-8077-06FFA93A5366}" type="slidenum">
              <a:rPr lang="en-US" smtClean="0"/>
              <a:t>54</a:t>
            </a:fld>
            <a:endParaRPr lang="en-US"/>
          </a:p>
        </p:txBody>
      </p:sp>
    </p:spTree>
    <p:extLst>
      <p:ext uri="{BB962C8B-B14F-4D97-AF65-F5344CB8AC3E}">
        <p14:creationId xmlns:p14="http://schemas.microsoft.com/office/powerpoint/2010/main" val="18342214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24D07-EDA0-A189-F4DE-305F6D70EBD1}"/>
              </a:ext>
            </a:extLst>
          </p:cNvPr>
          <p:cNvSpPr>
            <a:spLocks noGrp="1"/>
          </p:cNvSpPr>
          <p:nvPr>
            <p:ph type="title"/>
          </p:nvPr>
        </p:nvSpPr>
        <p:spPr/>
        <p:txBody>
          <a:bodyPr/>
          <a:lstStyle/>
          <a:p>
            <a:r>
              <a:rPr lang="en-US"/>
              <a:t>Conclusion</a:t>
            </a:r>
          </a:p>
        </p:txBody>
      </p:sp>
      <p:sp>
        <p:nvSpPr>
          <p:cNvPr id="3" name="Content Placeholder 2">
            <a:extLst>
              <a:ext uri="{FF2B5EF4-FFF2-40B4-BE49-F238E27FC236}">
                <a16:creationId xmlns:a16="http://schemas.microsoft.com/office/drawing/2014/main" id="{1373FA71-6605-4BAF-3C74-51D10BF39464}"/>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770987B9-B183-91B2-8178-1C515F205D6C}"/>
              </a:ext>
            </a:extLst>
          </p:cNvPr>
          <p:cNvSpPr>
            <a:spLocks noGrp="1"/>
          </p:cNvSpPr>
          <p:nvPr>
            <p:ph type="sldNum" sz="quarter" idx="12"/>
          </p:nvPr>
        </p:nvSpPr>
        <p:spPr/>
        <p:txBody>
          <a:bodyPr/>
          <a:lstStyle/>
          <a:p>
            <a:fld id="{73B850FF-6169-4056-8077-06FFA93A5366}" type="slidenum">
              <a:rPr lang="en-US" smtClean="0"/>
              <a:t>55</a:t>
            </a:fld>
            <a:endParaRPr lang="en-US"/>
          </a:p>
        </p:txBody>
      </p:sp>
    </p:spTree>
    <p:extLst>
      <p:ext uri="{BB962C8B-B14F-4D97-AF65-F5344CB8AC3E}">
        <p14:creationId xmlns:p14="http://schemas.microsoft.com/office/powerpoint/2010/main" val="1472925618"/>
      </p:ext>
    </p:extLst>
  </p:cSld>
  <p:clrMapOvr>
    <a:masterClrMapping/>
  </p:clrMapOvr>
</p:sld>
</file>

<file path=ppt/theme/theme1.xml><?xml version="1.0" encoding="utf-8"?>
<a:theme xmlns:a="http://schemas.openxmlformats.org/drawingml/2006/main" name="BlockprintVTI">
  <a:themeElements>
    <a:clrScheme name="AnalogousFromDarkSeedLeftStep">
      <a:dk1>
        <a:srgbClr val="000000"/>
      </a:dk1>
      <a:lt1>
        <a:srgbClr val="FFFFFF"/>
      </a:lt1>
      <a:dk2>
        <a:srgbClr val="181734"/>
      </a:dk2>
      <a:lt2>
        <a:srgbClr val="F0F3F2"/>
      </a:lt2>
      <a:accent1>
        <a:srgbClr val="C9476D"/>
      </a:accent1>
      <a:accent2>
        <a:srgbClr val="B73591"/>
      </a:accent2>
      <a:accent3>
        <a:srgbClr val="B947C9"/>
      </a:accent3>
      <a:accent4>
        <a:srgbClr val="7035B7"/>
      </a:accent4>
      <a:accent5>
        <a:srgbClr val="4C47C9"/>
      </a:accent5>
      <a:accent6>
        <a:srgbClr val="3566B7"/>
      </a:accent6>
      <a:hlink>
        <a:srgbClr val="6B53C5"/>
      </a:hlink>
      <a:folHlink>
        <a:srgbClr val="7F7F7F"/>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printVTI" id="{AA8C8908-6BA4-477C-AEA4-CB6C32A1FE3B}" vid="{36392749-7C1D-4938-93BB-440CD2A1B0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8F3E60A8335E54892EB5E7363267E33" ma:contentTypeVersion="17" ma:contentTypeDescription="Create a new document." ma:contentTypeScope="" ma:versionID="81e7f89f6616e6ab9488a1c1c44dfc85">
  <xsd:schema xmlns:xsd="http://www.w3.org/2001/XMLSchema" xmlns:xs="http://www.w3.org/2001/XMLSchema" xmlns:p="http://schemas.microsoft.com/office/2006/metadata/properties" xmlns:ns3="83c5001e-78a9-49e4-b383-033a8e1c0125" xmlns:ns4="651a1eb2-06cf-4be5-89a6-622561ba5253" targetNamespace="http://schemas.microsoft.com/office/2006/metadata/properties" ma:root="true" ma:fieldsID="53ee639f566feaa40c7204058bd23f8c" ns3:_="" ns4:_="">
    <xsd:import namespace="83c5001e-78a9-49e4-b383-033a8e1c0125"/>
    <xsd:import namespace="651a1eb2-06cf-4be5-89a6-622561ba5253"/>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_activity" minOccurs="0"/>
                <xsd:element ref="ns3:MediaServiceDateTaken" minOccurs="0"/>
                <xsd:element ref="ns3:MediaServiceAutoTags" minOccurs="0"/>
                <xsd:element ref="ns3:MediaLengthInSeconds" minOccurs="0"/>
                <xsd:element ref="ns3:MediaServiceObjectDetectorVersions" minOccurs="0"/>
                <xsd:element ref="ns3:MediaServiceLocation" minOccurs="0"/>
                <xsd:element ref="ns3:MediaServiceGenerationTime" minOccurs="0"/>
                <xsd:element ref="ns3:MediaServiceEventHashCode" minOccurs="0"/>
                <xsd:element ref="ns3:MediaServiceSystemTag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c5001e-78a9-49e4-b383-033a8e1c01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activity" ma:index="15"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AutoTags" ma:index="17" nillable="true" ma:displayName="Tags" ma:internalName="MediaServiceAutoTags"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element name="MediaServiceOCR" ma:index="24"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51a1eb2-06cf-4be5-89a6-622561ba525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3c5001e-78a9-49e4-b383-033a8e1c0125" xsi:nil="true"/>
  </documentManagement>
</p:properties>
</file>

<file path=customXml/itemProps1.xml><?xml version="1.0" encoding="utf-8"?>
<ds:datastoreItem xmlns:ds="http://schemas.openxmlformats.org/officeDocument/2006/customXml" ds:itemID="{39CE1FD5-E2AD-459A-9869-23871D9DC3D2}">
  <ds:schemaRefs>
    <ds:schemaRef ds:uri="651a1eb2-06cf-4be5-89a6-622561ba5253"/>
    <ds:schemaRef ds:uri="83c5001e-78a9-49e4-b383-033a8e1c01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E6B2546-ECC2-4F37-9E9A-BF99176CEAB1}">
  <ds:schemaRefs>
    <ds:schemaRef ds:uri="http://schemas.microsoft.com/sharepoint/v3/contenttype/forms"/>
  </ds:schemaRefs>
</ds:datastoreItem>
</file>

<file path=customXml/itemProps3.xml><?xml version="1.0" encoding="utf-8"?>
<ds:datastoreItem xmlns:ds="http://schemas.openxmlformats.org/officeDocument/2006/customXml" ds:itemID="{0961C2C8-0B7E-4A5D-A1D9-8504208D0591}">
  <ds:schemaRefs>
    <ds:schemaRef ds:uri="651a1eb2-06cf-4be5-89a6-622561ba5253"/>
    <ds:schemaRef ds:uri="83c5001e-78a9-49e4-b383-033a8e1c01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55</Slides>
  <Notes>3</Notes>
  <HiddenSlides>0</HiddenSlides>
  <ScaleCrop>false</ScaleCrop>
  <HeadingPairs>
    <vt:vector size="4" baseType="variant">
      <vt:variant>
        <vt:lpstr>Theme</vt:lpstr>
      </vt:variant>
      <vt:variant>
        <vt:i4>1</vt:i4>
      </vt:variant>
      <vt:variant>
        <vt:lpstr>Slide Titles</vt:lpstr>
      </vt:variant>
      <vt:variant>
        <vt:i4>55</vt:i4>
      </vt:variant>
    </vt:vector>
  </HeadingPairs>
  <TitlesOfParts>
    <vt:vector size="56" baseType="lpstr">
      <vt:lpstr>BlockprintVTI</vt:lpstr>
      <vt:lpstr>Final Presentation: Real-Time Systems Lab </vt:lpstr>
      <vt:lpstr>Agenda</vt:lpstr>
      <vt:lpstr>Project Description</vt:lpstr>
      <vt:lpstr>Key Components and Processes</vt:lpstr>
      <vt:lpstr>Full System Block Diagram</vt:lpstr>
      <vt:lpstr>Code Block Diagram</vt:lpstr>
      <vt:lpstr>Lab 1: Open-Loop Control and Feedback Measurement </vt:lpstr>
      <vt:lpstr>General Objectives</vt:lpstr>
      <vt:lpstr>Main Specifications</vt:lpstr>
      <vt:lpstr>Open-Loop Control Potentiometer and PWM</vt:lpstr>
      <vt:lpstr>Open-Loop Control Buck Converter (I)</vt:lpstr>
      <vt:lpstr>Open-Loop Control Buck Converter (II)</vt:lpstr>
      <vt:lpstr>Open-Loop Control Buck Converter (III)</vt:lpstr>
      <vt:lpstr>Speed Measurement  Tachometer</vt:lpstr>
      <vt:lpstr>Speed Measurement  Encoder (OPB829AZ)</vt:lpstr>
      <vt:lpstr>Speed Measurement  Frequency to Voltage Converter (LM2907N)</vt:lpstr>
      <vt:lpstr>Speed Measurement  Analog to Digital Converter (ADC)</vt:lpstr>
      <vt:lpstr>Speed Measurement Results</vt:lpstr>
      <vt:lpstr>Results</vt:lpstr>
      <vt:lpstr>Problems/Solutions</vt:lpstr>
      <vt:lpstr>Questions</vt:lpstr>
      <vt:lpstr>Lab 2: Model Identification </vt:lpstr>
      <vt:lpstr>General Objectives</vt:lpstr>
      <vt:lpstr>Main Specifications</vt:lpstr>
      <vt:lpstr>Motor Model ID (Part I) Permanent DC Motor</vt:lpstr>
      <vt:lpstr>Motor Model ID (Part I) Armature Resistance</vt:lpstr>
      <vt:lpstr>Motor Model ID (Part I) Frequency Sweep</vt:lpstr>
      <vt:lpstr>Motor Model ID (Part I) Frequency Sweep Results </vt:lpstr>
      <vt:lpstr>Motor Model ID (Part II) Electrical Motor Model</vt:lpstr>
      <vt:lpstr>Motor Model ID (Part II) Mechanical Motor Model</vt:lpstr>
      <vt:lpstr>Motor Model ID (Part II) Transfer function</vt:lpstr>
      <vt:lpstr>Time constant</vt:lpstr>
      <vt:lpstr>Simulink</vt:lpstr>
      <vt:lpstr>Results</vt:lpstr>
      <vt:lpstr>Problems/Solutions</vt:lpstr>
      <vt:lpstr>Questions</vt:lpstr>
      <vt:lpstr>Lab 3: Control Design and Implementation </vt:lpstr>
      <vt:lpstr>General Objectives</vt:lpstr>
      <vt:lpstr>Main Specifications</vt:lpstr>
      <vt:lpstr>Results</vt:lpstr>
      <vt:lpstr>Problems/Solutions</vt:lpstr>
      <vt:lpstr>Questions</vt:lpstr>
      <vt:lpstr>Lab 5: Subsystem Integration- Combination and State Logic </vt:lpstr>
      <vt:lpstr>General Objectives</vt:lpstr>
      <vt:lpstr>Main Specifications</vt:lpstr>
      <vt:lpstr>Results</vt:lpstr>
      <vt:lpstr>Problems/Solutions</vt:lpstr>
      <vt:lpstr>Questions</vt:lpstr>
      <vt:lpstr>Lab 6: PID Control Design </vt:lpstr>
      <vt:lpstr>General Objectives</vt:lpstr>
      <vt:lpstr>Main Specifications</vt:lpstr>
      <vt:lpstr>Results</vt:lpstr>
      <vt:lpstr>Problems/Solutions</vt:lpstr>
      <vt:lpstr>Questions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cp:revision>
  <dcterms:created xsi:type="dcterms:W3CDTF">2023-12-02T16:48:20Z</dcterms:created>
  <dcterms:modified xsi:type="dcterms:W3CDTF">2023-12-14T03:46:20Z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0x01010098F3E60A8335E54892EB5E7363267E33</vt:lpwstr>
  </property>
</Properties>
</file>