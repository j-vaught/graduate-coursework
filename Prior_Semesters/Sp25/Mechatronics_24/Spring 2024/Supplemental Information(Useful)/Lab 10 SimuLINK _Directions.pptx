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332" r:id="rId2"/>
    <p:sldId id="258" r:id="rId3"/>
    <p:sldId id="312" r:id="rId4"/>
    <p:sldId id="313" r:id="rId5"/>
    <p:sldId id="314" r:id="rId6"/>
    <p:sldId id="329" r:id="rId7"/>
    <p:sldId id="315" r:id="rId8"/>
    <p:sldId id="316" r:id="rId9"/>
    <p:sldId id="317" r:id="rId10"/>
    <p:sldId id="318" r:id="rId11"/>
    <p:sldId id="319" r:id="rId12"/>
    <p:sldId id="320" r:id="rId13"/>
    <p:sldId id="321" r:id="rId14"/>
    <p:sldId id="322" r:id="rId15"/>
    <p:sldId id="323" r:id="rId16"/>
    <p:sldId id="324" r:id="rId17"/>
    <p:sldId id="325" r:id="rId18"/>
    <p:sldId id="326" r:id="rId19"/>
    <p:sldId id="327" r:id="rId20"/>
    <p:sldId id="328" r:id="rId21"/>
    <p:sldId id="330" r:id="rId22"/>
    <p:sldId id="331" r:id="rId23"/>
    <p:sldId id="311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149" autoAdjust="0"/>
    <p:restoredTop sz="94660"/>
  </p:normalViewPr>
  <p:slideViewPr>
    <p:cSldViewPr snapToGrid="0">
      <p:cViewPr>
        <p:scale>
          <a:sx n="68" d="100"/>
          <a:sy n="68" d="100"/>
        </p:scale>
        <p:origin x="788" y="9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8B5D25-93D2-4FC1-A664-3862EE608CA2}" type="datetimeFigureOut">
              <a:rPr lang="en-US" smtClean="0"/>
              <a:t>3/26/2024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C1283F-7FD5-4E80-AEF2-6D8C6FF5C8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99205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C1283F-7FD5-4E80-AEF2-6D8C6FF5C8E8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31727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178EE-41A5-315D-0EC9-BA22E8AE6D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8C7680-0E02-B0C4-1E06-392BB52FC9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905B79-5C02-D7AB-49FB-BCEDEE7D6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3C749-B99A-4FEA-BC62-7FEABF8DC0AD}" type="datetimeFigureOut">
              <a:rPr lang="en-US" smtClean="0"/>
              <a:t>3/26/2024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0B63AE-9EB0-536B-4723-2F7135F2F5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BD33B5-A867-5CF4-1807-3D1442423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4A32A-489D-4879-826F-C1AB8584CA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3824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A41D2-D15C-F070-DC75-074AB2CEE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FE9951-CDE6-A6E6-6C85-C5BB0EAA39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795439-4B8E-5EA7-F45A-7D82294D81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3C749-B99A-4FEA-BC62-7FEABF8DC0AD}" type="datetimeFigureOut">
              <a:rPr lang="en-US" smtClean="0"/>
              <a:t>3/26/2024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D0B5F5-583E-A1F1-550E-C7CD91E8F9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A216C9-20E4-2567-620F-F7A8B7F84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4A32A-489D-4879-826F-C1AB8584CA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3156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76926-9DA8-3F51-CE64-EA244A8C23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C7ED49-B4A3-E4B2-4EE9-FA21F957EF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E0E0EB-35F0-1C95-DA5F-2E4A40DC9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3C749-B99A-4FEA-BC62-7FEABF8DC0AD}" type="datetimeFigureOut">
              <a:rPr lang="en-US" smtClean="0"/>
              <a:t>3/26/2024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3A99B4-6791-51FF-BD03-5D5EDA272D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7145CA-AB00-202D-9894-B5861FF7D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4A32A-489D-4879-826F-C1AB8584CA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6081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135617-5393-0585-C180-E72A2C7CB5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494568-262A-692C-FF7C-B84BFF792F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A20BD8-AB1A-EA74-2FE2-9DFBD363EA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BD66AD-D17A-BF1B-D94B-1C4EAC962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3C749-B99A-4FEA-BC62-7FEABF8DC0AD}" type="datetimeFigureOut">
              <a:rPr lang="en-US" smtClean="0"/>
              <a:t>3/26/2024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20E58C-BBE9-973E-AB73-31B0B4DF5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7FC526-80E1-BCEF-1A5C-758A74B2F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4A32A-489D-4879-826F-C1AB8584CA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37626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F223B7-C3DA-29D3-819C-FBE686DF9B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4F8673-A903-2E0F-E876-6C808662C6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096AB6-CBCE-BE90-F903-BA797F1D2F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161CE84-930E-3A08-34C0-15F7DF5F27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5D25EA-A35D-87A0-433D-DD598CD009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56E0F19-F618-37E4-6F9D-EF3779248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3C749-B99A-4FEA-BC62-7FEABF8DC0AD}" type="datetimeFigureOut">
              <a:rPr lang="en-US" smtClean="0"/>
              <a:t>3/26/2024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0DB3274-03D0-15EA-E0C8-E1FBF73AD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E936746-650B-BD04-02B3-B28086697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4A32A-489D-4879-826F-C1AB8584CA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40761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EAF16B-FE22-143C-F6D7-E79730DB0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F0624E-00F2-E6CD-9C31-97A4EA209C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3C749-B99A-4FEA-BC62-7FEABF8DC0AD}" type="datetimeFigureOut">
              <a:rPr lang="en-US" smtClean="0"/>
              <a:t>3/26/2024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5A6ED9-EF57-9B2D-E8D0-0E52C6119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C567A1-A017-0D24-5E8A-F27752788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4A32A-489D-4879-826F-C1AB8584CA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933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66C191-6BE1-B10D-9FA0-C716B9515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3C749-B99A-4FEA-BC62-7FEABF8DC0AD}" type="datetimeFigureOut">
              <a:rPr lang="en-US" smtClean="0"/>
              <a:t>3/26/2024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C546A63-D752-973B-1DA7-E47C89077D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DBDDE2-9D2D-42F6-39A9-BC7E3F339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4A32A-489D-4879-826F-C1AB8584CA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0192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49F862-E8A4-8D86-4A55-483C815D66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DB19B6-7386-61D1-CAA7-C450724052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44E537-AE95-11DF-2D80-04C974B124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C7B9C1-9A86-8AFE-0821-BD5DA8D60F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3C749-B99A-4FEA-BC62-7FEABF8DC0AD}" type="datetimeFigureOut">
              <a:rPr lang="en-US" smtClean="0"/>
              <a:t>3/26/2024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C267B4-7193-00F5-C7F0-C713BD84C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2F61CF-50DB-F786-4AFA-8D799615F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4A32A-489D-4879-826F-C1AB8584CA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495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060500-D974-D3A4-654B-F140196291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D762CB-ED25-8A84-9BB9-1FC700ED09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505C6C-2DF8-F721-1B76-1806A86515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C6CB8A-5BFC-AEC3-FC22-E19EAC1E07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3C749-B99A-4FEA-BC62-7FEABF8DC0AD}" type="datetimeFigureOut">
              <a:rPr lang="en-US" smtClean="0"/>
              <a:t>3/26/2024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17C372-E9F7-07B0-6B1F-DB52DB396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C28D7C-23E4-B518-4353-E0B7A5311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4A32A-489D-4879-826F-C1AB8584CA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8181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CA70CD-85F8-6534-F92C-F44208118E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FA5153-AF55-A50C-E6F9-1423B61C20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3A3EDB-43B5-428D-A970-EA2E7F558E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3C749-B99A-4FEA-BC62-7FEABF8DC0AD}" type="datetimeFigureOut">
              <a:rPr lang="en-US" smtClean="0"/>
              <a:t>3/26/2024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2114E1-28A1-474D-CF6E-A9745081E3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807AD0-0303-76E7-3ADF-7B55580A8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4A32A-489D-4879-826F-C1AB8584CA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61050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9D8540D-286B-C24B-87DA-F26408B3F1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CA992C-89EC-A01D-B8D5-1F00DFA16A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03631B-A990-421A-57FB-134B48FED1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3C749-B99A-4FEA-BC62-7FEABF8DC0AD}" type="datetimeFigureOut">
              <a:rPr lang="en-US" smtClean="0"/>
              <a:t>3/26/2024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4B0D9-AD68-4904-DB87-24F519CF22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89CD6-FB6D-D57A-87C2-D31AC39095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4A32A-489D-4879-826F-C1AB8584CA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81213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32D4D4-6CF2-ACD6-8F1B-60A4B0593F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18DF36-BFF0-CAD7-8EC3-FB524519B3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220A55-B270-E044-659A-C1F6376020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A3C749-B99A-4FEA-BC62-7FEABF8DC0AD}" type="datetimeFigureOut">
              <a:rPr lang="en-US" smtClean="0"/>
              <a:t>3/26/2024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FA571D-5562-9E74-E82B-6BCB38261E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9F0B96-7B90-F97C-3CBE-0428F000D4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84A32A-489D-4879-826F-C1AB8584CA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622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592DB28-1126-2CDC-96F1-0F43CE1645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af-ZA" sz="4800">
                <a:solidFill>
                  <a:srgbClr val="FFFFFF"/>
                </a:solidFill>
              </a:rPr>
              <a:t>EMCH 368 Lab 10</a:t>
            </a:r>
            <a:endParaRPr lang="en-US" sz="4800">
              <a:solidFill>
                <a:srgbClr val="FFFFFF"/>
              </a:solidFill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D4D461DF-6CE2-CB62-3970-FE3435516B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anchor="ctr">
            <a:normAutofit/>
          </a:bodyPr>
          <a:lstStyle/>
          <a:p>
            <a:pPr algn="l"/>
            <a:r>
              <a:rPr lang="af-ZA" dirty="0"/>
              <a:t>Exercise #2 Directions</a:t>
            </a:r>
          </a:p>
          <a:p>
            <a:pPr algn="l"/>
            <a:r>
              <a:rPr lang="af-ZA" dirty="0"/>
              <a:t>-Jacob Vaught, Spring 2024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39340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computer&#10;&#10;Description automatically generated">
            <a:extLst>
              <a:ext uri="{FF2B5EF4-FFF2-40B4-BE49-F238E27FC236}">
                <a16:creationId xmlns:a16="http://schemas.microsoft.com/office/drawing/2014/main" id="{1B2BCF52-2910-2DA1-096B-3C9B438981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7113" y="840878"/>
            <a:ext cx="8454887" cy="6017122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3C165AC-E09D-B90F-A63A-A3A9EFEEBBFF}"/>
              </a:ext>
            </a:extLst>
          </p:cNvPr>
          <p:cNvSpPr txBox="1"/>
          <p:nvPr/>
        </p:nvSpPr>
        <p:spPr>
          <a:xfrm>
            <a:off x="0" y="840878"/>
            <a:ext cx="373711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af-ZA" sz="3200" dirty="0"/>
              <a:t>Open Matlab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af-ZA" sz="3200" dirty="0"/>
              <a:t>Start SimuLink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5412738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B2BCF52-2910-2DA1-096B-3C9B438981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737113" y="840878"/>
            <a:ext cx="8454887" cy="6017122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3C165AC-E09D-B90F-A63A-A3A9EFEEBBFF}"/>
              </a:ext>
            </a:extLst>
          </p:cNvPr>
          <p:cNvSpPr txBox="1"/>
          <p:nvPr/>
        </p:nvSpPr>
        <p:spPr>
          <a:xfrm>
            <a:off x="0" y="840878"/>
            <a:ext cx="3737113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af-ZA" sz="3200" dirty="0"/>
              <a:t>Create a new model once the simulink window appears.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af-ZA" sz="3200" dirty="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af-ZA" sz="3200" dirty="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af-ZA" sz="3200" dirty="0">
                <a:solidFill>
                  <a:srgbClr val="FF0000"/>
                </a:solidFill>
              </a:rPr>
              <a:t>This process can take upwards of 10 minutes depending on your machine.</a:t>
            </a:r>
            <a:endParaRPr lang="en-US" sz="3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39424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B2BCF52-2910-2DA1-096B-3C9B438981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737113" y="840878"/>
            <a:ext cx="8454887" cy="6017122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3C165AC-E09D-B90F-A63A-A3A9EFEEBBFF}"/>
              </a:ext>
            </a:extLst>
          </p:cNvPr>
          <p:cNvSpPr txBox="1"/>
          <p:nvPr/>
        </p:nvSpPr>
        <p:spPr>
          <a:xfrm>
            <a:off x="0" y="840878"/>
            <a:ext cx="3737113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af-ZA" sz="3200" dirty="0"/>
              <a:t>Open the Library Browser once the Blank Model is loaded.</a:t>
            </a:r>
            <a:endParaRPr lang="en-US" sz="3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00015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B2BCF52-2910-2DA1-096B-3C9B438981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737113" y="840878"/>
            <a:ext cx="8454887" cy="6017122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3C165AC-E09D-B90F-A63A-A3A9EFEEBBFF}"/>
              </a:ext>
            </a:extLst>
          </p:cNvPr>
          <p:cNvSpPr txBox="1"/>
          <p:nvPr/>
        </p:nvSpPr>
        <p:spPr>
          <a:xfrm>
            <a:off x="0" y="840878"/>
            <a:ext cx="3737113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af-ZA" sz="3200" dirty="0"/>
              <a:t>Our first component is the   'Continuous  Pulse Generator’</a:t>
            </a:r>
            <a:endParaRPr lang="af-ZA" sz="3200" dirty="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af-ZA" sz="3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af-ZA" sz="3200" dirty="0"/>
              <a:t>To place on the screen, </a:t>
            </a:r>
            <a:r>
              <a:rPr lang="af-ZA" sz="3200" i="1" u="sng" dirty="0"/>
              <a:t>click, hold, and drag </a:t>
            </a:r>
            <a:r>
              <a:rPr lang="af-ZA" sz="3200" dirty="0"/>
              <a:t>into the desired location</a:t>
            </a:r>
          </a:p>
        </p:txBody>
      </p:sp>
    </p:spTree>
    <p:extLst>
      <p:ext uri="{BB962C8B-B14F-4D97-AF65-F5344CB8AC3E}">
        <p14:creationId xmlns:p14="http://schemas.microsoft.com/office/powerpoint/2010/main" val="30367546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B2BCF52-2910-2DA1-096B-3C9B438981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82652" y="-5140"/>
            <a:ext cx="4826696" cy="6863140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3C165AC-E09D-B90F-A63A-A3A9EFEEBBFF}"/>
              </a:ext>
            </a:extLst>
          </p:cNvPr>
          <p:cNvSpPr txBox="1"/>
          <p:nvPr/>
        </p:nvSpPr>
        <p:spPr>
          <a:xfrm>
            <a:off x="0" y="840878"/>
            <a:ext cx="3682652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af-ZA" sz="3200" dirty="0"/>
              <a:t>Our first component is the   'Continuous  Pulse Generator’</a:t>
            </a:r>
            <a:endParaRPr lang="af-ZA" sz="3200" dirty="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af-ZA" sz="3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af-ZA" sz="3200" dirty="0"/>
              <a:t>Set the amplitude to 100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af-ZA" sz="3200" dirty="0"/>
              <a:t>Set the period to 10 secs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af-ZA" sz="3200" dirty="0"/>
              <a:t>Set the Puse Width to 50%</a:t>
            </a:r>
          </a:p>
        </p:txBody>
      </p:sp>
    </p:spTree>
    <p:extLst>
      <p:ext uri="{BB962C8B-B14F-4D97-AF65-F5344CB8AC3E}">
        <p14:creationId xmlns:p14="http://schemas.microsoft.com/office/powerpoint/2010/main" val="4943417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B2BCF52-2910-2DA1-096B-3C9B438981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737113" y="840878"/>
            <a:ext cx="8454887" cy="6017122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3C165AC-E09D-B90F-A63A-A3A9EFEEBBFF}"/>
              </a:ext>
            </a:extLst>
          </p:cNvPr>
          <p:cNvSpPr txBox="1"/>
          <p:nvPr/>
        </p:nvSpPr>
        <p:spPr>
          <a:xfrm>
            <a:off x="0" y="840878"/>
            <a:ext cx="3737113" cy="5139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af-ZA" sz="3200" dirty="0"/>
              <a:t>Our next component is the   Transfer Function.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af-ZA" sz="3200" dirty="0"/>
              <a:t>To modify values of the component, we double-click, </a:t>
            </a:r>
            <a:r>
              <a:rPr lang="af-ZA" sz="3200" b="1" i="1" u="sng" dirty="0"/>
              <a:t>OR</a:t>
            </a:r>
            <a:r>
              <a:rPr lang="af-ZA" sz="3200" dirty="0"/>
              <a:t> right-click and select parameters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af-ZA" sz="3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af-ZA" sz="2000" dirty="0"/>
              <a:t>Set Numerator to [1]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af-ZA" sz="2000" dirty="0"/>
              <a:t>Set Denominator to [0.1  1]</a:t>
            </a:r>
          </a:p>
        </p:txBody>
      </p:sp>
    </p:spTree>
    <p:extLst>
      <p:ext uri="{BB962C8B-B14F-4D97-AF65-F5344CB8AC3E}">
        <p14:creationId xmlns:p14="http://schemas.microsoft.com/office/powerpoint/2010/main" val="3240526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B2BCF52-2910-2DA1-096B-3C9B438981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737113" y="840878"/>
            <a:ext cx="8454887" cy="6017122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3C165AC-E09D-B90F-A63A-A3A9EFEEBBFF}"/>
              </a:ext>
            </a:extLst>
          </p:cNvPr>
          <p:cNvSpPr txBox="1"/>
          <p:nvPr/>
        </p:nvSpPr>
        <p:spPr>
          <a:xfrm>
            <a:off x="0" y="840878"/>
            <a:ext cx="3737113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af-ZA" sz="3200" dirty="0"/>
              <a:t>We click, drag and hold to create a connection between blocks</a:t>
            </a:r>
            <a:endParaRPr lang="af-ZA" sz="2000" dirty="0"/>
          </a:p>
        </p:txBody>
      </p:sp>
    </p:spTree>
    <p:extLst>
      <p:ext uri="{BB962C8B-B14F-4D97-AF65-F5344CB8AC3E}">
        <p14:creationId xmlns:p14="http://schemas.microsoft.com/office/powerpoint/2010/main" val="12072414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B2BCF52-2910-2DA1-096B-3C9B438981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737113" y="840878"/>
            <a:ext cx="8454887" cy="6017122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3C165AC-E09D-B90F-A63A-A3A9EFEEBBFF}"/>
              </a:ext>
            </a:extLst>
          </p:cNvPr>
          <p:cNvSpPr txBox="1"/>
          <p:nvPr/>
        </p:nvSpPr>
        <p:spPr>
          <a:xfrm>
            <a:off x="0" y="840878"/>
            <a:ext cx="3737113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af-ZA" sz="3200" dirty="0"/>
              <a:t>Add a sum to the model.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af-ZA" sz="3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af-ZA" sz="3200" dirty="0"/>
              <a:t>Set the List of Signs in the parameters to |+-</a:t>
            </a:r>
          </a:p>
        </p:txBody>
      </p:sp>
    </p:spTree>
    <p:extLst>
      <p:ext uri="{BB962C8B-B14F-4D97-AF65-F5344CB8AC3E}">
        <p14:creationId xmlns:p14="http://schemas.microsoft.com/office/powerpoint/2010/main" val="30501971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B2BCF52-2910-2DA1-096B-3C9B438981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737113" y="840878"/>
            <a:ext cx="8454887" cy="6017122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3C165AC-E09D-B90F-A63A-A3A9EFEEBBFF}"/>
              </a:ext>
            </a:extLst>
          </p:cNvPr>
          <p:cNvSpPr txBox="1"/>
          <p:nvPr/>
        </p:nvSpPr>
        <p:spPr>
          <a:xfrm>
            <a:off x="0" y="840878"/>
            <a:ext cx="3737113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af-ZA" sz="3200" dirty="0"/>
              <a:t>Now we want to add 3 product blocks for each of the PID controller components.</a:t>
            </a:r>
          </a:p>
        </p:txBody>
      </p:sp>
    </p:spTree>
    <p:extLst>
      <p:ext uri="{BB962C8B-B14F-4D97-AF65-F5344CB8AC3E}">
        <p14:creationId xmlns:p14="http://schemas.microsoft.com/office/powerpoint/2010/main" val="31951404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B2BCF52-2910-2DA1-096B-3C9B438981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737113" y="840878"/>
            <a:ext cx="8454887" cy="6017122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3C165AC-E09D-B90F-A63A-A3A9EFEEBBFF}"/>
              </a:ext>
            </a:extLst>
          </p:cNvPr>
          <p:cNvSpPr txBox="1"/>
          <p:nvPr/>
        </p:nvSpPr>
        <p:spPr>
          <a:xfrm>
            <a:off x="0" y="840878"/>
            <a:ext cx="3737113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af-ZA" sz="3200" dirty="0"/>
              <a:t>Now we will want to add some constants for the PID Controller.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af-ZA" sz="32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af-ZA" sz="3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af-ZA" sz="2400" dirty="0"/>
              <a:t>Note that holindg the spacebar for a second will auto-scale the screen to your model.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af-ZA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af-ZA" sz="2400" dirty="0"/>
              <a:t>Space + left-mouse is to move the screen around</a:t>
            </a:r>
          </a:p>
        </p:txBody>
      </p:sp>
    </p:spTree>
    <p:extLst>
      <p:ext uri="{BB962C8B-B14F-4D97-AF65-F5344CB8AC3E}">
        <p14:creationId xmlns:p14="http://schemas.microsoft.com/office/powerpoint/2010/main" val="23159449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B2BCF52-2910-2DA1-096B-3C9B438981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737113" y="840878"/>
            <a:ext cx="8454887" cy="6017122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3C165AC-E09D-B90F-A63A-A3A9EFEEBBFF}"/>
              </a:ext>
            </a:extLst>
          </p:cNvPr>
          <p:cNvSpPr txBox="1"/>
          <p:nvPr/>
        </p:nvSpPr>
        <p:spPr>
          <a:xfrm>
            <a:off x="0" y="840878"/>
            <a:ext cx="3737113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af-ZA" sz="3200" dirty="0"/>
              <a:t>We will add the integrator for the Integral component of the PID controller.</a:t>
            </a:r>
            <a:endParaRPr lang="af-ZA" sz="2400" dirty="0"/>
          </a:p>
        </p:txBody>
      </p:sp>
    </p:spTree>
    <p:extLst>
      <p:ext uri="{BB962C8B-B14F-4D97-AF65-F5344CB8AC3E}">
        <p14:creationId xmlns:p14="http://schemas.microsoft.com/office/powerpoint/2010/main" val="37051733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B2BCF52-2910-2DA1-096B-3C9B438981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737113" y="840878"/>
            <a:ext cx="8454887" cy="6017122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3C165AC-E09D-B90F-A63A-A3A9EFEEBBFF}"/>
              </a:ext>
            </a:extLst>
          </p:cNvPr>
          <p:cNvSpPr txBox="1"/>
          <p:nvPr/>
        </p:nvSpPr>
        <p:spPr>
          <a:xfrm>
            <a:off x="0" y="840878"/>
            <a:ext cx="3737113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af-ZA" sz="3200" dirty="0"/>
              <a:t>We will add the Derivator for the derivative component of the PID controller.</a:t>
            </a:r>
            <a:endParaRPr lang="af-ZA" sz="2400" dirty="0"/>
          </a:p>
        </p:txBody>
      </p:sp>
    </p:spTree>
    <p:extLst>
      <p:ext uri="{BB962C8B-B14F-4D97-AF65-F5344CB8AC3E}">
        <p14:creationId xmlns:p14="http://schemas.microsoft.com/office/powerpoint/2010/main" val="11162367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B2BCF52-2910-2DA1-096B-3C9B438981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737113" y="840878"/>
            <a:ext cx="8454887" cy="6017122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3C165AC-E09D-B90F-A63A-A3A9EFEEBBFF}"/>
              </a:ext>
            </a:extLst>
          </p:cNvPr>
          <p:cNvSpPr txBox="1"/>
          <p:nvPr/>
        </p:nvSpPr>
        <p:spPr>
          <a:xfrm>
            <a:off x="0" y="840878"/>
            <a:ext cx="373711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af-ZA" sz="3200" dirty="0"/>
              <a:t>Change the switch value to a 1 for linearization. </a:t>
            </a:r>
            <a:endParaRPr lang="af-ZA" sz="2400" dirty="0"/>
          </a:p>
        </p:txBody>
      </p:sp>
    </p:spTree>
    <p:extLst>
      <p:ext uri="{BB962C8B-B14F-4D97-AF65-F5344CB8AC3E}">
        <p14:creationId xmlns:p14="http://schemas.microsoft.com/office/powerpoint/2010/main" val="16359161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B2BCF52-2910-2DA1-096B-3C9B438981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737113" y="840878"/>
            <a:ext cx="8454887" cy="6017122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3C165AC-E09D-B90F-A63A-A3A9EFEEBBFF}"/>
              </a:ext>
            </a:extLst>
          </p:cNvPr>
          <p:cNvSpPr txBox="1"/>
          <p:nvPr/>
        </p:nvSpPr>
        <p:spPr>
          <a:xfrm>
            <a:off x="0" y="840878"/>
            <a:ext cx="3737113" cy="243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af-ZA" sz="3200" dirty="0"/>
              <a:t>Add a summing component, and set the List of Signs to +++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af-ZA" sz="2400" dirty="0"/>
          </a:p>
        </p:txBody>
      </p:sp>
    </p:spTree>
    <p:extLst>
      <p:ext uri="{BB962C8B-B14F-4D97-AF65-F5344CB8AC3E}">
        <p14:creationId xmlns:p14="http://schemas.microsoft.com/office/powerpoint/2010/main" val="1798497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B2BCF52-2910-2DA1-096B-3C9B438981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737113" y="840878"/>
            <a:ext cx="8454887" cy="6017122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3C165AC-E09D-B90F-A63A-A3A9EFEEBBFF}"/>
              </a:ext>
            </a:extLst>
          </p:cNvPr>
          <p:cNvSpPr txBox="1"/>
          <p:nvPr/>
        </p:nvSpPr>
        <p:spPr>
          <a:xfrm>
            <a:off x="0" y="840878"/>
            <a:ext cx="3737113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af-ZA" sz="3200" dirty="0"/>
              <a:t>Add the system Transfer Function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af-ZA" sz="32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af-ZA" sz="32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af-ZA" sz="32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af-ZA" sz="32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af-ZA" sz="32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af-ZA" sz="32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af-ZA" sz="32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af-ZA" sz="3200" dirty="0"/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af-ZA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Set Numerator to [1 10]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af-ZA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Set Denominator to [1 1 10]</a:t>
            </a:r>
            <a:endParaRPr lang="af-ZA" sz="2400" dirty="0"/>
          </a:p>
        </p:txBody>
      </p:sp>
    </p:spTree>
    <p:extLst>
      <p:ext uri="{BB962C8B-B14F-4D97-AF65-F5344CB8AC3E}">
        <p14:creationId xmlns:p14="http://schemas.microsoft.com/office/powerpoint/2010/main" val="24162207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B2BCF52-2910-2DA1-096B-3C9B438981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737113" y="840878"/>
            <a:ext cx="8454887" cy="6017122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3C165AC-E09D-B90F-A63A-A3A9EFEEBBFF}"/>
              </a:ext>
            </a:extLst>
          </p:cNvPr>
          <p:cNvSpPr txBox="1"/>
          <p:nvPr/>
        </p:nvSpPr>
        <p:spPr>
          <a:xfrm>
            <a:off x="0" y="840878"/>
            <a:ext cx="3737113" cy="55707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af-ZA" sz="3200" dirty="0"/>
              <a:t>Add 2 step functions to represent the  maximum and minimum error.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af-ZA" sz="2800" dirty="0"/>
              <a:t>Connect the original sum to the output of the transfer function.</a:t>
            </a:r>
          </a:p>
          <a:p>
            <a:endParaRPr lang="af-ZA" sz="3200" dirty="0"/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af-ZA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Set the Step Time to 0 for both.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af-ZA" sz="2000" dirty="0">
                <a:solidFill>
                  <a:prstClr val="black"/>
                </a:solidFill>
                <a:latin typeface="Aptos" panose="02110004020202020204"/>
              </a:rPr>
              <a:t>Set the Final Value to 90 for one and 110 for the other.</a:t>
            </a:r>
            <a:endParaRPr lang="af-ZA" sz="2400" dirty="0"/>
          </a:p>
        </p:txBody>
      </p:sp>
    </p:spTree>
    <p:extLst>
      <p:ext uri="{BB962C8B-B14F-4D97-AF65-F5344CB8AC3E}">
        <p14:creationId xmlns:p14="http://schemas.microsoft.com/office/powerpoint/2010/main" val="5452852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3C165AC-E09D-B90F-A63A-A3A9EFEEBBFF}"/>
              </a:ext>
            </a:extLst>
          </p:cNvPr>
          <p:cNvSpPr txBox="1"/>
          <p:nvPr/>
        </p:nvSpPr>
        <p:spPr>
          <a:xfrm>
            <a:off x="2812774" y="685800"/>
            <a:ext cx="65664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af-ZA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Set the Step Time to 0 for both.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af-ZA" sz="2000" dirty="0">
                <a:solidFill>
                  <a:prstClr val="black"/>
                </a:solidFill>
                <a:latin typeface="Aptos" panose="02110004020202020204"/>
              </a:rPr>
              <a:t>Set the Final Value to 90 for one and 110 for the other.</a:t>
            </a:r>
            <a:endParaRPr lang="af-ZA" sz="2400" dirty="0"/>
          </a:p>
        </p:txBody>
      </p:sp>
      <p:pic>
        <p:nvPicPr>
          <p:cNvPr id="4" name="Content Placeholder 4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E991A855-D505-9513-DC13-74A4258762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5965" y="1641035"/>
            <a:ext cx="5546035" cy="5216965"/>
          </a:xfrm>
        </p:spPr>
      </p:pic>
      <p:pic>
        <p:nvPicPr>
          <p:cNvPr id="7" name="Content Placeholder 4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14EDE491-85CF-45BC-37DC-383C1B565E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41035"/>
            <a:ext cx="5546035" cy="5216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32714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B2BCF52-2910-2DA1-096B-3C9B438981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737113" y="840878"/>
            <a:ext cx="8454887" cy="6017122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3C165AC-E09D-B90F-A63A-A3A9EFEEBBFF}"/>
              </a:ext>
            </a:extLst>
          </p:cNvPr>
          <p:cNvSpPr txBox="1"/>
          <p:nvPr/>
        </p:nvSpPr>
        <p:spPr>
          <a:xfrm>
            <a:off x="0" y="840878"/>
            <a:ext cx="3737113" cy="55707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af-ZA" sz="3200" dirty="0"/>
              <a:t>Add 2 step functions to represent the  maximum and minimum error.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af-ZA" sz="2800" dirty="0"/>
              <a:t>Connect the original sum to the output of the transfer function.</a:t>
            </a:r>
          </a:p>
          <a:p>
            <a:endParaRPr lang="af-ZA" sz="3200" dirty="0"/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af-ZA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Set the Step Time to 0 for both.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af-ZA" sz="2000" dirty="0">
                <a:solidFill>
                  <a:prstClr val="black"/>
                </a:solidFill>
                <a:latin typeface="Aptos" panose="02110004020202020204"/>
              </a:rPr>
              <a:t>Set the Final Value to 90 for one and 110 for the other.</a:t>
            </a:r>
            <a:endParaRPr lang="af-ZA" sz="2400" dirty="0"/>
          </a:p>
        </p:txBody>
      </p:sp>
    </p:spTree>
    <p:extLst>
      <p:ext uri="{BB962C8B-B14F-4D97-AF65-F5344CB8AC3E}">
        <p14:creationId xmlns:p14="http://schemas.microsoft.com/office/powerpoint/2010/main" val="33063504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3C165AC-E09D-B90F-A63A-A3A9EFEEBBFF}"/>
              </a:ext>
            </a:extLst>
          </p:cNvPr>
          <p:cNvSpPr txBox="1"/>
          <p:nvPr/>
        </p:nvSpPr>
        <p:spPr>
          <a:xfrm>
            <a:off x="0" y="840878"/>
            <a:ext cx="3737113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af-ZA" sz="3200" dirty="0"/>
              <a:t>Add a scope to view the outputs of the system. It should connect to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af-ZA" sz="2400" dirty="0"/>
              <a:t>2 step blocks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af-ZA" sz="2400" dirty="0"/>
              <a:t>Output of the system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af-ZA" sz="2400" dirty="0"/>
              <a:t>And the reference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af-ZA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af-ZA" sz="3200" dirty="0"/>
              <a:t>To tune the system, adjust the block parameters of each of the constants.</a:t>
            </a:r>
          </a:p>
        </p:txBody>
      </p:sp>
      <p:pic>
        <p:nvPicPr>
          <p:cNvPr id="2" name="Content Placeholder 4" descr="A screenshot of a computer&#10;&#10;Description automatically generated">
            <a:extLst>
              <a:ext uri="{FF2B5EF4-FFF2-40B4-BE49-F238E27FC236}">
                <a16:creationId xmlns:a16="http://schemas.microsoft.com/office/drawing/2014/main" id="{24DBD94C-2F4E-BC05-B6BC-F197973E93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4130" y="740044"/>
            <a:ext cx="8427870" cy="5377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19202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B2BCF52-2910-2DA1-096B-3C9B438981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737113" y="840878"/>
            <a:ext cx="8454887" cy="6017122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3C165AC-E09D-B90F-A63A-A3A9EFEEBBFF}"/>
              </a:ext>
            </a:extLst>
          </p:cNvPr>
          <p:cNvSpPr txBox="1"/>
          <p:nvPr/>
        </p:nvSpPr>
        <p:spPr>
          <a:xfrm>
            <a:off x="0" y="840878"/>
            <a:ext cx="3737113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af-ZA" sz="3200" dirty="0"/>
              <a:t>Double-click on the scope, and press the run button.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af-ZA" sz="3200" dirty="0"/>
              <a:t>The graph should appear.</a:t>
            </a:r>
            <a:endParaRPr lang="af-ZA" sz="2400" dirty="0"/>
          </a:p>
        </p:txBody>
      </p:sp>
    </p:spTree>
    <p:extLst>
      <p:ext uri="{BB962C8B-B14F-4D97-AF65-F5344CB8AC3E}">
        <p14:creationId xmlns:p14="http://schemas.microsoft.com/office/powerpoint/2010/main" val="15847362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B2BCF52-2910-2DA1-096B-3C9B438981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737113" y="840878"/>
            <a:ext cx="8454887" cy="6017122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3C165AC-E09D-B90F-A63A-A3A9EFEEBBFF}"/>
              </a:ext>
            </a:extLst>
          </p:cNvPr>
          <p:cNvSpPr txBox="1"/>
          <p:nvPr/>
        </p:nvSpPr>
        <p:spPr>
          <a:xfrm>
            <a:off x="0" y="840878"/>
            <a:ext cx="3737113" cy="5878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af-ZA" sz="3200" dirty="0"/>
              <a:t>We want a dashed line for the 90% and 110%.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af-ZA" sz="3200" dirty="0"/>
              <a:t>Select the Properties for the step blocks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af-ZA" sz="3200" dirty="0"/>
              <a:t>Then change the line-type to dashed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af-ZA" sz="3200" dirty="0"/>
              <a:t>Then change the width to 2.0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af-ZA" sz="2400" dirty="0"/>
          </a:p>
        </p:txBody>
      </p:sp>
    </p:spTree>
    <p:extLst>
      <p:ext uri="{BB962C8B-B14F-4D97-AF65-F5344CB8AC3E}">
        <p14:creationId xmlns:p14="http://schemas.microsoft.com/office/powerpoint/2010/main" val="15744252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computer&#10;&#10;Description automatically generated">
            <a:extLst>
              <a:ext uri="{FF2B5EF4-FFF2-40B4-BE49-F238E27FC236}">
                <a16:creationId xmlns:a16="http://schemas.microsoft.com/office/drawing/2014/main" id="{A7FAD510-8C6D-061A-4B81-D94CE2035B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855" t="18641" r="1812" b="6370"/>
          <a:stretch/>
        </p:blipFill>
        <p:spPr>
          <a:xfrm>
            <a:off x="554314" y="0"/>
            <a:ext cx="11083372" cy="6858000"/>
          </a:xfrm>
        </p:spPr>
      </p:pic>
    </p:spTree>
    <p:extLst>
      <p:ext uri="{BB962C8B-B14F-4D97-AF65-F5344CB8AC3E}">
        <p14:creationId xmlns:p14="http://schemas.microsoft.com/office/powerpoint/2010/main" val="17148790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499</Words>
  <Application>Microsoft Office PowerPoint</Application>
  <PresentationFormat>Widescreen</PresentationFormat>
  <Paragraphs>74</Paragraphs>
  <Slides>23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Aptos</vt:lpstr>
      <vt:lpstr>Aptos Display</vt:lpstr>
      <vt:lpstr>Arial</vt:lpstr>
      <vt:lpstr>Office Theme</vt:lpstr>
      <vt:lpstr>EMCH 368 Lab 10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EMCH 368 Lab 10</dc:title>
  <dc:creator>Vaught, Jacob</dc:creator>
  <cp:lastModifiedBy>Vaught, Jacob</cp:lastModifiedBy>
  <cp:revision>1</cp:revision>
  <dcterms:created xsi:type="dcterms:W3CDTF">2024-03-27T02:05:18Z</dcterms:created>
  <dcterms:modified xsi:type="dcterms:W3CDTF">2024-03-27T03:09:52Z</dcterms:modified>
</cp:coreProperties>
</file>