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 r:id="rId5"/>
    <p:sldId id="257" r:id="rId6"/>
    <p:sldId id="264" r:id="rId7"/>
    <p:sldId id="265" r:id="rId8"/>
    <p:sldId id="258" r:id="rId9"/>
    <p:sldId id="262" r:id="rId10"/>
    <p:sldId id="259" r:id="rId11"/>
    <p:sldId id="260" r:id="rId12"/>
    <p:sldId id="266" r:id="rId13"/>
    <p:sldId id="267" r:id="rId14"/>
    <p:sldId id="261" r:id="rId15"/>
    <p:sldId id="269"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895E70-5D8D-4BA6-B82D-A7C7B1E659DE}" v="120" dt="2021-09-08T23:55:19.782"/>
    <p1510:client id="{5E144801-0595-C6FA-6674-CDE099E82012}" v="1184" dt="2021-09-08T01:23:30.747"/>
    <p1510:client id="{800F56A2-8E71-4A49-99A9-957E0C048F12}" vWet="2" dt="2021-09-08T01:14:52.296"/>
    <p1510:client id="{93DCE775-3519-BF26-33DD-4C7B507938A1}" v="2779" dt="2021-09-08T23:52:06.402"/>
    <p1510:client id="{B1AC015A-1216-00FD-5AB1-9602864035D6}" v="1" dt="2021-09-08T23:31:28.156"/>
    <p1510:client id="{DFA69355-B9A3-4DB0-9CC6-09C52F46AEF5}" v="1" dt="2022-04-03T02:44:02.485"/>
    <p1510:client id="{ED4E3EA2-F847-951C-8087-2821D8CA915B}" v="1" dt="2021-09-08T15:35:17.302"/>
    <p1510:client id="{FCEC03D6-2389-2156-C469-DE8CFD670FF6}" v="1" dt="2022-04-03T15:34:59.8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4.xml" Id="rId8" /><Relationship Type="http://schemas.openxmlformats.org/officeDocument/2006/relationships/slide" Target="slides/slide9.xml" Id="rId13" /><Relationship Type="http://schemas.openxmlformats.org/officeDocument/2006/relationships/notesMaster" Target="notesMasters/notesMaster1.xml" Id="rId18" /><Relationship Type="http://schemas.openxmlformats.org/officeDocument/2006/relationships/customXml" Target="../customXml/item3.xml" Id="rId3" /><Relationship Type="http://schemas.openxmlformats.org/officeDocument/2006/relationships/theme" Target="theme/theme1.xml" Id="rId21" /><Relationship Type="http://schemas.openxmlformats.org/officeDocument/2006/relationships/slide" Target="slides/slide3.xml" Id="rId7" /><Relationship Type="http://schemas.openxmlformats.org/officeDocument/2006/relationships/slide" Target="slides/slide8.xml" Id="rId12" /><Relationship Type="http://schemas.openxmlformats.org/officeDocument/2006/relationships/slide" Target="slides/slide13.xml" Id="rId17" /><Relationship Type="http://schemas.openxmlformats.org/officeDocument/2006/relationships/customXml" Target="../customXml/item2.xml" Id="rId2" /><Relationship Type="http://schemas.openxmlformats.org/officeDocument/2006/relationships/slide" Target="slides/slide12.xml" Id="rId16" /><Relationship Type="http://schemas.openxmlformats.org/officeDocument/2006/relationships/viewProps" Target="viewProps.xml" Id="rId20" /><Relationship Type="http://schemas.openxmlformats.org/officeDocument/2006/relationships/customXml" Target="../customXml/item1.xml" Id="rId1" /><Relationship Type="http://schemas.openxmlformats.org/officeDocument/2006/relationships/slide" Target="slides/slide2.xml" Id="rId6" /><Relationship Type="http://schemas.openxmlformats.org/officeDocument/2006/relationships/slide" Target="slides/slide7.xml" Id="rId11" /><Relationship Type="http://schemas.microsoft.com/office/2015/10/relationships/revisionInfo" Target="revisionInfo.xml" Id="rId24" /><Relationship Type="http://schemas.openxmlformats.org/officeDocument/2006/relationships/slide" Target="slides/slide1.xml" Id="rId5" /><Relationship Type="http://schemas.openxmlformats.org/officeDocument/2006/relationships/slide" Target="slides/slide11.xml" Id="rId15" /><Relationship Type="http://schemas.openxmlformats.org/officeDocument/2006/relationships/slide" Target="slides/slide6.xml" Id="rId10" /><Relationship Type="http://schemas.openxmlformats.org/officeDocument/2006/relationships/presProps" Target="presProps.xml" Id="rId19"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10.xml" Id="rId14" /><Relationship Type="http://schemas.openxmlformats.org/officeDocument/2006/relationships/tableStyles" Target="tableStyles.xml" Id="rId22"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90126-B505-46CC-A741-9402C6C0E77B}" type="datetimeFigureOut">
              <a:rPr lang="en-US" smtClean="0"/>
              <a:t>4/3/2022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42D7E8-0B95-4EA7-88E3-3B025143EB19}" type="slidenum">
              <a:rPr lang="en-US" smtClean="0"/>
              <a:t>‹#›</a:t>
            </a:fld>
            <a:endParaRPr lang="en-US"/>
          </a:p>
        </p:txBody>
      </p:sp>
    </p:spTree>
    <p:extLst>
      <p:ext uri="{BB962C8B-B14F-4D97-AF65-F5344CB8AC3E}">
        <p14:creationId xmlns:p14="http://schemas.microsoft.com/office/powerpoint/2010/main" val="488450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Honicker= high quality manufacturer of auto dashboards. </a:t>
            </a:r>
          </a:p>
          <a:p>
            <a:r>
              <a:rPr lang="en-US"/>
              <a:t>Honicker replaces ultra conservative management with new management</a:t>
            </a:r>
          </a:p>
          <a:p>
            <a:r>
              <a:rPr lang="en-US"/>
              <a:t>Expansion while everyone else is struggling</a:t>
            </a:r>
          </a:p>
          <a:p>
            <a:r>
              <a:rPr lang="en-US"/>
              <a:t>They have plenty of cash. AA- credit rating</a:t>
            </a:r>
          </a:p>
          <a:p>
            <a:r>
              <a:rPr lang="en-US" sz="1800">
                <a:effectLst/>
                <a:latin typeface="Calibri" panose="020F0502020204030204" pitchFamily="34" charset="0"/>
                <a:ea typeface="Calibri" panose="020F0502020204030204" pitchFamily="34" charset="0"/>
                <a:cs typeface="Arial" panose="020B0604020202020204" pitchFamily="34" charset="0"/>
              </a:rPr>
              <a:t>They decided to acquire multiple companies instead of building manufacturing plants and hiring new management teams and employees for each new branch</a:t>
            </a:r>
            <a:endParaRPr lang="en-US"/>
          </a:p>
          <a:p>
            <a:r>
              <a:rPr lang="en-US"/>
              <a:t>Acquires 4 companies in different geographical regions</a:t>
            </a:r>
          </a:p>
          <a:p>
            <a:r>
              <a:rPr lang="en-US"/>
              <a:t>They acquired because it is faster, but after trying to implement a new system, we realized it might have been faster if they built new plants</a:t>
            </a:r>
          </a:p>
          <a:p>
            <a:r>
              <a:rPr lang="en-US"/>
              <a:t>On average, it takes about 2 years to build a manufacturing plant. It took 168 days to complete tesla Giga Factory in China. </a:t>
            </a:r>
          </a:p>
          <a:p>
            <a:endParaRPr lang="en-US"/>
          </a:p>
        </p:txBody>
      </p:sp>
      <p:sp>
        <p:nvSpPr>
          <p:cNvPr id="4" name="Slide Number Placeholder 3"/>
          <p:cNvSpPr>
            <a:spLocks noGrp="1"/>
          </p:cNvSpPr>
          <p:nvPr>
            <p:ph type="sldNum" sz="quarter" idx="5"/>
          </p:nvPr>
        </p:nvSpPr>
        <p:spPr/>
        <p:txBody>
          <a:bodyPr/>
          <a:lstStyle/>
          <a:p>
            <a:fld id="{8842D7E8-0B95-4EA7-88E3-3B025143EB19}" type="slidenum">
              <a:rPr lang="en-US" smtClean="0"/>
              <a:t>2</a:t>
            </a:fld>
            <a:endParaRPr lang="en-US"/>
          </a:p>
        </p:txBody>
      </p:sp>
    </p:spTree>
    <p:extLst>
      <p:ext uri="{BB962C8B-B14F-4D97-AF65-F5344CB8AC3E}">
        <p14:creationId xmlns:p14="http://schemas.microsoft.com/office/powerpoint/2010/main" val="60525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EPM = a software?</a:t>
            </a:r>
          </a:p>
          <a:p>
            <a:r>
              <a:rPr lang="en-US"/>
              <a:t>Timeline had to be updated to 2 years</a:t>
            </a:r>
          </a:p>
          <a:p>
            <a:r>
              <a:rPr lang="en-US"/>
              <a:t>Alpha wants everyone to use its system because it is supposedly more superior</a:t>
            </a:r>
          </a:p>
        </p:txBody>
      </p:sp>
      <p:sp>
        <p:nvSpPr>
          <p:cNvPr id="4" name="Slide Number Placeholder 3"/>
          <p:cNvSpPr>
            <a:spLocks noGrp="1"/>
          </p:cNvSpPr>
          <p:nvPr>
            <p:ph type="sldNum" sz="quarter" idx="5"/>
          </p:nvPr>
        </p:nvSpPr>
        <p:spPr/>
        <p:txBody>
          <a:bodyPr/>
          <a:lstStyle/>
          <a:p>
            <a:fld id="{8842D7E8-0B95-4EA7-88E3-3B025143EB19}" type="slidenum">
              <a:rPr lang="en-US" smtClean="0"/>
              <a:t>3</a:t>
            </a:fld>
            <a:endParaRPr lang="en-US"/>
          </a:p>
        </p:txBody>
      </p:sp>
    </p:spTree>
    <p:extLst>
      <p:ext uri="{BB962C8B-B14F-4D97-AF65-F5344CB8AC3E}">
        <p14:creationId xmlns:p14="http://schemas.microsoft.com/office/powerpoint/2010/main" val="3066830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EPM = a software?</a:t>
            </a:r>
          </a:p>
          <a:p>
            <a:endParaRPr lang="en-US"/>
          </a:p>
        </p:txBody>
      </p:sp>
      <p:sp>
        <p:nvSpPr>
          <p:cNvPr id="4" name="Slide Number Placeholder 3"/>
          <p:cNvSpPr>
            <a:spLocks noGrp="1"/>
          </p:cNvSpPr>
          <p:nvPr>
            <p:ph type="sldNum" sz="quarter" idx="5"/>
          </p:nvPr>
        </p:nvSpPr>
        <p:spPr/>
        <p:txBody>
          <a:bodyPr/>
          <a:lstStyle/>
          <a:p>
            <a:fld id="{8842D7E8-0B95-4EA7-88E3-3B025143EB19}" type="slidenum">
              <a:rPr lang="en-US" smtClean="0"/>
              <a:t>4</a:t>
            </a:fld>
            <a:endParaRPr lang="en-US"/>
          </a:p>
        </p:txBody>
      </p:sp>
    </p:spTree>
    <p:extLst>
      <p:ext uri="{BB962C8B-B14F-4D97-AF65-F5344CB8AC3E}">
        <p14:creationId xmlns:p14="http://schemas.microsoft.com/office/powerpoint/2010/main" val="1334930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Being a difficult situation, we read through the case study and determined 3 of the biggest issues. It is clear that the overall goal of Honicker is to establish an agreed upon enterprise project management system that will be able to incorporate all of the acquired companies so that they are all working cohesively.</a:t>
            </a:r>
            <a:endParaRPr lang="en-US"/>
          </a:p>
          <a:p>
            <a:endParaRPr lang="en-US">
              <a:cs typeface="Calibri"/>
            </a:endParaRPr>
          </a:p>
          <a:p>
            <a:r>
              <a:rPr lang="en-US">
                <a:cs typeface="Calibri"/>
              </a:rPr>
              <a:t>The first problem that needs to addressed is the fact that these acquired companies view Honicker as a supply of money, not their new owners. By acting as if they are their own individual entities, it makes it  incredibly difficult for Honicker to establish order and consistency beneath them. This was made clear through the fact that each company had different timelines for the project, and each company also didn’t recognize the importance of it the way Honicker did. We believe this is a result of the senior management from each company believing that they know their clients and stakeholders the best, and their own company's priorities put first. </a:t>
            </a:r>
            <a:endParaRPr lang="en-US"/>
          </a:p>
          <a:p>
            <a:endParaRPr lang="en-US">
              <a:cs typeface="Calibri"/>
            </a:endParaRPr>
          </a:p>
          <a:p>
            <a:r>
              <a:rPr lang="en-US">
                <a:cs typeface="Calibri"/>
              </a:rPr>
              <a:t>The second issue is that these new companies are apprehensive about changing what has previously been working for them. The details pointing to this being a problem include:</a:t>
            </a:r>
          </a:p>
          <a:p>
            <a:pPr marL="171450" indent="-171450">
              <a:buFont typeface="Arial"/>
              <a:buChar char="•"/>
            </a:pPr>
            <a:r>
              <a:rPr lang="en-US">
                <a:cs typeface="Calibri"/>
              </a:rPr>
              <a:t>The management are concerned about losing bonuses in result of increased efficiency and reduced employees</a:t>
            </a:r>
          </a:p>
          <a:p>
            <a:pPr marL="171450" indent="-171450">
              <a:buFont typeface="Arial"/>
              <a:buChar char="•"/>
            </a:pPr>
            <a:r>
              <a:rPr lang="en-US">
                <a:cs typeface="Calibri"/>
              </a:rPr>
              <a:t>The management do not want to lose all of the power of their own companies and they are against learning a new system</a:t>
            </a:r>
          </a:p>
          <a:p>
            <a:pPr marL="171450" indent="-171450">
              <a:buFont typeface="Arial"/>
              <a:buChar char="•"/>
            </a:pPr>
            <a:r>
              <a:rPr lang="en-US">
                <a:cs typeface="Calibri"/>
              </a:rPr>
              <a:t>Many employees are concerned that a new system wouldn't work with, or even change the existing company culture</a:t>
            </a:r>
          </a:p>
          <a:p>
            <a:endParaRPr lang="en-US"/>
          </a:p>
          <a:p>
            <a:r>
              <a:rPr lang="en-US">
                <a:cs typeface="Calibri"/>
              </a:rPr>
              <a:t>It appears that the companies are not confident Honicker as a whole considering they aren't doing anything to help this difficult situation. </a:t>
            </a:r>
            <a:r>
              <a:rPr lang="en-US"/>
              <a:t>Honicker needs to strengthen its relationship with these companies, or they may suffer more dire consequences, such as delays to the timeline. </a:t>
            </a:r>
            <a:endParaRPr lang="en-US">
              <a:cs typeface="Calibri"/>
            </a:endParaRPr>
          </a:p>
          <a:p>
            <a:endParaRPr lang="en-US">
              <a:cs typeface="Calibri"/>
            </a:endParaRPr>
          </a:p>
          <a:p>
            <a:r>
              <a:rPr lang="en-US"/>
              <a:t>The third and final problem is insufficient communication between the companies, specifically Gamma and Delta. Gamma and Delta do not seem to understand what is expected of them without someone telling them exactly what is expected. These companies were not at the same project management maturity as the other companies as made apparent by the fact that they had no project management system in place.  This may be due to translation errors, but they also seem to either be young companies without a formal management structure or companies that have never expanded much and have never had to improve their project management system. Communication is an important aspect within project management, so it is important that these companies communicate with Honicker to learn their roles and responsibilities.  </a:t>
            </a:r>
            <a:endParaRPr lang="en-US">
              <a:cs typeface="Calibri"/>
            </a:endParaRPr>
          </a:p>
          <a:p>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8842D7E8-0B95-4EA7-88E3-3B025143EB19}" type="slidenum">
              <a:rPr lang="en-US" smtClean="0"/>
              <a:t>7</a:t>
            </a:fld>
            <a:endParaRPr lang="en-US"/>
          </a:p>
        </p:txBody>
      </p:sp>
    </p:spTree>
    <p:extLst>
      <p:ext uri="{BB962C8B-B14F-4D97-AF65-F5344CB8AC3E}">
        <p14:creationId xmlns:p14="http://schemas.microsoft.com/office/powerpoint/2010/main" val="100343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1a. The Honicker representatives that will be dispatched to its subsidiaries must be experts in Honicker's EPM methodology who have also proven themselves capable of conflict resolution on a corporate scale.</a:t>
            </a:r>
          </a:p>
        </p:txBody>
      </p:sp>
      <p:sp>
        <p:nvSpPr>
          <p:cNvPr id="4" name="Slide Number Placeholder 3"/>
          <p:cNvSpPr>
            <a:spLocks noGrp="1"/>
          </p:cNvSpPr>
          <p:nvPr>
            <p:ph type="sldNum" sz="quarter" idx="5"/>
          </p:nvPr>
        </p:nvSpPr>
        <p:spPr/>
        <p:txBody>
          <a:bodyPr/>
          <a:lstStyle/>
          <a:p>
            <a:fld id="{8842D7E8-0B95-4EA7-88E3-3B025143EB19}" type="slidenum">
              <a:rPr lang="en-US" smtClean="0"/>
              <a:t>11</a:t>
            </a:fld>
            <a:endParaRPr lang="en-US"/>
          </a:p>
        </p:txBody>
      </p:sp>
    </p:spTree>
    <p:extLst>
      <p:ext uri="{BB962C8B-B14F-4D97-AF65-F5344CB8AC3E}">
        <p14:creationId xmlns:p14="http://schemas.microsoft.com/office/powerpoint/2010/main" val="2242437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644672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75431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26926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946091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57354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4132877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44897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4004028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940737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654004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4/3/2022</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33406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4/3/2022</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1489976227"/>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2" name="Title 1">
            <a:extLst>
              <a:ext uri="{FF2B5EF4-FFF2-40B4-BE49-F238E27FC236}">
                <a16:creationId xmlns:a16="http://schemas.microsoft.com/office/drawing/2014/main" id="{4CCF2216-9432-449B-87BD-DAA4D0FC22F2}"/>
              </a:ext>
            </a:extLst>
          </p:cNvPr>
          <p:cNvSpPr>
            <a:spLocks noGrp="1"/>
          </p:cNvSpPr>
          <p:nvPr>
            <p:ph type="ctrTitle"/>
          </p:nvPr>
        </p:nvSpPr>
        <p:spPr>
          <a:xfrm>
            <a:off x="6096000" y="1536390"/>
            <a:ext cx="5334000" cy="2286000"/>
          </a:xfrm>
        </p:spPr>
        <p:txBody>
          <a:bodyPr>
            <a:normAutofit/>
          </a:bodyPr>
          <a:lstStyle/>
          <a:p>
            <a:pPr algn="l"/>
            <a:r>
              <a:rPr lang="en-US" sz="4400"/>
              <a:t>Honicker Corporation</a:t>
            </a:r>
          </a:p>
        </p:txBody>
      </p:sp>
      <p:sp>
        <p:nvSpPr>
          <p:cNvPr id="3" name="Subtitle 2">
            <a:extLst>
              <a:ext uri="{FF2B5EF4-FFF2-40B4-BE49-F238E27FC236}">
                <a16:creationId xmlns:a16="http://schemas.microsoft.com/office/drawing/2014/main" id="{23CAC27E-14E0-46D6-9350-69D274C9DC63}"/>
              </a:ext>
            </a:extLst>
          </p:cNvPr>
          <p:cNvSpPr>
            <a:spLocks noGrp="1"/>
          </p:cNvSpPr>
          <p:nvPr>
            <p:ph type="subTitle" idx="1"/>
          </p:nvPr>
        </p:nvSpPr>
        <p:spPr>
          <a:xfrm>
            <a:off x="6096000" y="4571999"/>
            <a:ext cx="5334000" cy="1524000"/>
          </a:xfrm>
        </p:spPr>
        <p:txBody>
          <a:bodyPr vert="horz" lIns="91440" tIns="45720" rIns="91440" bIns="45720" rtlCol="0" anchor="t">
            <a:normAutofit/>
          </a:bodyPr>
          <a:lstStyle/>
          <a:p>
            <a:pPr algn="l"/>
            <a:r>
              <a:rPr lang="en-US">
                <a:solidFill>
                  <a:srgbClr val="FFFFFF"/>
                </a:solidFill>
              </a:rPr>
              <a:t>Group 1</a:t>
            </a:r>
          </a:p>
          <a:p>
            <a:pPr algn="l"/>
            <a:r>
              <a:rPr lang="en-US" sz="1400">
                <a:solidFill>
                  <a:srgbClr val="FFFFFF"/>
                </a:solidFill>
              </a:rPr>
              <a:t>By: Jacob Vaught, Kyle </a:t>
            </a:r>
            <a:r>
              <a:rPr lang="en-US" sz="1400" err="1">
                <a:solidFill>
                  <a:srgbClr val="FFFFFF"/>
                </a:solidFill>
              </a:rPr>
              <a:t>Wagar</a:t>
            </a:r>
            <a:r>
              <a:rPr lang="en-US" sz="1400">
                <a:solidFill>
                  <a:srgbClr val="FFFFFF"/>
                </a:solidFill>
              </a:rPr>
              <a:t>, Robert Sposato, Greg Richard, Forrest Donnellan, and Chen Carson.</a:t>
            </a:r>
          </a:p>
        </p:txBody>
      </p:sp>
      <p:pic>
        <p:nvPicPr>
          <p:cNvPr id="4" name="Picture 3" descr="Low angle view of modern skyscrapers rising straight up against a dramatic sky">
            <a:extLst>
              <a:ext uri="{FF2B5EF4-FFF2-40B4-BE49-F238E27FC236}">
                <a16:creationId xmlns:a16="http://schemas.microsoft.com/office/drawing/2014/main" id="{67654A49-5CD2-4464-A947-12EE4D3D7FE7}"/>
              </a:ext>
            </a:extLst>
          </p:cNvPr>
          <p:cNvPicPr>
            <a:picLocks noChangeAspect="1"/>
          </p:cNvPicPr>
          <p:nvPr/>
        </p:nvPicPr>
        <p:blipFill rotWithShape="1">
          <a:blip r:embed="rId2"/>
          <a:srcRect l="12581" r="29295"/>
          <a:stretch/>
        </p:blipFill>
        <p:spPr>
          <a:xfrm>
            <a:off x="2" y="732510"/>
            <a:ext cx="5333999" cy="6125491"/>
          </a:xfrm>
          <a:custGeom>
            <a:avLst/>
            <a:gdLst/>
            <a:ahLst/>
            <a:cxnLst/>
            <a:rect l="l" t="t" r="r" b="b"/>
            <a:pathLst>
              <a:path w="5333999" h="6125491">
                <a:moveTo>
                  <a:pt x="0" y="0"/>
                </a:moveTo>
                <a:lnTo>
                  <a:pt x="201347" y="12133"/>
                </a:lnTo>
                <a:cubicBezTo>
                  <a:pt x="834520" y="59989"/>
                  <a:pt x="1489622" y="165274"/>
                  <a:pt x="2149412" y="288819"/>
                </a:cubicBezTo>
                <a:cubicBezTo>
                  <a:pt x="4194087" y="671477"/>
                  <a:pt x="4738431" y="1884930"/>
                  <a:pt x="5125148" y="3309606"/>
                </a:cubicBezTo>
                <a:cubicBezTo>
                  <a:pt x="5383961" y="4263563"/>
                  <a:pt x="5599841" y="5130569"/>
                  <a:pt x="4496734" y="5829050"/>
                </a:cubicBezTo>
                <a:cubicBezTo>
                  <a:pt x="4342061" y="5927011"/>
                  <a:pt x="4177261" y="6012425"/>
                  <a:pt x="4005032" y="6088102"/>
                </a:cubicBezTo>
                <a:lnTo>
                  <a:pt x="3915032" y="6125491"/>
                </a:lnTo>
                <a:lnTo>
                  <a:pt x="0" y="6125491"/>
                </a:lnTo>
                <a:close/>
              </a:path>
            </a:pathLst>
          </a:custGeom>
        </p:spPr>
      </p:pic>
      <p:sp>
        <p:nvSpPr>
          <p:cNvPr id="11" name="Freeform: Shape 10">
            <a:extLst>
              <a:ext uri="{FF2B5EF4-FFF2-40B4-BE49-F238E27FC236}">
                <a16:creationId xmlns:a16="http://schemas.microsoft.com/office/drawing/2014/main" id="{4EB7CBBE-178B-4DB3-AD92-DED458BAE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52425"/>
            <a:ext cx="5185830" cy="650557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Tree>
    <p:extLst>
      <p:ext uri="{BB962C8B-B14F-4D97-AF65-F5344CB8AC3E}">
        <p14:creationId xmlns:p14="http://schemas.microsoft.com/office/powerpoint/2010/main" val="3819678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D540-96F2-4F90-B2DA-4F44ADFD0542}"/>
              </a:ext>
            </a:extLst>
          </p:cNvPr>
          <p:cNvSpPr>
            <a:spLocks noGrp="1"/>
          </p:cNvSpPr>
          <p:nvPr>
            <p:ph type="title"/>
          </p:nvPr>
        </p:nvSpPr>
        <p:spPr/>
        <p:txBody>
          <a:bodyPr/>
          <a:lstStyle/>
          <a:p>
            <a:r>
              <a:rPr lang="en-US"/>
              <a:t>Introduction</a:t>
            </a:r>
            <a:br>
              <a:rPr lang="en-US"/>
            </a:br>
            <a:r>
              <a:rPr lang="en-US" sz="1100"/>
              <a:t>Jacob Vaught</a:t>
            </a:r>
            <a:br>
              <a:rPr lang="en-US" sz="1100"/>
            </a:br>
            <a:r>
              <a:rPr lang="en-US" sz="1100"/>
              <a:t>Page 1</a:t>
            </a:r>
            <a:endParaRPr lang="en-US"/>
          </a:p>
        </p:txBody>
      </p:sp>
      <p:sp>
        <p:nvSpPr>
          <p:cNvPr id="3" name="Content Placeholder 2">
            <a:extLst>
              <a:ext uri="{FF2B5EF4-FFF2-40B4-BE49-F238E27FC236}">
                <a16:creationId xmlns:a16="http://schemas.microsoft.com/office/drawing/2014/main" id="{BFFFA6A1-2A21-4A31-86E6-1D9CCE63D236}"/>
              </a:ext>
            </a:extLst>
          </p:cNvPr>
          <p:cNvSpPr>
            <a:spLocks noGrp="1"/>
          </p:cNvSpPr>
          <p:nvPr>
            <p:ph idx="1"/>
          </p:nvPr>
        </p:nvSpPr>
        <p:spPr>
          <a:xfrm>
            <a:off x="762000" y="2286000"/>
            <a:ext cx="10668000" cy="3818083"/>
          </a:xfrm>
        </p:spPr>
        <p:txBody>
          <a:bodyPr vert="horz" lIns="91440" tIns="45720" rIns="91440" bIns="45720" rtlCol="0" anchor="t">
            <a:normAutofit/>
          </a:bodyPr>
          <a:lstStyle/>
          <a:p>
            <a:r>
              <a:rPr lang="en-US">
                <a:solidFill>
                  <a:srgbClr val="FFFFFF"/>
                </a:solidFill>
              </a:rPr>
              <a:t>Who is Honicker?</a:t>
            </a:r>
          </a:p>
          <a:p>
            <a:pPr lvl="1"/>
            <a:r>
              <a:rPr lang="en-US">
                <a:solidFill>
                  <a:srgbClr val="FFFFFF"/>
                </a:solidFill>
              </a:rPr>
              <a:t>Specializes in the Manufacturing of Automobile Dashboards</a:t>
            </a:r>
          </a:p>
          <a:p>
            <a:r>
              <a:rPr lang="en-US">
                <a:solidFill>
                  <a:srgbClr val="FFFFFF"/>
                </a:solidFill>
              </a:rPr>
              <a:t>Honicker replaces Senior Management team in 2009</a:t>
            </a:r>
          </a:p>
          <a:p>
            <a:r>
              <a:rPr lang="en-US">
                <a:solidFill>
                  <a:srgbClr val="FFFFFF"/>
                </a:solidFill>
              </a:rPr>
              <a:t>New Management wants to expand rapidly</a:t>
            </a:r>
          </a:p>
          <a:p>
            <a:r>
              <a:rPr lang="en-US">
                <a:solidFill>
                  <a:srgbClr val="FFFFFF"/>
                </a:solidFill>
              </a:rPr>
              <a:t>They Acquire Alpha, Beta, Gamma, Delta</a:t>
            </a:r>
          </a:p>
          <a:p>
            <a:endParaRPr lang="en-US">
              <a:solidFill>
                <a:srgbClr val="FFFFFF"/>
              </a:solidFill>
            </a:endParaRPr>
          </a:p>
          <a:p>
            <a:endParaRPr lang="en-US">
              <a:solidFill>
                <a:srgbClr val="FFFFFF"/>
              </a:solidFill>
            </a:endParaRPr>
          </a:p>
          <a:p>
            <a:endParaRPr lang="en-US"/>
          </a:p>
          <a:p>
            <a:endParaRPr lang="en-US">
              <a:solidFill>
                <a:srgbClr val="FFFFFF">
                  <a:alpha val="70000"/>
                </a:srgbClr>
              </a:solidFill>
            </a:endParaRPr>
          </a:p>
        </p:txBody>
      </p:sp>
    </p:spTree>
    <p:extLst>
      <p:ext uri="{BB962C8B-B14F-4D97-AF65-F5344CB8AC3E}">
        <p14:creationId xmlns:p14="http://schemas.microsoft.com/office/powerpoint/2010/main" val="4273636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D540-96F2-4F90-B2DA-4F44ADFD0542}"/>
              </a:ext>
            </a:extLst>
          </p:cNvPr>
          <p:cNvSpPr>
            <a:spLocks noGrp="1"/>
          </p:cNvSpPr>
          <p:nvPr>
            <p:ph type="title"/>
          </p:nvPr>
        </p:nvSpPr>
        <p:spPr/>
        <p:txBody>
          <a:bodyPr/>
          <a:lstStyle/>
          <a:p>
            <a:r>
              <a:rPr lang="en-US"/>
              <a:t>Introduction </a:t>
            </a:r>
            <a:br>
              <a:rPr lang="en-US"/>
            </a:br>
            <a:r>
              <a:rPr lang="en-US" sz="1100"/>
              <a:t>Jacob Vaught</a:t>
            </a:r>
            <a:br>
              <a:rPr lang="en-US" sz="1100"/>
            </a:br>
            <a:r>
              <a:rPr lang="en-US" sz="1100"/>
              <a:t>Page 2</a:t>
            </a:r>
            <a:endParaRPr lang="en-US"/>
          </a:p>
        </p:txBody>
      </p:sp>
      <p:sp>
        <p:nvSpPr>
          <p:cNvPr id="3" name="Content Placeholder 2">
            <a:extLst>
              <a:ext uri="{FF2B5EF4-FFF2-40B4-BE49-F238E27FC236}">
                <a16:creationId xmlns:a16="http://schemas.microsoft.com/office/drawing/2014/main" id="{BFFFA6A1-2A21-4A31-86E6-1D9CCE63D236}"/>
              </a:ext>
            </a:extLst>
          </p:cNvPr>
          <p:cNvSpPr>
            <a:spLocks noGrp="1"/>
          </p:cNvSpPr>
          <p:nvPr>
            <p:ph idx="1"/>
          </p:nvPr>
        </p:nvSpPr>
        <p:spPr>
          <a:xfrm>
            <a:off x="762000" y="2286000"/>
            <a:ext cx="10668000" cy="3818083"/>
          </a:xfrm>
        </p:spPr>
        <p:txBody>
          <a:bodyPr vert="horz" lIns="91440" tIns="45720" rIns="91440" bIns="45720" rtlCol="0" anchor="t">
            <a:normAutofit/>
          </a:bodyPr>
          <a:lstStyle/>
          <a:p>
            <a:r>
              <a:rPr lang="en-US">
                <a:solidFill>
                  <a:srgbClr val="FFFFFF"/>
                </a:solidFill>
              </a:rPr>
              <a:t>Honicker has an EPM (Enterprise Project Management) system</a:t>
            </a:r>
            <a:endParaRPr lang="en-US"/>
          </a:p>
          <a:p>
            <a:r>
              <a:rPr lang="en-US">
                <a:solidFill>
                  <a:srgbClr val="FFFFFF"/>
                </a:solidFill>
              </a:rPr>
              <a:t>Honicker wants each company to use the EPM, but a modified version is acceptable also</a:t>
            </a:r>
          </a:p>
          <a:p>
            <a:r>
              <a:rPr lang="en-US">
                <a:solidFill>
                  <a:srgbClr val="FFFFFF"/>
                </a:solidFill>
              </a:rPr>
              <a:t>Problems Arise</a:t>
            </a:r>
          </a:p>
          <a:p>
            <a:pPr lvl="1"/>
            <a:r>
              <a:rPr lang="en-US">
                <a:solidFill>
                  <a:srgbClr val="FFFFFF"/>
                </a:solidFill>
              </a:rPr>
              <a:t> 6-month EPM Transition Unsuccessful</a:t>
            </a:r>
          </a:p>
          <a:p>
            <a:pPr lvl="1"/>
            <a:r>
              <a:rPr lang="en-US">
                <a:solidFill>
                  <a:srgbClr val="FFFFFF"/>
                </a:solidFill>
              </a:rPr>
              <a:t>Alpha “Superior EPM” </a:t>
            </a:r>
            <a:endParaRPr lang="en-US"/>
          </a:p>
          <a:p>
            <a:pPr lvl="1"/>
            <a:endParaRPr lang="en-US">
              <a:solidFill>
                <a:srgbClr val="FFFFFF">
                  <a:alpha val="70000"/>
                </a:srgbClr>
              </a:solidFill>
            </a:endParaRPr>
          </a:p>
        </p:txBody>
      </p:sp>
    </p:spTree>
    <p:extLst>
      <p:ext uri="{BB962C8B-B14F-4D97-AF65-F5344CB8AC3E}">
        <p14:creationId xmlns:p14="http://schemas.microsoft.com/office/powerpoint/2010/main" val="1418747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D540-96F2-4F90-B2DA-4F44ADFD0542}"/>
              </a:ext>
            </a:extLst>
          </p:cNvPr>
          <p:cNvSpPr>
            <a:spLocks noGrp="1"/>
          </p:cNvSpPr>
          <p:nvPr>
            <p:ph type="title"/>
          </p:nvPr>
        </p:nvSpPr>
        <p:spPr/>
        <p:txBody>
          <a:bodyPr/>
          <a:lstStyle/>
          <a:p>
            <a:r>
              <a:rPr lang="en-US"/>
              <a:t>Introduction </a:t>
            </a:r>
            <a:br>
              <a:rPr lang="en-US"/>
            </a:br>
            <a:r>
              <a:rPr lang="en-US" sz="1100"/>
              <a:t>Jacob Vaught</a:t>
            </a:r>
            <a:br>
              <a:rPr lang="en-US" sz="1100"/>
            </a:br>
            <a:r>
              <a:rPr lang="en-US" sz="1100"/>
              <a:t>Page 3</a:t>
            </a:r>
            <a:endParaRPr lang="en-US"/>
          </a:p>
        </p:txBody>
      </p:sp>
      <p:sp>
        <p:nvSpPr>
          <p:cNvPr id="3" name="Content Placeholder 2">
            <a:extLst>
              <a:ext uri="{FF2B5EF4-FFF2-40B4-BE49-F238E27FC236}">
                <a16:creationId xmlns:a16="http://schemas.microsoft.com/office/drawing/2014/main" id="{BFFFA6A1-2A21-4A31-86E6-1D9CCE63D236}"/>
              </a:ext>
            </a:extLst>
          </p:cNvPr>
          <p:cNvSpPr>
            <a:spLocks noGrp="1"/>
          </p:cNvSpPr>
          <p:nvPr>
            <p:ph idx="1"/>
          </p:nvPr>
        </p:nvSpPr>
        <p:spPr>
          <a:xfrm>
            <a:off x="762000" y="2286000"/>
            <a:ext cx="10668000" cy="3818083"/>
          </a:xfrm>
        </p:spPr>
        <p:txBody>
          <a:bodyPr vert="horz" lIns="91440" tIns="45720" rIns="91440" bIns="45720" rtlCol="0" anchor="t">
            <a:normAutofit/>
          </a:bodyPr>
          <a:lstStyle/>
          <a:p>
            <a:r>
              <a:rPr lang="en-US">
                <a:solidFill>
                  <a:srgbClr val="FFFFFF"/>
                </a:solidFill>
              </a:rPr>
              <a:t>Problems Arise Cont.</a:t>
            </a:r>
          </a:p>
          <a:p>
            <a:pPr lvl="1"/>
            <a:r>
              <a:rPr lang="en-US">
                <a:solidFill>
                  <a:srgbClr val="FFFFFF"/>
                </a:solidFill>
              </a:rPr>
              <a:t>Trust Issues</a:t>
            </a:r>
          </a:p>
          <a:p>
            <a:pPr lvl="1"/>
            <a:r>
              <a:rPr lang="en-US">
                <a:solidFill>
                  <a:srgbClr val="FFFFFF"/>
                </a:solidFill>
              </a:rPr>
              <a:t>Fear of new system</a:t>
            </a:r>
          </a:p>
          <a:p>
            <a:pPr lvl="1"/>
            <a:r>
              <a:rPr lang="en-US">
                <a:solidFill>
                  <a:srgbClr val="FFFFFF"/>
                </a:solidFill>
              </a:rPr>
              <a:t>Gamma and Delta do not understand their role. </a:t>
            </a:r>
          </a:p>
          <a:p>
            <a:pPr lvl="1"/>
            <a:r>
              <a:rPr lang="en-US">
                <a:solidFill>
                  <a:srgbClr val="FFFFFF"/>
                </a:solidFill>
              </a:rPr>
              <a:t>Different Timelines</a:t>
            </a:r>
          </a:p>
          <a:p>
            <a:pPr lvl="1"/>
            <a:r>
              <a:rPr lang="en-US">
                <a:solidFill>
                  <a:srgbClr val="FFFFFF"/>
                </a:solidFill>
              </a:rPr>
              <a:t>Does not respect Honicker</a:t>
            </a:r>
          </a:p>
          <a:p>
            <a:pPr lvl="1"/>
            <a:r>
              <a:rPr lang="en-US">
                <a:solidFill>
                  <a:srgbClr val="FFFFFF"/>
                </a:solidFill>
              </a:rPr>
              <a:t>Different levels of importance to each company</a:t>
            </a:r>
            <a:endParaRPr lang="en-US"/>
          </a:p>
          <a:p>
            <a:pPr lvl="1"/>
            <a:endParaRPr lang="en-US">
              <a:solidFill>
                <a:srgbClr val="FFFFFF">
                  <a:alpha val="70000"/>
                </a:srgbClr>
              </a:solidFill>
            </a:endParaRPr>
          </a:p>
        </p:txBody>
      </p:sp>
    </p:spTree>
    <p:extLst>
      <p:ext uri="{BB962C8B-B14F-4D97-AF65-F5344CB8AC3E}">
        <p14:creationId xmlns:p14="http://schemas.microsoft.com/office/powerpoint/2010/main" val="265046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662C4-711F-4114-9014-AAD912DB64C2}"/>
              </a:ext>
            </a:extLst>
          </p:cNvPr>
          <p:cNvSpPr>
            <a:spLocks noGrp="1"/>
          </p:cNvSpPr>
          <p:nvPr>
            <p:ph idx="1"/>
          </p:nvPr>
        </p:nvSpPr>
        <p:spPr>
          <a:xfrm>
            <a:off x="440267" y="694266"/>
            <a:ext cx="11354336" cy="5554134"/>
          </a:xfrm>
        </p:spPr>
        <p:txBody>
          <a:bodyPr vert="horz" lIns="91440" tIns="45720" rIns="91440" bIns="45720" rtlCol="0" anchor="t">
            <a:normAutofit/>
          </a:bodyPr>
          <a:lstStyle/>
          <a:p>
            <a:r>
              <a:rPr lang="en-US" sz="1800" err="1">
                <a:solidFill>
                  <a:schemeClr val="tx1"/>
                </a:solidFill>
                <a:latin typeface="Times New Roman" panose="02020603050405020304" pitchFamily="18" charset="0"/>
                <a:cs typeface="Times New Roman" panose="02020603050405020304" pitchFamily="18" charset="0"/>
              </a:rPr>
              <a:t>Honicker’s</a:t>
            </a:r>
            <a:r>
              <a:rPr lang="en-US" sz="1800">
                <a:solidFill>
                  <a:schemeClr val="tx1"/>
                </a:solidFill>
                <a:latin typeface="Times New Roman" panose="02020603050405020304" pitchFamily="18" charset="0"/>
                <a:cs typeface="Times New Roman" panose="02020603050405020304" pitchFamily="18" charset="0"/>
              </a:rPr>
              <a:t> strategy involved, consisted of three parts: </a:t>
            </a:r>
          </a:p>
          <a:p>
            <a:pPr lvl="1"/>
            <a:r>
              <a:rPr lang="en-US" sz="1800">
                <a:solidFill>
                  <a:schemeClr val="tx1"/>
                </a:solidFill>
                <a:latin typeface="Times New Roman"/>
                <a:cs typeface="Times New Roman"/>
              </a:rPr>
              <a:t>Get all 4 companies to come into agreement on the methodology used.</a:t>
            </a:r>
          </a:p>
          <a:p>
            <a:pPr lvl="1"/>
            <a:r>
              <a:rPr lang="en-US" sz="1800">
                <a:solidFill>
                  <a:schemeClr val="tx1"/>
                </a:solidFill>
                <a:latin typeface="Times New Roman"/>
                <a:cs typeface="Times New Roman"/>
              </a:rPr>
              <a:t>Invite clients and stakeholders to see and test the system to provide feedback</a:t>
            </a:r>
          </a:p>
          <a:p>
            <a:pPr lvl="1"/>
            <a:r>
              <a:rPr lang="en-US" sz="1800">
                <a:solidFill>
                  <a:schemeClr val="tx1"/>
                </a:solidFill>
                <a:latin typeface="Times New Roman"/>
                <a:cs typeface="Times New Roman"/>
              </a:rPr>
              <a:t>Request 3 representatives with knowledge in project management and authorization per company to make the head decision at the company.</a:t>
            </a:r>
          </a:p>
          <a:p>
            <a:r>
              <a:rPr lang="en-US" sz="1800">
                <a:solidFill>
                  <a:schemeClr val="tx1"/>
                </a:solidFill>
                <a:latin typeface="Times New Roman" panose="02020603050405020304" pitchFamily="18" charset="0"/>
                <a:cs typeface="Times New Roman" panose="02020603050405020304" pitchFamily="18" charset="0"/>
              </a:rPr>
              <a:t>The list of initial problems included:</a:t>
            </a:r>
          </a:p>
          <a:p>
            <a:pPr lvl="1"/>
            <a:r>
              <a:rPr lang="en-US" sz="1800">
                <a:solidFill>
                  <a:schemeClr val="tx1"/>
                </a:solidFill>
                <a:latin typeface="Times New Roman"/>
                <a:cs typeface="Times New Roman"/>
              </a:rPr>
              <a:t>Each company saw the importance differently from the others, causing different time schedules.</a:t>
            </a:r>
          </a:p>
          <a:p>
            <a:pPr lvl="1"/>
            <a:r>
              <a:rPr lang="en-US" sz="1800">
                <a:solidFill>
                  <a:schemeClr val="tx1"/>
                </a:solidFill>
                <a:latin typeface="Times New Roman"/>
                <a:cs typeface="Times New Roman"/>
              </a:rPr>
              <a:t>Each company was only looking out for themselves, instead of the collaboration being a whole project in sync with the others.</a:t>
            </a:r>
          </a:p>
          <a:p>
            <a:pPr lvl="1"/>
            <a:r>
              <a:rPr lang="en-US" sz="1800">
                <a:solidFill>
                  <a:schemeClr val="tx1"/>
                </a:solidFill>
                <a:latin typeface="Times New Roman"/>
                <a:cs typeface="Times New Roman"/>
              </a:rPr>
              <a:t>Different views on the determination of power the Project Manager had, and Gamma and Delta did not understand their roles.</a:t>
            </a:r>
          </a:p>
          <a:p>
            <a:pPr lvl="1"/>
            <a:r>
              <a:rPr lang="en-US" sz="1800">
                <a:solidFill>
                  <a:schemeClr val="tx1"/>
                </a:solidFill>
                <a:latin typeface="Times New Roman"/>
                <a:cs typeface="Times New Roman"/>
              </a:rPr>
              <a:t>Alpha Company said they had the better EPM system for all companies to use over </a:t>
            </a:r>
            <a:r>
              <a:rPr lang="en-US" sz="1800" err="1">
                <a:solidFill>
                  <a:schemeClr val="tx1"/>
                </a:solidFill>
                <a:latin typeface="Times New Roman"/>
                <a:cs typeface="Times New Roman"/>
              </a:rPr>
              <a:t>Honicker’s</a:t>
            </a:r>
            <a:r>
              <a:rPr lang="en-US" sz="1800">
                <a:solidFill>
                  <a:schemeClr val="tx1"/>
                </a:solidFill>
                <a:latin typeface="Times New Roman"/>
                <a:cs typeface="Times New Roman"/>
              </a:rPr>
              <a:t> EPM system and started to micromanage.</a:t>
            </a:r>
          </a:p>
        </p:txBody>
      </p:sp>
      <p:sp>
        <p:nvSpPr>
          <p:cNvPr id="4" name="Title 1">
            <a:extLst>
              <a:ext uri="{FF2B5EF4-FFF2-40B4-BE49-F238E27FC236}">
                <a16:creationId xmlns:a16="http://schemas.microsoft.com/office/drawing/2014/main" id="{4A064F9A-B61F-46FD-963C-A22A96A18680}"/>
              </a:ext>
            </a:extLst>
          </p:cNvPr>
          <p:cNvSpPr txBox="1">
            <a:spLocks/>
          </p:cNvSpPr>
          <p:nvPr/>
        </p:nvSpPr>
        <p:spPr>
          <a:xfrm>
            <a:off x="440267" y="0"/>
            <a:ext cx="10227733" cy="694266"/>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t>Background</a:t>
            </a:r>
            <a:br>
              <a:rPr lang="en-US" sz="4000"/>
            </a:br>
            <a:r>
              <a:rPr lang="en-US" sz="1300"/>
              <a:t>Kyle </a:t>
            </a:r>
            <a:r>
              <a:rPr lang="en-US" sz="1300" err="1"/>
              <a:t>Wagar</a:t>
            </a:r>
            <a:endParaRPr lang="en-US" sz="1200"/>
          </a:p>
        </p:txBody>
      </p:sp>
    </p:spTree>
    <p:extLst>
      <p:ext uri="{BB962C8B-B14F-4D97-AF65-F5344CB8AC3E}">
        <p14:creationId xmlns:p14="http://schemas.microsoft.com/office/powerpoint/2010/main" val="691784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2407F-4ED4-4D50-BF96-4D96CC459B0C}"/>
              </a:ext>
            </a:extLst>
          </p:cNvPr>
          <p:cNvSpPr>
            <a:spLocks noGrp="1"/>
          </p:cNvSpPr>
          <p:nvPr>
            <p:ph type="title"/>
          </p:nvPr>
        </p:nvSpPr>
        <p:spPr>
          <a:xfrm>
            <a:off x="542081" y="0"/>
            <a:ext cx="10125918" cy="768096"/>
          </a:xfrm>
        </p:spPr>
        <p:txBody>
          <a:bodyPr>
            <a:normAutofit fontScale="90000"/>
          </a:bodyPr>
          <a:lstStyle/>
          <a:p>
            <a:r>
              <a:rPr lang="en-US" sz="4000"/>
              <a:t>Background Cont.</a:t>
            </a:r>
            <a:br>
              <a:rPr lang="en-US" sz="4000"/>
            </a:br>
            <a:r>
              <a:rPr lang="en-US" sz="1300"/>
              <a:t>Kyle </a:t>
            </a:r>
            <a:r>
              <a:rPr lang="en-US" sz="1300" err="1"/>
              <a:t>Wagar</a:t>
            </a:r>
            <a:endParaRPr lang="en-US" sz="1200"/>
          </a:p>
        </p:txBody>
      </p:sp>
      <p:sp>
        <p:nvSpPr>
          <p:cNvPr id="3" name="Content Placeholder 2">
            <a:extLst>
              <a:ext uri="{FF2B5EF4-FFF2-40B4-BE49-F238E27FC236}">
                <a16:creationId xmlns:a16="http://schemas.microsoft.com/office/drawing/2014/main" id="{15FFB6FC-E07A-4D31-9F39-86ED449F7D14}"/>
              </a:ext>
            </a:extLst>
          </p:cNvPr>
          <p:cNvSpPr>
            <a:spLocks noGrp="1"/>
          </p:cNvSpPr>
          <p:nvPr>
            <p:ph idx="1"/>
          </p:nvPr>
        </p:nvSpPr>
        <p:spPr>
          <a:xfrm>
            <a:off x="542081" y="885464"/>
            <a:ext cx="10668000" cy="5978324"/>
          </a:xfrm>
        </p:spPr>
        <p:txBody>
          <a:bodyPr vert="horz" lIns="91440" tIns="45720" rIns="91440" bIns="45720" rtlCol="0" anchor="t">
            <a:noAutofit/>
          </a:bodyPr>
          <a:lstStyle/>
          <a:p>
            <a:pPr marL="0" indent="0">
              <a:buNone/>
            </a:pPr>
            <a:r>
              <a:rPr lang="en-US" sz="1800">
                <a:solidFill>
                  <a:schemeClr val="tx1"/>
                </a:solidFill>
                <a:latin typeface="Times New Roman"/>
                <a:cs typeface="Times New Roman"/>
              </a:rPr>
              <a:t>Problems:</a:t>
            </a:r>
          </a:p>
          <a:p>
            <a:pPr marL="342900" indent="-342900">
              <a:buAutoNum type="arabicPeriod"/>
            </a:pPr>
            <a:r>
              <a:rPr lang="en-US" sz="1800">
                <a:solidFill>
                  <a:schemeClr val="tx1"/>
                </a:solidFill>
                <a:latin typeface="Times New Roman"/>
                <a:cs typeface="Times New Roman"/>
              </a:rPr>
              <a:t>Some of the representatives from the other regions were not being truthful/compliant or didn’t want to share what they honestly thought about the whole project and EPM system</a:t>
            </a:r>
          </a:p>
          <a:p>
            <a:pPr marL="0" indent="0">
              <a:buNone/>
            </a:pPr>
            <a:endParaRPr lang="en-US" sz="1800">
              <a:solidFill>
                <a:schemeClr val="tx1"/>
              </a:solidFill>
              <a:latin typeface="Times New Roman" panose="02020603050405020304" pitchFamily="18" charset="0"/>
              <a:cs typeface="Times New Roman" panose="02020603050405020304" pitchFamily="18" charset="0"/>
            </a:endParaRPr>
          </a:p>
          <a:p>
            <a:pPr marL="0" indent="0">
              <a:buNone/>
            </a:pPr>
            <a:r>
              <a:rPr lang="en-US" sz="1800">
                <a:solidFill>
                  <a:schemeClr val="tx1"/>
                </a:solidFill>
                <a:latin typeface="Times New Roman"/>
                <a:cs typeface="Times New Roman"/>
              </a:rPr>
              <a:t>2. Each company was being selfish and was looking out more for themselves than the project as a whole in collaboration with the others. They were more willing to see the project fail because of a chance it might affect them positively more so than negatively. </a:t>
            </a:r>
          </a:p>
          <a:p>
            <a:pPr marL="0" indent="0">
              <a:buNone/>
            </a:pPr>
            <a:endParaRPr lang="en-US" sz="1800">
              <a:solidFill>
                <a:schemeClr val="tx1"/>
              </a:solidFill>
              <a:latin typeface="Times New Roman"/>
              <a:cs typeface="Times New Roman"/>
            </a:endParaRPr>
          </a:p>
          <a:p>
            <a:pPr marL="0" indent="0">
              <a:buNone/>
            </a:pPr>
            <a:r>
              <a:rPr lang="en-US" sz="1800">
                <a:solidFill>
                  <a:schemeClr val="tx1"/>
                </a:solidFill>
                <a:latin typeface="Times New Roman"/>
                <a:cs typeface="Times New Roman"/>
              </a:rPr>
              <a:t>3.  the new representatives were worried the new EPM system they had been introduced to would result in a shift of power and authority.</a:t>
            </a:r>
          </a:p>
          <a:p>
            <a:pPr marL="457200" lvl="1" indent="0">
              <a:buNone/>
            </a:pPr>
            <a:endParaRPr lang="en-US" sz="1800">
              <a:solidFill>
                <a:schemeClr val="tx1"/>
              </a:solidFill>
              <a:latin typeface="Times New Roman" panose="02020603050405020304" pitchFamily="18" charset="0"/>
              <a:cs typeface="Times New Roman" panose="02020603050405020304" pitchFamily="18" charset="0"/>
            </a:endParaRPr>
          </a:p>
          <a:p>
            <a:pPr marL="0" indent="0">
              <a:buNone/>
            </a:pPr>
            <a:r>
              <a:rPr lang="en-US" sz="1800">
                <a:solidFill>
                  <a:schemeClr val="tx1"/>
                </a:solidFill>
                <a:latin typeface="Times New Roman"/>
                <a:cs typeface="Times New Roman"/>
              </a:rPr>
              <a:t>4. Finally, Companies were unsure the new system/project would cause a change in their culture and their connections with others possibly reliant on them.</a:t>
            </a:r>
          </a:p>
        </p:txBody>
      </p:sp>
    </p:spTree>
    <p:extLst>
      <p:ext uri="{BB962C8B-B14F-4D97-AF65-F5344CB8AC3E}">
        <p14:creationId xmlns:p14="http://schemas.microsoft.com/office/powerpoint/2010/main" val="782090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E8E7-0332-4EF9-8D3B-5884E3E8C74B}"/>
              </a:ext>
            </a:extLst>
          </p:cNvPr>
          <p:cNvSpPr>
            <a:spLocks noGrp="1"/>
          </p:cNvSpPr>
          <p:nvPr>
            <p:ph type="title"/>
          </p:nvPr>
        </p:nvSpPr>
        <p:spPr/>
        <p:txBody>
          <a:bodyPr/>
          <a:lstStyle/>
          <a:p>
            <a:r>
              <a:rPr lang="en-US"/>
              <a:t>Evaluation</a:t>
            </a:r>
            <a:br>
              <a:rPr lang="en-US"/>
            </a:br>
            <a:r>
              <a:rPr lang="en-US" sz="1100"/>
              <a:t>Aidan Sposato</a:t>
            </a:r>
            <a:endParaRPr lang="en-US"/>
          </a:p>
        </p:txBody>
      </p:sp>
      <p:sp>
        <p:nvSpPr>
          <p:cNvPr id="3" name="Content Placeholder 2">
            <a:extLst>
              <a:ext uri="{FF2B5EF4-FFF2-40B4-BE49-F238E27FC236}">
                <a16:creationId xmlns:a16="http://schemas.microsoft.com/office/drawing/2014/main" id="{BBB0AC45-7D97-49A3-B4B2-3A74360770EE}"/>
              </a:ext>
            </a:extLst>
          </p:cNvPr>
          <p:cNvSpPr>
            <a:spLocks noGrp="1"/>
          </p:cNvSpPr>
          <p:nvPr>
            <p:ph idx="1"/>
          </p:nvPr>
        </p:nvSpPr>
        <p:spPr/>
        <p:txBody>
          <a:bodyPr vert="horz" lIns="91440" tIns="45720" rIns="91440" bIns="45720" rtlCol="0" anchor="t">
            <a:normAutofit/>
          </a:bodyPr>
          <a:lstStyle/>
          <a:p>
            <a:pPr>
              <a:buNone/>
            </a:pPr>
            <a:r>
              <a:rPr lang="en-US" sz="2200" b="1">
                <a:solidFill>
                  <a:srgbClr val="FFFFFF"/>
                </a:solidFill>
                <a:ea typeface="+mn-lt"/>
                <a:cs typeface="+mn-lt"/>
              </a:rPr>
              <a:t>Overall Goal:</a:t>
            </a:r>
            <a:endParaRPr lang="en-US" sz="2200" b="1">
              <a:solidFill>
                <a:srgbClr val="FFFFFF">
                  <a:alpha val="70000"/>
                </a:srgbClr>
              </a:solidFill>
              <a:ea typeface="+mn-lt"/>
              <a:cs typeface="+mn-lt"/>
            </a:endParaRPr>
          </a:p>
          <a:p>
            <a:pPr>
              <a:buNone/>
            </a:pPr>
            <a:r>
              <a:rPr lang="en-US" sz="2000">
                <a:solidFill>
                  <a:srgbClr val="FFFFFF"/>
                </a:solidFill>
                <a:ea typeface="+mn-lt"/>
                <a:cs typeface="+mn-lt"/>
              </a:rPr>
              <a:t>Establish an agreed upon Enterprise Project Management system/mentality </a:t>
            </a:r>
            <a:endParaRPr lang="en-US" sz="2000">
              <a:ea typeface="+mn-lt"/>
              <a:cs typeface="+mn-lt"/>
            </a:endParaRPr>
          </a:p>
          <a:p>
            <a:pPr marL="0" indent="0">
              <a:buNone/>
            </a:pPr>
            <a:r>
              <a:rPr lang="en-US" sz="2200" b="1">
                <a:solidFill>
                  <a:srgbClr val="FFFFFF"/>
                </a:solidFill>
              </a:rPr>
              <a:t>Overarching Problems: </a:t>
            </a:r>
          </a:p>
          <a:p>
            <a:r>
              <a:rPr lang="en-US" sz="2000">
                <a:solidFill>
                  <a:srgbClr val="FFFFFF"/>
                </a:solidFill>
              </a:rPr>
              <a:t>Acquired companies view Honicker as a supply of money, not their new owner</a:t>
            </a:r>
            <a:endParaRPr lang="en-US" sz="2000">
              <a:solidFill>
                <a:srgbClr val="FFFFFF">
                  <a:alpha val="70000"/>
                </a:srgbClr>
              </a:solidFill>
            </a:endParaRPr>
          </a:p>
          <a:p>
            <a:r>
              <a:rPr lang="en-US" sz="2000">
                <a:solidFill>
                  <a:srgbClr val="FFFFFF"/>
                </a:solidFill>
              </a:rPr>
              <a:t>The new companies are apprehensive about changing what has previously been working for them</a:t>
            </a:r>
          </a:p>
          <a:p>
            <a:r>
              <a:rPr lang="en-US" sz="2000">
                <a:solidFill>
                  <a:srgbClr val="FFFFFF"/>
                </a:solidFill>
              </a:rPr>
              <a:t>There is a significant lack of fundamental communication between the companies</a:t>
            </a:r>
            <a:endParaRPr lang="en-US" sz="2000">
              <a:solidFill>
                <a:srgbClr val="FFFFFF">
                  <a:alpha val="70000"/>
                </a:srgbClr>
              </a:solidFill>
            </a:endParaRPr>
          </a:p>
        </p:txBody>
      </p:sp>
    </p:spTree>
    <p:extLst>
      <p:ext uri="{BB962C8B-B14F-4D97-AF65-F5344CB8AC3E}">
        <p14:creationId xmlns:p14="http://schemas.microsoft.com/office/powerpoint/2010/main" val="542254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5549E-85A8-4830-B80E-C3E6B15F6D8C}"/>
              </a:ext>
            </a:extLst>
          </p:cNvPr>
          <p:cNvSpPr>
            <a:spLocks noGrp="1"/>
          </p:cNvSpPr>
          <p:nvPr>
            <p:ph type="title"/>
          </p:nvPr>
        </p:nvSpPr>
        <p:spPr/>
        <p:txBody>
          <a:bodyPr/>
          <a:lstStyle/>
          <a:p>
            <a:r>
              <a:rPr lang="en-US"/>
              <a:t>Solutions</a:t>
            </a:r>
            <a:br>
              <a:rPr lang="en-US"/>
            </a:br>
            <a:r>
              <a:rPr lang="en-US" sz="1100"/>
              <a:t>Greg Richard</a:t>
            </a:r>
            <a:endParaRPr lang="en-US"/>
          </a:p>
        </p:txBody>
      </p:sp>
      <p:sp>
        <p:nvSpPr>
          <p:cNvPr id="3" name="Content Placeholder 2">
            <a:extLst>
              <a:ext uri="{FF2B5EF4-FFF2-40B4-BE49-F238E27FC236}">
                <a16:creationId xmlns:a16="http://schemas.microsoft.com/office/drawing/2014/main" id="{0F3EA55A-6987-4722-A239-C2102787EBA0}"/>
              </a:ext>
            </a:extLst>
          </p:cNvPr>
          <p:cNvSpPr>
            <a:spLocks noGrp="1"/>
          </p:cNvSpPr>
          <p:nvPr>
            <p:ph idx="1"/>
          </p:nvPr>
        </p:nvSpPr>
        <p:spPr/>
        <p:txBody>
          <a:bodyPr vert="horz" lIns="91440" tIns="45720" rIns="91440" bIns="45720" rtlCol="0" anchor="t">
            <a:normAutofit fontScale="85000" lnSpcReduction="10000"/>
          </a:bodyPr>
          <a:lstStyle/>
          <a:p>
            <a:r>
              <a:rPr lang="en-US">
                <a:solidFill>
                  <a:srgbClr val="FFFFFF"/>
                </a:solidFill>
              </a:rPr>
              <a:t>Establish better lines of communication</a:t>
            </a:r>
          </a:p>
          <a:p>
            <a:r>
              <a:rPr lang="en-US">
                <a:solidFill>
                  <a:srgbClr val="FFFFFF"/>
                </a:solidFill>
              </a:rPr>
              <a:t>Send trusted, knowledgeable Honicker representatives to Gamma and Delta</a:t>
            </a:r>
            <a:endParaRPr lang="en-US">
              <a:solidFill>
                <a:srgbClr val="FFFFFF">
                  <a:alpha val="70000"/>
                </a:srgbClr>
              </a:solidFill>
            </a:endParaRPr>
          </a:p>
          <a:p>
            <a:pPr lvl="1"/>
            <a:r>
              <a:rPr lang="en-US">
                <a:solidFill>
                  <a:srgbClr val="FFFFFF"/>
                </a:solidFill>
              </a:rPr>
              <a:t>Get Gamma and Delta on the right track</a:t>
            </a:r>
          </a:p>
          <a:p>
            <a:pPr lvl="1"/>
            <a:r>
              <a:rPr lang="en-US">
                <a:solidFill>
                  <a:srgbClr val="FFFFFF"/>
                </a:solidFill>
              </a:rPr>
              <a:t>Educate them on Project Management</a:t>
            </a:r>
            <a:endParaRPr lang="en-US"/>
          </a:p>
          <a:p>
            <a:pPr lvl="1"/>
            <a:r>
              <a:rPr lang="en-US">
                <a:solidFill>
                  <a:srgbClr val="FFFFFF"/>
                </a:solidFill>
              </a:rPr>
              <a:t>"Boots on the ground" to ensure accountability and foster trust and cooperation</a:t>
            </a:r>
          </a:p>
          <a:p>
            <a:pPr lvl="1"/>
            <a:r>
              <a:rPr lang="en-US">
                <a:solidFill>
                  <a:srgbClr val="FFFFFF"/>
                </a:solidFill>
              </a:rPr>
              <a:t>Worth it to train existing management, or replace with management that has prior experience?</a:t>
            </a:r>
            <a:endParaRPr lang="en-US"/>
          </a:p>
          <a:p>
            <a:pPr lvl="1"/>
            <a:endParaRPr lang="en-US">
              <a:solidFill>
                <a:srgbClr val="FFFFFF">
                  <a:alpha val="70000"/>
                </a:srgbClr>
              </a:solidFill>
            </a:endParaRPr>
          </a:p>
        </p:txBody>
      </p:sp>
    </p:spTree>
    <p:extLst>
      <p:ext uri="{BB962C8B-B14F-4D97-AF65-F5344CB8AC3E}">
        <p14:creationId xmlns:p14="http://schemas.microsoft.com/office/powerpoint/2010/main" val="2723358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C6AF2-0C6B-4522-AFA6-20D87BB9E496}"/>
              </a:ext>
            </a:extLst>
          </p:cNvPr>
          <p:cNvSpPr>
            <a:spLocks noGrp="1"/>
          </p:cNvSpPr>
          <p:nvPr>
            <p:ph type="title"/>
          </p:nvPr>
        </p:nvSpPr>
        <p:spPr/>
        <p:txBody>
          <a:bodyPr/>
          <a:lstStyle/>
          <a:p>
            <a:r>
              <a:rPr lang="en-US"/>
              <a:t>Solutions Cont.</a:t>
            </a:r>
            <a:br>
              <a:rPr lang="en-US"/>
            </a:br>
            <a:r>
              <a:rPr lang="en-US" sz="1100"/>
              <a:t>Greg Richard</a:t>
            </a:r>
          </a:p>
        </p:txBody>
      </p:sp>
      <p:sp>
        <p:nvSpPr>
          <p:cNvPr id="3" name="Content Placeholder 2">
            <a:extLst>
              <a:ext uri="{FF2B5EF4-FFF2-40B4-BE49-F238E27FC236}">
                <a16:creationId xmlns:a16="http://schemas.microsoft.com/office/drawing/2014/main" id="{9D9A4900-2BA4-4D6C-8D9A-A56C440711F6}"/>
              </a:ext>
            </a:extLst>
          </p:cNvPr>
          <p:cNvSpPr>
            <a:spLocks noGrp="1"/>
          </p:cNvSpPr>
          <p:nvPr>
            <p:ph idx="1"/>
          </p:nvPr>
        </p:nvSpPr>
        <p:spPr/>
        <p:txBody>
          <a:bodyPr vert="horz" lIns="91440" tIns="45720" rIns="91440" bIns="45720" rtlCol="0" anchor="t">
            <a:normAutofit/>
          </a:bodyPr>
          <a:lstStyle/>
          <a:p>
            <a:r>
              <a:rPr lang="en-US">
                <a:solidFill>
                  <a:srgbClr val="FFFFFF"/>
                </a:solidFill>
              </a:rPr>
              <a:t>Send Honicker representatives to Alpha and Beta</a:t>
            </a:r>
          </a:p>
          <a:p>
            <a:pPr lvl="1"/>
            <a:r>
              <a:rPr lang="en-US">
                <a:solidFill>
                  <a:srgbClr val="FFFFFF"/>
                </a:solidFill>
              </a:rPr>
              <a:t>Instill trust in Alpha's and Beta's management and shareholders</a:t>
            </a:r>
            <a:endParaRPr lang="en-US">
              <a:solidFill>
                <a:srgbClr val="FFFFFF">
                  <a:alpha val="70000"/>
                </a:srgbClr>
              </a:solidFill>
            </a:endParaRPr>
          </a:p>
          <a:p>
            <a:pPr lvl="1"/>
            <a:r>
              <a:rPr lang="en-US">
                <a:solidFill>
                  <a:srgbClr val="FFFFFF"/>
                </a:solidFill>
                <a:ea typeface="+mn-lt"/>
                <a:cs typeface="+mn-lt"/>
              </a:rPr>
              <a:t>Study Alpha's EPM system</a:t>
            </a:r>
            <a:endParaRPr lang="en-US">
              <a:solidFill>
                <a:srgbClr val="FFFFFF"/>
              </a:solidFill>
            </a:endParaRPr>
          </a:p>
          <a:p>
            <a:pPr lvl="1"/>
            <a:r>
              <a:rPr lang="en-US">
                <a:solidFill>
                  <a:srgbClr val="FFFFFF"/>
                </a:solidFill>
              </a:rPr>
              <a:t>Keep an open mind about Alpha's system</a:t>
            </a:r>
          </a:p>
          <a:p>
            <a:pPr lvl="1"/>
            <a:r>
              <a:rPr lang="en-US">
                <a:solidFill>
                  <a:srgbClr val="FFFFFF"/>
                </a:solidFill>
              </a:rPr>
              <a:t>Adjust EPM if needed to get cooperation from Alpha</a:t>
            </a:r>
          </a:p>
          <a:p>
            <a:pPr lvl="1"/>
            <a:r>
              <a:rPr lang="en-US">
                <a:solidFill>
                  <a:srgbClr val="FFFFFF"/>
                </a:solidFill>
              </a:rPr>
              <a:t>Send reps to Beta to further teach about Project Management</a:t>
            </a:r>
          </a:p>
        </p:txBody>
      </p:sp>
    </p:spTree>
    <p:extLst>
      <p:ext uri="{BB962C8B-B14F-4D97-AF65-F5344CB8AC3E}">
        <p14:creationId xmlns:p14="http://schemas.microsoft.com/office/powerpoint/2010/main" val="1966858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2D3FB-8BD3-46B3-A663-2A6926B9DAA9}"/>
              </a:ext>
            </a:extLst>
          </p:cNvPr>
          <p:cNvSpPr>
            <a:spLocks noGrp="1"/>
          </p:cNvSpPr>
          <p:nvPr>
            <p:ph type="title"/>
          </p:nvPr>
        </p:nvSpPr>
        <p:spPr/>
        <p:txBody>
          <a:bodyPr/>
          <a:lstStyle/>
          <a:p>
            <a:r>
              <a:rPr lang="en-US">
                <a:ea typeface="+mj-lt"/>
                <a:cs typeface="+mj-lt"/>
              </a:rPr>
              <a:t>Solutions Cont.</a:t>
            </a:r>
            <a:br>
              <a:rPr lang="en-US">
                <a:ea typeface="+mj-lt"/>
                <a:cs typeface="+mj-lt"/>
              </a:rPr>
            </a:br>
            <a:r>
              <a:rPr lang="en-US" sz="1100">
                <a:ea typeface="+mj-lt"/>
                <a:cs typeface="+mj-lt"/>
              </a:rPr>
              <a:t>Greg Richard</a:t>
            </a:r>
          </a:p>
        </p:txBody>
      </p:sp>
      <p:sp>
        <p:nvSpPr>
          <p:cNvPr id="3" name="Content Placeholder 2">
            <a:extLst>
              <a:ext uri="{FF2B5EF4-FFF2-40B4-BE49-F238E27FC236}">
                <a16:creationId xmlns:a16="http://schemas.microsoft.com/office/drawing/2014/main" id="{8D77F81D-0DAC-4FA5-8962-DFA8FFA5B5D6}"/>
              </a:ext>
            </a:extLst>
          </p:cNvPr>
          <p:cNvSpPr>
            <a:spLocks noGrp="1"/>
          </p:cNvSpPr>
          <p:nvPr>
            <p:ph idx="1"/>
          </p:nvPr>
        </p:nvSpPr>
        <p:spPr/>
        <p:txBody>
          <a:bodyPr vert="horz" lIns="91440" tIns="45720" rIns="91440" bIns="45720" rtlCol="0" anchor="t">
            <a:normAutofit fontScale="92500" lnSpcReduction="20000"/>
          </a:bodyPr>
          <a:lstStyle/>
          <a:p>
            <a:r>
              <a:rPr lang="en-US">
                <a:solidFill>
                  <a:srgbClr val="FFFFFF"/>
                </a:solidFill>
              </a:rPr>
              <a:t>Most important part is establishing trust!</a:t>
            </a:r>
          </a:p>
          <a:p>
            <a:r>
              <a:rPr lang="en-US">
                <a:solidFill>
                  <a:srgbClr val="FFFFFF"/>
                </a:solidFill>
              </a:rPr>
              <a:t>Force each company to adapt their EPM system</a:t>
            </a:r>
          </a:p>
          <a:p>
            <a:pPr lvl="1"/>
            <a:r>
              <a:rPr lang="en-US">
                <a:solidFill>
                  <a:srgbClr val="FFFFFF"/>
                </a:solidFill>
                <a:ea typeface="+mn-lt"/>
                <a:cs typeface="+mn-lt"/>
              </a:rPr>
              <a:t>Adjust if required to satisfy the companies</a:t>
            </a:r>
          </a:p>
          <a:p>
            <a:pPr lvl="1"/>
            <a:r>
              <a:rPr lang="en-US">
                <a:solidFill>
                  <a:srgbClr val="FFFFFF"/>
                </a:solidFill>
                <a:ea typeface="+mn-lt"/>
                <a:cs typeface="+mn-lt"/>
              </a:rPr>
              <a:t>Replace Senior level management if necessary</a:t>
            </a:r>
            <a:endParaRPr lang="en-US">
              <a:solidFill>
                <a:srgbClr val="FFFFFF"/>
              </a:solidFill>
            </a:endParaRPr>
          </a:p>
          <a:p>
            <a:pPr lvl="1"/>
            <a:r>
              <a:rPr lang="en-US">
                <a:solidFill>
                  <a:srgbClr val="FFFFFF"/>
                </a:solidFill>
              </a:rPr>
              <a:t>Use as last resort</a:t>
            </a:r>
          </a:p>
          <a:p>
            <a:r>
              <a:rPr lang="en-US">
                <a:solidFill>
                  <a:srgbClr val="FFFFFF"/>
                </a:solidFill>
              </a:rPr>
              <a:t>Honicker must listen to each company's concerns and compromise where needed</a:t>
            </a:r>
          </a:p>
          <a:p>
            <a:r>
              <a:rPr lang="en-US">
                <a:solidFill>
                  <a:srgbClr val="FFFFFF"/>
                </a:solidFill>
              </a:rPr>
              <a:t>Set up education programs/training courses </a:t>
            </a:r>
            <a:endParaRPr lang="en-US"/>
          </a:p>
          <a:p>
            <a:pPr lvl="1"/>
            <a:endParaRPr lang="en-US">
              <a:solidFill>
                <a:srgbClr val="FFFFFF"/>
              </a:solidFill>
            </a:endParaRPr>
          </a:p>
          <a:p>
            <a:pPr marL="457200" lvl="1" indent="0">
              <a:buNone/>
            </a:pPr>
            <a:endParaRPr lang="en-US">
              <a:solidFill>
                <a:srgbClr val="FFFFFF"/>
              </a:solidFill>
            </a:endParaRPr>
          </a:p>
        </p:txBody>
      </p:sp>
    </p:spTree>
    <p:extLst>
      <p:ext uri="{BB962C8B-B14F-4D97-AF65-F5344CB8AC3E}">
        <p14:creationId xmlns:p14="http://schemas.microsoft.com/office/powerpoint/2010/main" val="324977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898A1-A38F-4891-BC88-2A6591B5C5EF}"/>
              </a:ext>
            </a:extLst>
          </p:cNvPr>
          <p:cNvSpPr>
            <a:spLocks noGrp="1"/>
          </p:cNvSpPr>
          <p:nvPr>
            <p:ph type="title"/>
          </p:nvPr>
        </p:nvSpPr>
        <p:spPr/>
        <p:txBody>
          <a:bodyPr/>
          <a:lstStyle/>
          <a:p>
            <a:r>
              <a:rPr lang="en-US"/>
              <a:t>Recommendations</a:t>
            </a:r>
            <a:br>
              <a:rPr lang="en-US"/>
            </a:br>
            <a:r>
              <a:rPr lang="en-US" sz="1200"/>
              <a:t>Forrest Donnellan </a:t>
            </a:r>
            <a:endParaRPr lang="en-US"/>
          </a:p>
        </p:txBody>
      </p:sp>
      <p:sp>
        <p:nvSpPr>
          <p:cNvPr id="3" name="Content Placeholder 2">
            <a:extLst>
              <a:ext uri="{FF2B5EF4-FFF2-40B4-BE49-F238E27FC236}">
                <a16:creationId xmlns:a16="http://schemas.microsoft.com/office/drawing/2014/main" id="{3F529169-5EC3-4B74-9890-CCE66043A998}"/>
              </a:ext>
            </a:extLst>
          </p:cNvPr>
          <p:cNvSpPr>
            <a:spLocks noGrp="1"/>
          </p:cNvSpPr>
          <p:nvPr>
            <p:ph idx="1"/>
          </p:nvPr>
        </p:nvSpPr>
        <p:spPr/>
        <p:txBody>
          <a:bodyPr vert="horz" lIns="91440" tIns="45720" rIns="91440" bIns="45720" rtlCol="0" anchor="t">
            <a:normAutofit/>
          </a:bodyPr>
          <a:lstStyle/>
          <a:p>
            <a:r>
              <a:rPr lang="en-US">
                <a:solidFill>
                  <a:srgbClr val="FFFFFF"/>
                </a:solidFill>
              </a:rPr>
              <a:t>The most desirable solutions for Honicker require acute attention to detail. Representatives must be:</a:t>
            </a:r>
          </a:p>
          <a:p>
            <a:pPr lvl="1"/>
            <a:r>
              <a:rPr lang="en-US">
                <a:solidFill>
                  <a:srgbClr val="FFFFFF"/>
                </a:solidFill>
              </a:rPr>
              <a:t>Experts in Honicker's EPM methodology </a:t>
            </a:r>
          </a:p>
          <a:p>
            <a:pPr lvl="1"/>
            <a:r>
              <a:rPr lang="en-US">
                <a:solidFill>
                  <a:srgbClr val="FFFFFF"/>
                </a:solidFill>
              </a:rPr>
              <a:t>Capable of conflict resolution on a corporate scale</a:t>
            </a:r>
            <a:endParaRPr lang="en-US"/>
          </a:p>
          <a:p>
            <a:pPr lvl="1"/>
            <a:r>
              <a:rPr lang="en-US">
                <a:solidFill>
                  <a:srgbClr val="FFFFFF"/>
                </a:solidFill>
              </a:rPr>
              <a:t>Involved in the management at Honicker Corp.</a:t>
            </a:r>
            <a:endParaRPr lang="en-US"/>
          </a:p>
          <a:p>
            <a:pPr lvl="2"/>
            <a:r>
              <a:rPr lang="en-US">
                <a:solidFill>
                  <a:srgbClr val="FFFFFF"/>
                </a:solidFill>
              </a:rPr>
              <a:t>Guarantees trustworthiness and investment into project</a:t>
            </a:r>
            <a:endParaRPr lang="en-US">
              <a:solidFill>
                <a:srgbClr val="FFFFFF">
                  <a:alpha val="70000"/>
                </a:srgbClr>
              </a:solidFill>
            </a:endParaRPr>
          </a:p>
          <a:p>
            <a:pPr lvl="1"/>
            <a:endParaRPr lang="en-US">
              <a:solidFill>
                <a:srgbClr val="FFFFFF">
                  <a:alpha val="70000"/>
                </a:srgbClr>
              </a:solidFill>
            </a:endParaRPr>
          </a:p>
        </p:txBody>
      </p:sp>
    </p:spTree>
    <p:extLst>
      <p:ext uri="{BB962C8B-B14F-4D97-AF65-F5344CB8AC3E}">
        <p14:creationId xmlns:p14="http://schemas.microsoft.com/office/powerpoint/2010/main" val="473472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CC252-B8D4-4C26-A5BD-409EC52F682B}"/>
              </a:ext>
            </a:extLst>
          </p:cNvPr>
          <p:cNvSpPr>
            <a:spLocks noGrp="1"/>
          </p:cNvSpPr>
          <p:nvPr>
            <p:ph type="title"/>
          </p:nvPr>
        </p:nvSpPr>
        <p:spPr/>
        <p:txBody>
          <a:bodyPr/>
          <a:lstStyle/>
          <a:p>
            <a:r>
              <a:rPr lang="en-US">
                <a:ea typeface="+mj-lt"/>
                <a:cs typeface="+mj-lt"/>
              </a:rPr>
              <a:t>Recommendations Cont.</a:t>
            </a:r>
            <a:br>
              <a:rPr lang="en-US">
                <a:ea typeface="+mj-lt"/>
                <a:cs typeface="+mj-lt"/>
              </a:rPr>
            </a:br>
            <a:r>
              <a:rPr lang="en-US" sz="1200"/>
              <a:t>Forrest Donnellan </a:t>
            </a:r>
            <a:endParaRPr lang="en-US">
              <a:ea typeface="+mj-lt"/>
              <a:cs typeface="+mj-lt"/>
            </a:endParaRPr>
          </a:p>
        </p:txBody>
      </p:sp>
      <p:sp>
        <p:nvSpPr>
          <p:cNvPr id="3" name="Content Placeholder 2">
            <a:extLst>
              <a:ext uri="{FF2B5EF4-FFF2-40B4-BE49-F238E27FC236}">
                <a16:creationId xmlns:a16="http://schemas.microsoft.com/office/drawing/2014/main" id="{39594B6F-C16C-4E80-A67D-B17F02428071}"/>
              </a:ext>
            </a:extLst>
          </p:cNvPr>
          <p:cNvSpPr>
            <a:spLocks noGrp="1"/>
          </p:cNvSpPr>
          <p:nvPr>
            <p:ph idx="1"/>
          </p:nvPr>
        </p:nvSpPr>
        <p:spPr/>
        <p:txBody>
          <a:bodyPr vert="horz" lIns="91440" tIns="45720" rIns="91440" bIns="45720" rtlCol="0" anchor="t">
            <a:normAutofit/>
          </a:bodyPr>
          <a:lstStyle/>
          <a:p>
            <a:r>
              <a:rPr lang="en-US">
                <a:solidFill>
                  <a:srgbClr val="FFFFFF"/>
                </a:solidFill>
              </a:rPr>
              <a:t>Essentials for Honicker</a:t>
            </a:r>
          </a:p>
          <a:p>
            <a:pPr lvl="1"/>
            <a:r>
              <a:rPr lang="en-US">
                <a:solidFill>
                  <a:srgbClr val="FFFFFF"/>
                </a:solidFill>
              </a:rPr>
              <a:t>Transparency (Inform all employees of the policies, relieve uncertainty)</a:t>
            </a:r>
          </a:p>
          <a:p>
            <a:pPr lvl="1"/>
            <a:r>
              <a:rPr lang="en-US">
                <a:solidFill>
                  <a:srgbClr val="FFFFFF"/>
                </a:solidFill>
              </a:rPr>
              <a:t>Sell the overall eventual success of Honicker + its subsidiaries</a:t>
            </a:r>
          </a:p>
          <a:p>
            <a:pPr lvl="1"/>
            <a:r>
              <a:rPr lang="en-US">
                <a:solidFill>
                  <a:srgbClr val="FFFFFF"/>
                </a:solidFill>
              </a:rPr>
              <a:t>Avoid alienation and animosity at all costs</a:t>
            </a:r>
          </a:p>
          <a:p>
            <a:pPr lvl="1"/>
            <a:r>
              <a:rPr lang="en-US">
                <a:solidFill>
                  <a:srgbClr val="FFFFFF"/>
                </a:solidFill>
              </a:rPr>
              <a:t>Recognize if and when success becomes futile</a:t>
            </a:r>
          </a:p>
          <a:p>
            <a:pPr lvl="1"/>
            <a:r>
              <a:rPr lang="en-US">
                <a:solidFill>
                  <a:srgbClr val="FFFFFF"/>
                </a:solidFill>
              </a:rPr>
              <a:t>Prepare confidential exit plans from each company to maximize profit and time saved in the event of contingency</a:t>
            </a:r>
            <a:endParaRPr lang="en-US"/>
          </a:p>
        </p:txBody>
      </p:sp>
    </p:spTree>
    <p:extLst>
      <p:ext uri="{BB962C8B-B14F-4D97-AF65-F5344CB8AC3E}">
        <p14:creationId xmlns:p14="http://schemas.microsoft.com/office/powerpoint/2010/main" val="1013533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F27F1-AA7C-4EF6-9D81-E381FD10B527}"/>
              </a:ext>
            </a:extLst>
          </p:cNvPr>
          <p:cNvSpPr>
            <a:spLocks noGrp="1"/>
          </p:cNvSpPr>
          <p:nvPr>
            <p:ph type="title"/>
          </p:nvPr>
        </p:nvSpPr>
        <p:spPr/>
        <p:txBody>
          <a:bodyPr/>
          <a:lstStyle/>
          <a:p>
            <a:r>
              <a:rPr lang="en-US"/>
              <a:t>Recommendations Cont.</a:t>
            </a:r>
            <a:br>
              <a:rPr lang="en-US"/>
            </a:br>
            <a:r>
              <a:rPr lang="en-US" sz="1200"/>
              <a:t>Forrest Donnellan </a:t>
            </a:r>
            <a:endParaRPr lang="en-US"/>
          </a:p>
        </p:txBody>
      </p:sp>
      <p:sp>
        <p:nvSpPr>
          <p:cNvPr id="3" name="Content Placeholder 2">
            <a:extLst>
              <a:ext uri="{FF2B5EF4-FFF2-40B4-BE49-F238E27FC236}">
                <a16:creationId xmlns:a16="http://schemas.microsoft.com/office/drawing/2014/main" id="{8BB71FFE-C01E-4953-806D-AAC3E36CB8CD}"/>
              </a:ext>
            </a:extLst>
          </p:cNvPr>
          <p:cNvSpPr>
            <a:spLocks noGrp="1"/>
          </p:cNvSpPr>
          <p:nvPr>
            <p:ph idx="1"/>
          </p:nvPr>
        </p:nvSpPr>
        <p:spPr>
          <a:xfrm>
            <a:off x="762000" y="2286000"/>
            <a:ext cx="10668000" cy="4184971"/>
          </a:xfrm>
        </p:spPr>
        <p:txBody>
          <a:bodyPr vert="horz" lIns="91440" tIns="45720" rIns="91440" bIns="45720" rtlCol="0" anchor="t">
            <a:normAutofit/>
          </a:bodyPr>
          <a:lstStyle/>
          <a:p>
            <a:r>
              <a:rPr lang="en-US">
                <a:solidFill>
                  <a:srgbClr val="FFFFFF"/>
                </a:solidFill>
              </a:rPr>
              <a:t>Honicker's overall success hinges on its ability to effectively cooperate with 4 unique entities simultaneously</a:t>
            </a:r>
          </a:p>
          <a:p>
            <a:r>
              <a:rPr lang="en-US">
                <a:solidFill>
                  <a:srgbClr val="FFFFFF"/>
                </a:solidFill>
              </a:rPr>
              <a:t>Honicker should prepare for 3 possible outcomes for each subsidiary:</a:t>
            </a:r>
          </a:p>
          <a:p>
            <a:pPr lvl="1"/>
            <a:r>
              <a:rPr lang="en-US">
                <a:solidFill>
                  <a:srgbClr val="FFFFFF"/>
                </a:solidFill>
              </a:rPr>
              <a:t>Cooperation (Embracing Honicker EPM with open arms)</a:t>
            </a:r>
          </a:p>
          <a:p>
            <a:pPr lvl="1"/>
            <a:r>
              <a:rPr lang="en-US">
                <a:solidFill>
                  <a:srgbClr val="FFFFFF"/>
                </a:solidFill>
              </a:rPr>
              <a:t>Resistance (Initial hesitation but eventual successful adoption)</a:t>
            </a:r>
          </a:p>
          <a:p>
            <a:pPr lvl="1"/>
            <a:r>
              <a:rPr lang="en-US">
                <a:solidFill>
                  <a:srgbClr val="FFFFFF"/>
                </a:solidFill>
              </a:rPr>
              <a:t>Separation (Prospect of success futile; subsidiary discarded)</a:t>
            </a:r>
          </a:p>
          <a:p>
            <a:pPr lvl="1"/>
            <a:endParaRPr lang="en-US">
              <a:solidFill>
                <a:srgbClr val="FFFFFF"/>
              </a:solidFill>
            </a:endParaRPr>
          </a:p>
          <a:p>
            <a:pPr lvl="1"/>
            <a:endParaRPr lang="en-US">
              <a:solidFill>
                <a:srgbClr val="FFFFFF"/>
              </a:solidFill>
            </a:endParaRPr>
          </a:p>
        </p:txBody>
      </p:sp>
    </p:spTree>
    <p:extLst>
      <p:ext uri="{BB962C8B-B14F-4D97-AF65-F5344CB8AC3E}">
        <p14:creationId xmlns:p14="http://schemas.microsoft.com/office/powerpoint/2010/main" val="635781439"/>
      </p:ext>
    </p:extLst>
  </p:cSld>
  <p:clrMapOvr>
    <a:masterClrMapping/>
  </p:clrMapOvr>
</p:sld>
</file>

<file path=ppt/theme/theme1.xml><?xml version="1.0" encoding="utf-8"?>
<a:theme xmlns:a="http://schemas.openxmlformats.org/drawingml/2006/main" name="PebbleVTI">
  <a:themeElements>
    <a:clrScheme name="AnalogousFromDarkSeedLeftStep">
      <a:dk1>
        <a:srgbClr val="000000"/>
      </a:dk1>
      <a:lt1>
        <a:srgbClr val="FFFFFF"/>
      </a:lt1>
      <a:dk2>
        <a:srgbClr val="301B27"/>
      </a:dk2>
      <a:lt2>
        <a:srgbClr val="F0F3F3"/>
      </a:lt2>
      <a:accent1>
        <a:srgbClr val="C34D5F"/>
      </a:accent1>
      <a:accent2>
        <a:srgbClr val="B13B7E"/>
      </a:accent2>
      <a:accent3>
        <a:srgbClr val="C34DC2"/>
      </a:accent3>
      <a:accent4>
        <a:srgbClr val="813BB1"/>
      </a:accent4>
      <a:accent5>
        <a:srgbClr val="624DC3"/>
      </a:accent5>
      <a:accent6>
        <a:srgbClr val="3B57B1"/>
      </a:accent6>
      <a:hlink>
        <a:srgbClr val="7C55C6"/>
      </a:hlink>
      <a:folHlink>
        <a:srgbClr val="7F7F7F"/>
      </a:folHlink>
    </a:clrScheme>
    <a:fontScheme name="Custom 4">
      <a:majorFont>
        <a:latin typeface="Sitka Subhead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792FF0C68DC24C98C732146B371191" ma:contentTypeVersion="5" ma:contentTypeDescription="Create a new document." ma:contentTypeScope="" ma:versionID="3503c3ff3bafe6e4048a49aa8981f050">
  <xsd:schema xmlns:xsd="http://www.w3.org/2001/XMLSchema" xmlns:xs="http://www.w3.org/2001/XMLSchema" xmlns:p="http://schemas.microsoft.com/office/2006/metadata/properties" xmlns:ns3="ddd3af58-c6e5-47e6-9c66-08c38ba776d1" targetNamespace="http://schemas.microsoft.com/office/2006/metadata/properties" ma:root="true" ma:fieldsID="f6ffc7310624060b13bdd1be0502b792" ns3:_="">
    <xsd:import namespace="ddd3af58-c6e5-47e6-9c66-08c38ba776d1"/>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d3af58-c6e5-47e6-9c66-08c38ba776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9B8C49-150A-42EB-B177-F4B43BD6F050}">
  <ds:schemaRefs>
    <ds:schemaRef ds:uri="ddd3af58-c6e5-47e6-9c66-08c38ba776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9EB4EE2-F6EC-4132-B98E-570BA48CD597}">
  <ds:schemaRefs>
    <ds:schemaRef ds:uri="http://schemas.microsoft.com/sharepoint/v3/contenttype/forms"/>
  </ds:schemaRefs>
</ds:datastoreItem>
</file>

<file path=customXml/itemProps3.xml><?xml version="1.0" encoding="utf-8"?>
<ds:datastoreItem xmlns:ds="http://schemas.openxmlformats.org/officeDocument/2006/customXml" ds:itemID="{24ADDD9F-0303-4CED-A708-0CE60CBC436C}">
  <ds:schemaRefs>
    <ds:schemaRef ds:uri="ddd3af58-c6e5-47e6-9c66-08c38ba776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5</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PebbleVTI</vt:lpstr>
      <vt:lpstr>Honicker Corporation</vt:lpstr>
      <vt:lpstr>Introduction Jacob Vaught Page 1</vt:lpstr>
      <vt:lpstr>Introduction  Jacob Vaught Page 2</vt:lpstr>
      <vt:lpstr>Introduction  Jacob Vaught Page 3</vt:lpstr>
      <vt:lpstr>PowerPoint Presentation</vt:lpstr>
      <vt:lpstr>Background Cont. Kyle Wagar</vt:lpstr>
      <vt:lpstr>Evaluation Aidan Sposato</vt:lpstr>
      <vt:lpstr>Solutions Greg Richard</vt:lpstr>
      <vt:lpstr>Solutions Cont. Greg Richard</vt:lpstr>
      <vt:lpstr>Solutions Cont. Greg Richard</vt:lpstr>
      <vt:lpstr>Recommendations Forrest Donnellan </vt:lpstr>
      <vt:lpstr>Recommendations Cont. Forrest Donnellan </vt:lpstr>
      <vt:lpstr>Recommendations Cont. Forrest Donnellan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Kyle Wagar</dc:creator>
  <cp:revision>2</cp:revision>
  <dcterms:created xsi:type="dcterms:W3CDTF">2021-09-06T19:20:46Z</dcterms:created>
  <dcterms:modified xsi:type="dcterms:W3CDTF">2022-04-03T15:34:59Z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0x01010097792FF0C68DC24C98C732146B371191</vt:lpwstr>
  </property>
</Properties>
</file>