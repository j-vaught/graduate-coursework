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2" r:id="rId7"/>
    <p:sldId id="261" r:id="rId8"/>
    <p:sldId id="267" r:id="rId9"/>
    <p:sldId id="268" r:id="rId10"/>
    <p:sldId id="263" r:id="rId11"/>
    <p:sldId id="269" r:id="rId12"/>
    <p:sldId id="270" r:id="rId13"/>
    <p:sldId id="264" r:id="rId14"/>
    <p:sldId id="265" r:id="rId15"/>
    <p:sldId id="266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44"/>
    <p:restoredTop sz="94710"/>
  </p:normalViewPr>
  <p:slideViewPr>
    <p:cSldViewPr snapToGrid="0">
      <p:cViewPr>
        <p:scale>
          <a:sx n="135" d="100"/>
          <a:sy n="135" d="100"/>
        </p:scale>
        <p:origin x="720" y="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9368D-1654-8376-D257-FCFA690973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F26841-47FA-DE5B-FBEC-E865E49CE8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19AAB8-AA31-3470-15BF-7B42570FC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39B57-B2B3-CD4C-9CE8-E369932B15C4}" type="datetimeFigureOut">
              <a:rPr lang="en-US" smtClean="0"/>
              <a:t>10/25/24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F2A794-9893-664A-D2AF-D9716587D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924761-2ED3-F186-F5FB-5FA74094C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CD1F2-D39F-D94E-8EDC-BEABFA6879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265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52B00-709C-C6EE-9DE9-977E1F1AF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82E94-03E1-F4F5-5DED-6D5C9EF1F9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E7D31-B618-B52F-CB94-B7A9FBE6F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39B57-B2B3-CD4C-9CE8-E369932B15C4}" type="datetimeFigureOut">
              <a:rPr lang="en-US" smtClean="0"/>
              <a:t>10/25/24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39B99-0EEF-255A-A40A-C6FD5EC96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C52D64-90C2-9F21-DF9A-A95D0ABC8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CD1F2-D39F-D94E-8EDC-BEABFA6879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490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F0C8F-0253-DADA-7196-8506FD085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A5DFBA-E8B4-2760-726A-293241766D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0CCF84-6BF8-2D1E-D8D3-E62FA9476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39B57-B2B3-CD4C-9CE8-E369932B15C4}" type="datetimeFigureOut">
              <a:rPr lang="en-US" smtClean="0"/>
              <a:t>10/25/24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7CE16D-542B-DCFC-A18B-0C3EBAB65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62B6FB-E410-B631-C600-E985BC72F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CD1F2-D39F-D94E-8EDC-BEABFA6879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850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2C9BB-A402-C1FB-880B-862D6C764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1A426-8BB7-4F44-A3B2-6705B83E16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A65DA4-D310-AA0C-CC5C-255FE15F7D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7B1940-936E-E64B-7F20-825A95768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39B57-B2B3-CD4C-9CE8-E369932B15C4}" type="datetimeFigureOut">
              <a:rPr lang="en-US" smtClean="0"/>
              <a:t>10/25/24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A798E0-34C1-DC3A-B662-538799001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F868DA-6E69-E3F0-B496-F787CF32C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CD1F2-D39F-D94E-8EDC-BEABFA6879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780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2A5BB-A29E-B6F9-5378-385F9B3FF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7872C2-F600-B618-8F27-29CF41E7D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40E85B-05FB-C91F-AE7D-6BF28DC8D2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F1A9FC-E778-16FF-7C4B-188C674C64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06FA1F-D882-5C76-78EA-CDC2989E98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C08540-3C27-E6FD-E0B5-06DC938E4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39B57-B2B3-CD4C-9CE8-E369932B15C4}" type="datetimeFigureOut">
              <a:rPr lang="en-US" smtClean="0"/>
              <a:t>10/25/24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B8FEF2-911D-D14B-D94F-396D4D7DD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2FFCA6-272E-890D-1707-10E61D205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CD1F2-D39F-D94E-8EDC-BEABFA6879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606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89141-E127-01EB-828C-1594CC389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35FC3E-E204-F1AC-463B-B667948CD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39B57-B2B3-CD4C-9CE8-E369932B15C4}" type="datetimeFigureOut">
              <a:rPr lang="en-US" smtClean="0"/>
              <a:t>10/25/24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9A2AFB-1A5C-512B-488E-6F068941F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5C3A15-A0A3-3D0A-39CD-D54EA6D5A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CD1F2-D39F-D94E-8EDC-BEABFA6879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238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DE79BD-22C2-FA1C-1112-A6CEE8A5B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39B57-B2B3-CD4C-9CE8-E369932B15C4}" type="datetimeFigureOut">
              <a:rPr lang="en-US" smtClean="0"/>
              <a:t>10/25/24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521609-88A1-EA5C-A48A-120747B17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6DE723-C2C5-B4CA-5479-182ECB3BA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CD1F2-D39F-D94E-8EDC-BEABFA6879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399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D9BEF-7D0C-3911-D65A-CC0015C85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4FD8B-DA40-491D-10A0-AFC9EE0912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4DFEC2-10CA-A96C-3537-F009018E89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0CF09-26AF-87FB-A12B-D9F82372C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39B57-B2B3-CD4C-9CE8-E369932B15C4}" type="datetimeFigureOut">
              <a:rPr lang="en-US" smtClean="0"/>
              <a:t>10/25/24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C1E11A-BFB4-9AAE-50E0-EAF79E15E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010960-9E86-3D81-C4A5-E37A3FE8C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CD1F2-D39F-D94E-8EDC-BEABFA6879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587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89A6F-6C32-8E77-A482-BBF9684D3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0C1853-8081-F01B-7085-BE24B936A1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5AD2F9-33F2-9576-70FA-2432A66E0E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54D9FC-3E21-1EC3-C82C-1BA1029A4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39B57-B2B3-CD4C-9CE8-E369932B15C4}" type="datetimeFigureOut">
              <a:rPr lang="en-US" smtClean="0"/>
              <a:t>10/25/24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2373E0-A53A-8EB7-D9CA-5659538BD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685445-55A4-C13B-630D-77F650B0F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CD1F2-D39F-D94E-8EDC-BEABFA6879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276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F2208-274C-1744-9246-17DD1FA85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3D3C38-08C0-BB0A-35F5-1887AD1A84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384B50-F14F-BEF0-ABDA-5140941DB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39B57-B2B3-CD4C-9CE8-E369932B15C4}" type="datetimeFigureOut">
              <a:rPr lang="en-US" smtClean="0"/>
              <a:t>10/25/24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C31639-549E-2B1C-1F5F-29DFE1223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BE1D0A-A027-4F4D-A526-8B8B9D7FF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CD1F2-D39F-D94E-8EDC-BEABFA6879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168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FBD262-EAC4-E64D-F118-5C8EE329BE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1AA36E-DC63-6F53-79EF-5918CBCF3D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626AFF-1735-E6EC-BDF4-864BE558C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39B57-B2B3-CD4C-9CE8-E369932B15C4}" type="datetimeFigureOut">
              <a:rPr lang="en-US" smtClean="0"/>
              <a:t>10/25/24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699E98-2561-70BD-636E-3F47FAE5E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45E621-9789-77EA-6FD8-17B1F6EF2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CD1F2-D39F-D94E-8EDC-BEABFA6879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193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99CB82-4F5E-58D8-13A6-948EAE36A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40C785-F5DF-6B82-A5B1-3A67575C04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3C5B6-2E16-6775-84EE-1EF675E399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F39B57-B2B3-CD4C-9CE8-E369932B15C4}" type="datetimeFigureOut">
              <a:rPr lang="en-US" smtClean="0"/>
              <a:t>10/25/24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460A5A-FDCB-AA19-5DF0-42FAB6EC3F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8DB49E-0D95-6D54-91FB-1F1F361537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ECD1F2-D39F-D94E-8EDC-BEABFA6879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725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8E11B30-C667-9CFD-C5D7-63A01A78D5CA}"/>
              </a:ext>
            </a:extLst>
          </p:cNvPr>
          <p:cNvCxnSpPr>
            <a:cxnSpLocks/>
          </p:cNvCxnSpPr>
          <p:nvPr/>
        </p:nvCxnSpPr>
        <p:spPr>
          <a:xfrm>
            <a:off x="1043873" y="5964964"/>
            <a:ext cx="10999288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67BC904F-9BFB-DD80-44E8-4AF54FD1B662}"/>
              </a:ext>
            </a:extLst>
          </p:cNvPr>
          <p:cNvSpPr/>
          <p:nvPr/>
        </p:nvSpPr>
        <p:spPr>
          <a:xfrm>
            <a:off x="1162228" y="4036896"/>
            <a:ext cx="1837346" cy="677102"/>
          </a:xfrm>
          <a:prstGeom prst="ellips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D28861-050D-E096-69F7-306AE7C87352}"/>
              </a:ext>
            </a:extLst>
          </p:cNvPr>
          <p:cNvSpPr/>
          <p:nvPr/>
        </p:nvSpPr>
        <p:spPr>
          <a:xfrm>
            <a:off x="1162228" y="1956988"/>
            <a:ext cx="1837346" cy="2418459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F1C53F1-0F7E-D05A-CD20-B49AD5E5795C}"/>
              </a:ext>
            </a:extLst>
          </p:cNvPr>
          <p:cNvSpPr/>
          <p:nvPr/>
        </p:nvSpPr>
        <p:spPr>
          <a:xfrm>
            <a:off x="1162228" y="1618437"/>
            <a:ext cx="1837346" cy="677102"/>
          </a:xfrm>
          <a:prstGeom prst="ellips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F81260B-8084-9958-F560-1AB2B81A1E45}"/>
              </a:ext>
            </a:extLst>
          </p:cNvPr>
          <p:cNvCxnSpPr>
            <a:stCxn id="9" idx="6"/>
          </p:cNvCxnSpPr>
          <p:nvPr/>
        </p:nvCxnSpPr>
        <p:spPr>
          <a:xfrm>
            <a:off x="2999574" y="1956988"/>
            <a:ext cx="531026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3AD71B0-3A05-DA94-7CEE-092149BD8228}"/>
              </a:ext>
            </a:extLst>
          </p:cNvPr>
          <p:cNvCxnSpPr>
            <a:cxnSpLocks/>
          </p:cNvCxnSpPr>
          <p:nvPr/>
        </p:nvCxnSpPr>
        <p:spPr>
          <a:xfrm flipV="1">
            <a:off x="2988061" y="4371027"/>
            <a:ext cx="542539" cy="442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0908DA5-51D1-C4DA-432A-EDE807E07BEE}"/>
              </a:ext>
            </a:extLst>
          </p:cNvPr>
          <p:cNvCxnSpPr>
            <a:cxnSpLocks/>
          </p:cNvCxnSpPr>
          <p:nvPr/>
        </p:nvCxnSpPr>
        <p:spPr>
          <a:xfrm>
            <a:off x="3431599" y="1956988"/>
            <a:ext cx="0" cy="2418459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35ED555-91AB-7632-0011-7CCAC8FAAF72}"/>
              </a:ext>
            </a:extLst>
          </p:cNvPr>
          <p:cNvSpPr txBox="1"/>
          <p:nvPr/>
        </p:nvSpPr>
        <p:spPr>
          <a:xfrm>
            <a:off x="2988061" y="2982401"/>
            <a:ext cx="500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 ft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F61F5B7-4A3B-BA89-A4E3-C6BE7F51B1A1}"/>
              </a:ext>
            </a:extLst>
          </p:cNvPr>
          <p:cNvSpPr txBox="1"/>
          <p:nvPr/>
        </p:nvSpPr>
        <p:spPr>
          <a:xfrm>
            <a:off x="7657827" y="5973805"/>
            <a:ext cx="2878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Garden (assume flat plane)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3722801-C834-F7C6-5242-A0C216DFFB31}"/>
              </a:ext>
            </a:extLst>
          </p:cNvPr>
          <p:cNvCxnSpPr>
            <a:cxnSpLocks/>
          </p:cNvCxnSpPr>
          <p:nvPr/>
        </p:nvCxnSpPr>
        <p:spPr>
          <a:xfrm>
            <a:off x="813907" y="4371027"/>
            <a:ext cx="0" cy="1589517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E871DD9-48A9-D686-54CF-AC6262D31ED5}"/>
              </a:ext>
            </a:extLst>
          </p:cNvPr>
          <p:cNvCxnSpPr>
            <a:cxnSpLocks/>
          </p:cNvCxnSpPr>
          <p:nvPr/>
        </p:nvCxnSpPr>
        <p:spPr>
          <a:xfrm flipV="1">
            <a:off x="411896" y="5964964"/>
            <a:ext cx="620059" cy="8841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24920ED-66EE-B251-5323-9D20BF3DB2FC}"/>
              </a:ext>
            </a:extLst>
          </p:cNvPr>
          <p:cNvSpPr txBox="1"/>
          <p:nvPr/>
        </p:nvSpPr>
        <p:spPr>
          <a:xfrm>
            <a:off x="335484" y="4981119"/>
            <a:ext cx="500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 ft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1B67BA3-6C21-EC76-A2E2-48DB6EBE5473}"/>
              </a:ext>
            </a:extLst>
          </p:cNvPr>
          <p:cNvSpPr txBox="1"/>
          <p:nvPr/>
        </p:nvSpPr>
        <p:spPr>
          <a:xfrm>
            <a:off x="790097" y="4954761"/>
            <a:ext cx="128482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Height between tank and garden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5783B3F-EAA1-DFBC-91A4-271210CE99E7}"/>
              </a:ext>
            </a:extLst>
          </p:cNvPr>
          <p:cNvSpPr txBox="1"/>
          <p:nvPr/>
        </p:nvSpPr>
        <p:spPr>
          <a:xfrm>
            <a:off x="3431599" y="3035412"/>
            <a:ext cx="12848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Height of tank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BA2CDDA-A4FD-E909-E437-325E213C85A2}"/>
              </a:ext>
            </a:extLst>
          </p:cNvPr>
          <p:cNvCxnSpPr>
            <a:cxnSpLocks/>
            <a:endCxn id="8" idx="2"/>
          </p:cNvCxnSpPr>
          <p:nvPr/>
        </p:nvCxnSpPr>
        <p:spPr>
          <a:xfrm>
            <a:off x="515255" y="4375447"/>
            <a:ext cx="646973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876568B5-4AAE-7E35-CD15-EC6096A07AF7}"/>
              </a:ext>
            </a:extLst>
          </p:cNvPr>
          <p:cNvSpPr/>
          <p:nvPr/>
        </p:nvSpPr>
        <p:spPr>
          <a:xfrm>
            <a:off x="2008883" y="4525379"/>
            <a:ext cx="132080" cy="12869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089E7864-64DA-4BFD-D6D6-BE1328DAC62B}"/>
              </a:ext>
            </a:extLst>
          </p:cNvPr>
          <p:cNvSpPr/>
          <p:nvPr/>
        </p:nvSpPr>
        <p:spPr>
          <a:xfrm>
            <a:off x="2046760" y="4561136"/>
            <a:ext cx="56326" cy="57178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24F6455E-EF88-A6CB-ADDA-A8B7E3E58419}"/>
              </a:ext>
            </a:extLst>
          </p:cNvPr>
          <p:cNvSpPr/>
          <p:nvPr/>
        </p:nvSpPr>
        <p:spPr>
          <a:xfrm>
            <a:off x="2080152" y="4585001"/>
            <a:ext cx="3804944" cy="1313096"/>
          </a:xfrm>
          <a:custGeom>
            <a:avLst/>
            <a:gdLst>
              <a:gd name="connsiteX0" fmla="*/ 0 w 3804944"/>
              <a:gd name="connsiteY0" fmla="*/ 0 h 1313096"/>
              <a:gd name="connsiteX1" fmla="*/ 1391101 w 3804944"/>
              <a:gd name="connsiteY1" fmla="*/ 871063 h 1313096"/>
              <a:gd name="connsiteX2" fmla="*/ 2201493 w 3804944"/>
              <a:gd name="connsiteY2" fmla="*/ 177680 h 1313096"/>
              <a:gd name="connsiteX3" fmla="*/ 2799537 w 3804944"/>
              <a:gd name="connsiteY3" fmla="*/ 1139750 h 1313096"/>
              <a:gd name="connsiteX4" fmla="*/ 3804944 w 3804944"/>
              <a:gd name="connsiteY4" fmla="*/ 1313096 h 1313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04944" h="1313096">
                <a:moveTo>
                  <a:pt x="0" y="0"/>
                </a:moveTo>
                <a:cubicBezTo>
                  <a:pt x="512093" y="420725"/>
                  <a:pt x="1024186" y="841450"/>
                  <a:pt x="1391101" y="871063"/>
                </a:cubicBezTo>
                <a:cubicBezTo>
                  <a:pt x="1758016" y="900676"/>
                  <a:pt x="1966754" y="132899"/>
                  <a:pt x="2201493" y="177680"/>
                </a:cubicBezTo>
                <a:cubicBezTo>
                  <a:pt x="2436232" y="222461"/>
                  <a:pt x="2532295" y="950514"/>
                  <a:pt x="2799537" y="1139750"/>
                </a:cubicBezTo>
                <a:cubicBezTo>
                  <a:pt x="3066779" y="1328986"/>
                  <a:pt x="3588984" y="1279149"/>
                  <a:pt x="3804944" y="1313096"/>
                </a:cubicBezTo>
              </a:path>
            </a:pathLst>
          </a:custGeom>
          <a:ln w="38100">
            <a:solidFill>
              <a:schemeClr val="accent2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EC55866-0BD7-39BB-AACD-6D232038D516}"/>
              </a:ext>
            </a:extLst>
          </p:cNvPr>
          <p:cNvCxnSpPr>
            <a:cxnSpLocks/>
          </p:cNvCxnSpPr>
          <p:nvPr/>
        </p:nvCxnSpPr>
        <p:spPr>
          <a:xfrm>
            <a:off x="5862871" y="5922444"/>
            <a:ext cx="1026879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C6B156E-F76D-FAEE-7918-4F3B4B3B51E3}"/>
              </a:ext>
            </a:extLst>
          </p:cNvPr>
          <p:cNvCxnSpPr>
            <a:cxnSpLocks/>
            <a:stCxn id="40" idx="2"/>
          </p:cNvCxnSpPr>
          <p:nvPr/>
        </p:nvCxnSpPr>
        <p:spPr>
          <a:xfrm flipV="1">
            <a:off x="4281645" y="4036896"/>
            <a:ext cx="512939" cy="725785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396E8AB5-C55E-4D9C-5084-3761D976D773}"/>
              </a:ext>
            </a:extLst>
          </p:cNvPr>
          <p:cNvSpPr txBox="1"/>
          <p:nvPr/>
        </p:nvSpPr>
        <p:spPr>
          <a:xfrm>
            <a:off x="4713671" y="3902928"/>
            <a:ext cx="20951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¾” Garden Hose</a:t>
            </a:r>
          </a:p>
        </p:txBody>
      </p:sp>
      <p:sp>
        <p:nvSpPr>
          <p:cNvPr id="48" name="Title 47">
            <a:extLst>
              <a:ext uri="{FF2B5EF4-FFF2-40B4-BE49-F238E27FC236}">
                <a16:creationId xmlns:a16="http://schemas.microsoft.com/office/drawing/2014/main" id="{A1E567E4-A430-FAD6-80BB-E6CE1797D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40036"/>
          </a:xfrm>
        </p:spPr>
        <p:txBody>
          <a:bodyPr/>
          <a:lstStyle/>
          <a:p>
            <a:r>
              <a:rPr lang="en-US" dirty="0"/>
              <a:t>Current System</a:t>
            </a:r>
          </a:p>
        </p:txBody>
      </p:sp>
      <p:sp>
        <p:nvSpPr>
          <p:cNvPr id="49" name="Content Placeholder 48">
            <a:extLst>
              <a:ext uri="{FF2B5EF4-FFF2-40B4-BE49-F238E27FC236}">
                <a16:creationId xmlns:a16="http://schemas.microsoft.com/office/drawing/2014/main" id="{61D6EC36-0853-9868-0783-06C193E966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0928" y="545360"/>
            <a:ext cx="3981331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Notes</a:t>
            </a:r>
          </a:p>
          <a:p>
            <a:pPr>
              <a:buFontTx/>
              <a:buChar char="-"/>
            </a:pPr>
            <a:r>
              <a:rPr lang="en-US" dirty="0"/>
              <a:t>Maximum pressure is 4 psi before pipe losses</a:t>
            </a:r>
          </a:p>
          <a:p>
            <a:pPr>
              <a:buFontTx/>
              <a:buChar char="-"/>
            </a:pPr>
            <a:r>
              <a:rPr lang="en-US" dirty="0"/>
              <a:t>Flow rate was measured at 2.2 GPM</a:t>
            </a:r>
          </a:p>
          <a:p>
            <a:pPr>
              <a:buFontTx/>
              <a:buChar char="-"/>
            </a:pPr>
            <a:r>
              <a:rPr lang="en-US" dirty="0"/>
              <a:t>Water does not flow from tank to garden effectively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513E2B64-6449-875C-4BF7-2C8FE64692C0}"/>
              </a:ext>
            </a:extLst>
          </p:cNvPr>
          <p:cNvCxnSpPr>
            <a:cxnSpLocks/>
          </p:cNvCxnSpPr>
          <p:nvPr/>
        </p:nvCxnSpPr>
        <p:spPr>
          <a:xfrm flipH="1" flipV="1">
            <a:off x="956248" y="3297022"/>
            <a:ext cx="1094746" cy="1273528"/>
          </a:xfrm>
          <a:prstGeom prst="line">
            <a:avLst/>
          </a:prstGeom>
          <a:ln>
            <a:solidFill>
              <a:schemeClr val="accent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32598037-4282-5C47-DCCD-7450C5363EC4}"/>
              </a:ext>
            </a:extLst>
          </p:cNvPr>
          <p:cNvSpPr txBox="1"/>
          <p:nvPr/>
        </p:nvSpPr>
        <p:spPr>
          <a:xfrm>
            <a:off x="515255" y="3082534"/>
            <a:ext cx="44787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3.03 PSI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09EFCC6-BAD4-3938-B185-ED0FB8C8A2DD}"/>
              </a:ext>
            </a:extLst>
          </p:cNvPr>
          <p:cNvCxnSpPr>
            <a:cxnSpLocks/>
            <a:stCxn id="40" idx="4"/>
            <a:endCxn id="56" idx="2"/>
          </p:cNvCxnSpPr>
          <p:nvPr/>
        </p:nvCxnSpPr>
        <p:spPr>
          <a:xfrm flipV="1">
            <a:off x="5885096" y="5208676"/>
            <a:ext cx="589059" cy="689421"/>
          </a:xfrm>
          <a:prstGeom prst="line">
            <a:avLst/>
          </a:prstGeom>
          <a:ln>
            <a:solidFill>
              <a:schemeClr val="accent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70687712-6A1B-8D06-BCCF-5830CC1032A1}"/>
              </a:ext>
            </a:extLst>
          </p:cNvPr>
          <p:cNvSpPr txBox="1"/>
          <p:nvPr/>
        </p:nvSpPr>
        <p:spPr>
          <a:xfrm>
            <a:off x="5887110" y="4947066"/>
            <a:ext cx="117409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2.2 GPM, ~0 psi</a:t>
            </a:r>
          </a:p>
        </p:txBody>
      </p:sp>
    </p:spTree>
    <p:extLst>
      <p:ext uri="{BB962C8B-B14F-4D97-AF65-F5344CB8AC3E}">
        <p14:creationId xmlns:p14="http://schemas.microsoft.com/office/powerpoint/2010/main" val="3513882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CAF9A-9664-7F5D-1F32-F9803598F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riangle 13">
            <a:extLst>
              <a:ext uri="{FF2B5EF4-FFF2-40B4-BE49-F238E27FC236}">
                <a16:creationId xmlns:a16="http://schemas.microsoft.com/office/drawing/2014/main" id="{DD9B0C40-D50A-695B-54E6-175A65BCA89B}"/>
              </a:ext>
            </a:extLst>
          </p:cNvPr>
          <p:cNvSpPr/>
          <p:nvPr/>
        </p:nvSpPr>
        <p:spPr>
          <a:xfrm>
            <a:off x="3102719" y="5368147"/>
            <a:ext cx="385544" cy="516531"/>
          </a:xfrm>
          <a:custGeom>
            <a:avLst/>
            <a:gdLst>
              <a:gd name="connsiteX0" fmla="*/ 0 w 385544"/>
              <a:gd name="connsiteY0" fmla="*/ 516531 h 516531"/>
              <a:gd name="connsiteX1" fmla="*/ 192772 w 385544"/>
              <a:gd name="connsiteY1" fmla="*/ 0 h 516531"/>
              <a:gd name="connsiteX2" fmla="*/ 385544 w 385544"/>
              <a:gd name="connsiteY2" fmla="*/ 516531 h 516531"/>
              <a:gd name="connsiteX3" fmla="*/ 0 w 385544"/>
              <a:gd name="connsiteY3" fmla="*/ 516531 h 516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544" h="516531" fill="none" extrusionOk="0">
                <a:moveTo>
                  <a:pt x="0" y="516531"/>
                </a:moveTo>
                <a:cubicBezTo>
                  <a:pt x="2792" y="388778"/>
                  <a:pt x="158078" y="254287"/>
                  <a:pt x="192772" y="0"/>
                </a:cubicBezTo>
                <a:cubicBezTo>
                  <a:pt x="284600" y="166386"/>
                  <a:pt x="298786" y="368680"/>
                  <a:pt x="385544" y="516531"/>
                </a:cubicBezTo>
                <a:cubicBezTo>
                  <a:pt x="244705" y="524223"/>
                  <a:pt x="172335" y="486899"/>
                  <a:pt x="0" y="516531"/>
                </a:cubicBezTo>
                <a:close/>
              </a:path>
              <a:path w="385544" h="516531" stroke="0" extrusionOk="0">
                <a:moveTo>
                  <a:pt x="0" y="516531"/>
                </a:moveTo>
                <a:cubicBezTo>
                  <a:pt x="26051" y="264124"/>
                  <a:pt x="162212" y="207102"/>
                  <a:pt x="192772" y="0"/>
                </a:cubicBezTo>
                <a:cubicBezTo>
                  <a:pt x="305376" y="118208"/>
                  <a:pt x="248979" y="280772"/>
                  <a:pt x="385544" y="516531"/>
                </a:cubicBezTo>
                <a:cubicBezTo>
                  <a:pt x="232105" y="537699"/>
                  <a:pt x="144065" y="479388"/>
                  <a:pt x="0" y="516531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219033472">
                  <a:prstGeom prst="triangl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D8087AA-E9B7-D0CF-1545-D7DD071A63D3}"/>
              </a:ext>
            </a:extLst>
          </p:cNvPr>
          <p:cNvCxnSpPr>
            <a:cxnSpLocks/>
          </p:cNvCxnSpPr>
          <p:nvPr/>
        </p:nvCxnSpPr>
        <p:spPr>
          <a:xfrm>
            <a:off x="1043873" y="5964964"/>
            <a:ext cx="10999288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F3069761-ABDC-CEE5-6AD8-85992ECCFA1D}"/>
              </a:ext>
            </a:extLst>
          </p:cNvPr>
          <p:cNvSpPr/>
          <p:nvPr/>
        </p:nvSpPr>
        <p:spPr>
          <a:xfrm>
            <a:off x="1162228" y="4036896"/>
            <a:ext cx="1837346" cy="677102"/>
          </a:xfrm>
          <a:prstGeom prst="ellips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35F314-509A-B10D-586F-4718C1CE6C70}"/>
              </a:ext>
            </a:extLst>
          </p:cNvPr>
          <p:cNvSpPr/>
          <p:nvPr/>
        </p:nvSpPr>
        <p:spPr>
          <a:xfrm>
            <a:off x="1162228" y="1956988"/>
            <a:ext cx="1837346" cy="2418459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5953E0E-7290-905D-3ADA-66BB8BA6EBE8}"/>
              </a:ext>
            </a:extLst>
          </p:cNvPr>
          <p:cNvSpPr/>
          <p:nvPr/>
        </p:nvSpPr>
        <p:spPr>
          <a:xfrm>
            <a:off x="1162228" y="1618437"/>
            <a:ext cx="1837346" cy="677102"/>
          </a:xfrm>
          <a:prstGeom prst="ellips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4D27F7B-6315-6D59-13E1-0732FB3712D9}"/>
              </a:ext>
            </a:extLst>
          </p:cNvPr>
          <p:cNvCxnSpPr>
            <a:stCxn id="9" idx="6"/>
          </p:cNvCxnSpPr>
          <p:nvPr/>
        </p:nvCxnSpPr>
        <p:spPr>
          <a:xfrm>
            <a:off x="2999574" y="1956988"/>
            <a:ext cx="531026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C32797E-D213-F145-DAD4-A08C60F3825C}"/>
              </a:ext>
            </a:extLst>
          </p:cNvPr>
          <p:cNvCxnSpPr>
            <a:cxnSpLocks/>
          </p:cNvCxnSpPr>
          <p:nvPr/>
        </p:nvCxnSpPr>
        <p:spPr>
          <a:xfrm flipV="1">
            <a:off x="2988061" y="4371027"/>
            <a:ext cx="542539" cy="442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64A347F-9F3F-599A-66E9-38B48EA0A354}"/>
              </a:ext>
            </a:extLst>
          </p:cNvPr>
          <p:cNvCxnSpPr>
            <a:cxnSpLocks/>
          </p:cNvCxnSpPr>
          <p:nvPr/>
        </p:nvCxnSpPr>
        <p:spPr>
          <a:xfrm>
            <a:off x="3431599" y="1956988"/>
            <a:ext cx="0" cy="2418459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771C6FC-5350-D07E-0030-12D4D8394947}"/>
              </a:ext>
            </a:extLst>
          </p:cNvPr>
          <p:cNvSpPr txBox="1"/>
          <p:nvPr/>
        </p:nvSpPr>
        <p:spPr>
          <a:xfrm>
            <a:off x="2988061" y="2982401"/>
            <a:ext cx="500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 ft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354AE6C-EA42-9115-9CDA-BEF2FA1F809C}"/>
              </a:ext>
            </a:extLst>
          </p:cNvPr>
          <p:cNvSpPr txBox="1"/>
          <p:nvPr/>
        </p:nvSpPr>
        <p:spPr>
          <a:xfrm>
            <a:off x="7657827" y="5973805"/>
            <a:ext cx="2878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Garden (assume flat plane)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F18815F-CC9D-441D-07A8-1F894C6330EE}"/>
              </a:ext>
            </a:extLst>
          </p:cNvPr>
          <p:cNvCxnSpPr>
            <a:cxnSpLocks/>
          </p:cNvCxnSpPr>
          <p:nvPr/>
        </p:nvCxnSpPr>
        <p:spPr>
          <a:xfrm>
            <a:off x="813907" y="4371027"/>
            <a:ext cx="0" cy="1589517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8D59F4C-84A9-B0BE-7B8B-E25578D6F370}"/>
              </a:ext>
            </a:extLst>
          </p:cNvPr>
          <p:cNvCxnSpPr>
            <a:cxnSpLocks/>
          </p:cNvCxnSpPr>
          <p:nvPr/>
        </p:nvCxnSpPr>
        <p:spPr>
          <a:xfrm flipV="1">
            <a:off x="411896" y="5964964"/>
            <a:ext cx="620059" cy="8841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5057761-7702-EE62-2627-28C43B24025B}"/>
              </a:ext>
            </a:extLst>
          </p:cNvPr>
          <p:cNvSpPr txBox="1"/>
          <p:nvPr/>
        </p:nvSpPr>
        <p:spPr>
          <a:xfrm>
            <a:off x="335484" y="4981119"/>
            <a:ext cx="500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 ft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793AFCB-C67F-C225-A018-5C5B5BBD8FCC}"/>
              </a:ext>
            </a:extLst>
          </p:cNvPr>
          <p:cNvSpPr txBox="1"/>
          <p:nvPr/>
        </p:nvSpPr>
        <p:spPr>
          <a:xfrm>
            <a:off x="790097" y="4954761"/>
            <a:ext cx="128482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Height between tank and garden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A91188D-E650-F9F9-F25C-D3C6F3D1CFF9}"/>
              </a:ext>
            </a:extLst>
          </p:cNvPr>
          <p:cNvSpPr txBox="1"/>
          <p:nvPr/>
        </p:nvSpPr>
        <p:spPr>
          <a:xfrm>
            <a:off x="3431599" y="3035412"/>
            <a:ext cx="12848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Height of tank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ABFB02B-B8B7-F785-2CED-992718C202E9}"/>
              </a:ext>
            </a:extLst>
          </p:cNvPr>
          <p:cNvCxnSpPr>
            <a:cxnSpLocks/>
            <a:endCxn id="8" idx="2"/>
          </p:cNvCxnSpPr>
          <p:nvPr/>
        </p:nvCxnSpPr>
        <p:spPr>
          <a:xfrm>
            <a:off x="515255" y="4375447"/>
            <a:ext cx="646973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0BF7E1B8-0851-6A43-F13B-5A10028CBE14}"/>
              </a:ext>
            </a:extLst>
          </p:cNvPr>
          <p:cNvCxnSpPr>
            <a:cxnSpLocks/>
            <a:stCxn id="3" idx="2"/>
          </p:cNvCxnSpPr>
          <p:nvPr/>
        </p:nvCxnSpPr>
        <p:spPr>
          <a:xfrm flipV="1">
            <a:off x="3371392" y="4036896"/>
            <a:ext cx="1423192" cy="1003603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5D4ABA4F-6028-08D7-CB57-2A4ACA19E6A5}"/>
              </a:ext>
            </a:extLst>
          </p:cNvPr>
          <p:cNvSpPr txBox="1"/>
          <p:nvPr/>
        </p:nvSpPr>
        <p:spPr>
          <a:xfrm>
            <a:off x="4713671" y="3902928"/>
            <a:ext cx="20951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2” Pipe</a:t>
            </a:r>
          </a:p>
        </p:txBody>
      </p:sp>
      <p:sp>
        <p:nvSpPr>
          <p:cNvPr id="48" name="Title 47">
            <a:extLst>
              <a:ext uri="{FF2B5EF4-FFF2-40B4-BE49-F238E27FC236}">
                <a16:creationId xmlns:a16="http://schemas.microsoft.com/office/drawing/2014/main" id="{D9396E97-6363-FCDE-5E4B-E8BC52860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40036"/>
          </a:xfrm>
        </p:spPr>
        <p:txBody>
          <a:bodyPr/>
          <a:lstStyle/>
          <a:p>
            <a:r>
              <a:rPr lang="en-US" dirty="0"/>
              <a:t>Modified System</a:t>
            </a:r>
          </a:p>
        </p:txBody>
      </p:sp>
      <p:sp>
        <p:nvSpPr>
          <p:cNvPr id="49" name="Content Placeholder 48">
            <a:extLst>
              <a:ext uri="{FF2B5EF4-FFF2-40B4-BE49-F238E27FC236}">
                <a16:creationId xmlns:a16="http://schemas.microsoft.com/office/drawing/2014/main" id="{FAD58ED9-B2C5-F1C0-C871-96018717D3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0928" y="545360"/>
            <a:ext cx="3981331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Notes</a:t>
            </a:r>
          </a:p>
          <a:p>
            <a:pPr>
              <a:buFontTx/>
              <a:buChar char="-"/>
            </a:pPr>
            <a:r>
              <a:rPr lang="en-US" dirty="0"/>
              <a:t>Minimal Cost</a:t>
            </a:r>
          </a:p>
          <a:p>
            <a:pPr>
              <a:buFontTx/>
              <a:buChar char="-"/>
            </a:pPr>
            <a:r>
              <a:rPr lang="en-US" dirty="0"/>
              <a:t>Increase in pressure</a:t>
            </a:r>
          </a:p>
          <a:p>
            <a:pPr>
              <a:buFontTx/>
              <a:buChar char="-"/>
            </a:pPr>
            <a:r>
              <a:rPr lang="en-US" dirty="0"/>
              <a:t>Can not use garden hose or sprinklers</a:t>
            </a:r>
          </a:p>
          <a:p>
            <a:pPr>
              <a:buFontTx/>
              <a:buChar char="-"/>
            </a:pPr>
            <a:r>
              <a:rPr lang="en-US" dirty="0"/>
              <a:t>Can fill can in 6 seconds </a:t>
            </a:r>
            <a:r>
              <a:rPr lang="en-US" sz="1800" dirty="0"/>
              <a:t>(hypothetically)</a:t>
            </a:r>
            <a:endParaRPr 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54DCD5D-155E-7CDA-9B25-9EAA358B084B}"/>
              </a:ext>
            </a:extLst>
          </p:cNvPr>
          <p:cNvSpPr txBox="1"/>
          <p:nvPr/>
        </p:nvSpPr>
        <p:spPr>
          <a:xfrm>
            <a:off x="515255" y="3082534"/>
            <a:ext cx="44787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3.03 PSI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9D257C0-14A8-6755-0B5A-37D9E464C2E8}"/>
              </a:ext>
            </a:extLst>
          </p:cNvPr>
          <p:cNvCxnSpPr>
            <a:cxnSpLocks/>
            <a:stCxn id="3" idx="1"/>
            <a:endCxn id="56" idx="1"/>
          </p:cNvCxnSpPr>
          <p:nvPr/>
        </p:nvCxnSpPr>
        <p:spPr>
          <a:xfrm>
            <a:off x="3307057" y="5555621"/>
            <a:ext cx="449782" cy="82009"/>
          </a:xfrm>
          <a:prstGeom prst="line">
            <a:avLst/>
          </a:prstGeom>
          <a:ln>
            <a:solidFill>
              <a:schemeClr val="accent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D47245BD-513E-BD52-3C90-C337DE3CAB7D}"/>
              </a:ext>
            </a:extLst>
          </p:cNvPr>
          <p:cNvSpPr txBox="1"/>
          <p:nvPr/>
        </p:nvSpPr>
        <p:spPr>
          <a:xfrm>
            <a:off x="3756839" y="5506825"/>
            <a:ext cx="117409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20+ GPM, ~4 psi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B4946E6-C855-2307-3A6B-962F757765A8}"/>
              </a:ext>
            </a:extLst>
          </p:cNvPr>
          <p:cNvSpPr/>
          <p:nvPr/>
        </p:nvSpPr>
        <p:spPr>
          <a:xfrm>
            <a:off x="2074923" y="4525379"/>
            <a:ext cx="1296491" cy="1286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9223DB-CB01-9C3B-EC13-316BD88D5897}"/>
              </a:ext>
            </a:extLst>
          </p:cNvPr>
          <p:cNvSpPr/>
          <p:nvPr/>
        </p:nvSpPr>
        <p:spPr>
          <a:xfrm rot="16200000">
            <a:off x="2791935" y="4976164"/>
            <a:ext cx="1030243" cy="1286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511C65A1-BA28-769A-73E9-2973EE90EC64}"/>
              </a:ext>
            </a:extLst>
          </p:cNvPr>
          <p:cNvSpPr/>
          <p:nvPr/>
        </p:nvSpPr>
        <p:spPr>
          <a:xfrm>
            <a:off x="2008883" y="4525379"/>
            <a:ext cx="132080" cy="12869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937E5C47-2676-E160-BD08-6383E113CA36}"/>
              </a:ext>
            </a:extLst>
          </p:cNvPr>
          <p:cNvSpPr/>
          <p:nvPr/>
        </p:nvSpPr>
        <p:spPr>
          <a:xfrm>
            <a:off x="2046760" y="4561136"/>
            <a:ext cx="56326" cy="57178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56AD504-131F-3DB8-7C80-35B40212714D}"/>
              </a:ext>
            </a:extLst>
          </p:cNvPr>
          <p:cNvCxnSpPr>
            <a:cxnSpLocks/>
          </p:cNvCxnSpPr>
          <p:nvPr/>
        </p:nvCxnSpPr>
        <p:spPr>
          <a:xfrm flipH="1" flipV="1">
            <a:off x="956248" y="3297022"/>
            <a:ext cx="1094746" cy="1273528"/>
          </a:xfrm>
          <a:prstGeom prst="line">
            <a:avLst/>
          </a:prstGeom>
          <a:ln>
            <a:solidFill>
              <a:schemeClr val="accent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9643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5C960-6474-CE51-ABDC-5E957183D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88EA33C-5F2B-AD83-FE5A-AF278ED731ED}"/>
              </a:ext>
            </a:extLst>
          </p:cNvPr>
          <p:cNvCxnSpPr>
            <a:cxnSpLocks/>
          </p:cNvCxnSpPr>
          <p:nvPr/>
        </p:nvCxnSpPr>
        <p:spPr>
          <a:xfrm>
            <a:off x="1043873" y="5964964"/>
            <a:ext cx="10999288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99FC670D-B1F8-9DEE-D2BA-EDCF46D64555}"/>
              </a:ext>
            </a:extLst>
          </p:cNvPr>
          <p:cNvSpPr/>
          <p:nvPr/>
        </p:nvSpPr>
        <p:spPr>
          <a:xfrm>
            <a:off x="1201751" y="2619920"/>
            <a:ext cx="1837346" cy="677102"/>
          </a:xfrm>
          <a:prstGeom prst="ellips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0D0EBE-4795-8F0C-0B67-7CE8D0062EF5}"/>
              </a:ext>
            </a:extLst>
          </p:cNvPr>
          <p:cNvSpPr/>
          <p:nvPr/>
        </p:nvSpPr>
        <p:spPr>
          <a:xfrm>
            <a:off x="1201751" y="540012"/>
            <a:ext cx="1837346" cy="2418459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CB65249-624A-E82C-916B-6C1FF246B675}"/>
              </a:ext>
            </a:extLst>
          </p:cNvPr>
          <p:cNvSpPr/>
          <p:nvPr/>
        </p:nvSpPr>
        <p:spPr>
          <a:xfrm>
            <a:off x="1201751" y="201461"/>
            <a:ext cx="1837346" cy="677102"/>
          </a:xfrm>
          <a:prstGeom prst="ellips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2C407D2-BD7C-9ED6-BFB4-92C7DCFAF2E8}"/>
              </a:ext>
            </a:extLst>
          </p:cNvPr>
          <p:cNvCxnSpPr>
            <a:stCxn id="9" idx="6"/>
          </p:cNvCxnSpPr>
          <p:nvPr/>
        </p:nvCxnSpPr>
        <p:spPr>
          <a:xfrm>
            <a:off x="3039097" y="540012"/>
            <a:ext cx="531026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67946B-094D-40DC-0B66-81778DC173A9}"/>
              </a:ext>
            </a:extLst>
          </p:cNvPr>
          <p:cNvCxnSpPr>
            <a:cxnSpLocks/>
          </p:cNvCxnSpPr>
          <p:nvPr/>
        </p:nvCxnSpPr>
        <p:spPr>
          <a:xfrm flipV="1">
            <a:off x="3027584" y="2954051"/>
            <a:ext cx="542539" cy="442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BF95B51-6F12-774B-5A33-4365AE51E4AF}"/>
              </a:ext>
            </a:extLst>
          </p:cNvPr>
          <p:cNvCxnSpPr>
            <a:cxnSpLocks/>
          </p:cNvCxnSpPr>
          <p:nvPr/>
        </p:nvCxnSpPr>
        <p:spPr>
          <a:xfrm>
            <a:off x="3471122" y="540012"/>
            <a:ext cx="0" cy="2418459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52E7167-CA71-BC70-B801-74BAD95676BC}"/>
              </a:ext>
            </a:extLst>
          </p:cNvPr>
          <p:cNvSpPr txBox="1"/>
          <p:nvPr/>
        </p:nvSpPr>
        <p:spPr>
          <a:xfrm>
            <a:off x="3027584" y="1565425"/>
            <a:ext cx="500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 ft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E2BB286-5120-0217-435F-8B6A2F041C2B}"/>
              </a:ext>
            </a:extLst>
          </p:cNvPr>
          <p:cNvSpPr txBox="1"/>
          <p:nvPr/>
        </p:nvSpPr>
        <p:spPr>
          <a:xfrm>
            <a:off x="7657827" y="5973805"/>
            <a:ext cx="2878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Garden (assume flat plane)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D4A92B0-04AE-1884-1350-E3354628F0E9}"/>
              </a:ext>
            </a:extLst>
          </p:cNvPr>
          <p:cNvCxnSpPr>
            <a:cxnSpLocks/>
          </p:cNvCxnSpPr>
          <p:nvPr/>
        </p:nvCxnSpPr>
        <p:spPr>
          <a:xfrm>
            <a:off x="813907" y="2954051"/>
            <a:ext cx="0" cy="3006493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E49BC8A-809B-5280-94F1-DFC1AB2FFFC0}"/>
              </a:ext>
            </a:extLst>
          </p:cNvPr>
          <p:cNvCxnSpPr>
            <a:cxnSpLocks/>
          </p:cNvCxnSpPr>
          <p:nvPr/>
        </p:nvCxnSpPr>
        <p:spPr>
          <a:xfrm flipV="1">
            <a:off x="411896" y="5964964"/>
            <a:ext cx="620059" cy="8841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89B44F55-A685-AE09-7331-01DB4BB1770A}"/>
              </a:ext>
            </a:extLst>
          </p:cNvPr>
          <p:cNvSpPr txBox="1"/>
          <p:nvPr/>
        </p:nvSpPr>
        <p:spPr>
          <a:xfrm>
            <a:off x="135697" y="4303198"/>
            <a:ext cx="6236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14 ft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46212B4-2BB6-774F-8FF5-EF72A902597E}"/>
              </a:ext>
            </a:extLst>
          </p:cNvPr>
          <p:cNvSpPr txBox="1"/>
          <p:nvPr/>
        </p:nvSpPr>
        <p:spPr>
          <a:xfrm>
            <a:off x="790097" y="4954761"/>
            <a:ext cx="128482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Height between tank and garden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10CF4F1-27A9-B02E-83E3-11BA6FF5B1D5}"/>
              </a:ext>
            </a:extLst>
          </p:cNvPr>
          <p:cNvSpPr txBox="1"/>
          <p:nvPr/>
        </p:nvSpPr>
        <p:spPr>
          <a:xfrm>
            <a:off x="3471790" y="1617959"/>
            <a:ext cx="12848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Height of tank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3942A15-8B95-50A1-37D7-2FC74DDE7374}"/>
              </a:ext>
            </a:extLst>
          </p:cNvPr>
          <p:cNvCxnSpPr>
            <a:cxnSpLocks/>
            <a:endCxn id="8" idx="2"/>
          </p:cNvCxnSpPr>
          <p:nvPr/>
        </p:nvCxnSpPr>
        <p:spPr>
          <a:xfrm>
            <a:off x="554778" y="2958471"/>
            <a:ext cx="646973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34205633-407E-35A7-A795-C3A0785F71E4}"/>
              </a:ext>
            </a:extLst>
          </p:cNvPr>
          <p:cNvSpPr/>
          <p:nvPr/>
        </p:nvSpPr>
        <p:spPr>
          <a:xfrm>
            <a:off x="2048406" y="3108403"/>
            <a:ext cx="132080" cy="12869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C622D1FA-1BF7-9340-4DBD-D00579197AC5}"/>
              </a:ext>
            </a:extLst>
          </p:cNvPr>
          <p:cNvSpPr/>
          <p:nvPr/>
        </p:nvSpPr>
        <p:spPr>
          <a:xfrm>
            <a:off x="2086283" y="3144160"/>
            <a:ext cx="56326" cy="57178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269365F5-AE17-3DB6-3BB1-50E639CA3129}"/>
              </a:ext>
            </a:extLst>
          </p:cNvPr>
          <p:cNvSpPr/>
          <p:nvPr/>
        </p:nvSpPr>
        <p:spPr>
          <a:xfrm>
            <a:off x="3413254" y="5484837"/>
            <a:ext cx="2471841" cy="413259"/>
          </a:xfrm>
          <a:custGeom>
            <a:avLst/>
            <a:gdLst>
              <a:gd name="connsiteX0" fmla="*/ 0 w 3804944"/>
              <a:gd name="connsiteY0" fmla="*/ 0 h 1313096"/>
              <a:gd name="connsiteX1" fmla="*/ 1391101 w 3804944"/>
              <a:gd name="connsiteY1" fmla="*/ 871063 h 1313096"/>
              <a:gd name="connsiteX2" fmla="*/ 2201493 w 3804944"/>
              <a:gd name="connsiteY2" fmla="*/ 177680 h 1313096"/>
              <a:gd name="connsiteX3" fmla="*/ 2799537 w 3804944"/>
              <a:gd name="connsiteY3" fmla="*/ 1139750 h 1313096"/>
              <a:gd name="connsiteX4" fmla="*/ 3804944 w 3804944"/>
              <a:gd name="connsiteY4" fmla="*/ 1313096 h 1313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04944" h="1313096">
                <a:moveTo>
                  <a:pt x="0" y="0"/>
                </a:moveTo>
                <a:cubicBezTo>
                  <a:pt x="512093" y="420725"/>
                  <a:pt x="1024186" y="841450"/>
                  <a:pt x="1391101" y="871063"/>
                </a:cubicBezTo>
                <a:cubicBezTo>
                  <a:pt x="1758016" y="900676"/>
                  <a:pt x="1966754" y="132899"/>
                  <a:pt x="2201493" y="177680"/>
                </a:cubicBezTo>
                <a:cubicBezTo>
                  <a:pt x="2436232" y="222461"/>
                  <a:pt x="2532295" y="950514"/>
                  <a:pt x="2799537" y="1139750"/>
                </a:cubicBezTo>
                <a:cubicBezTo>
                  <a:pt x="3066779" y="1328986"/>
                  <a:pt x="3588984" y="1279149"/>
                  <a:pt x="3804944" y="1313096"/>
                </a:cubicBezTo>
              </a:path>
            </a:pathLst>
          </a:custGeom>
          <a:ln w="38100">
            <a:solidFill>
              <a:schemeClr val="accent2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3C9BA45-058F-8832-BDF1-23A014CA5399}"/>
              </a:ext>
            </a:extLst>
          </p:cNvPr>
          <p:cNvCxnSpPr>
            <a:cxnSpLocks/>
          </p:cNvCxnSpPr>
          <p:nvPr/>
        </p:nvCxnSpPr>
        <p:spPr>
          <a:xfrm>
            <a:off x="5862871" y="5922444"/>
            <a:ext cx="1026879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2F3E1C1-5F93-3B9E-BF41-DAC19068A32A}"/>
              </a:ext>
            </a:extLst>
          </p:cNvPr>
          <p:cNvCxnSpPr>
            <a:cxnSpLocks/>
            <a:stCxn id="40" idx="2"/>
          </p:cNvCxnSpPr>
          <p:nvPr/>
        </p:nvCxnSpPr>
        <p:spPr>
          <a:xfrm flipH="1" flipV="1">
            <a:off x="4794584" y="4036896"/>
            <a:ext cx="48846" cy="1503861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9A356BDC-B757-C7CC-24F0-761FFC501D57}"/>
              </a:ext>
            </a:extLst>
          </p:cNvPr>
          <p:cNvSpPr txBox="1"/>
          <p:nvPr/>
        </p:nvSpPr>
        <p:spPr>
          <a:xfrm>
            <a:off x="4713671" y="3902928"/>
            <a:ext cx="20951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¾” Garden Hose</a:t>
            </a:r>
          </a:p>
        </p:txBody>
      </p:sp>
      <p:sp>
        <p:nvSpPr>
          <p:cNvPr id="48" name="Title 47">
            <a:extLst>
              <a:ext uri="{FF2B5EF4-FFF2-40B4-BE49-F238E27FC236}">
                <a16:creationId xmlns:a16="http://schemas.microsoft.com/office/drawing/2014/main" id="{3AEE9EC4-E0C3-9BBB-5D3A-210CDE069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0870" y="365126"/>
            <a:ext cx="3802929" cy="1040036"/>
          </a:xfrm>
        </p:spPr>
        <p:txBody>
          <a:bodyPr/>
          <a:lstStyle/>
          <a:p>
            <a:r>
              <a:rPr lang="en-US" dirty="0"/>
              <a:t>Gravity System</a:t>
            </a:r>
          </a:p>
        </p:txBody>
      </p:sp>
      <p:sp>
        <p:nvSpPr>
          <p:cNvPr id="49" name="Content Placeholder 48">
            <a:extLst>
              <a:ext uri="{FF2B5EF4-FFF2-40B4-BE49-F238E27FC236}">
                <a16:creationId xmlns:a16="http://schemas.microsoft.com/office/drawing/2014/main" id="{920DEDA9-6B64-BECE-1FF1-778B2F276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0326" y="1447681"/>
            <a:ext cx="3981331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Notes</a:t>
            </a:r>
          </a:p>
          <a:p>
            <a:pPr>
              <a:buFontTx/>
              <a:buChar char="-"/>
            </a:pPr>
            <a:r>
              <a:rPr lang="en-US" dirty="0"/>
              <a:t>Increases pressure to about 10 psi</a:t>
            </a:r>
          </a:p>
          <a:p>
            <a:pPr>
              <a:buFontTx/>
              <a:buChar char="-"/>
            </a:pPr>
            <a:r>
              <a:rPr lang="en-US" dirty="0"/>
              <a:t>Might make a garden hose usable, not sprinklers</a:t>
            </a:r>
          </a:p>
          <a:p>
            <a:pPr>
              <a:buFontTx/>
              <a:buChar char="-"/>
            </a:pPr>
            <a:r>
              <a:rPr lang="en-US" dirty="0"/>
              <a:t>Might be less safe, requires raising tank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A5D7C52E-8AEF-F721-948E-C4C685D5AFFF}"/>
              </a:ext>
            </a:extLst>
          </p:cNvPr>
          <p:cNvCxnSpPr>
            <a:cxnSpLocks/>
          </p:cNvCxnSpPr>
          <p:nvPr/>
        </p:nvCxnSpPr>
        <p:spPr>
          <a:xfrm flipH="1" flipV="1">
            <a:off x="995771" y="1880046"/>
            <a:ext cx="1094746" cy="1273528"/>
          </a:xfrm>
          <a:prstGeom prst="line">
            <a:avLst/>
          </a:prstGeom>
          <a:ln>
            <a:solidFill>
              <a:schemeClr val="accent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47EB4278-1F9D-EF13-747D-F835B0D5ED9D}"/>
              </a:ext>
            </a:extLst>
          </p:cNvPr>
          <p:cNvSpPr txBox="1"/>
          <p:nvPr/>
        </p:nvSpPr>
        <p:spPr>
          <a:xfrm>
            <a:off x="554778" y="1665558"/>
            <a:ext cx="44787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3.03 PSI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2F381A-E632-1517-005E-427838753E18}"/>
              </a:ext>
            </a:extLst>
          </p:cNvPr>
          <p:cNvSpPr/>
          <p:nvPr/>
        </p:nvSpPr>
        <p:spPr>
          <a:xfrm>
            <a:off x="2116803" y="3107690"/>
            <a:ext cx="1296491" cy="1286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279DFE-EB8C-3993-B42F-F1AF014F20C5}"/>
              </a:ext>
            </a:extLst>
          </p:cNvPr>
          <p:cNvSpPr/>
          <p:nvPr/>
        </p:nvSpPr>
        <p:spPr>
          <a:xfrm rot="16200000">
            <a:off x="2162798" y="4234362"/>
            <a:ext cx="2377150" cy="12380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2C7088E-16E7-A2C0-6AB9-10432B409E1F}"/>
              </a:ext>
            </a:extLst>
          </p:cNvPr>
          <p:cNvCxnSpPr>
            <a:cxnSpLocks/>
          </p:cNvCxnSpPr>
          <p:nvPr/>
        </p:nvCxnSpPr>
        <p:spPr>
          <a:xfrm flipV="1">
            <a:off x="3420238" y="3187175"/>
            <a:ext cx="1423192" cy="1003603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81E6042-C718-6CC3-15E0-C7998884ACDC}"/>
              </a:ext>
            </a:extLst>
          </p:cNvPr>
          <p:cNvSpPr txBox="1"/>
          <p:nvPr/>
        </p:nvSpPr>
        <p:spPr>
          <a:xfrm>
            <a:off x="4762517" y="3053207"/>
            <a:ext cx="20951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2” Pipe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20DC16E-3785-8E7D-DA56-167B8D998113}"/>
              </a:ext>
            </a:extLst>
          </p:cNvPr>
          <p:cNvCxnSpPr>
            <a:cxnSpLocks/>
          </p:cNvCxnSpPr>
          <p:nvPr/>
        </p:nvCxnSpPr>
        <p:spPr>
          <a:xfrm flipH="1" flipV="1">
            <a:off x="2188254" y="4291351"/>
            <a:ext cx="1110599" cy="1041270"/>
          </a:xfrm>
          <a:prstGeom prst="line">
            <a:avLst/>
          </a:prstGeom>
          <a:ln>
            <a:solidFill>
              <a:schemeClr val="accent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BF12468-734B-030E-3004-8D7FB9BA89E5}"/>
              </a:ext>
            </a:extLst>
          </p:cNvPr>
          <p:cNvSpPr txBox="1"/>
          <p:nvPr/>
        </p:nvSpPr>
        <p:spPr>
          <a:xfrm>
            <a:off x="1546084" y="4184202"/>
            <a:ext cx="649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9.5 PSI</a:t>
            </a:r>
          </a:p>
        </p:txBody>
      </p:sp>
    </p:spTree>
    <p:extLst>
      <p:ext uri="{BB962C8B-B14F-4D97-AF65-F5344CB8AC3E}">
        <p14:creationId xmlns:p14="http://schemas.microsoft.com/office/powerpoint/2010/main" val="2943660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6484B-EC3B-5BA5-0748-B3114D22E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riangle 13">
            <a:extLst>
              <a:ext uri="{FF2B5EF4-FFF2-40B4-BE49-F238E27FC236}">
                <a16:creationId xmlns:a16="http://schemas.microsoft.com/office/drawing/2014/main" id="{8E174505-3A2D-D108-811C-F28DB8D1B828}"/>
              </a:ext>
            </a:extLst>
          </p:cNvPr>
          <p:cNvSpPr/>
          <p:nvPr/>
        </p:nvSpPr>
        <p:spPr>
          <a:xfrm>
            <a:off x="4635132" y="5300160"/>
            <a:ext cx="385544" cy="516531"/>
          </a:xfrm>
          <a:custGeom>
            <a:avLst/>
            <a:gdLst>
              <a:gd name="connsiteX0" fmla="*/ 0 w 385544"/>
              <a:gd name="connsiteY0" fmla="*/ 516531 h 516531"/>
              <a:gd name="connsiteX1" fmla="*/ 192772 w 385544"/>
              <a:gd name="connsiteY1" fmla="*/ 0 h 516531"/>
              <a:gd name="connsiteX2" fmla="*/ 385544 w 385544"/>
              <a:gd name="connsiteY2" fmla="*/ 516531 h 516531"/>
              <a:gd name="connsiteX3" fmla="*/ 0 w 385544"/>
              <a:gd name="connsiteY3" fmla="*/ 516531 h 516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544" h="516531" fill="none" extrusionOk="0">
                <a:moveTo>
                  <a:pt x="0" y="516531"/>
                </a:moveTo>
                <a:cubicBezTo>
                  <a:pt x="2792" y="388778"/>
                  <a:pt x="158078" y="254287"/>
                  <a:pt x="192772" y="0"/>
                </a:cubicBezTo>
                <a:cubicBezTo>
                  <a:pt x="284600" y="166386"/>
                  <a:pt x="298786" y="368680"/>
                  <a:pt x="385544" y="516531"/>
                </a:cubicBezTo>
                <a:cubicBezTo>
                  <a:pt x="244705" y="524223"/>
                  <a:pt x="172335" y="486899"/>
                  <a:pt x="0" y="516531"/>
                </a:cubicBezTo>
                <a:close/>
              </a:path>
              <a:path w="385544" h="516531" stroke="0" extrusionOk="0">
                <a:moveTo>
                  <a:pt x="0" y="516531"/>
                </a:moveTo>
                <a:cubicBezTo>
                  <a:pt x="26051" y="264124"/>
                  <a:pt x="162212" y="207102"/>
                  <a:pt x="192772" y="0"/>
                </a:cubicBezTo>
                <a:cubicBezTo>
                  <a:pt x="305376" y="118208"/>
                  <a:pt x="248979" y="280772"/>
                  <a:pt x="385544" y="516531"/>
                </a:cubicBezTo>
                <a:cubicBezTo>
                  <a:pt x="232105" y="537699"/>
                  <a:pt x="144065" y="479388"/>
                  <a:pt x="0" y="516531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219033472">
                  <a:prstGeom prst="triangl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CF5BB37-7F5E-4E1F-E4B9-2F6C58904493}"/>
              </a:ext>
            </a:extLst>
          </p:cNvPr>
          <p:cNvCxnSpPr>
            <a:cxnSpLocks/>
          </p:cNvCxnSpPr>
          <p:nvPr/>
        </p:nvCxnSpPr>
        <p:spPr>
          <a:xfrm>
            <a:off x="1043873" y="5964964"/>
            <a:ext cx="10999288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554621F2-C2A1-A771-4071-E1346CB0EBA5}"/>
              </a:ext>
            </a:extLst>
          </p:cNvPr>
          <p:cNvSpPr/>
          <p:nvPr/>
        </p:nvSpPr>
        <p:spPr>
          <a:xfrm>
            <a:off x="1162228" y="4036896"/>
            <a:ext cx="1837346" cy="677102"/>
          </a:xfrm>
          <a:prstGeom prst="ellips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77A6C6-DA04-AA14-2405-EA4BF180A486}"/>
              </a:ext>
            </a:extLst>
          </p:cNvPr>
          <p:cNvSpPr/>
          <p:nvPr/>
        </p:nvSpPr>
        <p:spPr>
          <a:xfrm>
            <a:off x="1162228" y="1956988"/>
            <a:ext cx="1837346" cy="2418459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8A32BDD-2CD5-794E-2363-BC19C27C96DA}"/>
              </a:ext>
            </a:extLst>
          </p:cNvPr>
          <p:cNvSpPr/>
          <p:nvPr/>
        </p:nvSpPr>
        <p:spPr>
          <a:xfrm>
            <a:off x="1162228" y="1618437"/>
            <a:ext cx="1837346" cy="677102"/>
          </a:xfrm>
          <a:prstGeom prst="ellips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8363422-4704-584B-AD4F-CCD723C76A66}"/>
              </a:ext>
            </a:extLst>
          </p:cNvPr>
          <p:cNvCxnSpPr>
            <a:stCxn id="9" idx="6"/>
          </p:cNvCxnSpPr>
          <p:nvPr/>
        </p:nvCxnSpPr>
        <p:spPr>
          <a:xfrm>
            <a:off x="2999574" y="1956988"/>
            <a:ext cx="531026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E66DD7C-665D-3051-A6FF-CDB0220337FC}"/>
              </a:ext>
            </a:extLst>
          </p:cNvPr>
          <p:cNvCxnSpPr>
            <a:cxnSpLocks/>
          </p:cNvCxnSpPr>
          <p:nvPr/>
        </p:nvCxnSpPr>
        <p:spPr>
          <a:xfrm flipV="1">
            <a:off x="2988061" y="4371027"/>
            <a:ext cx="542539" cy="442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4A35894-A273-D1CC-8DE0-EA5C6EDE4727}"/>
              </a:ext>
            </a:extLst>
          </p:cNvPr>
          <p:cNvCxnSpPr>
            <a:cxnSpLocks/>
          </p:cNvCxnSpPr>
          <p:nvPr/>
        </p:nvCxnSpPr>
        <p:spPr>
          <a:xfrm>
            <a:off x="3431599" y="1956988"/>
            <a:ext cx="0" cy="2418459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E7582DC-5D54-47CE-BBE5-77015E4A512C}"/>
              </a:ext>
            </a:extLst>
          </p:cNvPr>
          <p:cNvSpPr txBox="1"/>
          <p:nvPr/>
        </p:nvSpPr>
        <p:spPr>
          <a:xfrm>
            <a:off x="2988061" y="2982401"/>
            <a:ext cx="500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 ft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986DCFF-E158-9FD3-7E1B-7046ADF81F86}"/>
              </a:ext>
            </a:extLst>
          </p:cNvPr>
          <p:cNvSpPr txBox="1"/>
          <p:nvPr/>
        </p:nvSpPr>
        <p:spPr>
          <a:xfrm>
            <a:off x="7657827" y="5973805"/>
            <a:ext cx="2878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Garden (assume flat plane)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75B2E98-12A7-8571-83CC-B317EB6EAE7E}"/>
              </a:ext>
            </a:extLst>
          </p:cNvPr>
          <p:cNvCxnSpPr>
            <a:cxnSpLocks/>
          </p:cNvCxnSpPr>
          <p:nvPr/>
        </p:nvCxnSpPr>
        <p:spPr>
          <a:xfrm>
            <a:off x="813907" y="4371027"/>
            <a:ext cx="0" cy="1589517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C0C3DBC-1ED1-4F0D-DB8D-FC9DE30220DB}"/>
              </a:ext>
            </a:extLst>
          </p:cNvPr>
          <p:cNvCxnSpPr>
            <a:cxnSpLocks/>
          </p:cNvCxnSpPr>
          <p:nvPr/>
        </p:nvCxnSpPr>
        <p:spPr>
          <a:xfrm flipV="1">
            <a:off x="411896" y="5964964"/>
            <a:ext cx="620059" cy="8841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51BBC196-5315-ED5D-7B8B-6D5D6A3D304C}"/>
              </a:ext>
            </a:extLst>
          </p:cNvPr>
          <p:cNvSpPr txBox="1"/>
          <p:nvPr/>
        </p:nvSpPr>
        <p:spPr>
          <a:xfrm>
            <a:off x="335484" y="4981119"/>
            <a:ext cx="500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 ft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AC7A9F4-6D50-0A89-ACC0-61CC8E204577}"/>
              </a:ext>
            </a:extLst>
          </p:cNvPr>
          <p:cNvSpPr txBox="1"/>
          <p:nvPr/>
        </p:nvSpPr>
        <p:spPr>
          <a:xfrm>
            <a:off x="790097" y="4954761"/>
            <a:ext cx="128482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Height between tank and garden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A3276C4-4B6F-8B28-0FB7-4EB0A2A9CF28}"/>
              </a:ext>
            </a:extLst>
          </p:cNvPr>
          <p:cNvSpPr txBox="1"/>
          <p:nvPr/>
        </p:nvSpPr>
        <p:spPr>
          <a:xfrm>
            <a:off x="3431599" y="3035412"/>
            <a:ext cx="12848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Height of tank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9FA5B32-9D65-716B-9698-88F02AC9F474}"/>
              </a:ext>
            </a:extLst>
          </p:cNvPr>
          <p:cNvCxnSpPr>
            <a:cxnSpLocks/>
            <a:endCxn id="8" idx="2"/>
          </p:cNvCxnSpPr>
          <p:nvPr/>
        </p:nvCxnSpPr>
        <p:spPr>
          <a:xfrm>
            <a:off x="515255" y="4375447"/>
            <a:ext cx="646973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23C7750D-5BD1-FD15-BF32-53B58DA1D193}"/>
              </a:ext>
            </a:extLst>
          </p:cNvPr>
          <p:cNvCxnSpPr>
            <a:cxnSpLocks/>
            <a:stCxn id="2" idx="2"/>
          </p:cNvCxnSpPr>
          <p:nvPr/>
        </p:nvCxnSpPr>
        <p:spPr>
          <a:xfrm>
            <a:off x="3130210" y="4654072"/>
            <a:ext cx="583582" cy="772882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10E5FF73-CA60-9F4A-2D13-E54081728046}"/>
              </a:ext>
            </a:extLst>
          </p:cNvPr>
          <p:cNvSpPr txBox="1"/>
          <p:nvPr/>
        </p:nvSpPr>
        <p:spPr>
          <a:xfrm>
            <a:off x="3632879" y="5292986"/>
            <a:ext cx="20951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2” Pipe</a:t>
            </a:r>
          </a:p>
        </p:txBody>
      </p:sp>
      <p:sp>
        <p:nvSpPr>
          <p:cNvPr id="48" name="Title 47">
            <a:extLst>
              <a:ext uri="{FF2B5EF4-FFF2-40B4-BE49-F238E27FC236}">
                <a16:creationId xmlns:a16="http://schemas.microsoft.com/office/drawing/2014/main" id="{D5CB443B-26F8-A900-BBDD-E32668C0E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40036"/>
          </a:xfrm>
        </p:spPr>
        <p:txBody>
          <a:bodyPr/>
          <a:lstStyle/>
          <a:p>
            <a:r>
              <a:rPr lang="en-US" dirty="0"/>
              <a:t>Manual Pump System</a:t>
            </a:r>
          </a:p>
        </p:txBody>
      </p:sp>
      <p:sp>
        <p:nvSpPr>
          <p:cNvPr id="49" name="Content Placeholder 48">
            <a:extLst>
              <a:ext uri="{FF2B5EF4-FFF2-40B4-BE49-F238E27FC236}">
                <a16:creationId xmlns:a16="http://schemas.microsoft.com/office/drawing/2014/main" id="{44C8D29A-DC7E-F8A9-BCB2-EFBC6DEAB6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0928" y="545360"/>
            <a:ext cx="3981331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Notes</a:t>
            </a:r>
          </a:p>
          <a:p>
            <a:pPr>
              <a:buFontTx/>
              <a:buChar char="-"/>
            </a:pPr>
            <a:r>
              <a:rPr lang="en-US" dirty="0"/>
              <a:t>More complex + $</a:t>
            </a:r>
          </a:p>
          <a:p>
            <a:pPr>
              <a:buFontTx/>
              <a:buChar char="-"/>
            </a:pPr>
            <a:r>
              <a:rPr lang="en-US" dirty="0"/>
              <a:t>Limited flow rate OR pressure (tradeoff)</a:t>
            </a:r>
          </a:p>
          <a:p>
            <a:pPr>
              <a:buFontTx/>
              <a:buChar char="-"/>
            </a:pPr>
            <a:r>
              <a:rPr lang="en-US" dirty="0"/>
              <a:t>Requires constant pumping</a:t>
            </a:r>
          </a:p>
          <a:p>
            <a:pPr>
              <a:buFontTx/>
              <a:buChar char="-"/>
            </a:pPr>
            <a:r>
              <a:rPr lang="en-US" dirty="0"/>
              <a:t>Most likely would need 2 people </a:t>
            </a:r>
            <a:r>
              <a:rPr lang="en-US" sz="1800" dirty="0"/>
              <a:t>(1-pump, 1-water)</a:t>
            </a:r>
            <a:endParaRPr 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724B229-DF44-B698-0730-820BE0B930EE}"/>
              </a:ext>
            </a:extLst>
          </p:cNvPr>
          <p:cNvSpPr txBox="1"/>
          <p:nvPr/>
        </p:nvSpPr>
        <p:spPr>
          <a:xfrm>
            <a:off x="515255" y="3082534"/>
            <a:ext cx="44787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3.03 PSI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0D90BEB-30B9-EEF5-3D67-BED0B90FEC68}"/>
              </a:ext>
            </a:extLst>
          </p:cNvPr>
          <p:cNvCxnSpPr>
            <a:cxnSpLocks/>
            <a:endCxn id="56" idx="1"/>
          </p:cNvCxnSpPr>
          <p:nvPr/>
        </p:nvCxnSpPr>
        <p:spPr>
          <a:xfrm>
            <a:off x="4927983" y="5462492"/>
            <a:ext cx="449782" cy="166648"/>
          </a:xfrm>
          <a:prstGeom prst="line">
            <a:avLst/>
          </a:prstGeom>
          <a:ln>
            <a:solidFill>
              <a:schemeClr val="accent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7EB7D020-C7A1-3BFD-7A60-E5A6AC9E8D6E}"/>
              </a:ext>
            </a:extLst>
          </p:cNvPr>
          <p:cNvSpPr txBox="1"/>
          <p:nvPr/>
        </p:nvSpPr>
        <p:spPr>
          <a:xfrm>
            <a:off x="5377765" y="5413696"/>
            <a:ext cx="9315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psi/gpm per pump spec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0EF0805-A040-C2D7-091A-430C47F8B637}"/>
              </a:ext>
            </a:extLst>
          </p:cNvPr>
          <p:cNvSpPr/>
          <p:nvPr/>
        </p:nvSpPr>
        <p:spPr>
          <a:xfrm>
            <a:off x="2074923" y="4525379"/>
            <a:ext cx="2110574" cy="1286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A58E6EC7-8418-19AE-A6A2-B916C2105A39}"/>
              </a:ext>
            </a:extLst>
          </p:cNvPr>
          <p:cNvSpPr/>
          <p:nvPr/>
        </p:nvSpPr>
        <p:spPr>
          <a:xfrm>
            <a:off x="2008883" y="4525379"/>
            <a:ext cx="132080" cy="12869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4A2D41D-3F35-8F5C-CA24-1FF351C641EE}"/>
              </a:ext>
            </a:extLst>
          </p:cNvPr>
          <p:cNvSpPr/>
          <p:nvPr/>
        </p:nvSpPr>
        <p:spPr>
          <a:xfrm>
            <a:off x="2046760" y="4561136"/>
            <a:ext cx="56326" cy="57178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53F3063E-2698-A802-517E-41C09D5466B0}"/>
              </a:ext>
            </a:extLst>
          </p:cNvPr>
          <p:cNvCxnSpPr>
            <a:cxnSpLocks/>
          </p:cNvCxnSpPr>
          <p:nvPr/>
        </p:nvCxnSpPr>
        <p:spPr>
          <a:xfrm flipH="1" flipV="1">
            <a:off x="956248" y="3297022"/>
            <a:ext cx="1094746" cy="1273528"/>
          </a:xfrm>
          <a:prstGeom prst="line">
            <a:avLst/>
          </a:prstGeom>
          <a:ln>
            <a:solidFill>
              <a:schemeClr val="accent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BFE35C94-D3CC-3CC0-54DC-4D274ADF4825}"/>
              </a:ext>
            </a:extLst>
          </p:cNvPr>
          <p:cNvSpPr/>
          <p:nvPr/>
        </p:nvSpPr>
        <p:spPr>
          <a:xfrm>
            <a:off x="4185496" y="4036896"/>
            <a:ext cx="1284817" cy="61717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Pump Apparatus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AEE31C-7356-3BA7-07AF-2970F734E088}"/>
              </a:ext>
            </a:extLst>
          </p:cNvPr>
          <p:cNvSpPr/>
          <p:nvPr/>
        </p:nvSpPr>
        <p:spPr>
          <a:xfrm rot="16200000">
            <a:off x="4413780" y="4997140"/>
            <a:ext cx="823184" cy="1370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B56BC0F-72A0-937B-3A45-64FB97D07106}"/>
              </a:ext>
            </a:extLst>
          </p:cNvPr>
          <p:cNvSpPr/>
          <p:nvPr/>
        </p:nvSpPr>
        <p:spPr>
          <a:xfrm>
            <a:off x="4185495" y="3408851"/>
            <a:ext cx="1284817" cy="61717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Human Energy</a:t>
            </a:r>
          </a:p>
        </p:txBody>
      </p:sp>
    </p:spTree>
    <p:extLst>
      <p:ext uri="{BB962C8B-B14F-4D97-AF65-F5344CB8AC3E}">
        <p14:creationId xmlns:p14="http://schemas.microsoft.com/office/powerpoint/2010/main" val="3533563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9381F-A2A5-F4CA-A800-32FC62897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riangle 13">
            <a:extLst>
              <a:ext uri="{FF2B5EF4-FFF2-40B4-BE49-F238E27FC236}">
                <a16:creationId xmlns:a16="http://schemas.microsoft.com/office/drawing/2014/main" id="{74A3CC46-9365-57C4-BFAE-7ED4AC460A4B}"/>
              </a:ext>
            </a:extLst>
          </p:cNvPr>
          <p:cNvSpPr/>
          <p:nvPr/>
        </p:nvSpPr>
        <p:spPr>
          <a:xfrm>
            <a:off x="6020590" y="5379714"/>
            <a:ext cx="385544" cy="516531"/>
          </a:xfrm>
          <a:custGeom>
            <a:avLst/>
            <a:gdLst>
              <a:gd name="connsiteX0" fmla="*/ 0 w 385544"/>
              <a:gd name="connsiteY0" fmla="*/ 516531 h 516531"/>
              <a:gd name="connsiteX1" fmla="*/ 192772 w 385544"/>
              <a:gd name="connsiteY1" fmla="*/ 0 h 516531"/>
              <a:gd name="connsiteX2" fmla="*/ 385544 w 385544"/>
              <a:gd name="connsiteY2" fmla="*/ 516531 h 516531"/>
              <a:gd name="connsiteX3" fmla="*/ 0 w 385544"/>
              <a:gd name="connsiteY3" fmla="*/ 516531 h 516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544" h="516531" fill="none" extrusionOk="0">
                <a:moveTo>
                  <a:pt x="0" y="516531"/>
                </a:moveTo>
                <a:cubicBezTo>
                  <a:pt x="2792" y="388778"/>
                  <a:pt x="158078" y="254287"/>
                  <a:pt x="192772" y="0"/>
                </a:cubicBezTo>
                <a:cubicBezTo>
                  <a:pt x="284600" y="166386"/>
                  <a:pt x="298786" y="368680"/>
                  <a:pt x="385544" y="516531"/>
                </a:cubicBezTo>
                <a:cubicBezTo>
                  <a:pt x="244705" y="524223"/>
                  <a:pt x="172335" y="486899"/>
                  <a:pt x="0" y="516531"/>
                </a:cubicBezTo>
                <a:close/>
              </a:path>
              <a:path w="385544" h="516531" stroke="0" extrusionOk="0">
                <a:moveTo>
                  <a:pt x="0" y="516531"/>
                </a:moveTo>
                <a:cubicBezTo>
                  <a:pt x="26051" y="264124"/>
                  <a:pt x="162212" y="207102"/>
                  <a:pt x="192772" y="0"/>
                </a:cubicBezTo>
                <a:cubicBezTo>
                  <a:pt x="305376" y="118208"/>
                  <a:pt x="248979" y="280772"/>
                  <a:pt x="385544" y="516531"/>
                </a:cubicBezTo>
                <a:cubicBezTo>
                  <a:pt x="232105" y="537699"/>
                  <a:pt x="144065" y="479388"/>
                  <a:pt x="0" y="516531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219033472">
                  <a:prstGeom prst="triangl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B180D54-B47B-F453-03CF-1498B3F44AF4}"/>
              </a:ext>
            </a:extLst>
          </p:cNvPr>
          <p:cNvCxnSpPr>
            <a:cxnSpLocks/>
          </p:cNvCxnSpPr>
          <p:nvPr/>
        </p:nvCxnSpPr>
        <p:spPr>
          <a:xfrm>
            <a:off x="1043873" y="5964964"/>
            <a:ext cx="10999288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19DDE8F6-E8C0-3867-2C62-F1AB92DAC724}"/>
              </a:ext>
            </a:extLst>
          </p:cNvPr>
          <p:cNvSpPr/>
          <p:nvPr/>
        </p:nvSpPr>
        <p:spPr>
          <a:xfrm>
            <a:off x="1162228" y="4036896"/>
            <a:ext cx="1837346" cy="677102"/>
          </a:xfrm>
          <a:prstGeom prst="ellips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FD4477-E62B-46F2-A8A7-87925C816AF4}"/>
              </a:ext>
            </a:extLst>
          </p:cNvPr>
          <p:cNvSpPr/>
          <p:nvPr/>
        </p:nvSpPr>
        <p:spPr>
          <a:xfrm>
            <a:off x="1162228" y="1956988"/>
            <a:ext cx="1837346" cy="2418459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CA246DC-DCF9-6C65-F423-AA474A14C17A}"/>
              </a:ext>
            </a:extLst>
          </p:cNvPr>
          <p:cNvSpPr/>
          <p:nvPr/>
        </p:nvSpPr>
        <p:spPr>
          <a:xfrm>
            <a:off x="1162228" y="1618437"/>
            <a:ext cx="1837346" cy="677102"/>
          </a:xfrm>
          <a:prstGeom prst="ellips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830E7C2-58FF-021D-327C-A9F592ED4397}"/>
              </a:ext>
            </a:extLst>
          </p:cNvPr>
          <p:cNvCxnSpPr>
            <a:stCxn id="9" idx="6"/>
          </p:cNvCxnSpPr>
          <p:nvPr/>
        </p:nvCxnSpPr>
        <p:spPr>
          <a:xfrm>
            <a:off x="2999574" y="1956988"/>
            <a:ext cx="531026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A511F8B-D82C-4745-D1CC-747A2614368B}"/>
              </a:ext>
            </a:extLst>
          </p:cNvPr>
          <p:cNvCxnSpPr>
            <a:cxnSpLocks/>
          </p:cNvCxnSpPr>
          <p:nvPr/>
        </p:nvCxnSpPr>
        <p:spPr>
          <a:xfrm flipV="1">
            <a:off x="2988061" y="4371027"/>
            <a:ext cx="542539" cy="442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78FA806-C0B9-42F8-9F5E-8FDC2398941F}"/>
              </a:ext>
            </a:extLst>
          </p:cNvPr>
          <p:cNvCxnSpPr>
            <a:cxnSpLocks/>
          </p:cNvCxnSpPr>
          <p:nvPr/>
        </p:nvCxnSpPr>
        <p:spPr>
          <a:xfrm>
            <a:off x="3431599" y="1956988"/>
            <a:ext cx="0" cy="2418459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2324B87-2EDB-01B0-DD90-EA22A58EEC67}"/>
              </a:ext>
            </a:extLst>
          </p:cNvPr>
          <p:cNvSpPr txBox="1"/>
          <p:nvPr/>
        </p:nvSpPr>
        <p:spPr>
          <a:xfrm>
            <a:off x="2988061" y="2982401"/>
            <a:ext cx="500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 ft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DD0A7B4-7338-3D7B-77BC-51A644BA992D}"/>
              </a:ext>
            </a:extLst>
          </p:cNvPr>
          <p:cNvSpPr txBox="1"/>
          <p:nvPr/>
        </p:nvSpPr>
        <p:spPr>
          <a:xfrm>
            <a:off x="7657827" y="5973805"/>
            <a:ext cx="2878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Garden (assume flat plane)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128BAAA-6C58-A839-D697-0033039159EE}"/>
              </a:ext>
            </a:extLst>
          </p:cNvPr>
          <p:cNvCxnSpPr>
            <a:cxnSpLocks/>
          </p:cNvCxnSpPr>
          <p:nvPr/>
        </p:nvCxnSpPr>
        <p:spPr>
          <a:xfrm>
            <a:off x="813907" y="4371027"/>
            <a:ext cx="0" cy="1589517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5FD9F20-364A-3F5C-ECF2-EBF07346B96C}"/>
              </a:ext>
            </a:extLst>
          </p:cNvPr>
          <p:cNvCxnSpPr>
            <a:cxnSpLocks/>
          </p:cNvCxnSpPr>
          <p:nvPr/>
        </p:nvCxnSpPr>
        <p:spPr>
          <a:xfrm flipV="1">
            <a:off x="411896" y="5964964"/>
            <a:ext cx="620059" cy="8841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1BC0DD59-A925-7676-A6A2-2BB4D70D66F9}"/>
              </a:ext>
            </a:extLst>
          </p:cNvPr>
          <p:cNvSpPr txBox="1"/>
          <p:nvPr/>
        </p:nvSpPr>
        <p:spPr>
          <a:xfrm>
            <a:off x="335484" y="4981119"/>
            <a:ext cx="500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 ft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6ED8854-8E6B-CA90-1933-1A21A902836E}"/>
              </a:ext>
            </a:extLst>
          </p:cNvPr>
          <p:cNvSpPr txBox="1"/>
          <p:nvPr/>
        </p:nvSpPr>
        <p:spPr>
          <a:xfrm>
            <a:off x="790097" y="4954761"/>
            <a:ext cx="128482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Height between tank and garden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C8D69EF-DAA7-B194-DEC1-B67F1E1B2EBF}"/>
              </a:ext>
            </a:extLst>
          </p:cNvPr>
          <p:cNvSpPr txBox="1"/>
          <p:nvPr/>
        </p:nvSpPr>
        <p:spPr>
          <a:xfrm>
            <a:off x="3431599" y="3035412"/>
            <a:ext cx="12848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Height of tank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41BB913-FC53-BAF2-87ED-50365315FAA5}"/>
              </a:ext>
            </a:extLst>
          </p:cNvPr>
          <p:cNvCxnSpPr>
            <a:cxnSpLocks/>
            <a:endCxn id="8" idx="2"/>
          </p:cNvCxnSpPr>
          <p:nvPr/>
        </p:nvCxnSpPr>
        <p:spPr>
          <a:xfrm>
            <a:off x="515255" y="4375447"/>
            <a:ext cx="646973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6AA57190-6C38-B419-336F-4D4B942BFA20}"/>
              </a:ext>
            </a:extLst>
          </p:cNvPr>
          <p:cNvCxnSpPr>
            <a:cxnSpLocks/>
            <a:stCxn id="2" idx="2"/>
            <a:endCxn id="47" idx="0"/>
          </p:cNvCxnSpPr>
          <p:nvPr/>
        </p:nvCxnSpPr>
        <p:spPr>
          <a:xfrm>
            <a:off x="2830780" y="4654072"/>
            <a:ext cx="407382" cy="33413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5B1F3725-3B4E-8DAA-C050-6711622EC770}"/>
              </a:ext>
            </a:extLst>
          </p:cNvPr>
          <p:cNvSpPr txBox="1"/>
          <p:nvPr/>
        </p:nvSpPr>
        <p:spPr>
          <a:xfrm>
            <a:off x="2877567" y="4988202"/>
            <a:ext cx="72119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2” Pipe</a:t>
            </a:r>
          </a:p>
        </p:txBody>
      </p:sp>
      <p:sp>
        <p:nvSpPr>
          <p:cNvPr id="48" name="Title 47">
            <a:extLst>
              <a:ext uri="{FF2B5EF4-FFF2-40B4-BE49-F238E27FC236}">
                <a16:creationId xmlns:a16="http://schemas.microsoft.com/office/drawing/2014/main" id="{4A682C74-26B4-4B23-93E9-9F095B6DE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40036"/>
          </a:xfrm>
        </p:spPr>
        <p:txBody>
          <a:bodyPr/>
          <a:lstStyle/>
          <a:p>
            <a:r>
              <a:rPr lang="en-US" dirty="0"/>
              <a:t>Pump System with tank</a:t>
            </a:r>
          </a:p>
        </p:txBody>
      </p:sp>
      <p:sp>
        <p:nvSpPr>
          <p:cNvPr id="49" name="Content Placeholder 48">
            <a:extLst>
              <a:ext uri="{FF2B5EF4-FFF2-40B4-BE49-F238E27FC236}">
                <a16:creationId xmlns:a16="http://schemas.microsoft.com/office/drawing/2014/main" id="{03CD4BB0-88FC-A46B-6ACC-A7EC428FF2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0928" y="545360"/>
            <a:ext cx="3981331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Notes</a:t>
            </a:r>
          </a:p>
          <a:p>
            <a:pPr>
              <a:buFontTx/>
              <a:buChar char="-"/>
            </a:pPr>
            <a:r>
              <a:rPr lang="en-US" dirty="0"/>
              <a:t>More complex + $$</a:t>
            </a:r>
          </a:p>
          <a:p>
            <a:pPr>
              <a:buFontTx/>
              <a:buChar char="-"/>
            </a:pPr>
            <a:r>
              <a:rPr lang="en-US" dirty="0"/>
              <a:t>Requires pumping to maintain pressure</a:t>
            </a:r>
          </a:p>
          <a:p>
            <a:pPr>
              <a:buFontTx/>
              <a:buChar char="-"/>
            </a:pPr>
            <a:r>
              <a:rPr lang="en-US" dirty="0"/>
              <a:t>Flowrate/pressure determined by tank height</a:t>
            </a:r>
          </a:p>
          <a:p>
            <a:pPr>
              <a:buFontTx/>
              <a:buChar char="-"/>
            </a:pPr>
            <a:r>
              <a:rPr lang="en-US" dirty="0"/>
              <a:t>Pumping time is affected by tank size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27A99F4-0AC4-F49E-15EC-7640D7CE4F8B}"/>
              </a:ext>
            </a:extLst>
          </p:cNvPr>
          <p:cNvSpPr txBox="1"/>
          <p:nvPr/>
        </p:nvSpPr>
        <p:spPr>
          <a:xfrm>
            <a:off x="515255" y="3082534"/>
            <a:ext cx="44787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3.03 PSI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EEAE882A-725D-358A-C0B6-8B1AEBE621A7}"/>
              </a:ext>
            </a:extLst>
          </p:cNvPr>
          <p:cNvCxnSpPr>
            <a:cxnSpLocks/>
            <a:endCxn id="56" idx="1"/>
          </p:cNvCxnSpPr>
          <p:nvPr/>
        </p:nvCxnSpPr>
        <p:spPr>
          <a:xfrm>
            <a:off x="6313441" y="5542046"/>
            <a:ext cx="449782" cy="166648"/>
          </a:xfrm>
          <a:prstGeom prst="line">
            <a:avLst/>
          </a:prstGeom>
          <a:ln>
            <a:solidFill>
              <a:schemeClr val="accent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83034539-1612-7AFB-28B2-38DCA14CC761}"/>
              </a:ext>
            </a:extLst>
          </p:cNvPr>
          <p:cNvSpPr txBox="1"/>
          <p:nvPr/>
        </p:nvSpPr>
        <p:spPr>
          <a:xfrm>
            <a:off x="6763223" y="5493250"/>
            <a:ext cx="9315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psi/gpm per tank height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6BFD77D-1CC1-920A-8A49-0D449E1F76AE}"/>
              </a:ext>
            </a:extLst>
          </p:cNvPr>
          <p:cNvSpPr/>
          <p:nvPr/>
        </p:nvSpPr>
        <p:spPr>
          <a:xfrm>
            <a:off x="2074923" y="4525380"/>
            <a:ext cx="1511714" cy="1286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709E7BD3-FF8F-4B5D-8B4C-A64C0F7D3766}"/>
              </a:ext>
            </a:extLst>
          </p:cNvPr>
          <p:cNvSpPr/>
          <p:nvPr/>
        </p:nvSpPr>
        <p:spPr>
          <a:xfrm>
            <a:off x="2008883" y="4525379"/>
            <a:ext cx="132080" cy="12869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63A44F59-6A6F-9843-73B9-62183F1D9AA0}"/>
              </a:ext>
            </a:extLst>
          </p:cNvPr>
          <p:cNvSpPr/>
          <p:nvPr/>
        </p:nvSpPr>
        <p:spPr>
          <a:xfrm>
            <a:off x="2046760" y="4561136"/>
            <a:ext cx="56326" cy="57178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98CDE01E-4F75-42F4-7CB3-359D4F3B4A4E}"/>
              </a:ext>
            </a:extLst>
          </p:cNvPr>
          <p:cNvCxnSpPr>
            <a:cxnSpLocks/>
          </p:cNvCxnSpPr>
          <p:nvPr/>
        </p:nvCxnSpPr>
        <p:spPr>
          <a:xfrm flipH="1" flipV="1">
            <a:off x="956248" y="3297022"/>
            <a:ext cx="1094746" cy="1273528"/>
          </a:xfrm>
          <a:prstGeom prst="line">
            <a:avLst/>
          </a:prstGeom>
          <a:ln>
            <a:solidFill>
              <a:schemeClr val="accent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FEFCD3D9-B324-E971-1F1A-6D5A369DF32E}"/>
              </a:ext>
            </a:extLst>
          </p:cNvPr>
          <p:cNvSpPr/>
          <p:nvPr/>
        </p:nvSpPr>
        <p:spPr>
          <a:xfrm>
            <a:off x="3586643" y="4036895"/>
            <a:ext cx="1284817" cy="61717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Pump Apparatus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E8FAA7-1655-A417-48F2-C609C6769A1C}"/>
              </a:ext>
            </a:extLst>
          </p:cNvPr>
          <p:cNvSpPr/>
          <p:nvPr/>
        </p:nvSpPr>
        <p:spPr>
          <a:xfrm rot="16200000">
            <a:off x="4707897" y="4037443"/>
            <a:ext cx="3036974" cy="1464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0206412-FCC5-BEA6-DF61-08245AF42A3E}"/>
              </a:ext>
            </a:extLst>
          </p:cNvPr>
          <p:cNvSpPr/>
          <p:nvPr/>
        </p:nvSpPr>
        <p:spPr>
          <a:xfrm>
            <a:off x="3586642" y="3408850"/>
            <a:ext cx="1284817" cy="61717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Human Energy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44A159B-9809-574E-DFF7-933509C7DE35}"/>
              </a:ext>
            </a:extLst>
          </p:cNvPr>
          <p:cNvSpPr/>
          <p:nvPr/>
        </p:nvSpPr>
        <p:spPr>
          <a:xfrm>
            <a:off x="4874927" y="4307807"/>
            <a:ext cx="921184" cy="1405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AD6F9B0-FC0B-5523-2321-5E65CD64C475}"/>
              </a:ext>
            </a:extLst>
          </p:cNvPr>
          <p:cNvSpPr/>
          <p:nvPr/>
        </p:nvSpPr>
        <p:spPr>
          <a:xfrm rot="5400000">
            <a:off x="4899973" y="3411696"/>
            <a:ext cx="1651678" cy="1405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36EEBAA-6CAA-B579-3410-6350D7452F80}"/>
              </a:ext>
            </a:extLst>
          </p:cNvPr>
          <p:cNvGrpSpPr/>
          <p:nvPr/>
        </p:nvGrpSpPr>
        <p:grpSpPr>
          <a:xfrm>
            <a:off x="5402360" y="1405162"/>
            <a:ext cx="1183434" cy="1430665"/>
            <a:chOff x="5716156" y="1370516"/>
            <a:chExt cx="1837346" cy="3095561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8AD48EC-7341-EC0B-2E43-62A85FAC9604}"/>
                </a:ext>
              </a:extLst>
            </p:cNvPr>
            <p:cNvSpPr/>
            <p:nvPr/>
          </p:nvSpPr>
          <p:spPr>
            <a:xfrm>
              <a:off x="5716156" y="3788975"/>
              <a:ext cx="1837346" cy="677102"/>
            </a:xfrm>
            <a:prstGeom prst="ellipse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3396712-DBB6-1EF5-7D52-7086E9E0D71C}"/>
                </a:ext>
              </a:extLst>
            </p:cNvPr>
            <p:cNvSpPr/>
            <p:nvPr/>
          </p:nvSpPr>
          <p:spPr>
            <a:xfrm>
              <a:off x="5716156" y="1709067"/>
              <a:ext cx="1837346" cy="2418459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  <a:p>
              <a:pPr algn="ctr"/>
              <a:r>
                <a:rPr lang="en-US" dirty="0"/>
                <a:t>Raised Tank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95D049B7-0C4A-0B63-BA4C-EF9A63BB056A}"/>
                </a:ext>
              </a:extLst>
            </p:cNvPr>
            <p:cNvSpPr/>
            <p:nvPr/>
          </p:nvSpPr>
          <p:spPr>
            <a:xfrm>
              <a:off x="5716156" y="1370516"/>
              <a:ext cx="1837346" cy="677102"/>
            </a:xfrm>
            <a:prstGeom prst="ellipse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51022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F9A8E-5E84-8C22-423E-5BDA592CC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riangle 13">
            <a:extLst>
              <a:ext uri="{FF2B5EF4-FFF2-40B4-BE49-F238E27FC236}">
                <a16:creationId xmlns:a16="http://schemas.microsoft.com/office/drawing/2014/main" id="{87BCF49B-A85D-C43A-C4F3-6748CF1A1FE7}"/>
              </a:ext>
            </a:extLst>
          </p:cNvPr>
          <p:cNvSpPr/>
          <p:nvPr/>
        </p:nvSpPr>
        <p:spPr>
          <a:xfrm>
            <a:off x="6020590" y="5379714"/>
            <a:ext cx="385544" cy="516531"/>
          </a:xfrm>
          <a:custGeom>
            <a:avLst/>
            <a:gdLst>
              <a:gd name="connsiteX0" fmla="*/ 0 w 385544"/>
              <a:gd name="connsiteY0" fmla="*/ 516531 h 516531"/>
              <a:gd name="connsiteX1" fmla="*/ 192772 w 385544"/>
              <a:gd name="connsiteY1" fmla="*/ 0 h 516531"/>
              <a:gd name="connsiteX2" fmla="*/ 385544 w 385544"/>
              <a:gd name="connsiteY2" fmla="*/ 516531 h 516531"/>
              <a:gd name="connsiteX3" fmla="*/ 0 w 385544"/>
              <a:gd name="connsiteY3" fmla="*/ 516531 h 516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544" h="516531" fill="none" extrusionOk="0">
                <a:moveTo>
                  <a:pt x="0" y="516531"/>
                </a:moveTo>
                <a:cubicBezTo>
                  <a:pt x="2792" y="388778"/>
                  <a:pt x="158078" y="254287"/>
                  <a:pt x="192772" y="0"/>
                </a:cubicBezTo>
                <a:cubicBezTo>
                  <a:pt x="284600" y="166386"/>
                  <a:pt x="298786" y="368680"/>
                  <a:pt x="385544" y="516531"/>
                </a:cubicBezTo>
                <a:cubicBezTo>
                  <a:pt x="244705" y="524223"/>
                  <a:pt x="172335" y="486899"/>
                  <a:pt x="0" y="516531"/>
                </a:cubicBezTo>
                <a:close/>
              </a:path>
              <a:path w="385544" h="516531" stroke="0" extrusionOk="0">
                <a:moveTo>
                  <a:pt x="0" y="516531"/>
                </a:moveTo>
                <a:cubicBezTo>
                  <a:pt x="26051" y="264124"/>
                  <a:pt x="162212" y="207102"/>
                  <a:pt x="192772" y="0"/>
                </a:cubicBezTo>
                <a:cubicBezTo>
                  <a:pt x="305376" y="118208"/>
                  <a:pt x="248979" y="280772"/>
                  <a:pt x="385544" y="516531"/>
                </a:cubicBezTo>
                <a:cubicBezTo>
                  <a:pt x="232105" y="537699"/>
                  <a:pt x="144065" y="479388"/>
                  <a:pt x="0" y="516531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219033472">
                  <a:prstGeom prst="triangl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2FF9DE1-EC48-779E-307A-D1C45CA50638}"/>
              </a:ext>
            </a:extLst>
          </p:cNvPr>
          <p:cNvCxnSpPr>
            <a:cxnSpLocks/>
          </p:cNvCxnSpPr>
          <p:nvPr/>
        </p:nvCxnSpPr>
        <p:spPr>
          <a:xfrm>
            <a:off x="1043873" y="5964964"/>
            <a:ext cx="10999288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E2B3A4D1-345F-0CC4-B3FD-001D3BC11E51}"/>
              </a:ext>
            </a:extLst>
          </p:cNvPr>
          <p:cNvSpPr/>
          <p:nvPr/>
        </p:nvSpPr>
        <p:spPr>
          <a:xfrm>
            <a:off x="1162228" y="4036896"/>
            <a:ext cx="1837346" cy="677102"/>
          </a:xfrm>
          <a:prstGeom prst="ellips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4CCDF3-39C9-8426-F08A-5E0EA8C55A21}"/>
              </a:ext>
            </a:extLst>
          </p:cNvPr>
          <p:cNvSpPr/>
          <p:nvPr/>
        </p:nvSpPr>
        <p:spPr>
          <a:xfrm>
            <a:off x="1162228" y="1956988"/>
            <a:ext cx="1837346" cy="2418459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8EB7014-7476-6D7E-0908-B0E65B171B29}"/>
              </a:ext>
            </a:extLst>
          </p:cNvPr>
          <p:cNvSpPr/>
          <p:nvPr/>
        </p:nvSpPr>
        <p:spPr>
          <a:xfrm>
            <a:off x="1162228" y="1618437"/>
            <a:ext cx="1837346" cy="677102"/>
          </a:xfrm>
          <a:prstGeom prst="ellips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22306E6-A0D3-5757-3A0F-0A1C8587AE12}"/>
              </a:ext>
            </a:extLst>
          </p:cNvPr>
          <p:cNvCxnSpPr>
            <a:stCxn id="9" idx="6"/>
          </p:cNvCxnSpPr>
          <p:nvPr/>
        </p:nvCxnSpPr>
        <p:spPr>
          <a:xfrm>
            <a:off x="2999574" y="1956988"/>
            <a:ext cx="531026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25DE53A-A786-350C-FBC0-A4AC1F5C3E13}"/>
              </a:ext>
            </a:extLst>
          </p:cNvPr>
          <p:cNvCxnSpPr>
            <a:cxnSpLocks/>
          </p:cNvCxnSpPr>
          <p:nvPr/>
        </p:nvCxnSpPr>
        <p:spPr>
          <a:xfrm flipV="1">
            <a:off x="2988061" y="4371027"/>
            <a:ext cx="542539" cy="442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FBB3144-959D-37C9-EEFF-E8A995BDD1C2}"/>
              </a:ext>
            </a:extLst>
          </p:cNvPr>
          <p:cNvCxnSpPr>
            <a:cxnSpLocks/>
          </p:cNvCxnSpPr>
          <p:nvPr/>
        </p:nvCxnSpPr>
        <p:spPr>
          <a:xfrm>
            <a:off x="3431599" y="1956988"/>
            <a:ext cx="0" cy="2418459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27B3E41-329B-84AB-E2B7-17FA27C219A6}"/>
              </a:ext>
            </a:extLst>
          </p:cNvPr>
          <p:cNvSpPr txBox="1"/>
          <p:nvPr/>
        </p:nvSpPr>
        <p:spPr>
          <a:xfrm>
            <a:off x="2988061" y="2982401"/>
            <a:ext cx="500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 ft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C77CE6-7196-5B53-0856-A6E4EBF56337}"/>
              </a:ext>
            </a:extLst>
          </p:cNvPr>
          <p:cNvSpPr txBox="1"/>
          <p:nvPr/>
        </p:nvSpPr>
        <p:spPr>
          <a:xfrm>
            <a:off x="7657827" y="5973805"/>
            <a:ext cx="2878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Garden (assume flat plane)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A969F7C-E978-B875-D749-A3F0D7B05774}"/>
              </a:ext>
            </a:extLst>
          </p:cNvPr>
          <p:cNvCxnSpPr>
            <a:cxnSpLocks/>
          </p:cNvCxnSpPr>
          <p:nvPr/>
        </p:nvCxnSpPr>
        <p:spPr>
          <a:xfrm>
            <a:off x="813907" y="4371027"/>
            <a:ext cx="0" cy="1589517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3BA4F63-8A90-ABE6-CBEB-2C626A724F9C}"/>
              </a:ext>
            </a:extLst>
          </p:cNvPr>
          <p:cNvCxnSpPr>
            <a:cxnSpLocks/>
          </p:cNvCxnSpPr>
          <p:nvPr/>
        </p:nvCxnSpPr>
        <p:spPr>
          <a:xfrm flipV="1">
            <a:off x="411896" y="5964964"/>
            <a:ext cx="620059" cy="8841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8F606EB-1848-83E7-6366-FF101BDD53C3}"/>
              </a:ext>
            </a:extLst>
          </p:cNvPr>
          <p:cNvSpPr txBox="1"/>
          <p:nvPr/>
        </p:nvSpPr>
        <p:spPr>
          <a:xfrm>
            <a:off x="335484" y="4981119"/>
            <a:ext cx="500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 ft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D350573-9EF3-D5A3-C431-5CEA1F973098}"/>
              </a:ext>
            </a:extLst>
          </p:cNvPr>
          <p:cNvSpPr txBox="1"/>
          <p:nvPr/>
        </p:nvSpPr>
        <p:spPr>
          <a:xfrm>
            <a:off x="790097" y="4954761"/>
            <a:ext cx="128482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Height between tank and garden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472B90B-C089-DB7A-16CA-BF0326A07060}"/>
              </a:ext>
            </a:extLst>
          </p:cNvPr>
          <p:cNvSpPr txBox="1"/>
          <p:nvPr/>
        </p:nvSpPr>
        <p:spPr>
          <a:xfrm>
            <a:off x="3431599" y="3035412"/>
            <a:ext cx="12848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Height of tank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7ADE388-85A7-B960-E48D-9859B101F318}"/>
              </a:ext>
            </a:extLst>
          </p:cNvPr>
          <p:cNvCxnSpPr>
            <a:cxnSpLocks/>
            <a:endCxn id="8" idx="2"/>
          </p:cNvCxnSpPr>
          <p:nvPr/>
        </p:nvCxnSpPr>
        <p:spPr>
          <a:xfrm>
            <a:off x="515255" y="4375447"/>
            <a:ext cx="646973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6A2B9DE-9CBF-B2F8-725A-F7DCA3B794D6}"/>
              </a:ext>
            </a:extLst>
          </p:cNvPr>
          <p:cNvCxnSpPr>
            <a:cxnSpLocks/>
            <a:stCxn id="2" idx="2"/>
            <a:endCxn id="47" idx="0"/>
          </p:cNvCxnSpPr>
          <p:nvPr/>
        </p:nvCxnSpPr>
        <p:spPr>
          <a:xfrm>
            <a:off x="2830780" y="4654072"/>
            <a:ext cx="407382" cy="33413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AD4ADA32-E7E0-1D5C-B18C-7914D46CA5B4}"/>
              </a:ext>
            </a:extLst>
          </p:cNvPr>
          <p:cNvSpPr txBox="1"/>
          <p:nvPr/>
        </p:nvSpPr>
        <p:spPr>
          <a:xfrm>
            <a:off x="2877567" y="4988202"/>
            <a:ext cx="72119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2” Pipe</a:t>
            </a:r>
          </a:p>
        </p:txBody>
      </p:sp>
      <p:sp>
        <p:nvSpPr>
          <p:cNvPr id="48" name="Title 47">
            <a:extLst>
              <a:ext uri="{FF2B5EF4-FFF2-40B4-BE49-F238E27FC236}">
                <a16:creationId xmlns:a16="http://schemas.microsoft.com/office/drawing/2014/main" id="{9276FBDE-B413-06A0-2F83-96280BA46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40036"/>
          </a:xfrm>
        </p:spPr>
        <p:txBody>
          <a:bodyPr/>
          <a:lstStyle/>
          <a:p>
            <a:r>
              <a:rPr lang="en-US" dirty="0"/>
              <a:t>Pump System with pressure tank</a:t>
            </a:r>
          </a:p>
        </p:txBody>
      </p:sp>
      <p:sp>
        <p:nvSpPr>
          <p:cNvPr id="49" name="Content Placeholder 48">
            <a:extLst>
              <a:ext uri="{FF2B5EF4-FFF2-40B4-BE49-F238E27FC236}">
                <a16:creationId xmlns:a16="http://schemas.microsoft.com/office/drawing/2014/main" id="{0284F3B8-9227-E844-C508-9B164F76A9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0928" y="1272619"/>
            <a:ext cx="3981331" cy="476995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Notes</a:t>
            </a:r>
          </a:p>
          <a:p>
            <a:pPr>
              <a:buFontTx/>
              <a:buChar char="-"/>
            </a:pPr>
            <a:r>
              <a:rPr lang="en-US" dirty="0"/>
              <a:t>More complex + $$</a:t>
            </a:r>
          </a:p>
          <a:p>
            <a:pPr>
              <a:buFontTx/>
              <a:buChar char="-"/>
            </a:pPr>
            <a:r>
              <a:rPr lang="en-US" dirty="0"/>
              <a:t>Requires pumping to maintain pressure</a:t>
            </a:r>
          </a:p>
          <a:p>
            <a:pPr>
              <a:buFontTx/>
              <a:buChar char="-"/>
            </a:pPr>
            <a:r>
              <a:rPr lang="en-US" dirty="0"/>
              <a:t>Pumping time is affected by tank size</a:t>
            </a:r>
          </a:p>
          <a:p>
            <a:pPr>
              <a:buFontTx/>
              <a:buChar char="-"/>
            </a:pPr>
            <a:r>
              <a:rPr lang="en-US" dirty="0"/>
              <a:t>Can be harder to implement</a:t>
            </a:r>
          </a:p>
          <a:p>
            <a:pPr>
              <a:buFontTx/>
              <a:buChar char="-"/>
            </a:pPr>
            <a:r>
              <a:rPr lang="en-US" dirty="0"/>
              <a:t>Requires higher pressure to hold more water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5BECB8A-2B2E-EDB6-0952-D071AFF685B7}"/>
              </a:ext>
            </a:extLst>
          </p:cNvPr>
          <p:cNvSpPr txBox="1"/>
          <p:nvPr/>
        </p:nvSpPr>
        <p:spPr>
          <a:xfrm>
            <a:off x="515255" y="3082534"/>
            <a:ext cx="44787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3.03 PSI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69B257E-1222-14AA-62CE-FA1975319C97}"/>
              </a:ext>
            </a:extLst>
          </p:cNvPr>
          <p:cNvCxnSpPr>
            <a:cxnSpLocks/>
            <a:endCxn id="56" idx="1"/>
          </p:cNvCxnSpPr>
          <p:nvPr/>
        </p:nvCxnSpPr>
        <p:spPr>
          <a:xfrm>
            <a:off x="6313441" y="5542046"/>
            <a:ext cx="449781" cy="166648"/>
          </a:xfrm>
          <a:prstGeom prst="line">
            <a:avLst/>
          </a:prstGeom>
          <a:ln>
            <a:solidFill>
              <a:schemeClr val="accent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8CCC043F-8BCC-B989-0FD1-A7D689545368}"/>
              </a:ext>
            </a:extLst>
          </p:cNvPr>
          <p:cNvSpPr txBox="1"/>
          <p:nvPr/>
        </p:nvSpPr>
        <p:spPr>
          <a:xfrm>
            <a:off x="6763222" y="5493250"/>
            <a:ext cx="10138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psi/gpm as design specs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DEB1E2-66EE-1021-B8FB-5759C47F39F0}"/>
              </a:ext>
            </a:extLst>
          </p:cNvPr>
          <p:cNvSpPr/>
          <p:nvPr/>
        </p:nvSpPr>
        <p:spPr>
          <a:xfrm>
            <a:off x="2074923" y="4525380"/>
            <a:ext cx="1511714" cy="1286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5CF1C587-8C3F-7747-DDA7-6C3D61AA8B4A}"/>
              </a:ext>
            </a:extLst>
          </p:cNvPr>
          <p:cNvSpPr/>
          <p:nvPr/>
        </p:nvSpPr>
        <p:spPr>
          <a:xfrm>
            <a:off x="2008883" y="4525379"/>
            <a:ext cx="132080" cy="12869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DF4E936B-4851-076F-283D-84F3BAC9F78C}"/>
              </a:ext>
            </a:extLst>
          </p:cNvPr>
          <p:cNvSpPr/>
          <p:nvPr/>
        </p:nvSpPr>
        <p:spPr>
          <a:xfrm>
            <a:off x="2046760" y="4561136"/>
            <a:ext cx="56326" cy="57178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8BE51AC4-C336-0AD8-2269-DAFC6E6BD42D}"/>
              </a:ext>
            </a:extLst>
          </p:cNvPr>
          <p:cNvCxnSpPr>
            <a:cxnSpLocks/>
          </p:cNvCxnSpPr>
          <p:nvPr/>
        </p:nvCxnSpPr>
        <p:spPr>
          <a:xfrm flipH="1" flipV="1">
            <a:off x="956248" y="3297022"/>
            <a:ext cx="1094746" cy="1273528"/>
          </a:xfrm>
          <a:prstGeom prst="line">
            <a:avLst/>
          </a:prstGeom>
          <a:ln>
            <a:solidFill>
              <a:schemeClr val="accent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699DD56-76E6-3419-5C84-9CF4B3890251}"/>
              </a:ext>
            </a:extLst>
          </p:cNvPr>
          <p:cNvSpPr/>
          <p:nvPr/>
        </p:nvSpPr>
        <p:spPr>
          <a:xfrm>
            <a:off x="3586643" y="4036895"/>
            <a:ext cx="1284817" cy="61717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Pump Apparatus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E561EC-6D26-8B87-A495-1FA0A22EFC7D}"/>
              </a:ext>
            </a:extLst>
          </p:cNvPr>
          <p:cNvSpPr/>
          <p:nvPr/>
        </p:nvSpPr>
        <p:spPr>
          <a:xfrm rot="16200000">
            <a:off x="5674503" y="5004049"/>
            <a:ext cx="1103761" cy="1464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7F8928D-0AE6-AC13-6126-02BD59FF120F}"/>
              </a:ext>
            </a:extLst>
          </p:cNvPr>
          <p:cNvSpPr/>
          <p:nvPr/>
        </p:nvSpPr>
        <p:spPr>
          <a:xfrm>
            <a:off x="3586642" y="3408850"/>
            <a:ext cx="1284817" cy="61717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Human Energy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9F78AE5-9D07-F63B-8A55-34AE7DF77A9F}"/>
              </a:ext>
            </a:extLst>
          </p:cNvPr>
          <p:cNvSpPr/>
          <p:nvPr/>
        </p:nvSpPr>
        <p:spPr>
          <a:xfrm>
            <a:off x="4874927" y="4307807"/>
            <a:ext cx="921184" cy="1405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1BE1395-D584-4740-DDE6-81AB139CBFB2}"/>
              </a:ext>
            </a:extLst>
          </p:cNvPr>
          <p:cNvGrpSpPr/>
          <p:nvPr/>
        </p:nvGrpSpPr>
        <p:grpSpPr>
          <a:xfrm>
            <a:off x="5412470" y="3267914"/>
            <a:ext cx="1183434" cy="1430665"/>
            <a:chOff x="5716156" y="1370516"/>
            <a:chExt cx="1837346" cy="3095561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F678B46-03D3-B39C-C493-80799465A75A}"/>
                </a:ext>
              </a:extLst>
            </p:cNvPr>
            <p:cNvSpPr/>
            <p:nvPr/>
          </p:nvSpPr>
          <p:spPr>
            <a:xfrm>
              <a:off x="5716156" y="3788975"/>
              <a:ext cx="1837346" cy="677102"/>
            </a:xfrm>
            <a:prstGeom prst="ellipse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4DED54C-E299-C19F-85C6-7294AFC37D59}"/>
                </a:ext>
              </a:extLst>
            </p:cNvPr>
            <p:cNvSpPr/>
            <p:nvPr/>
          </p:nvSpPr>
          <p:spPr>
            <a:xfrm>
              <a:off x="5716156" y="1709067"/>
              <a:ext cx="1837346" cy="2418459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  <a:p>
              <a:pPr algn="ctr"/>
              <a:r>
                <a:rPr lang="en-US" dirty="0"/>
                <a:t>Pressure Tank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A10907D8-F819-8B53-6F47-0A0B629BC05E}"/>
                </a:ext>
              </a:extLst>
            </p:cNvPr>
            <p:cNvSpPr/>
            <p:nvPr/>
          </p:nvSpPr>
          <p:spPr>
            <a:xfrm>
              <a:off x="5716156" y="1370516"/>
              <a:ext cx="1837346" cy="677102"/>
            </a:xfrm>
            <a:prstGeom prst="ellipse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7991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A7772-FA7D-DBCD-975A-9F0237FF0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riangle 13">
            <a:extLst>
              <a:ext uri="{FF2B5EF4-FFF2-40B4-BE49-F238E27FC236}">
                <a16:creationId xmlns:a16="http://schemas.microsoft.com/office/drawing/2014/main" id="{BF03FCFF-3572-E712-C908-DB984936DBA1}"/>
              </a:ext>
            </a:extLst>
          </p:cNvPr>
          <p:cNvSpPr/>
          <p:nvPr/>
        </p:nvSpPr>
        <p:spPr>
          <a:xfrm>
            <a:off x="4632600" y="5300711"/>
            <a:ext cx="385544" cy="604327"/>
          </a:xfrm>
          <a:custGeom>
            <a:avLst/>
            <a:gdLst>
              <a:gd name="connsiteX0" fmla="*/ 0 w 385544"/>
              <a:gd name="connsiteY0" fmla="*/ 604327 h 604327"/>
              <a:gd name="connsiteX1" fmla="*/ 100241 w 385544"/>
              <a:gd name="connsiteY1" fmla="*/ 290077 h 604327"/>
              <a:gd name="connsiteX2" fmla="*/ 192772 w 385544"/>
              <a:gd name="connsiteY2" fmla="*/ 0 h 604327"/>
              <a:gd name="connsiteX3" fmla="*/ 289158 w 385544"/>
              <a:gd name="connsiteY3" fmla="*/ 302164 h 604327"/>
              <a:gd name="connsiteX4" fmla="*/ 385544 w 385544"/>
              <a:gd name="connsiteY4" fmla="*/ 604327 h 604327"/>
              <a:gd name="connsiteX5" fmla="*/ 0 w 385544"/>
              <a:gd name="connsiteY5" fmla="*/ 604327 h 604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85544" h="604327" fill="none" extrusionOk="0">
                <a:moveTo>
                  <a:pt x="0" y="604327"/>
                </a:moveTo>
                <a:cubicBezTo>
                  <a:pt x="14955" y="466296"/>
                  <a:pt x="102616" y="386343"/>
                  <a:pt x="100241" y="290077"/>
                </a:cubicBezTo>
                <a:cubicBezTo>
                  <a:pt x="97866" y="193811"/>
                  <a:pt x="169695" y="147272"/>
                  <a:pt x="192772" y="0"/>
                </a:cubicBezTo>
                <a:cubicBezTo>
                  <a:pt x="248227" y="77425"/>
                  <a:pt x="223093" y="161275"/>
                  <a:pt x="289158" y="302164"/>
                </a:cubicBezTo>
                <a:cubicBezTo>
                  <a:pt x="355223" y="443053"/>
                  <a:pt x="331883" y="502897"/>
                  <a:pt x="385544" y="604327"/>
                </a:cubicBezTo>
                <a:cubicBezTo>
                  <a:pt x="256974" y="634938"/>
                  <a:pt x="96946" y="574769"/>
                  <a:pt x="0" y="604327"/>
                </a:cubicBezTo>
                <a:close/>
              </a:path>
              <a:path w="385544" h="604327" stroke="0" extrusionOk="0">
                <a:moveTo>
                  <a:pt x="0" y="604327"/>
                </a:moveTo>
                <a:cubicBezTo>
                  <a:pt x="7569" y="532435"/>
                  <a:pt x="92172" y="426676"/>
                  <a:pt x="94458" y="308207"/>
                </a:cubicBezTo>
                <a:cubicBezTo>
                  <a:pt x="96744" y="189738"/>
                  <a:pt x="165949" y="113042"/>
                  <a:pt x="192772" y="0"/>
                </a:cubicBezTo>
                <a:cubicBezTo>
                  <a:pt x="262071" y="112108"/>
                  <a:pt x="253301" y="197363"/>
                  <a:pt x="293013" y="314250"/>
                </a:cubicBezTo>
                <a:cubicBezTo>
                  <a:pt x="332725" y="431136"/>
                  <a:pt x="335914" y="492385"/>
                  <a:pt x="385544" y="604327"/>
                </a:cubicBezTo>
                <a:cubicBezTo>
                  <a:pt x="300248" y="646472"/>
                  <a:pt x="98483" y="587139"/>
                  <a:pt x="0" y="604327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219033472">
                  <a:prstGeom prst="triangl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6FCAA67-E0DF-CBFF-E5E3-B81A330A1D1E}"/>
              </a:ext>
            </a:extLst>
          </p:cNvPr>
          <p:cNvCxnSpPr>
            <a:cxnSpLocks/>
          </p:cNvCxnSpPr>
          <p:nvPr/>
        </p:nvCxnSpPr>
        <p:spPr>
          <a:xfrm>
            <a:off x="1043873" y="5964964"/>
            <a:ext cx="10999288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9C204D93-9228-2EE8-98CC-2290399F5ABB}"/>
              </a:ext>
            </a:extLst>
          </p:cNvPr>
          <p:cNvSpPr/>
          <p:nvPr/>
        </p:nvSpPr>
        <p:spPr>
          <a:xfrm>
            <a:off x="1162228" y="4036896"/>
            <a:ext cx="1837346" cy="677102"/>
          </a:xfrm>
          <a:prstGeom prst="ellips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430059-ADD0-6840-0ACF-65DCB791E65E}"/>
              </a:ext>
            </a:extLst>
          </p:cNvPr>
          <p:cNvSpPr/>
          <p:nvPr/>
        </p:nvSpPr>
        <p:spPr>
          <a:xfrm>
            <a:off x="1162228" y="1956988"/>
            <a:ext cx="1837346" cy="2418459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9F035D7-9E34-197A-8972-996F46B4B9C7}"/>
              </a:ext>
            </a:extLst>
          </p:cNvPr>
          <p:cNvSpPr/>
          <p:nvPr/>
        </p:nvSpPr>
        <p:spPr>
          <a:xfrm>
            <a:off x="1162228" y="1618437"/>
            <a:ext cx="1837346" cy="677102"/>
          </a:xfrm>
          <a:prstGeom prst="ellips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86BDD6C-B229-28F1-5B3E-05E1FBE21299}"/>
              </a:ext>
            </a:extLst>
          </p:cNvPr>
          <p:cNvCxnSpPr>
            <a:stCxn id="9" idx="6"/>
          </p:cNvCxnSpPr>
          <p:nvPr/>
        </p:nvCxnSpPr>
        <p:spPr>
          <a:xfrm>
            <a:off x="2999574" y="1956988"/>
            <a:ext cx="531026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BE36674-8A80-9339-4BC3-9ABCB9630C2C}"/>
              </a:ext>
            </a:extLst>
          </p:cNvPr>
          <p:cNvCxnSpPr>
            <a:cxnSpLocks/>
          </p:cNvCxnSpPr>
          <p:nvPr/>
        </p:nvCxnSpPr>
        <p:spPr>
          <a:xfrm flipV="1">
            <a:off x="2988061" y="4371027"/>
            <a:ext cx="542539" cy="442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81F9643-E749-91A7-6C45-5E972F9BFC48}"/>
              </a:ext>
            </a:extLst>
          </p:cNvPr>
          <p:cNvCxnSpPr>
            <a:cxnSpLocks/>
          </p:cNvCxnSpPr>
          <p:nvPr/>
        </p:nvCxnSpPr>
        <p:spPr>
          <a:xfrm>
            <a:off x="3431599" y="1956988"/>
            <a:ext cx="0" cy="2418459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675C36B-D35F-0DD8-A109-DF012AC98718}"/>
              </a:ext>
            </a:extLst>
          </p:cNvPr>
          <p:cNvSpPr txBox="1"/>
          <p:nvPr/>
        </p:nvSpPr>
        <p:spPr>
          <a:xfrm>
            <a:off x="2988061" y="2982401"/>
            <a:ext cx="500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 ft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CD14886-4FA5-2D17-1DAB-DCA23C1FAAED}"/>
              </a:ext>
            </a:extLst>
          </p:cNvPr>
          <p:cNvSpPr txBox="1"/>
          <p:nvPr/>
        </p:nvSpPr>
        <p:spPr>
          <a:xfrm>
            <a:off x="7657827" y="5973805"/>
            <a:ext cx="2878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Garden (assume flat plane)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2F2AE58-8D14-B7A9-34E7-6DE7A7C96B92}"/>
              </a:ext>
            </a:extLst>
          </p:cNvPr>
          <p:cNvCxnSpPr>
            <a:cxnSpLocks/>
          </p:cNvCxnSpPr>
          <p:nvPr/>
        </p:nvCxnSpPr>
        <p:spPr>
          <a:xfrm>
            <a:off x="813907" y="4371027"/>
            <a:ext cx="0" cy="1589517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E41AE5B-E977-12D3-0FD3-A31F8C6BA093}"/>
              </a:ext>
            </a:extLst>
          </p:cNvPr>
          <p:cNvCxnSpPr>
            <a:cxnSpLocks/>
          </p:cNvCxnSpPr>
          <p:nvPr/>
        </p:nvCxnSpPr>
        <p:spPr>
          <a:xfrm flipV="1">
            <a:off x="411896" y="5964964"/>
            <a:ext cx="620059" cy="8841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2F463DEA-C5F8-5BD6-7A08-1E7A6E0C0D7B}"/>
              </a:ext>
            </a:extLst>
          </p:cNvPr>
          <p:cNvSpPr txBox="1"/>
          <p:nvPr/>
        </p:nvSpPr>
        <p:spPr>
          <a:xfrm>
            <a:off x="335484" y="4981119"/>
            <a:ext cx="500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 ft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0C3ED07-C722-5DE5-1193-0F95F20C40E7}"/>
              </a:ext>
            </a:extLst>
          </p:cNvPr>
          <p:cNvSpPr txBox="1"/>
          <p:nvPr/>
        </p:nvSpPr>
        <p:spPr>
          <a:xfrm>
            <a:off x="790097" y="4954761"/>
            <a:ext cx="128482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Height between tank and garden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EFB8217-08CF-4917-9D07-3B03E4155E39}"/>
              </a:ext>
            </a:extLst>
          </p:cNvPr>
          <p:cNvSpPr txBox="1"/>
          <p:nvPr/>
        </p:nvSpPr>
        <p:spPr>
          <a:xfrm>
            <a:off x="3431599" y="3035412"/>
            <a:ext cx="12848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Height of tank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4D456F2-6E04-96AE-420D-31180F9FB067}"/>
              </a:ext>
            </a:extLst>
          </p:cNvPr>
          <p:cNvCxnSpPr>
            <a:cxnSpLocks/>
            <a:endCxn id="8" idx="2"/>
          </p:cNvCxnSpPr>
          <p:nvPr/>
        </p:nvCxnSpPr>
        <p:spPr>
          <a:xfrm>
            <a:off x="515255" y="4375447"/>
            <a:ext cx="646973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3B925D76-32DE-5F09-24E8-67B102BF2300}"/>
              </a:ext>
            </a:extLst>
          </p:cNvPr>
          <p:cNvCxnSpPr>
            <a:cxnSpLocks/>
            <a:stCxn id="2" idx="2"/>
          </p:cNvCxnSpPr>
          <p:nvPr/>
        </p:nvCxnSpPr>
        <p:spPr>
          <a:xfrm>
            <a:off x="3130210" y="4654072"/>
            <a:ext cx="583582" cy="772882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12429B83-9AF6-E128-CB3F-6FAE105118E3}"/>
              </a:ext>
            </a:extLst>
          </p:cNvPr>
          <p:cNvSpPr txBox="1"/>
          <p:nvPr/>
        </p:nvSpPr>
        <p:spPr>
          <a:xfrm>
            <a:off x="3632879" y="5292986"/>
            <a:ext cx="20951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2” Pipe</a:t>
            </a:r>
          </a:p>
        </p:txBody>
      </p:sp>
      <p:sp>
        <p:nvSpPr>
          <p:cNvPr id="48" name="Title 47">
            <a:extLst>
              <a:ext uri="{FF2B5EF4-FFF2-40B4-BE49-F238E27FC236}">
                <a16:creationId xmlns:a16="http://schemas.microsoft.com/office/drawing/2014/main" id="{14F60821-2772-D692-BAB1-2F6557F42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40036"/>
          </a:xfrm>
        </p:spPr>
        <p:txBody>
          <a:bodyPr/>
          <a:lstStyle/>
          <a:p>
            <a:r>
              <a:rPr lang="en-US" dirty="0"/>
              <a:t>Solar Pump System</a:t>
            </a:r>
          </a:p>
        </p:txBody>
      </p:sp>
      <p:sp>
        <p:nvSpPr>
          <p:cNvPr id="49" name="Content Placeholder 48">
            <a:extLst>
              <a:ext uri="{FF2B5EF4-FFF2-40B4-BE49-F238E27FC236}">
                <a16:creationId xmlns:a16="http://schemas.microsoft.com/office/drawing/2014/main" id="{6050EC31-743F-CBA1-5A64-884D774072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0928" y="545360"/>
            <a:ext cx="3981331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Notes</a:t>
            </a:r>
          </a:p>
          <a:p>
            <a:pPr>
              <a:buFontTx/>
              <a:buChar char="-"/>
            </a:pPr>
            <a:r>
              <a:rPr lang="en-US" dirty="0"/>
              <a:t>More complex + $$</a:t>
            </a:r>
          </a:p>
          <a:p>
            <a:pPr>
              <a:buFontTx/>
              <a:buChar char="-"/>
            </a:pPr>
            <a:r>
              <a:rPr lang="en-US" dirty="0"/>
              <a:t>Would have limited flowrate/pressure</a:t>
            </a:r>
          </a:p>
          <a:p>
            <a:pPr>
              <a:buFontTx/>
              <a:buChar char="-"/>
            </a:pPr>
            <a:r>
              <a:rPr lang="en-US" dirty="0"/>
              <a:t>Need large solar panel</a:t>
            </a:r>
          </a:p>
          <a:p>
            <a:pPr>
              <a:buFontTx/>
              <a:buChar char="-"/>
            </a:pPr>
            <a:r>
              <a:rPr lang="en-US" dirty="0"/>
              <a:t>Be operational only during daylight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7B1B9D0-AD74-6EE9-C3B7-D15186B4293A}"/>
              </a:ext>
            </a:extLst>
          </p:cNvPr>
          <p:cNvSpPr txBox="1"/>
          <p:nvPr/>
        </p:nvSpPr>
        <p:spPr>
          <a:xfrm>
            <a:off x="515255" y="3082534"/>
            <a:ext cx="44787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3.03 PSI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3E507CD7-CFDF-B0A6-C88B-702D9A75B555}"/>
              </a:ext>
            </a:extLst>
          </p:cNvPr>
          <p:cNvCxnSpPr>
            <a:cxnSpLocks/>
            <a:endCxn id="56" idx="1"/>
          </p:cNvCxnSpPr>
          <p:nvPr/>
        </p:nvCxnSpPr>
        <p:spPr>
          <a:xfrm>
            <a:off x="4927983" y="5462492"/>
            <a:ext cx="449782" cy="166648"/>
          </a:xfrm>
          <a:prstGeom prst="line">
            <a:avLst/>
          </a:prstGeom>
          <a:ln>
            <a:solidFill>
              <a:schemeClr val="accent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33A00687-D2F6-1B7B-E5C6-980AD0EBD722}"/>
              </a:ext>
            </a:extLst>
          </p:cNvPr>
          <p:cNvSpPr txBox="1"/>
          <p:nvPr/>
        </p:nvSpPr>
        <p:spPr>
          <a:xfrm>
            <a:off x="5377765" y="5413696"/>
            <a:ext cx="9315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psi/gpm per pump spec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0407759-99AB-D664-7721-05B6E4FE5DA3}"/>
              </a:ext>
            </a:extLst>
          </p:cNvPr>
          <p:cNvSpPr/>
          <p:nvPr/>
        </p:nvSpPr>
        <p:spPr>
          <a:xfrm>
            <a:off x="2074923" y="4525379"/>
            <a:ext cx="2110574" cy="1286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27B5D642-9DA2-B25E-75EB-E0020441275C}"/>
              </a:ext>
            </a:extLst>
          </p:cNvPr>
          <p:cNvSpPr/>
          <p:nvPr/>
        </p:nvSpPr>
        <p:spPr>
          <a:xfrm>
            <a:off x="2008883" y="4525379"/>
            <a:ext cx="132080" cy="12869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AAA78EC0-B9E4-4394-571E-A6E87BEC4737}"/>
              </a:ext>
            </a:extLst>
          </p:cNvPr>
          <p:cNvSpPr/>
          <p:nvPr/>
        </p:nvSpPr>
        <p:spPr>
          <a:xfrm>
            <a:off x="2046760" y="4561136"/>
            <a:ext cx="56326" cy="57178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CC29D901-CEFF-A0D1-D021-4274833712AE}"/>
              </a:ext>
            </a:extLst>
          </p:cNvPr>
          <p:cNvCxnSpPr>
            <a:cxnSpLocks/>
          </p:cNvCxnSpPr>
          <p:nvPr/>
        </p:nvCxnSpPr>
        <p:spPr>
          <a:xfrm flipH="1" flipV="1">
            <a:off x="956248" y="3297022"/>
            <a:ext cx="1094746" cy="1273528"/>
          </a:xfrm>
          <a:prstGeom prst="line">
            <a:avLst/>
          </a:prstGeom>
          <a:ln>
            <a:solidFill>
              <a:schemeClr val="accent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FD9A84BE-C232-E808-D54F-1F6719022744}"/>
              </a:ext>
            </a:extLst>
          </p:cNvPr>
          <p:cNvSpPr/>
          <p:nvPr/>
        </p:nvSpPr>
        <p:spPr>
          <a:xfrm>
            <a:off x="4185496" y="4036896"/>
            <a:ext cx="1284817" cy="61717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Pump Apparatus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501864-2BF9-15FF-D98A-A81EBF43C6F3}"/>
              </a:ext>
            </a:extLst>
          </p:cNvPr>
          <p:cNvSpPr/>
          <p:nvPr/>
        </p:nvSpPr>
        <p:spPr>
          <a:xfrm rot="16200000">
            <a:off x="4413780" y="4997140"/>
            <a:ext cx="823184" cy="1370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63E59BE-3124-A1F5-4438-46239FFC02BF}"/>
              </a:ext>
            </a:extLst>
          </p:cNvPr>
          <p:cNvSpPr/>
          <p:nvPr/>
        </p:nvSpPr>
        <p:spPr>
          <a:xfrm>
            <a:off x="4185495" y="3408851"/>
            <a:ext cx="1284817" cy="617176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Solar Energy</a:t>
            </a:r>
          </a:p>
        </p:txBody>
      </p:sp>
    </p:spTree>
    <p:extLst>
      <p:ext uri="{BB962C8B-B14F-4D97-AF65-F5344CB8AC3E}">
        <p14:creationId xmlns:p14="http://schemas.microsoft.com/office/powerpoint/2010/main" val="3764455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50121-AE0C-E247-D5FB-C080294CF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EA440C81-C1C6-D021-2A8C-0FC33E3D0C78}"/>
              </a:ext>
            </a:extLst>
          </p:cNvPr>
          <p:cNvSpPr/>
          <p:nvPr/>
        </p:nvSpPr>
        <p:spPr>
          <a:xfrm>
            <a:off x="5321300" y="4305967"/>
            <a:ext cx="921184" cy="1405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ABEB5B3-890F-5608-C476-9C448136B429}"/>
              </a:ext>
            </a:extLst>
          </p:cNvPr>
          <p:cNvCxnSpPr>
            <a:cxnSpLocks/>
          </p:cNvCxnSpPr>
          <p:nvPr/>
        </p:nvCxnSpPr>
        <p:spPr>
          <a:xfrm>
            <a:off x="1043873" y="5964964"/>
            <a:ext cx="10999288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3F4A39BE-8188-B8CF-B514-26F05A3F07A0}"/>
              </a:ext>
            </a:extLst>
          </p:cNvPr>
          <p:cNvSpPr/>
          <p:nvPr/>
        </p:nvSpPr>
        <p:spPr>
          <a:xfrm>
            <a:off x="1162228" y="4036896"/>
            <a:ext cx="1837346" cy="677102"/>
          </a:xfrm>
          <a:prstGeom prst="ellips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EB7700-7615-23F5-C87C-B8854CF51100}"/>
              </a:ext>
            </a:extLst>
          </p:cNvPr>
          <p:cNvSpPr/>
          <p:nvPr/>
        </p:nvSpPr>
        <p:spPr>
          <a:xfrm>
            <a:off x="1162228" y="1956988"/>
            <a:ext cx="1837346" cy="2418459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EF419EA-1061-5F5C-130D-0A5275C91145}"/>
              </a:ext>
            </a:extLst>
          </p:cNvPr>
          <p:cNvSpPr/>
          <p:nvPr/>
        </p:nvSpPr>
        <p:spPr>
          <a:xfrm>
            <a:off x="1162228" y="1618437"/>
            <a:ext cx="1837346" cy="677102"/>
          </a:xfrm>
          <a:prstGeom prst="ellips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8C240CB-5368-1595-D8EF-07E2C069ECEA}"/>
              </a:ext>
            </a:extLst>
          </p:cNvPr>
          <p:cNvCxnSpPr>
            <a:stCxn id="9" idx="6"/>
          </p:cNvCxnSpPr>
          <p:nvPr/>
        </p:nvCxnSpPr>
        <p:spPr>
          <a:xfrm>
            <a:off x="2999574" y="1956988"/>
            <a:ext cx="531026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E665303-5214-2108-70CC-1B12562ECAC3}"/>
              </a:ext>
            </a:extLst>
          </p:cNvPr>
          <p:cNvCxnSpPr>
            <a:cxnSpLocks/>
          </p:cNvCxnSpPr>
          <p:nvPr/>
        </p:nvCxnSpPr>
        <p:spPr>
          <a:xfrm flipV="1">
            <a:off x="2988061" y="4371027"/>
            <a:ext cx="542539" cy="442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C4D7324-B011-33E0-2BF8-8AE59C98634E}"/>
              </a:ext>
            </a:extLst>
          </p:cNvPr>
          <p:cNvCxnSpPr>
            <a:cxnSpLocks/>
          </p:cNvCxnSpPr>
          <p:nvPr/>
        </p:nvCxnSpPr>
        <p:spPr>
          <a:xfrm>
            <a:off x="3431599" y="1956988"/>
            <a:ext cx="0" cy="2418459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093B4DD-8FD0-9F1C-C44F-E8DDE9B66802}"/>
              </a:ext>
            </a:extLst>
          </p:cNvPr>
          <p:cNvSpPr txBox="1"/>
          <p:nvPr/>
        </p:nvSpPr>
        <p:spPr>
          <a:xfrm>
            <a:off x="2988061" y="2982401"/>
            <a:ext cx="500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 ft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64CEC30-4DE1-0975-F3BE-326E45335AE4}"/>
              </a:ext>
            </a:extLst>
          </p:cNvPr>
          <p:cNvSpPr txBox="1"/>
          <p:nvPr/>
        </p:nvSpPr>
        <p:spPr>
          <a:xfrm>
            <a:off x="7657827" y="5973805"/>
            <a:ext cx="2878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Garden (assume flat plane)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283DB1-C94B-12FD-650C-A1BD7B1CAF4D}"/>
              </a:ext>
            </a:extLst>
          </p:cNvPr>
          <p:cNvCxnSpPr>
            <a:cxnSpLocks/>
          </p:cNvCxnSpPr>
          <p:nvPr/>
        </p:nvCxnSpPr>
        <p:spPr>
          <a:xfrm>
            <a:off x="813907" y="4371027"/>
            <a:ext cx="0" cy="1589517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322895F-0315-854A-A64B-CC6884DDBB1F}"/>
              </a:ext>
            </a:extLst>
          </p:cNvPr>
          <p:cNvCxnSpPr>
            <a:cxnSpLocks/>
          </p:cNvCxnSpPr>
          <p:nvPr/>
        </p:nvCxnSpPr>
        <p:spPr>
          <a:xfrm flipV="1">
            <a:off x="411896" y="5964964"/>
            <a:ext cx="620059" cy="8841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45D8A3B9-DCE9-49E6-37F1-2C705617A2AF}"/>
              </a:ext>
            </a:extLst>
          </p:cNvPr>
          <p:cNvSpPr txBox="1"/>
          <p:nvPr/>
        </p:nvSpPr>
        <p:spPr>
          <a:xfrm>
            <a:off x="335484" y="4981119"/>
            <a:ext cx="500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 ft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DF8781D-91DA-2ABC-2EEB-29188B35D57C}"/>
              </a:ext>
            </a:extLst>
          </p:cNvPr>
          <p:cNvSpPr txBox="1"/>
          <p:nvPr/>
        </p:nvSpPr>
        <p:spPr>
          <a:xfrm>
            <a:off x="790097" y="4954761"/>
            <a:ext cx="128482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Height between tank and garden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7A90964-1CC4-4FBA-C260-DBCB126A8B6F}"/>
              </a:ext>
            </a:extLst>
          </p:cNvPr>
          <p:cNvSpPr txBox="1"/>
          <p:nvPr/>
        </p:nvSpPr>
        <p:spPr>
          <a:xfrm>
            <a:off x="3431599" y="3035412"/>
            <a:ext cx="12848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Height of tank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79C24A4-DB6E-01F3-0004-1A89BD110A50}"/>
              </a:ext>
            </a:extLst>
          </p:cNvPr>
          <p:cNvCxnSpPr>
            <a:cxnSpLocks/>
            <a:endCxn id="8" idx="2"/>
          </p:cNvCxnSpPr>
          <p:nvPr/>
        </p:nvCxnSpPr>
        <p:spPr>
          <a:xfrm>
            <a:off x="515255" y="4375447"/>
            <a:ext cx="646973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AD1516C-8AA3-E342-54D9-EFAF8B7DA15F}"/>
              </a:ext>
            </a:extLst>
          </p:cNvPr>
          <p:cNvCxnSpPr>
            <a:cxnSpLocks/>
            <a:stCxn id="2" idx="2"/>
          </p:cNvCxnSpPr>
          <p:nvPr/>
        </p:nvCxnSpPr>
        <p:spPr>
          <a:xfrm>
            <a:off x="3130210" y="4654072"/>
            <a:ext cx="583582" cy="772882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8EAC8C45-ED6B-AC0E-299B-9D4AB57F47FA}"/>
              </a:ext>
            </a:extLst>
          </p:cNvPr>
          <p:cNvSpPr txBox="1"/>
          <p:nvPr/>
        </p:nvSpPr>
        <p:spPr>
          <a:xfrm>
            <a:off x="3632879" y="5292986"/>
            <a:ext cx="20951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2” Pipe</a:t>
            </a:r>
          </a:p>
        </p:txBody>
      </p:sp>
      <p:sp>
        <p:nvSpPr>
          <p:cNvPr id="48" name="Title 47">
            <a:extLst>
              <a:ext uri="{FF2B5EF4-FFF2-40B4-BE49-F238E27FC236}">
                <a16:creationId xmlns:a16="http://schemas.microsoft.com/office/drawing/2014/main" id="{AE011B5C-E554-7A1A-938E-871C64974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40036"/>
          </a:xfrm>
        </p:spPr>
        <p:txBody>
          <a:bodyPr/>
          <a:lstStyle/>
          <a:p>
            <a:r>
              <a:rPr lang="en-US" dirty="0"/>
              <a:t>Solar + Pressure</a:t>
            </a:r>
          </a:p>
        </p:txBody>
      </p:sp>
      <p:sp>
        <p:nvSpPr>
          <p:cNvPr id="49" name="Content Placeholder 48">
            <a:extLst>
              <a:ext uri="{FF2B5EF4-FFF2-40B4-BE49-F238E27FC236}">
                <a16:creationId xmlns:a16="http://schemas.microsoft.com/office/drawing/2014/main" id="{4BA44534-3608-9B23-DCC3-9DA582CF04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0928" y="545360"/>
            <a:ext cx="3981331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Notes</a:t>
            </a:r>
          </a:p>
          <a:p>
            <a:pPr>
              <a:buFontTx/>
              <a:buChar char="-"/>
            </a:pPr>
            <a:r>
              <a:rPr lang="en-US" dirty="0"/>
              <a:t>Complex + $$$</a:t>
            </a:r>
          </a:p>
          <a:p>
            <a:pPr>
              <a:buFontTx/>
              <a:buChar char="-"/>
            </a:pPr>
            <a:r>
              <a:rPr lang="en-US" dirty="0"/>
              <a:t>Would have better flowrate/pressure</a:t>
            </a:r>
          </a:p>
          <a:p>
            <a:pPr>
              <a:buFontTx/>
              <a:buChar char="-"/>
            </a:pPr>
            <a:r>
              <a:rPr lang="en-US" dirty="0"/>
              <a:t>Would have spotty service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31610C4-1AF7-8F48-3573-4BB8C91D9DC3}"/>
              </a:ext>
            </a:extLst>
          </p:cNvPr>
          <p:cNvSpPr txBox="1"/>
          <p:nvPr/>
        </p:nvSpPr>
        <p:spPr>
          <a:xfrm>
            <a:off x="515255" y="3082534"/>
            <a:ext cx="44787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3.03 PSI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562AAE-10FB-426D-4F5E-C2BA83A64F82}"/>
              </a:ext>
            </a:extLst>
          </p:cNvPr>
          <p:cNvSpPr/>
          <p:nvPr/>
        </p:nvSpPr>
        <p:spPr>
          <a:xfrm>
            <a:off x="2074923" y="4525379"/>
            <a:ext cx="2110574" cy="1286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EF0F6E2-8724-DCA4-FE50-3F5FB5FC0BD4}"/>
              </a:ext>
            </a:extLst>
          </p:cNvPr>
          <p:cNvSpPr/>
          <p:nvPr/>
        </p:nvSpPr>
        <p:spPr>
          <a:xfrm>
            <a:off x="2008883" y="4525379"/>
            <a:ext cx="132080" cy="12869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C09CC23D-F07E-9AC0-ECF1-A3F785867656}"/>
              </a:ext>
            </a:extLst>
          </p:cNvPr>
          <p:cNvSpPr/>
          <p:nvPr/>
        </p:nvSpPr>
        <p:spPr>
          <a:xfrm>
            <a:off x="2046760" y="4561136"/>
            <a:ext cx="56326" cy="57178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506506E4-10F7-6444-BFFC-C5A23AC58115}"/>
              </a:ext>
            </a:extLst>
          </p:cNvPr>
          <p:cNvCxnSpPr>
            <a:cxnSpLocks/>
          </p:cNvCxnSpPr>
          <p:nvPr/>
        </p:nvCxnSpPr>
        <p:spPr>
          <a:xfrm flipH="1" flipV="1">
            <a:off x="956248" y="3297022"/>
            <a:ext cx="1094746" cy="1273528"/>
          </a:xfrm>
          <a:prstGeom prst="line">
            <a:avLst/>
          </a:prstGeom>
          <a:ln>
            <a:solidFill>
              <a:schemeClr val="accent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F2F0D5AF-54F2-7172-5615-737ED07B438D}"/>
              </a:ext>
            </a:extLst>
          </p:cNvPr>
          <p:cNvSpPr/>
          <p:nvPr/>
        </p:nvSpPr>
        <p:spPr>
          <a:xfrm>
            <a:off x="4185496" y="4036896"/>
            <a:ext cx="1284817" cy="61717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Pump Apparatus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5922AC6-B73A-7F8D-63F0-8448CB8730F9}"/>
              </a:ext>
            </a:extLst>
          </p:cNvPr>
          <p:cNvSpPr/>
          <p:nvPr/>
        </p:nvSpPr>
        <p:spPr>
          <a:xfrm>
            <a:off x="4185495" y="3408851"/>
            <a:ext cx="1284817" cy="617176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Solar Energy</a:t>
            </a:r>
          </a:p>
        </p:txBody>
      </p:sp>
      <p:sp>
        <p:nvSpPr>
          <p:cNvPr id="3" name="Triangle 2">
            <a:extLst>
              <a:ext uri="{FF2B5EF4-FFF2-40B4-BE49-F238E27FC236}">
                <a16:creationId xmlns:a16="http://schemas.microsoft.com/office/drawing/2014/main" id="{36C5EAC5-7F9C-4B8C-08F5-638809A67930}"/>
              </a:ext>
            </a:extLst>
          </p:cNvPr>
          <p:cNvSpPr/>
          <p:nvPr/>
        </p:nvSpPr>
        <p:spPr>
          <a:xfrm>
            <a:off x="6466963" y="5377874"/>
            <a:ext cx="385544" cy="516531"/>
          </a:xfrm>
          <a:custGeom>
            <a:avLst/>
            <a:gdLst>
              <a:gd name="connsiteX0" fmla="*/ 0 w 385544"/>
              <a:gd name="connsiteY0" fmla="*/ 516531 h 516531"/>
              <a:gd name="connsiteX1" fmla="*/ 192772 w 385544"/>
              <a:gd name="connsiteY1" fmla="*/ 0 h 516531"/>
              <a:gd name="connsiteX2" fmla="*/ 385544 w 385544"/>
              <a:gd name="connsiteY2" fmla="*/ 516531 h 516531"/>
              <a:gd name="connsiteX3" fmla="*/ 0 w 385544"/>
              <a:gd name="connsiteY3" fmla="*/ 516531 h 516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544" h="516531" fill="none" extrusionOk="0">
                <a:moveTo>
                  <a:pt x="0" y="516531"/>
                </a:moveTo>
                <a:cubicBezTo>
                  <a:pt x="2792" y="388778"/>
                  <a:pt x="158078" y="254287"/>
                  <a:pt x="192772" y="0"/>
                </a:cubicBezTo>
                <a:cubicBezTo>
                  <a:pt x="284600" y="166386"/>
                  <a:pt x="298786" y="368680"/>
                  <a:pt x="385544" y="516531"/>
                </a:cubicBezTo>
                <a:cubicBezTo>
                  <a:pt x="244705" y="524223"/>
                  <a:pt x="172335" y="486899"/>
                  <a:pt x="0" y="516531"/>
                </a:cubicBezTo>
                <a:close/>
              </a:path>
              <a:path w="385544" h="516531" stroke="0" extrusionOk="0">
                <a:moveTo>
                  <a:pt x="0" y="516531"/>
                </a:moveTo>
                <a:cubicBezTo>
                  <a:pt x="26051" y="264124"/>
                  <a:pt x="162212" y="207102"/>
                  <a:pt x="192772" y="0"/>
                </a:cubicBezTo>
                <a:cubicBezTo>
                  <a:pt x="305376" y="118208"/>
                  <a:pt x="248979" y="280772"/>
                  <a:pt x="385544" y="516531"/>
                </a:cubicBezTo>
                <a:cubicBezTo>
                  <a:pt x="232105" y="537699"/>
                  <a:pt x="144065" y="479388"/>
                  <a:pt x="0" y="516531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219033472">
                  <a:prstGeom prst="triangl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2F3239C-D290-85BE-3E4E-60CBBEFEBA9F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6759814" y="5540206"/>
            <a:ext cx="449781" cy="166648"/>
          </a:xfrm>
          <a:prstGeom prst="line">
            <a:avLst/>
          </a:prstGeom>
          <a:ln>
            <a:solidFill>
              <a:schemeClr val="accent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C97983A-A749-BFEA-4770-DB53B8D155AD}"/>
              </a:ext>
            </a:extLst>
          </p:cNvPr>
          <p:cNvSpPr txBox="1"/>
          <p:nvPr/>
        </p:nvSpPr>
        <p:spPr>
          <a:xfrm>
            <a:off x="7209595" y="5491410"/>
            <a:ext cx="10138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psi/gpm as design specs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39AA36C-1E8D-6A6B-B105-14FDA9BC4490}"/>
              </a:ext>
            </a:extLst>
          </p:cNvPr>
          <p:cNvSpPr/>
          <p:nvPr/>
        </p:nvSpPr>
        <p:spPr>
          <a:xfrm rot="16200000">
            <a:off x="6120876" y="5002209"/>
            <a:ext cx="1103761" cy="1464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F4CAC8E-ABC0-4D29-CFDA-9B4F45613956}"/>
              </a:ext>
            </a:extLst>
          </p:cNvPr>
          <p:cNvGrpSpPr/>
          <p:nvPr/>
        </p:nvGrpSpPr>
        <p:grpSpPr>
          <a:xfrm>
            <a:off x="5858843" y="3266074"/>
            <a:ext cx="1183434" cy="1430665"/>
            <a:chOff x="5716156" y="1370516"/>
            <a:chExt cx="1837346" cy="3095561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B8214CDD-2495-2D30-B579-D3C39390B432}"/>
                </a:ext>
              </a:extLst>
            </p:cNvPr>
            <p:cNvSpPr/>
            <p:nvPr/>
          </p:nvSpPr>
          <p:spPr>
            <a:xfrm>
              <a:off x="5716156" y="3788975"/>
              <a:ext cx="1837346" cy="677102"/>
            </a:xfrm>
            <a:prstGeom prst="ellipse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8ACEF99-E6F6-3BDC-EBF3-6DE3C180FBEA}"/>
                </a:ext>
              </a:extLst>
            </p:cNvPr>
            <p:cNvSpPr/>
            <p:nvPr/>
          </p:nvSpPr>
          <p:spPr>
            <a:xfrm>
              <a:off x="5716156" y="1709067"/>
              <a:ext cx="1837346" cy="2418459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  <a:p>
              <a:pPr algn="ctr"/>
              <a:r>
                <a:rPr lang="en-US" dirty="0"/>
                <a:t>Pressure Tank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4F965022-A5EC-ABC4-A257-CFE5E3B08BDE}"/>
                </a:ext>
              </a:extLst>
            </p:cNvPr>
            <p:cNvSpPr/>
            <p:nvPr/>
          </p:nvSpPr>
          <p:spPr>
            <a:xfrm>
              <a:off x="5716156" y="1370516"/>
              <a:ext cx="1837346" cy="677102"/>
            </a:xfrm>
            <a:prstGeom prst="ellipse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599079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9A6F3-D0F1-6AD5-62EA-087865E9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riangle 13">
            <a:extLst>
              <a:ext uri="{FF2B5EF4-FFF2-40B4-BE49-F238E27FC236}">
                <a16:creationId xmlns:a16="http://schemas.microsoft.com/office/drawing/2014/main" id="{427D479D-2A59-59C0-716B-29E96483E7ED}"/>
              </a:ext>
            </a:extLst>
          </p:cNvPr>
          <p:cNvSpPr/>
          <p:nvPr/>
        </p:nvSpPr>
        <p:spPr>
          <a:xfrm>
            <a:off x="6020590" y="5379714"/>
            <a:ext cx="385544" cy="516531"/>
          </a:xfrm>
          <a:custGeom>
            <a:avLst/>
            <a:gdLst>
              <a:gd name="connsiteX0" fmla="*/ 0 w 385544"/>
              <a:gd name="connsiteY0" fmla="*/ 516531 h 516531"/>
              <a:gd name="connsiteX1" fmla="*/ 192772 w 385544"/>
              <a:gd name="connsiteY1" fmla="*/ 0 h 516531"/>
              <a:gd name="connsiteX2" fmla="*/ 385544 w 385544"/>
              <a:gd name="connsiteY2" fmla="*/ 516531 h 516531"/>
              <a:gd name="connsiteX3" fmla="*/ 0 w 385544"/>
              <a:gd name="connsiteY3" fmla="*/ 516531 h 516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544" h="516531" fill="none" extrusionOk="0">
                <a:moveTo>
                  <a:pt x="0" y="516531"/>
                </a:moveTo>
                <a:cubicBezTo>
                  <a:pt x="2792" y="388778"/>
                  <a:pt x="158078" y="254287"/>
                  <a:pt x="192772" y="0"/>
                </a:cubicBezTo>
                <a:cubicBezTo>
                  <a:pt x="284600" y="166386"/>
                  <a:pt x="298786" y="368680"/>
                  <a:pt x="385544" y="516531"/>
                </a:cubicBezTo>
                <a:cubicBezTo>
                  <a:pt x="244705" y="524223"/>
                  <a:pt x="172335" y="486899"/>
                  <a:pt x="0" y="516531"/>
                </a:cubicBezTo>
                <a:close/>
              </a:path>
              <a:path w="385544" h="516531" stroke="0" extrusionOk="0">
                <a:moveTo>
                  <a:pt x="0" y="516531"/>
                </a:moveTo>
                <a:cubicBezTo>
                  <a:pt x="26051" y="264124"/>
                  <a:pt x="162212" y="207102"/>
                  <a:pt x="192772" y="0"/>
                </a:cubicBezTo>
                <a:cubicBezTo>
                  <a:pt x="305376" y="118208"/>
                  <a:pt x="248979" y="280772"/>
                  <a:pt x="385544" y="516531"/>
                </a:cubicBezTo>
                <a:cubicBezTo>
                  <a:pt x="232105" y="537699"/>
                  <a:pt x="144065" y="479388"/>
                  <a:pt x="0" y="516531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219033472">
                  <a:prstGeom prst="triangl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18CB6C4-10B0-C28D-A2B1-022A29489A4B}"/>
              </a:ext>
            </a:extLst>
          </p:cNvPr>
          <p:cNvCxnSpPr>
            <a:cxnSpLocks/>
          </p:cNvCxnSpPr>
          <p:nvPr/>
        </p:nvCxnSpPr>
        <p:spPr>
          <a:xfrm>
            <a:off x="1043873" y="5964964"/>
            <a:ext cx="10999288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9BE7D7DF-8A0A-F620-BB02-8AE63BD6E547}"/>
              </a:ext>
            </a:extLst>
          </p:cNvPr>
          <p:cNvSpPr/>
          <p:nvPr/>
        </p:nvSpPr>
        <p:spPr>
          <a:xfrm>
            <a:off x="1162228" y="4036896"/>
            <a:ext cx="1837346" cy="677102"/>
          </a:xfrm>
          <a:prstGeom prst="ellips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5CFC92-6075-E1AA-EEEB-4275BF1CD202}"/>
              </a:ext>
            </a:extLst>
          </p:cNvPr>
          <p:cNvSpPr/>
          <p:nvPr/>
        </p:nvSpPr>
        <p:spPr>
          <a:xfrm>
            <a:off x="1162228" y="1956988"/>
            <a:ext cx="1837346" cy="2418459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5DDA94F-2E6B-DB3C-12DF-264ECC3251AD}"/>
              </a:ext>
            </a:extLst>
          </p:cNvPr>
          <p:cNvSpPr/>
          <p:nvPr/>
        </p:nvSpPr>
        <p:spPr>
          <a:xfrm>
            <a:off x="1162228" y="1618437"/>
            <a:ext cx="1837346" cy="677102"/>
          </a:xfrm>
          <a:prstGeom prst="ellips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3888452-23E3-6BC3-CAC7-E19A3A2FA0AB}"/>
              </a:ext>
            </a:extLst>
          </p:cNvPr>
          <p:cNvCxnSpPr>
            <a:stCxn id="9" idx="6"/>
          </p:cNvCxnSpPr>
          <p:nvPr/>
        </p:nvCxnSpPr>
        <p:spPr>
          <a:xfrm>
            <a:off x="2999574" y="1956988"/>
            <a:ext cx="531026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4A4391A-A9B6-F655-E36E-413A4196EF8A}"/>
              </a:ext>
            </a:extLst>
          </p:cNvPr>
          <p:cNvCxnSpPr>
            <a:cxnSpLocks/>
          </p:cNvCxnSpPr>
          <p:nvPr/>
        </p:nvCxnSpPr>
        <p:spPr>
          <a:xfrm flipV="1">
            <a:off x="2988061" y="4371027"/>
            <a:ext cx="542539" cy="442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779B55B-B9D1-97A3-DF65-3C98480CA48E}"/>
              </a:ext>
            </a:extLst>
          </p:cNvPr>
          <p:cNvCxnSpPr>
            <a:cxnSpLocks/>
          </p:cNvCxnSpPr>
          <p:nvPr/>
        </p:nvCxnSpPr>
        <p:spPr>
          <a:xfrm>
            <a:off x="3431599" y="1956988"/>
            <a:ext cx="0" cy="2418459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91241B3-1054-2A04-25C8-ECF88A75E1ED}"/>
              </a:ext>
            </a:extLst>
          </p:cNvPr>
          <p:cNvSpPr txBox="1"/>
          <p:nvPr/>
        </p:nvSpPr>
        <p:spPr>
          <a:xfrm>
            <a:off x="2988061" y="2982401"/>
            <a:ext cx="500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 ft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6E20892-A6B0-CDFE-47B0-F71C9CAF9B46}"/>
              </a:ext>
            </a:extLst>
          </p:cNvPr>
          <p:cNvSpPr txBox="1"/>
          <p:nvPr/>
        </p:nvSpPr>
        <p:spPr>
          <a:xfrm>
            <a:off x="7657827" y="5973805"/>
            <a:ext cx="2878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Garden (assume flat plane)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808191D-4DB8-7555-30BB-C70B24098233}"/>
              </a:ext>
            </a:extLst>
          </p:cNvPr>
          <p:cNvCxnSpPr>
            <a:cxnSpLocks/>
          </p:cNvCxnSpPr>
          <p:nvPr/>
        </p:nvCxnSpPr>
        <p:spPr>
          <a:xfrm>
            <a:off x="813907" y="4371027"/>
            <a:ext cx="0" cy="1589517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151B8F8-25D9-9EE9-C241-0768D8F1BD51}"/>
              </a:ext>
            </a:extLst>
          </p:cNvPr>
          <p:cNvCxnSpPr>
            <a:cxnSpLocks/>
          </p:cNvCxnSpPr>
          <p:nvPr/>
        </p:nvCxnSpPr>
        <p:spPr>
          <a:xfrm flipV="1">
            <a:off x="411896" y="5964964"/>
            <a:ext cx="620059" cy="8841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99D27FFC-2CD7-F3C0-3EAA-DC3F76A1727A}"/>
              </a:ext>
            </a:extLst>
          </p:cNvPr>
          <p:cNvSpPr txBox="1"/>
          <p:nvPr/>
        </p:nvSpPr>
        <p:spPr>
          <a:xfrm>
            <a:off x="335484" y="4981119"/>
            <a:ext cx="500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 ft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D59BC67-D12E-CD9C-14C9-9D21D7147D55}"/>
              </a:ext>
            </a:extLst>
          </p:cNvPr>
          <p:cNvSpPr txBox="1"/>
          <p:nvPr/>
        </p:nvSpPr>
        <p:spPr>
          <a:xfrm>
            <a:off x="790097" y="4954761"/>
            <a:ext cx="128482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Height between tank and garden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149E434-5D64-7119-70E3-CC1D761E9FCF}"/>
              </a:ext>
            </a:extLst>
          </p:cNvPr>
          <p:cNvSpPr txBox="1"/>
          <p:nvPr/>
        </p:nvSpPr>
        <p:spPr>
          <a:xfrm>
            <a:off x="3431599" y="3035412"/>
            <a:ext cx="12848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Height of tank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DB82285-D787-F3D8-04B5-522D6EC4C395}"/>
              </a:ext>
            </a:extLst>
          </p:cNvPr>
          <p:cNvCxnSpPr>
            <a:cxnSpLocks/>
            <a:endCxn id="8" idx="2"/>
          </p:cNvCxnSpPr>
          <p:nvPr/>
        </p:nvCxnSpPr>
        <p:spPr>
          <a:xfrm>
            <a:off x="515255" y="4375447"/>
            <a:ext cx="646973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4D46122-B87D-9BA5-B0AB-B746FDA53ED4}"/>
              </a:ext>
            </a:extLst>
          </p:cNvPr>
          <p:cNvCxnSpPr>
            <a:cxnSpLocks/>
            <a:stCxn id="2" idx="2"/>
            <a:endCxn id="47" idx="0"/>
          </p:cNvCxnSpPr>
          <p:nvPr/>
        </p:nvCxnSpPr>
        <p:spPr>
          <a:xfrm>
            <a:off x="2830780" y="4654072"/>
            <a:ext cx="407382" cy="33413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FF08FB26-A0BC-9317-4672-37775094C82F}"/>
              </a:ext>
            </a:extLst>
          </p:cNvPr>
          <p:cNvSpPr txBox="1"/>
          <p:nvPr/>
        </p:nvSpPr>
        <p:spPr>
          <a:xfrm>
            <a:off x="2877567" y="4988202"/>
            <a:ext cx="72119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2” Pipe</a:t>
            </a:r>
          </a:p>
        </p:txBody>
      </p:sp>
      <p:sp>
        <p:nvSpPr>
          <p:cNvPr id="48" name="Title 47">
            <a:extLst>
              <a:ext uri="{FF2B5EF4-FFF2-40B4-BE49-F238E27FC236}">
                <a16:creationId xmlns:a16="http://schemas.microsoft.com/office/drawing/2014/main" id="{78E638DE-3027-6DAD-1482-842F6A995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40036"/>
          </a:xfrm>
        </p:spPr>
        <p:txBody>
          <a:bodyPr/>
          <a:lstStyle/>
          <a:p>
            <a:r>
              <a:rPr lang="en-US" dirty="0"/>
              <a:t>Solar + Raised</a:t>
            </a:r>
          </a:p>
        </p:txBody>
      </p:sp>
      <p:sp>
        <p:nvSpPr>
          <p:cNvPr id="49" name="Content Placeholder 48">
            <a:extLst>
              <a:ext uri="{FF2B5EF4-FFF2-40B4-BE49-F238E27FC236}">
                <a16:creationId xmlns:a16="http://schemas.microsoft.com/office/drawing/2014/main" id="{232494E9-7120-DA58-59CE-DF785F41E4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0928" y="545360"/>
            <a:ext cx="3981331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Notes</a:t>
            </a:r>
          </a:p>
          <a:p>
            <a:pPr>
              <a:buFontTx/>
              <a:buChar char="-"/>
            </a:pPr>
            <a:r>
              <a:rPr lang="en-US" dirty="0"/>
              <a:t>Complex + $$$</a:t>
            </a:r>
          </a:p>
          <a:p>
            <a:pPr>
              <a:buFontTx/>
              <a:buChar char="-"/>
            </a:pPr>
            <a:r>
              <a:rPr lang="en-US" dirty="0"/>
              <a:t>Would have good flowrate/pressure</a:t>
            </a:r>
          </a:p>
          <a:p>
            <a:pPr>
              <a:buFontTx/>
              <a:buChar char="-"/>
            </a:pPr>
            <a:r>
              <a:rPr lang="en-US" dirty="0"/>
              <a:t>Not very sustainable</a:t>
            </a:r>
          </a:p>
          <a:p>
            <a:pPr>
              <a:buFontTx/>
              <a:buChar char="-"/>
            </a:pPr>
            <a:r>
              <a:rPr lang="en-US" dirty="0"/>
              <a:t>May be unsafe</a:t>
            </a:r>
          </a:p>
          <a:p>
            <a:pPr>
              <a:buFontTx/>
              <a:buChar char="-"/>
            </a:pPr>
            <a:r>
              <a:rPr lang="en-US" dirty="0"/>
              <a:t>Might be unsightly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19CD95B-E0CF-6841-7440-70AF93FCFA49}"/>
              </a:ext>
            </a:extLst>
          </p:cNvPr>
          <p:cNvSpPr txBox="1"/>
          <p:nvPr/>
        </p:nvSpPr>
        <p:spPr>
          <a:xfrm>
            <a:off x="515255" y="3082534"/>
            <a:ext cx="44787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3.03 PSI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70B33D44-3727-6F5F-864C-FF5BD56F4303}"/>
              </a:ext>
            </a:extLst>
          </p:cNvPr>
          <p:cNvCxnSpPr>
            <a:cxnSpLocks/>
            <a:endCxn id="56" idx="1"/>
          </p:cNvCxnSpPr>
          <p:nvPr/>
        </p:nvCxnSpPr>
        <p:spPr>
          <a:xfrm>
            <a:off x="6313441" y="5542046"/>
            <a:ext cx="449782" cy="166648"/>
          </a:xfrm>
          <a:prstGeom prst="line">
            <a:avLst/>
          </a:prstGeom>
          <a:ln>
            <a:solidFill>
              <a:schemeClr val="accent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1AC5675A-0F7B-924E-5DCE-C8551519401D}"/>
              </a:ext>
            </a:extLst>
          </p:cNvPr>
          <p:cNvSpPr txBox="1"/>
          <p:nvPr/>
        </p:nvSpPr>
        <p:spPr>
          <a:xfrm>
            <a:off x="6763223" y="5493250"/>
            <a:ext cx="9315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psi/gpm per tank height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CC58842-C564-0C79-A506-7C13F84EC975}"/>
              </a:ext>
            </a:extLst>
          </p:cNvPr>
          <p:cNvSpPr/>
          <p:nvPr/>
        </p:nvSpPr>
        <p:spPr>
          <a:xfrm>
            <a:off x="2074923" y="4525380"/>
            <a:ext cx="1511714" cy="1286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F9F722BC-9E25-8E80-1282-57B85AEAEC24}"/>
              </a:ext>
            </a:extLst>
          </p:cNvPr>
          <p:cNvSpPr/>
          <p:nvPr/>
        </p:nvSpPr>
        <p:spPr>
          <a:xfrm>
            <a:off x="2008883" y="4525379"/>
            <a:ext cx="132080" cy="12869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EB815116-402C-3B58-FA65-31D3A633BB4B}"/>
              </a:ext>
            </a:extLst>
          </p:cNvPr>
          <p:cNvSpPr/>
          <p:nvPr/>
        </p:nvSpPr>
        <p:spPr>
          <a:xfrm>
            <a:off x="2046760" y="4561136"/>
            <a:ext cx="56326" cy="57178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E74FC27C-C8A3-E7CE-CB0B-978060DE1BE4}"/>
              </a:ext>
            </a:extLst>
          </p:cNvPr>
          <p:cNvCxnSpPr>
            <a:cxnSpLocks/>
          </p:cNvCxnSpPr>
          <p:nvPr/>
        </p:nvCxnSpPr>
        <p:spPr>
          <a:xfrm flipH="1" flipV="1">
            <a:off x="956248" y="3297022"/>
            <a:ext cx="1094746" cy="1273528"/>
          </a:xfrm>
          <a:prstGeom prst="line">
            <a:avLst/>
          </a:prstGeom>
          <a:ln>
            <a:solidFill>
              <a:schemeClr val="accent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501F6EAA-5EE3-2C59-5C14-520135FD1413}"/>
              </a:ext>
            </a:extLst>
          </p:cNvPr>
          <p:cNvSpPr/>
          <p:nvPr/>
        </p:nvSpPr>
        <p:spPr>
          <a:xfrm rot="16200000">
            <a:off x="4707897" y="4037443"/>
            <a:ext cx="3036974" cy="1464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79B766B-2CA4-3EF9-04A0-35F9FD890B38}"/>
              </a:ext>
            </a:extLst>
          </p:cNvPr>
          <p:cNvSpPr/>
          <p:nvPr/>
        </p:nvSpPr>
        <p:spPr>
          <a:xfrm>
            <a:off x="4874927" y="4307807"/>
            <a:ext cx="921184" cy="1405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BBEF4FA-6A09-43A0-E651-1BFEF2272BD8}"/>
              </a:ext>
            </a:extLst>
          </p:cNvPr>
          <p:cNvSpPr/>
          <p:nvPr/>
        </p:nvSpPr>
        <p:spPr>
          <a:xfrm rot="5400000">
            <a:off x="4899973" y="3411696"/>
            <a:ext cx="1651678" cy="1405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4C5D357-98D9-7F94-41BA-A72F10649ED6}"/>
              </a:ext>
            </a:extLst>
          </p:cNvPr>
          <p:cNvGrpSpPr/>
          <p:nvPr/>
        </p:nvGrpSpPr>
        <p:grpSpPr>
          <a:xfrm>
            <a:off x="5402360" y="1405162"/>
            <a:ext cx="1183434" cy="1430665"/>
            <a:chOff x="5716156" y="1370516"/>
            <a:chExt cx="1837346" cy="3095561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588DDDC-92C5-8881-CF55-146366803941}"/>
                </a:ext>
              </a:extLst>
            </p:cNvPr>
            <p:cNvSpPr/>
            <p:nvPr/>
          </p:nvSpPr>
          <p:spPr>
            <a:xfrm>
              <a:off x="5716156" y="3788975"/>
              <a:ext cx="1837346" cy="677102"/>
            </a:xfrm>
            <a:prstGeom prst="ellipse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9CA7D75-448D-75D8-BA01-3C0E513DD39A}"/>
                </a:ext>
              </a:extLst>
            </p:cNvPr>
            <p:cNvSpPr/>
            <p:nvPr/>
          </p:nvSpPr>
          <p:spPr>
            <a:xfrm>
              <a:off x="5716156" y="1709067"/>
              <a:ext cx="1837346" cy="2418459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  <a:p>
              <a:pPr algn="ctr"/>
              <a:r>
                <a:rPr lang="en-US" dirty="0"/>
                <a:t>Raised Tank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31DC5BEC-B483-EEC3-90E1-C62387D2A238}"/>
                </a:ext>
              </a:extLst>
            </p:cNvPr>
            <p:cNvSpPr/>
            <p:nvPr/>
          </p:nvSpPr>
          <p:spPr>
            <a:xfrm>
              <a:off x="5716156" y="1370516"/>
              <a:ext cx="1837346" cy="677102"/>
            </a:xfrm>
            <a:prstGeom prst="ellipse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38153CCB-4849-1DC7-517F-6FCA791CF500}"/>
              </a:ext>
            </a:extLst>
          </p:cNvPr>
          <p:cNvSpPr/>
          <p:nvPr/>
        </p:nvSpPr>
        <p:spPr>
          <a:xfrm>
            <a:off x="3590085" y="4057045"/>
            <a:ext cx="1284817" cy="61717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Pump Apparatus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4C2163-6A63-F6D3-3FFB-A8548813528A}"/>
              </a:ext>
            </a:extLst>
          </p:cNvPr>
          <p:cNvSpPr/>
          <p:nvPr/>
        </p:nvSpPr>
        <p:spPr>
          <a:xfrm>
            <a:off x="3590084" y="3429000"/>
            <a:ext cx="1284817" cy="617176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Solar Energy</a:t>
            </a:r>
          </a:p>
        </p:txBody>
      </p:sp>
    </p:spTree>
    <p:extLst>
      <p:ext uri="{BB962C8B-B14F-4D97-AF65-F5344CB8AC3E}">
        <p14:creationId xmlns:p14="http://schemas.microsoft.com/office/powerpoint/2010/main" val="27884454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CD671-8435-8B8D-BCA2-3EA042A36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riangle 13">
            <a:extLst>
              <a:ext uri="{FF2B5EF4-FFF2-40B4-BE49-F238E27FC236}">
                <a16:creationId xmlns:a16="http://schemas.microsoft.com/office/drawing/2014/main" id="{60E6AFC2-1D6D-2323-DB1A-77D98F7F165B}"/>
              </a:ext>
            </a:extLst>
          </p:cNvPr>
          <p:cNvSpPr/>
          <p:nvPr/>
        </p:nvSpPr>
        <p:spPr>
          <a:xfrm>
            <a:off x="4635132" y="5300160"/>
            <a:ext cx="385544" cy="516531"/>
          </a:xfrm>
          <a:custGeom>
            <a:avLst/>
            <a:gdLst>
              <a:gd name="connsiteX0" fmla="*/ 0 w 385544"/>
              <a:gd name="connsiteY0" fmla="*/ 516531 h 516531"/>
              <a:gd name="connsiteX1" fmla="*/ 192772 w 385544"/>
              <a:gd name="connsiteY1" fmla="*/ 0 h 516531"/>
              <a:gd name="connsiteX2" fmla="*/ 385544 w 385544"/>
              <a:gd name="connsiteY2" fmla="*/ 516531 h 516531"/>
              <a:gd name="connsiteX3" fmla="*/ 0 w 385544"/>
              <a:gd name="connsiteY3" fmla="*/ 516531 h 516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544" h="516531" fill="none" extrusionOk="0">
                <a:moveTo>
                  <a:pt x="0" y="516531"/>
                </a:moveTo>
                <a:cubicBezTo>
                  <a:pt x="2792" y="388778"/>
                  <a:pt x="158078" y="254287"/>
                  <a:pt x="192772" y="0"/>
                </a:cubicBezTo>
                <a:cubicBezTo>
                  <a:pt x="284600" y="166386"/>
                  <a:pt x="298786" y="368680"/>
                  <a:pt x="385544" y="516531"/>
                </a:cubicBezTo>
                <a:cubicBezTo>
                  <a:pt x="244705" y="524223"/>
                  <a:pt x="172335" y="486899"/>
                  <a:pt x="0" y="516531"/>
                </a:cubicBezTo>
                <a:close/>
              </a:path>
              <a:path w="385544" h="516531" stroke="0" extrusionOk="0">
                <a:moveTo>
                  <a:pt x="0" y="516531"/>
                </a:moveTo>
                <a:cubicBezTo>
                  <a:pt x="26051" y="264124"/>
                  <a:pt x="162212" y="207102"/>
                  <a:pt x="192772" y="0"/>
                </a:cubicBezTo>
                <a:cubicBezTo>
                  <a:pt x="305376" y="118208"/>
                  <a:pt x="248979" y="280772"/>
                  <a:pt x="385544" y="516531"/>
                </a:cubicBezTo>
                <a:cubicBezTo>
                  <a:pt x="232105" y="537699"/>
                  <a:pt x="144065" y="479388"/>
                  <a:pt x="0" y="516531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219033472">
                  <a:prstGeom prst="triangl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9092F0A-956B-EF7F-6F85-DE79255BFF93}"/>
              </a:ext>
            </a:extLst>
          </p:cNvPr>
          <p:cNvCxnSpPr>
            <a:cxnSpLocks/>
          </p:cNvCxnSpPr>
          <p:nvPr/>
        </p:nvCxnSpPr>
        <p:spPr>
          <a:xfrm>
            <a:off x="1043873" y="5964964"/>
            <a:ext cx="10999288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A90C9830-C45E-8ED5-36EC-E0F81C8B67EA}"/>
              </a:ext>
            </a:extLst>
          </p:cNvPr>
          <p:cNvSpPr/>
          <p:nvPr/>
        </p:nvSpPr>
        <p:spPr>
          <a:xfrm>
            <a:off x="1162228" y="4036896"/>
            <a:ext cx="1837346" cy="677102"/>
          </a:xfrm>
          <a:prstGeom prst="ellips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875AE4-2C84-2A1F-83E7-1460E170E8F3}"/>
              </a:ext>
            </a:extLst>
          </p:cNvPr>
          <p:cNvSpPr/>
          <p:nvPr/>
        </p:nvSpPr>
        <p:spPr>
          <a:xfrm>
            <a:off x="1162228" y="1956988"/>
            <a:ext cx="1837346" cy="2418459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EFA2B7F-ECB9-9D6F-B4F8-EB5073975C9A}"/>
              </a:ext>
            </a:extLst>
          </p:cNvPr>
          <p:cNvSpPr/>
          <p:nvPr/>
        </p:nvSpPr>
        <p:spPr>
          <a:xfrm>
            <a:off x="1162228" y="1618437"/>
            <a:ext cx="1837346" cy="677102"/>
          </a:xfrm>
          <a:prstGeom prst="ellips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660351C-4C59-CFA2-CCD2-B0BE9C0988DF}"/>
              </a:ext>
            </a:extLst>
          </p:cNvPr>
          <p:cNvCxnSpPr>
            <a:stCxn id="9" idx="6"/>
          </p:cNvCxnSpPr>
          <p:nvPr/>
        </p:nvCxnSpPr>
        <p:spPr>
          <a:xfrm>
            <a:off x="2999574" y="1956988"/>
            <a:ext cx="531026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206C9D4-CADE-8B21-C49B-CCCE6621C7A3}"/>
              </a:ext>
            </a:extLst>
          </p:cNvPr>
          <p:cNvCxnSpPr>
            <a:cxnSpLocks/>
          </p:cNvCxnSpPr>
          <p:nvPr/>
        </p:nvCxnSpPr>
        <p:spPr>
          <a:xfrm flipV="1">
            <a:off x="2988061" y="4371027"/>
            <a:ext cx="542539" cy="442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92FFA63-50FE-691B-1843-1ABEFE94A0AB}"/>
              </a:ext>
            </a:extLst>
          </p:cNvPr>
          <p:cNvCxnSpPr>
            <a:cxnSpLocks/>
          </p:cNvCxnSpPr>
          <p:nvPr/>
        </p:nvCxnSpPr>
        <p:spPr>
          <a:xfrm>
            <a:off x="3431599" y="1956988"/>
            <a:ext cx="0" cy="2418459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B862731-62C8-EE03-0027-765EC7166CBF}"/>
              </a:ext>
            </a:extLst>
          </p:cNvPr>
          <p:cNvSpPr txBox="1"/>
          <p:nvPr/>
        </p:nvSpPr>
        <p:spPr>
          <a:xfrm>
            <a:off x="2988061" y="2982401"/>
            <a:ext cx="500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 ft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7E3F051-3831-C468-2A90-4AF055C1E645}"/>
              </a:ext>
            </a:extLst>
          </p:cNvPr>
          <p:cNvSpPr txBox="1"/>
          <p:nvPr/>
        </p:nvSpPr>
        <p:spPr>
          <a:xfrm>
            <a:off x="7657827" y="5973805"/>
            <a:ext cx="2878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Garden (assume flat plane)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CE99A23-5D3E-FAA0-5793-53FE1E2C1C13}"/>
              </a:ext>
            </a:extLst>
          </p:cNvPr>
          <p:cNvCxnSpPr>
            <a:cxnSpLocks/>
          </p:cNvCxnSpPr>
          <p:nvPr/>
        </p:nvCxnSpPr>
        <p:spPr>
          <a:xfrm>
            <a:off x="813907" y="4371027"/>
            <a:ext cx="0" cy="1589517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7FB4A4F-5E78-5CF1-55C7-99CAAE7DFA59}"/>
              </a:ext>
            </a:extLst>
          </p:cNvPr>
          <p:cNvCxnSpPr>
            <a:cxnSpLocks/>
          </p:cNvCxnSpPr>
          <p:nvPr/>
        </p:nvCxnSpPr>
        <p:spPr>
          <a:xfrm flipV="1">
            <a:off x="411896" y="5964964"/>
            <a:ext cx="620059" cy="8841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B12D1743-3184-07F2-A6C1-E7F939E3B5BC}"/>
              </a:ext>
            </a:extLst>
          </p:cNvPr>
          <p:cNvSpPr txBox="1"/>
          <p:nvPr/>
        </p:nvSpPr>
        <p:spPr>
          <a:xfrm>
            <a:off x="335484" y="4981119"/>
            <a:ext cx="500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 ft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021CABC-DC55-86A7-3977-F77CA6F5C8A0}"/>
              </a:ext>
            </a:extLst>
          </p:cNvPr>
          <p:cNvSpPr txBox="1"/>
          <p:nvPr/>
        </p:nvSpPr>
        <p:spPr>
          <a:xfrm>
            <a:off x="790097" y="4954761"/>
            <a:ext cx="128482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Height between tank and garden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694A655-59A3-7CE5-87C0-DEA6BF73533F}"/>
              </a:ext>
            </a:extLst>
          </p:cNvPr>
          <p:cNvSpPr txBox="1"/>
          <p:nvPr/>
        </p:nvSpPr>
        <p:spPr>
          <a:xfrm>
            <a:off x="3431599" y="3035412"/>
            <a:ext cx="12848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Height of tank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645DD9-795D-11E6-3163-BFA32EF159FE}"/>
              </a:ext>
            </a:extLst>
          </p:cNvPr>
          <p:cNvCxnSpPr>
            <a:cxnSpLocks/>
            <a:endCxn id="8" idx="2"/>
          </p:cNvCxnSpPr>
          <p:nvPr/>
        </p:nvCxnSpPr>
        <p:spPr>
          <a:xfrm>
            <a:off x="515255" y="4375447"/>
            <a:ext cx="646973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D337FE6-7F78-61BA-6701-64FE6F09C75B}"/>
              </a:ext>
            </a:extLst>
          </p:cNvPr>
          <p:cNvCxnSpPr>
            <a:cxnSpLocks/>
            <a:stCxn id="2" idx="2"/>
          </p:cNvCxnSpPr>
          <p:nvPr/>
        </p:nvCxnSpPr>
        <p:spPr>
          <a:xfrm>
            <a:off x="3130210" y="4654072"/>
            <a:ext cx="583582" cy="772882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78988F55-0E82-7EDB-221D-B2C5CAFDAC97}"/>
              </a:ext>
            </a:extLst>
          </p:cNvPr>
          <p:cNvSpPr txBox="1"/>
          <p:nvPr/>
        </p:nvSpPr>
        <p:spPr>
          <a:xfrm>
            <a:off x="3632879" y="5292986"/>
            <a:ext cx="20951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2” Pipe</a:t>
            </a:r>
          </a:p>
        </p:txBody>
      </p:sp>
      <p:sp>
        <p:nvSpPr>
          <p:cNvPr id="48" name="Title 47">
            <a:extLst>
              <a:ext uri="{FF2B5EF4-FFF2-40B4-BE49-F238E27FC236}">
                <a16:creationId xmlns:a16="http://schemas.microsoft.com/office/drawing/2014/main" id="{6A37D6EA-6FEB-372D-6FBA-37B8F2745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40036"/>
          </a:xfrm>
        </p:spPr>
        <p:txBody>
          <a:bodyPr/>
          <a:lstStyle/>
          <a:p>
            <a:r>
              <a:rPr lang="en-US" dirty="0"/>
              <a:t>Battery Pump System</a:t>
            </a:r>
          </a:p>
        </p:txBody>
      </p:sp>
      <p:sp>
        <p:nvSpPr>
          <p:cNvPr id="49" name="Content Placeholder 48">
            <a:extLst>
              <a:ext uri="{FF2B5EF4-FFF2-40B4-BE49-F238E27FC236}">
                <a16:creationId xmlns:a16="http://schemas.microsoft.com/office/drawing/2014/main" id="{316AE743-B8A3-CAC8-E109-C1E78699BB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0928" y="545360"/>
            <a:ext cx="3981331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Notes</a:t>
            </a:r>
          </a:p>
          <a:p>
            <a:pPr>
              <a:buFontTx/>
              <a:buChar char="-"/>
            </a:pPr>
            <a:r>
              <a:rPr lang="en-US" dirty="0"/>
              <a:t>More complex + $$</a:t>
            </a:r>
          </a:p>
          <a:p>
            <a:pPr>
              <a:buFontTx/>
              <a:buChar char="-"/>
            </a:pPr>
            <a:r>
              <a:rPr lang="en-US" dirty="0"/>
              <a:t>Would be less limited energy</a:t>
            </a:r>
          </a:p>
          <a:p>
            <a:pPr>
              <a:buFontTx/>
              <a:buChar char="-"/>
            </a:pPr>
            <a:r>
              <a:rPr lang="en-US" dirty="0"/>
              <a:t>Would require charging</a:t>
            </a:r>
          </a:p>
          <a:p>
            <a:pPr>
              <a:buFontTx/>
              <a:buChar char="-"/>
            </a:pPr>
            <a:r>
              <a:rPr lang="en-US" dirty="0"/>
              <a:t>More expensive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D011AD7-0E7E-A3EA-186E-EDB5D95A33DD}"/>
              </a:ext>
            </a:extLst>
          </p:cNvPr>
          <p:cNvSpPr txBox="1"/>
          <p:nvPr/>
        </p:nvSpPr>
        <p:spPr>
          <a:xfrm>
            <a:off x="515255" y="3082534"/>
            <a:ext cx="44787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3.03 PSI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EA189448-4491-C2E9-E509-82FBF96E6CF1}"/>
              </a:ext>
            </a:extLst>
          </p:cNvPr>
          <p:cNvCxnSpPr>
            <a:cxnSpLocks/>
            <a:endCxn id="56" idx="1"/>
          </p:cNvCxnSpPr>
          <p:nvPr/>
        </p:nvCxnSpPr>
        <p:spPr>
          <a:xfrm>
            <a:off x="4927983" y="5462492"/>
            <a:ext cx="449782" cy="166648"/>
          </a:xfrm>
          <a:prstGeom prst="line">
            <a:avLst/>
          </a:prstGeom>
          <a:ln>
            <a:solidFill>
              <a:schemeClr val="accent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7EA045E0-042B-7BB6-467A-D33F55956DB3}"/>
              </a:ext>
            </a:extLst>
          </p:cNvPr>
          <p:cNvSpPr txBox="1"/>
          <p:nvPr/>
        </p:nvSpPr>
        <p:spPr>
          <a:xfrm>
            <a:off x="5377765" y="5413696"/>
            <a:ext cx="9315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psi/gpm per pump spec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51E782-63DA-3596-31BF-4C4B94C24259}"/>
              </a:ext>
            </a:extLst>
          </p:cNvPr>
          <p:cNvSpPr/>
          <p:nvPr/>
        </p:nvSpPr>
        <p:spPr>
          <a:xfrm>
            <a:off x="2074923" y="4525379"/>
            <a:ext cx="2110574" cy="1286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9B8F9FAE-80F3-D585-4191-F2C5DA4648D8}"/>
              </a:ext>
            </a:extLst>
          </p:cNvPr>
          <p:cNvSpPr/>
          <p:nvPr/>
        </p:nvSpPr>
        <p:spPr>
          <a:xfrm>
            <a:off x="2008883" y="4525379"/>
            <a:ext cx="132080" cy="12869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77D9CBE6-52D7-8D9A-0695-25F23D7C8770}"/>
              </a:ext>
            </a:extLst>
          </p:cNvPr>
          <p:cNvSpPr/>
          <p:nvPr/>
        </p:nvSpPr>
        <p:spPr>
          <a:xfrm>
            <a:off x="2046760" y="4561136"/>
            <a:ext cx="56326" cy="57178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F3C40CBC-41DD-CD29-D346-0B94674A86E6}"/>
              </a:ext>
            </a:extLst>
          </p:cNvPr>
          <p:cNvCxnSpPr>
            <a:cxnSpLocks/>
          </p:cNvCxnSpPr>
          <p:nvPr/>
        </p:nvCxnSpPr>
        <p:spPr>
          <a:xfrm flipH="1" flipV="1">
            <a:off x="956248" y="3297022"/>
            <a:ext cx="1094746" cy="1273528"/>
          </a:xfrm>
          <a:prstGeom prst="line">
            <a:avLst/>
          </a:prstGeom>
          <a:ln>
            <a:solidFill>
              <a:schemeClr val="accent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E1824A1-5D09-3E37-927A-DD0B6D20CB03}"/>
              </a:ext>
            </a:extLst>
          </p:cNvPr>
          <p:cNvSpPr/>
          <p:nvPr/>
        </p:nvSpPr>
        <p:spPr>
          <a:xfrm>
            <a:off x="4185496" y="4036896"/>
            <a:ext cx="1284817" cy="61717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Pump Apparatus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8C6445-35E5-56AE-B06E-97D9BC67CCFB}"/>
              </a:ext>
            </a:extLst>
          </p:cNvPr>
          <p:cNvSpPr/>
          <p:nvPr/>
        </p:nvSpPr>
        <p:spPr>
          <a:xfrm rot="16200000">
            <a:off x="4413780" y="4997140"/>
            <a:ext cx="823184" cy="1370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9A1F66A-0ECB-2D50-1AE6-A8C52E788334}"/>
              </a:ext>
            </a:extLst>
          </p:cNvPr>
          <p:cNvSpPr/>
          <p:nvPr/>
        </p:nvSpPr>
        <p:spPr>
          <a:xfrm>
            <a:off x="4185495" y="3408851"/>
            <a:ext cx="1284817" cy="61717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Battery Energy</a:t>
            </a:r>
          </a:p>
        </p:txBody>
      </p:sp>
    </p:spTree>
    <p:extLst>
      <p:ext uri="{BB962C8B-B14F-4D97-AF65-F5344CB8AC3E}">
        <p14:creationId xmlns:p14="http://schemas.microsoft.com/office/powerpoint/2010/main" val="6023533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10E38-70C9-9DF6-B6B8-CAB0A481E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F91FB4E2-9F4D-0EA0-81CB-C49C41226702}"/>
              </a:ext>
            </a:extLst>
          </p:cNvPr>
          <p:cNvSpPr/>
          <p:nvPr/>
        </p:nvSpPr>
        <p:spPr>
          <a:xfrm>
            <a:off x="5321300" y="4305967"/>
            <a:ext cx="921184" cy="1405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D19A1D1-0ACA-5454-FB21-F95BF6DDEFC7}"/>
              </a:ext>
            </a:extLst>
          </p:cNvPr>
          <p:cNvCxnSpPr>
            <a:cxnSpLocks/>
          </p:cNvCxnSpPr>
          <p:nvPr/>
        </p:nvCxnSpPr>
        <p:spPr>
          <a:xfrm>
            <a:off x="1043873" y="5964964"/>
            <a:ext cx="10999288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83E34C30-D42B-D98D-653E-AFC28FD64B84}"/>
              </a:ext>
            </a:extLst>
          </p:cNvPr>
          <p:cNvSpPr/>
          <p:nvPr/>
        </p:nvSpPr>
        <p:spPr>
          <a:xfrm>
            <a:off x="1162228" y="4036896"/>
            <a:ext cx="1837346" cy="677102"/>
          </a:xfrm>
          <a:prstGeom prst="ellips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9EE4D3-CAA9-1243-A5FD-547E80037269}"/>
              </a:ext>
            </a:extLst>
          </p:cNvPr>
          <p:cNvSpPr/>
          <p:nvPr/>
        </p:nvSpPr>
        <p:spPr>
          <a:xfrm>
            <a:off x="1162228" y="1956988"/>
            <a:ext cx="1837346" cy="2418459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0E9F5B6-9BB1-F33B-DB43-470565DDB3E7}"/>
              </a:ext>
            </a:extLst>
          </p:cNvPr>
          <p:cNvSpPr/>
          <p:nvPr/>
        </p:nvSpPr>
        <p:spPr>
          <a:xfrm>
            <a:off x="1162228" y="1618437"/>
            <a:ext cx="1837346" cy="677102"/>
          </a:xfrm>
          <a:prstGeom prst="ellips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C80E96F-5AD9-6F77-E881-32DEBE9F5E67}"/>
              </a:ext>
            </a:extLst>
          </p:cNvPr>
          <p:cNvCxnSpPr>
            <a:stCxn id="9" idx="6"/>
          </p:cNvCxnSpPr>
          <p:nvPr/>
        </p:nvCxnSpPr>
        <p:spPr>
          <a:xfrm>
            <a:off x="2999574" y="1956988"/>
            <a:ext cx="531026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F961BCA-71BF-B0A2-0868-4A3FD83D4535}"/>
              </a:ext>
            </a:extLst>
          </p:cNvPr>
          <p:cNvCxnSpPr>
            <a:cxnSpLocks/>
          </p:cNvCxnSpPr>
          <p:nvPr/>
        </p:nvCxnSpPr>
        <p:spPr>
          <a:xfrm flipV="1">
            <a:off x="2988061" y="4371027"/>
            <a:ext cx="542539" cy="442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8448150-78C3-9560-43E4-7A2623E77B20}"/>
              </a:ext>
            </a:extLst>
          </p:cNvPr>
          <p:cNvCxnSpPr>
            <a:cxnSpLocks/>
          </p:cNvCxnSpPr>
          <p:nvPr/>
        </p:nvCxnSpPr>
        <p:spPr>
          <a:xfrm>
            <a:off x="3431599" y="1956988"/>
            <a:ext cx="0" cy="2418459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13BEB6B-0DEC-8C19-1C0A-CE0541315AA8}"/>
              </a:ext>
            </a:extLst>
          </p:cNvPr>
          <p:cNvSpPr txBox="1"/>
          <p:nvPr/>
        </p:nvSpPr>
        <p:spPr>
          <a:xfrm>
            <a:off x="2988061" y="2982401"/>
            <a:ext cx="500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 ft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BAE74FB-4BE5-BAEE-EEC0-B46D74B4D43D}"/>
              </a:ext>
            </a:extLst>
          </p:cNvPr>
          <p:cNvSpPr txBox="1"/>
          <p:nvPr/>
        </p:nvSpPr>
        <p:spPr>
          <a:xfrm>
            <a:off x="7657827" y="5973805"/>
            <a:ext cx="2878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Garden (assume flat plane)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0C33065-EF21-FB81-F229-BB03EDC0DB92}"/>
              </a:ext>
            </a:extLst>
          </p:cNvPr>
          <p:cNvCxnSpPr>
            <a:cxnSpLocks/>
          </p:cNvCxnSpPr>
          <p:nvPr/>
        </p:nvCxnSpPr>
        <p:spPr>
          <a:xfrm>
            <a:off x="813907" y="4371027"/>
            <a:ext cx="0" cy="1589517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1277AE7-3492-D51A-EA81-25140045E9F2}"/>
              </a:ext>
            </a:extLst>
          </p:cNvPr>
          <p:cNvCxnSpPr>
            <a:cxnSpLocks/>
          </p:cNvCxnSpPr>
          <p:nvPr/>
        </p:nvCxnSpPr>
        <p:spPr>
          <a:xfrm flipV="1">
            <a:off x="411896" y="5964964"/>
            <a:ext cx="620059" cy="8841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3AA77EA-DBE5-0C7C-E02C-9AE26ED124F6}"/>
              </a:ext>
            </a:extLst>
          </p:cNvPr>
          <p:cNvSpPr txBox="1"/>
          <p:nvPr/>
        </p:nvSpPr>
        <p:spPr>
          <a:xfrm>
            <a:off x="335484" y="4981119"/>
            <a:ext cx="500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 ft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8296219-2C25-32A3-5C49-D024CBDB5723}"/>
              </a:ext>
            </a:extLst>
          </p:cNvPr>
          <p:cNvSpPr txBox="1"/>
          <p:nvPr/>
        </p:nvSpPr>
        <p:spPr>
          <a:xfrm>
            <a:off x="790097" y="4954761"/>
            <a:ext cx="128482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Height between tank and garden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A697EE6-ABBF-2731-1BF2-4932A122A09E}"/>
              </a:ext>
            </a:extLst>
          </p:cNvPr>
          <p:cNvSpPr txBox="1"/>
          <p:nvPr/>
        </p:nvSpPr>
        <p:spPr>
          <a:xfrm>
            <a:off x="3431599" y="3035412"/>
            <a:ext cx="12848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Height of tank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C438157-900F-F4FC-F342-6774CC4504AE}"/>
              </a:ext>
            </a:extLst>
          </p:cNvPr>
          <p:cNvCxnSpPr>
            <a:cxnSpLocks/>
            <a:endCxn id="8" idx="2"/>
          </p:cNvCxnSpPr>
          <p:nvPr/>
        </p:nvCxnSpPr>
        <p:spPr>
          <a:xfrm>
            <a:off x="515255" y="4375447"/>
            <a:ext cx="646973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C902758-811F-E774-6828-217E6076D2F9}"/>
              </a:ext>
            </a:extLst>
          </p:cNvPr>
          <p:cNvCxnSpPr>
            <a:cxnSpLocks/>
            <a:stCxn id="2" idx="2"/>
          </p:cNvCxnSpPr>
          <p:nvPr/>
        </p:nvCxnSpPr>
        <p:spPr>
          <a:xfrm>
            <a:off x="3130210" y="4654072"/>
            <a:ext cx="583582" cy="772882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27ED92D3-874C-D83A-8CA9-8DA351BEB851}"/>
              </a:ext>
            </a:extLst>
          </p:cNvPr>
          <p:cNvSpPr txBox="1"/>
          <p:nvPr/>
        </p:nvSpPr>
        <p:spPr>
          <a:xfrm>
            <a:off x="3632879" y="5292986"/>
            <a:ext cx="20951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2” Pipe</a:t>
            </a:r>
          </a:p>
        </p:txBody>
      </p:sp>
      <p:sp>
        <p:nvSpPr>
          <p:cNvPr id="48" name="Title 47">
            <a:extLst>
              <a:ext uri="{FF2B5EF4-FFF2-40B4-BE49-F238E27FC236}">
                <a16:creationId xmlns:a16="http://schemas.microsoft.com/office/drawing/2014/main" id="{84D96739-79F0-7039-6883-7D5C99EB6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40036"/>
          </a:xfrm>
        </p:spPr>
        <p:txBody>
          <a:bodyPr/>
          <a:lstStyle/>
          <a:p>
            <a:r>
              <a:rPr lang="en-US" dirty="0"/>
              <a:t>Battery + Pressure</a:t>
            </a:r>
          </a:p>
        </p:txBody>
      </p:sp>
      <p:sp>
        <p:nvSpPr>
          <p:cNvPr id="49" name="Content Placeholder 48">
            <a:extLst>
              <a:ext uri="{FF2B5EF4-FFF2-40B4-BE49-F238E27FC236}">
                <a16:creationId xmlns:a16="http://schemas.microsoft.com/office/drawing/2014/main" id="{57B6B6AA-0251-28E8-E4C9-22DD7757F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0928" y="545360"/>
            <a:ext cx="3981331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Notes</a:t>
            </a:r>
          </a:p>
          <a:p>
            <a:pPr>
              <a:buFontTx/>
              <a:buChar char="-"/>
            </a:pPr>
            <a:r>
              <a:rPr lang="en-US" dirty="0"/>
              <a:t>Complex + $$$</a:t>
            </a:r>
          </a:p>
          <a:p>
            <a:pPr>
              <a:buFontTx/>
              <a:buChar char="-"/>
            </a:pPr>
            <a:r>
              <a:rPr lang="en-US" dirty="0"/>
              <a:t>Would have better flowrate/pressure</a:t>
            </a:r>
          </a:p>
          <a:p>
            <a:pPr>
              <a:buFontTx/>
              <a:buChar char="-"/>
            </a:pPr>
            <a:r>
              <a:rPr lang="en-US" dirty="0"/>
              <a:t>Would have spotty service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A39A62B-C3B0-47D8-C879-2DF363B8E967}"/>
              </a:ext>
            </a:extLst>
          </p:cNvPr>
          <p:cNvSpPr txBox="1"/>
          <p:nvPr/>
        </p:nvSpPr>
        <p:spPr>
          <a:xfrm>
            <a:off x="515255" y="3082534"/>
            <a:ext cx="44787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3.03 PSI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B336CA4-E5D2-2A7E-9DE0-E2E7413B2E0E}"/>
              </a:ext>
            </a:extLst>
          </p:cNvPr>
          <p:cNvSpPr/>
          <p:nvPr/>
        </p:nvSpPr>
        <p:spPr>
          <a:xfrm>
            <a:off x="2074923" y="4525379"/>
            <a:ext cx="2110574" cy="1286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A9AAA06-40C3-C338-D80F-11CF43FDD080}"/>
              </a:ext>
            </a:extLst>
          </p:cNvPr>
          <p:cNvSpPr/>
          <p:nvPr/>
        </p:nvSpPr>
        <p:spPr>
          <a:xfrm>
            <a:off x="2008883" y="4525379"/>
            <a:ext cx="132080" cy="12869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4383C11F-4CE4-F9BD-F3EA-E9FE0BFF8F4A}"/>
              </a:ext>
            </a:extLst>
          </p:cNvPr>
          <p:cNvSpPr/>
          <p:nvPr/>
        </p:nvSpPr>
        <p:spPr>
          <a:xfrm>
            <a:off x="2046760" y="4561136"/>
            <a:ext cx="56326" cy="57178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CDB1C1EF-79AA-CD4C-6A7F-CD6290EC6942}"/>
              </a:ext>
            </a:extLst>
          </p:cNvPr>
          <p:cNvCxnSpPr>
            <a:cxnSpLocks/>
          </p:cNvCxnSpPr>
          <p:nvPr/>
        </p:nvCxnSpPr>
        <p:spPr>
          <a:xfrm flipH="1" flipV="1">
            <a:off x="956248" y="3297022"/>
            <a:ext cx="1094746" cy="1273528"/>
          </a:xfrm>
          <a:prstGeom prst="line">
            <a:avLst/>
          </a:prstGeom>
          <a:ln>
            <a:solidFill>
              <a:schemeClr val="accent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FF012113-7EB0-4D00-48DC-654F9BF376FA}"/>
              </a:ext>
            </a:extLst>
          </p:cNvPr>
          <p:cNvSpPr/>
          <p:nvPr/>
        </p:nvSpPr>
        <p:spPr>
          <a:xfrm>
            <a:off x="4185496" y="4036896"/>
            <a:ext cx="1284817" cy="61717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Pump Apparatus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737FAC6-75B3-7CE2-7C11-1BA01A632651}"/>
              </a:ext>
            </a:extLst>
          </p:cNvPr>
          <p:cNvSpPr/>
          <p:nvPr/>
        </p:nvSpPr>
        <p:spPr>
          <a:xfrm>
            <a:off x="4185495" y="3408851"/>
            <a:ext cx="1284817" cy="61717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Battery Energy</a:t>
            </a:r>
          </a:p>
        </p:txBody>
      </p:sp>
      <p:sp>
        <p:nvSpPr>
          <p:cNvPr id="3" name="Triangle 2">
            <a:extLst>
              <a:ext uri="{FF2B5EF4-FFF2-40B4-BE49-F238E27FC236}">
                <a16:creationId xmlns:a16="http://schemas.microsoft.com/office/drawing/2014/main" id="{1B1E0C89-75D2-DC30-B68D-C6DBDABED347}"/>
              </a:ext>
            </a:extLst>
          </p:cNvPr>
          <p:cNvSpPr/>
          <p:nvPr/>
        </p:nvSpPr>
        <p:spPr>
          <a:xfrm>
            <a:off x="6466963" y="5377874"/>
            <a:ext cx="385544" cy="516531"/>
          </a:xfrm>
          <a:custGeom>
            <a:avLst/>
            <a:gdLst>
              <a:gd name="connsiteX0" fmla="*/ 0 w 385544"/>
              <a:gd name="connsiteY0" fmla="*/ 516531 h 516531"/>
              <a:gd name="connsiteX1" fmla="*/ 192772 w 385544"/>
              <a:gd name="connsiteY1" fmla="*/ 0 h 516531"/>
              <a:gd name="connsiteX2" fmla="*/ 385544 w 385544"/>
              <a:gd name="connsiteY2" fmla="*/ 516531 h 516531"/>
              <a:gd name="connsiteX3" fmla="*/ 0 w 385544"/>
              <a:gd name="connsiteY3" fmla="*/ 516531 h 516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544" h="516531" fill="none" extrusionOk="0">
                <a:moveTo>
                  <a:pt x="0" y="516531"/>
                </a:moveTo>
                <a:cubicBezTo>
                  <a:pt x="2792" y="388778"/>
                  <a:pt x="158078" y="254287"/>
                  <a:pt x="192772" y="0"/>
                </a:cubicBezTo>
                <a:cubicBezTo>
                  <a:pt x="284600" y="166386"/>
                  <a:pt x="298786" y="368680"/>
                  <a:pt x="385544" y="516531"/>
                </a:cubicBezTo>
                <a:cubicBezTo>
                  <a:pt x="244705" y="524223"/>
                  <a:pt x="172335" y="486899"/>
                  <a:pt x="0" y="516531"/>
                </a:cubicBezTo>
                <a:close/>
              </a:path>
              <a:path w="385544" h="516531" stroke="0" extrusionOk="0">
                <a:moveTo>
                  <a:pt x="0" y="516531"/>
                </a:moveTo>
                <a:cubicBezTo>
                  <a:pt x="26051" y="264124"/>
                  <a:pt x="162212" y="207102"/>
                  <a:pt x="192772" y="0"/>
                </a:cubicBezTo>
                <a:cubicBezTo>
                  <a:pt x="305376" y="118208"/>
                  <a:pt x="248979" y="280772"/>
                  <a:pt x="385544" y="516531"/>
                </a:cubicBezTo>
                <a:cubicBezTo>
                  <a:pt x="232105" y="537699"/>
                  <a:pt x="144065" y="479388"/>
                  <a:pt x="0" y="516531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219033472">
                  <a:prstGeom prst="triangl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BC54DA7-148E-9AF3-FB22-D0478D5F5522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6759814" y="5540206"/>
            <a:ext cx="449781" cy="166648"/>
          </a:xfrm>
          <a:prstGeom prst="line">
            <a:avLst/>
          </a:prstGeom>
          <a:ln>
            <a:solidFill>
              <a:schemeClr val="accent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81D963E-B75B-F6C2-894E-43996CB57B2B}"/>
              </a:ext>
            </a:extLst>
          </p:cNvPr>
          <p:cNvSpPr txBox="1"/>
          <p:nvPr/>
        </p:nvSpPr>
        <p:spPr>
          <a:xfrm>
            <a:off x="7209595" y="5491410"/>
            <a:ext cx="10138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psi/gpm as design specs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3CDF2B9-B69D-E991-AC4E-8EC596C4B143}"/>
              </a:ext>
            </a:extLst>
          </p:cNvPr>
          <p:cNvSpPr/>
          <p:nvPr/>
        </p:nvSpPr>
        <p:spPr>
          <a:xfrm rot="16200000">
            <a:off x="6120876" y="5002209"/>
            <a:ext cx="1103761" cy="1464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ECA9977-6057-030A-F307-A25E28849D78}"/>
              </a:ext>
            </a:extLst>
          </p:cNvPr>
          <p:cNvGrpSpPr/>
          <p:nvPr/>
        </p:nvGrpSpPr>
        <p:grpSpPr>
          <a:xfrm>
            <a:off x="5858843" y="3266074"/>
            <a:ext cx="1183434" cy="1430665"/>
            <a:chOff x="5716156" y="1370516"/>
            <a:chExt cx="1837346" cy="3095561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8AFAC12-90F6-5486-7FFF-C6F060ADB696}"/>
                </a:ext>
              </a:extLst>
            </p:cNvPr>
            <p:cNvSpPr/>
            <p:nvPr/>
          </p:nvSpPr>
          <p:spPr>
            <a:xfrm>
              <a:off x="5716156" y="3788975"/>
              <a:ext cx="1837346" cy="677102"/>
            </a:xfrm>
            <a:prstGeom prst="ellipse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8E1846C-F8C1-1F56-4CCA-77BF8675E026}"/>
                </a:ext>
              </a:extLst>
            </p:cNvPr>
            <p:cNvSpPr/>
            <p:nvPr/>
          </p:nvSpPr>
          <p:spPr>
            <a:xfrm>
              <a:off x="5716156" y="1709067"/>
              <a:ext cx="1837346" cy="2418459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  <a:p>
              <a:pPr algn="ctr"/>
              <a:r>
                <a:rPr lang="en-US" dirty="0"/>
                <a:t>Pressure Tank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BFA9B0DB-FD7C-6C0B-4870-947A93D6E14B}"/>
                </a:ext>
              </a:extLst>
            </p:cNvPr>
            <p:cNvSpPr/>
            <p:nvPr/>
          </p:nvSpPr>
          <p:spPr>
            <a:xfrm>
              <a:off x="5716156" y="1370516"/>
              <a:ext cx="1837346" cy="677102"/>
            </a:xfrm>
            <a:prstGeom prst="ellipse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489584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64BDA-CE74-E7DC-BEB1-2B943B699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riangle 13">
            <a:extLst>
              <a:ext uri="{FF2B5EF4-FFF2-40B4-BE49-F238E27FC236}">
                <a16:creationId xmlns:a16="http://schemas.microsoft.com/office/drawing/2014/main" id="{96F7455B-EBAF-2994-34A7-57B6D19048FC}"/>
              </a:ext>
            </a:extLst>
          </p:cNvPr>
          <p:cNvSpPr/>
          <p:nvPr/>
        </p:nvSpPr>
        <p:spPr>
          <a:xfrm>
            <a:off x="6020590" y="5379714"/>
            <a:ext cx="385544" cy="516531"/>
          </a:xfrm>
          <a:custGeom>
            <a:avLst/>
            <a:gdLst>
              <a:gd name="connsiteX0" fmla="*/ 0 w 385544"/>
              <a:gd name="connsiteY0" fmla="*/ 516531 h 516531"/>
              <a:gd name="connsiteX1" fmla="*/ 192772 w 385544"/>
              <a:gd name="connsiteY1" fmla="*/ 0 h 516531"/>
              <a:gd name="connsiteX2" fmla="*/ 385544 w 385544"/>
              <a:gd name="connsiteY2" fmla="*/ 516531 h 516531"/>
              <a:gd name="connsiteX3" fmla="*/ 0 w 385544"/>
              <a:gd name="connsiteY3" fmla="*/ 516531 h 516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544" h="516531" fill="none" extrusionOk="0">
                <a:moveTo>
                  <a:pt x="0" y="516531"/>
                </a:moveTo>
                <a:cubicBezTo>
                  <a:pt x="2792" y="388778"/>
                  <a:pt x="158078" y="254287"/>
                  <a:pt x="192772" y="0"/>
                </a:cubicBezTo>
                <a:cubicBezTo>
                  <a:pt x="284600" y="166386"/>
                  <a:pt x="298786" y="368680"/>
                  <a:pt x="385544" y="516531"/>
                </a:cubicBezTo>
                <a:cubicBezTo>
                  <a:pt x="244705" y="524223"/>
                  <a:pt x="172335" y="486899"/>
                  <a:pt x="0" y="516531"/>
                </a:cubicBezTo>
                <a:close/>
              </a:path>
              <a:path w="385544" h="516531" stroke="0" extrusionOk="0">
                <a:moveTo>
                  <a:pt x="0" y="516531"/>
                </a:moveTo>
                <a:cubicBezTo>
                  <a:pt x="26051" y="264124"/>
                  <a:pt x="162212" y="207102"/>
                  <a:pt x="192772" y="0"/>
                </a:cubicBezTo>
                <a:cubicBezTo>
                  <a:pt x="305376" y="118208"/>
                  <a:pt x="248979" y="280772"/>
                  <a:pt x="385544" y="516531"/>
                </a:cubicBezTo>
                <a:cubicBezTo>
                  <a:pt x="232105" y="537699"/>
                  <a:pt x="144065" y="479388"/>
                  <a:pt x="0" y="516531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219033472">
                  <a:prstGeom prst="triangl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C9A89F-0AFB-D0A7-9906-FBADD8283F06}"/>
              </a:ext>
            </a:extLst>
          </p:cNvPr>
          <p:cNvCxnSpPr>
            <a:cxnSpLocks/>
          </p:cNvCxnSpPr>
          <p:nvPr/>
        </p:nvCxnSpPr>
        <p:spPr>
          <a:xfrm>
            <a:off x="1043873" y="5964964"/>
            <a:ext cx="10999288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3CC1B555-7952-99CF-1377-E865D140D470}"/>
              </a:ext>
            </a:extLst>
          </p:cNvPr>
          <p:cNvSpPr/>
          <p:nvPr/>
        </p:nvSpPr>
        <p:spPr>
          <a:xfrm>
            <a:off x="1162228" y="4036896"/>
            <a:ext cx="1837346" cy="677102"/>
          </a:xfrm>
          <a:prstGeom prst="ellips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3153C8-F9C1-BCA8-D786-A0C075237ABC}"/>
              </a:ext>
            </a:extLst>
          </p:cNvPr>
          <p:cNvSpPr/>
          <p:nvPr/>
        </p:nvSpPr>
        <p:spPr>
          <a:xfrm>
            <a:off x="1162228" y="1956988"/>
            <a:ext cx="1837346" cy="2418459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9E73511-DF6B-E7D3-BF7B-2D2EE95EBB2B}"/>
              </a:ext>
            </a:extLst>
          </p:cNvPr>
          <p:cNvSpPr/>
          <p:nvPr/>
        </p:nvSpPr>
        <p:spPr>
          <a:xfrm>
            <a:off x="1162228" y="1618437"/>
            <a:ext cx="1837346" cy="677102"/>
          </a:xfrm>
          <a:prstGeom prst="ellips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2FE508F-8C58-DD8F-5B86-7F9C6D7C1DE2}"/>
              </a:ext>
            </a:extLst>
          </p:cNvPr>
          <p:cNvCxnSpPr>
            <a:stCxn id="9" idx="6"/>
          </p:cNvCxnSpPr>
          <p:nvPr/>
        </p:nvCxnSpPr>
        <p:spPr>
          <a:xfrm>
            <a:off x="2999574" y="1956988"/>
            <a:ext cx="531026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F322C6B-1CBD-DA6C-7E90-5F2780FC6CC9}"/>
              </a:ext>
            </a:extLst>
          </p:cNvPr>
          <p:cNvCxnSpPr>
            <a:cxnSpLocks/>
          </p:cNvCxnSpPr>
          <p:nvPr/>
        </p:nvCxnSpPr>
        <p:spPr>
          <a:xfrm flipV="1">
            <a:off x="2988061" y="4371027"/>
            <a:ext cx="542539" cy="442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86D5CDE-7834-007D-09F9-239CF5A59AFA}"/>
              </a:ext>
            </a:extLst>
          </p:cNvPr>
          <p:cNvCxnSpPr>
            <a:cxnSpLocks/>
          </p:cNvCxnSpPr>
          <p:nvPr/>
        </p:nvCxnSpPr>
        <p:spPr>
          <a:xfrm>
            <a:off x="3431599" y="1956988"/>
            <a:ext cx="0" cy="2418459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1AB1DB0-B554-5120-C0DC-D28C6882AA5B}"/>
              </a:ext>
            </a:extLst>
          </p:cNvPr>
          <p:cNvSpPr txBox="1"/>
          <p:nvPr/>
        </p:nvSpPr>
        <p:spPr>
          <a:xfrm>
            <a:off x="2988061" y="2982401"/>
            <a:ext cx="500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 ft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CCE859-1EC1-E0D6-17C0-6635D26F61DD}"/>
              </a:ext>
            </a:extLst>
          </p:cNvPr>
          <p:cNvSpPr txBox="1"/>
          <p:nvPr/>
        </p:nvSpPr>
        <p:spPr>
          <a:xfrm>
            <a:off x="7657827" y="5973805"/>
            <a:ext cx="2878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Garden (assume flat plane)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C02E873-88A3-6BCC-E7D4-8FFDCE81B5A8}"/>
              </a:ext>
            </a:extLst>
          </p:cNvPr>
          <p:cNvCxnSpPr>
            <a:cxnSpLocks/>
          </p:cNvCxnSpPr>
          <p:nvPr/>
        </p:nvCxnSpPr>
        <p:spPr>
          <a:xfrm>
            <a:off x="813907" y="4371027"/>
            <a:ext cx="0" cy="1589517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594CE01-BE3C-EA9B-733B-6CD58ED95778}"/>
              </a:ext>
            </a:extLst>
          </p:cNvPr>
          <p:cNvCxnSpPr>
            <a:cxnSpLocks/>
          </p:cNvCxnSpPr>
          <p:nvPr/>
        </p:nvCxnSpPr>
        <p:spPr>
          <a:xfrm flipV="1">
            <a:off x="411896" y="5964964"/>
            <a:ext cx="620059" cy="8841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87129FF4-0E2A-1CDA-C334-9B3BDE5D4B3B}"/>
              </a:ext>
            </a:extLst>
          </p:cNvPr>
          <p:cNvSpPr txBox="1"/>
          <p:nvPr/>
        </p:nvSpPr>
        <p:spPr>
          <a:xfrm>
            <a:off x="335484" y="4981119"/>
            <a:ext cx="500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 ft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155444C-04A8-FD0B-D969-73EA142B82D0}"/>
              </a:ext>
            </a:extLst>
          </p:cNvPr>
          <p:cNvSpPr txBox="1"/>
          <p:nvPr/>
        </p:nvSpPr>
        <p:spPr>
          <a:xfrm>
            <a:off x="790097" y="4954761"/>
            <a:ext cx="128482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Height between tank and garden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A5860B7-6034-BBB1-CDCA-F7B20B0004E2}"/>
              </a:ext>
            </a:extLst>
          </p:cNvPr>
          <p:cNvSpPr txBox="1"/>
          <p:nvPr/>
        </p:nvSpPr>
        <p:spPr>
          <a:xfrm>
            <a:off x="3431599" y="3035412"/>
            <a:ext cx="12848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Height of tank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A56F7BF-CDC3-FC32-3712-5F77F8A0F7B5}"/>
              </a:ext>
            </a:extLst>
          </p:cNvPr>
          <p:cNvCxnSpPr>
            <a:cxnSpLocks/>
            <a:endCxn id="8" idx="2"/>
          </p:cNvCxnSpPr>
          <p:nvPr/>
        </p:nvCxnSpPr>
        <p:spPr>
          <a:xfrm>
            <a:off x="515255" y="4375447"/>
            <a:ext cx="646973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B9B6A608-7992-E173-0079-D2DD9AC7B262}"/>
              </a:ext>
            </a:extLst>
          </p:cNvPr>
          <p:cNvCxnSpPr>
            <a:cxnSpLocks/>
            <a:stCxn id="2" idx="2"/>
            <a:endCxn id="47" idx="0"/>
          </p:cNvCxnSpPr>
          <p:nvPr/>
        </p:nvCxnSpPr>
        <p:spPr>
          <a:xfrm>
            <a:off x="2830780" y="4654072"/>
            <a:ext cx="407382" cy="33413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50B2D402-5B2E-ED1A-CFB7-1D2152CECE6C}"/>
              </a:ext>
            </a:extLst>
          </p:cNvPr>
          <p:cNvSpPr txBox="1"/>
          <p:nvPr/>
        </p:nvSpPr>
        <p:spPr>
          <a:xfrm>
            <a:off x="2877567" y="4988202"/>
            <a:ext cx="72119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2” Pipe</a:t>
            </a:r>
          </a:p>
        </p:txBody>
      </p:sp>
      <p:sp>
        <p:nvSpPr>
          <p:cNvPr id="48" name="Title 47">
            <a:extLst>
              <a:ext uri="{FF2B5EF4-FFF2-40B4-BE49-F238E27FC236}">
                <a16:creationId xmlns:a16="http://schemas.microsoft.com/office/drawing/2014/main" id="{4CC1CC0E-1E6D-243D-A7C0-EE199175C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40036"/>
          </a:xfrm>
        </p:spPr>
        <p:txBody>
          <a:bodyPr/>
          <a:lstStyle/>
          <a:p>
            <a:r>
              <a:rPr lang="en-US" dirty="0"/>
              <a:t>Battery + Raised</a:t>
            </a:r>
          </a:p>
        </p:txBody>
      </p:sp>
      <p:sp>
        <p:nvSpPr>
          <p:cNvPr id="49" name="Content Placeholder 48">
            <a:extLst>
              <a:ext uri="{FF2B5EF4-FFF2-40B4-BE49-F238E27FC236}">
                <a16:creationId xmlns:a16="http://schemas.microsoft.com/office/drawing/2014/main" id="{0B5981D0-4D31-60C2-5A76-316D2BAECD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0928" y="545360"/>
            <a:ext cx="3981331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Notes</a:t>
            </a:r>
          </a:p>
          <a:p>
            <a:pPr>
              <a:buFontTx/>
              <a:buChar char="-"/>
            </a:pPr>
            <a:r>
              <a:rPr lang="en-US" dirty="0"/>
              <a:t>Complex + $$$</a:t>
            </a:r>
          </a:p>
          <a:p>
            <a:pPr>
              <a:buFontTx/>
              <a:buChar char="-"/>
            </a:pPr>
            <a:r>
              <a:rPr lang="en-US" dirty="0"/>
              <a:t>Would have good flowrate/pressure</a:t>
            </a:r>
          </a:p>
          <a:p>
            <a:pPr>
              <a:buFontTx/>
              <a:buChar char="-"/>
            </a:pPr>
            <a:r>
              <a:rPr lang="en-US" dirty="0"/>
              <a:t>Not very sustainable</a:t>
            </a:r>
          </a:p>
          <a:p>
            <a:pPr>
              <a:buFontTx/>
              <a:buChar char="-"/>
            </a:pPr>
            <a:r>
              <a:rPr lang="en-US" dirty="0"/>
              <a:t>May be unsafe</a:t>
            </a:r>
          </a:p>
          <a:p>
            <a:pPr>
              <a:buFontTx/>
              <a:buChar char="-"/>
            </a:pPr>
            <a:r>
              <a:rPr lang="en-US" dirty="0"/>
              <a:t>Might be unsightly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53ECF6F-48CC-A8EE-94E1-DC491A3894CD}"/>
              </a:ext>
            </a:extLst>
          </p:cNvPr>
          <p:cNvSpPr txBox="1"/>
          <p:nvPr/>
        </p:nvSpPr>
        <p:spPr>
          <a:xfrm>
            <a:off x="515255" y="3082534"/>
            <a:ext cx="44787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3.03 PSI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BAC0434-468F-E778-A028-3C9064EF41DD}"/>
              </a:ext>
            </a:extLst>
          </p:cNvPr>
          <p:cNvCxnSpPr>
            <a:cxnSpLocks/>
            <a:endCxn id="56" idx="1"/>
          </p:cNvCxnSpPr>
          <p:nvPr/>
        </p:nvCxnSpPr>
        <p:spPr>
          <a:xfrm>
            <a:off x="6313441" y="5542046"/>
            <a:ext cx="449782" cy="166648"/>
          </a:xfrm>
          <a:prstGeom prst="line">
            <a:avLst/>
          </a:prstGeom>
          <a:ln>
            <a:solidFill>
              <a:schemeClr val="accent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06A0F82A-F905-F034-C7EC-37D4F5432C87}"/>
              </a:ext>
            </a:extLst>
          </p:cNvPr>
          <p:cNvSpPr txBox="1"/>
          <p:nvPr/>
        </p:nvSpPr>
        <p:spPr>
          <a:xfrm>
            <a:off x="6763223" y="5493250"/>
            <a:ext cx="9315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psi/gpm per tank height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0A332CE-BE39-0778-181E-7E5D9CC2868F}"/>
              </a:ext>
            </a:extLst>
          </p:cNvPr>
          <p:cNvSpPr/>
          <p:nvPr/>
        </p:nvSpPr>
        <p:spPr>
          <a:xfrm>
            <a:off x="2074923" y="4525380"/>
            <a:ext cx="1511714" cy="1286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831F892E-D808-2D5B-66EE-CCDC8ED11A3E}"/>
              </a:ext>
            </a:extLst>
          </p:cNvPr>
          <p:cNvSpPr/>
          <p:nvPr/>
        </p:nvSpPr>
        <p:spPr>
          <a:xfrm>
            <a:off x="2008883" y="4525379"/>
            <a:ext cx="132080" cy="12869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4453AB37-0AD9-F3FC-0A0E-812CA04C7733}"/>
              </a:ext>
            </a:extLst>
          </p:cNvPr>
          <p:cNvSpPr/>
          <p:nvPr/>
        </p:nvSpPr>
        <p:spPr>
          <a:xfrm>
            <a:off x="2046760" y="4561136"/>
            <a:ext cx="56326" cy="57178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A6F49A0-C04F-44B8-2DFF-02D50EAA3356}"/>
              </a:ext>
            </a:extLst>
          </p:cNvPr>
          <p:cNvCxnSpPr>
            <a:cxnSpLocks/>
          </p:cNvCxnSpPr>
          <p:nvPr/>
        </p:nvCxnSpPr>
        <p:spPr>
          <a:xfrm flipH="1" flipV="1">
            <a:off x="956248" y="3297022"/>
            <a:ext cx="1094746" cy="1273528"/>
          </a:xfrm>
          <a:prstGeom prst="line">
            <a:avLst/>
          </a:prstGeom>
          <a:ln>
            <a:solidFill>
              <a:schemeClr val="accent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83E59B10-99D0-EB8E-1673-92C73C25E27E}"/>
              </a:ext>
            </a:extLst>
          </p:cNvPr>
          <p:cNvSpPr/>
          <p:nvPr/>
        </p:nvSpPr>
        <p:spPr>
          <a:xfrm rot="16200000">
            <a:off x="4707897" y="4037443"/>
            <a:ext cx="3036974" cy="1464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4220074-65A3-BCB9-AB42-AE7DA2D80662}"/>
              </a:ext>
            </a:extLst>
          </p:cNvPr>
          <p:cNvSpPr/>
          <p:nvPr/>
        </p:nvSpPr>
        <p:spPr>
          <a:xfrm>
            <a:off x="4874927" y="4307807"/>
            <a:ext cx="921184" cy="1405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330DD32-52EF-91C7-3943-8953A19E8432}"/>
              </a:ext>
            </a:extLst>
          </p:cNvPr>
          <p:cNvSpPr/>
          <p:nvPr/>
        </p:nvSpPr>
        <p:spPr>
          <a:xfrm rot="5400000">
            <a:off x="4899973" y="3411696"/>
            <a:ext cx="1651678" cy="1405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F165FB5-6442-A373-D078-0A85FE648E9B}"/>
              </a:ext>
            </a:extLst>
          </p:cNvPr>
          <p:cNvGrpSpPr/>
          <p:nvPr/>
        </p:nvGrpSpPr>
        <p:grpSpPr>
          <a:xfrm>
            <a:off x="5402360" y="1405162"/>
            <a:ext cx="1183434" cy="1430665"/>
            <a:chOff x="5716156" y="1370516"/>
            <a:chExt cx="1837346" cy="3095561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2E0EB85-A21C-8CDE-017F-AB6E4CE112C0}"/>
                </a:ext>
              </a:extLst>
            </p:cNvPr>
            <p:cNvSpPr/>
            <p:nvPr/>
          </p:nvSpPr>
          <p:spPr>
            <a:xfrm>
              <a:off x="5716156" y="3788975"/>
              <a:ext cx="1837346" cy="677102"/>
            </a:xfrm>
            <a:prstGeom prst="ellipse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1410B8E-53C1-51B0-E2D7-528ED3B07609}"/>
                </a:ext>
              </a:extLst>
            </p:cNvPr>
            <p:cNvSpPr/>
            <p:nvPr/>
          </p:nvSpPr>
          <p:spPr>
            <a:xfrm>
              <a:off x="5716156" y="1709067"/>
              <a:ext cx="1837346" cy="2418459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  <a:p>
              <a:pPr algn="ctr"/>
              <a:r>
                <a:rPr lang="en-US" dirty="0"/>
                <a:t>Raised Tank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2DAA3002-1548-0DCF-6C70-D3AA1B6DC4F1}"/>
                </a:ext>
              </a:extLst>
            </p:cNvPr>
            <p:cNvSpPr/>
            <p:nvPr/>
          </p:nvSpPr>
          <p:spPr>
            <a:xfrm>
              <a:off x="5716156" y="1370516"/>
              <a:ext cx="1837346" cy="677102"/>
            </a:xfrm>
            <a:prstGeom prst="ellipse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4EE4DF83-032A-AF34-98DF-3481EDB0B802}"/>
              </a:ext>
            </a:extLst>
          </p:cNvPr>
          <p:cNvSpPr/>
          <p:nvPr/>
        </p:nvSpPr>
        <p:spPr>
          <a:xfrm>
            <a:off x="3590085" y="4057045"/>
            <a:ext cx="1284817" cy="61717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Pump Apparatus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A5F141-5440-0449-4533-B2923B81C394}"/>
              </a:ext>
            </a:extLst>
          </p:cNvPr>
          <p:cNvSpPr/>
          <p:nvPr/>
        </p:nvSpPr>
        <p:spPr>
          <a:xfrm>
            <a:off x="3590084" y="3429000"/>
            <a:ext cx="1284817" cy="61717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Battery Energy</a:t>
            </a:r>
          </a:p>
        </p:txBody>
      </p:sp>
    </p:spTree>
    <p:extLst>
      <p:ext uri="{BB962C8B-B14F-4D97-AF65-F5344CB8AC3E}">
        <p14:creationId xmlns:p14="http://schemas.microsoft.com/office/powerpoint/2010/main" val="6054214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45C1A-0D9A-3A0E-E51B-8FB764667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riangle 13">
            <a:extLst>
              <a:ext uri="{FF2B5EF4-FFF2-40B4-BE49-F238E27FC236}">
                <a16:creationId xmlns:a16="http://schemas.microsoft.com/office/drawing/2014/main" id="{0A4A5344-AAF1-39CE-9B32-85FCE3008BEA}"/>
              </a:ext>
            </a:extLst>
          </p:cNvPr>
          <p:cNvSpPr/>
          <p:nvPr/>
        </p:nvSpPr>
        <p:spPr>
          <a:xfrm>
            <a:off x="4635132" y="5300160"/>
            <a:ext cx="385544" cy="516531"/>
          </a:xfrm>
          <a:custGeom>
            <a:avLst/>
            <a:gdLst>
              <a:gd name="connsiteX0" fmla="*/ 0 w 385544"/>
              <a:gd name="connsiteY0" fmla="*/ 516531 h 516531"/>
              <a:gd name="connsiteX1" fmla="*/ 192772 w 385544"/>
              <a:gd name="connsiteY1" fmla="*/ 0 h 516531"/>
              <a:gd name="connsiteX2" fmla="*/ 385544 w 385544"/>
              <a:gd name="connsiteY2" fmla="*/ 516531 h 516531"/>
              <a:gd name="connsiteX3" fmla="*/ 0 w 385544"/>
              <a:gd name="connsiteY3" fmla="*/ 516531 h 516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544" h="516531" fill="none" extrusionOk="0">
                <a:moveTo>
                  <a:pt x="0" y="516531"/>
                </a:moveTo>
                <a:cubicBezTo>
                  <a:pt x="2792" y="388778"/>
                  <a:pt x="158078" y="254287"/>
                  <a:pt x="192772" y="0"/>
                </a:cubicBezTo>
                <a:cubicBezTo>
                  <a:pt x="284600" y="166386"/>
                  <a:pt x="298786" y="368680"/>
                  <a:pt x="385544" y="516531"/>
                </a:cubicBezTo>
                <a:cubicBezTo>
                  <a:pt x="244705" y="524223"/>
                  <a:pt x="172335" y="486899"/>
                  <a:pt x="0" y="516531"/>
                </a:cubicBezTo>
                <a:close/>
              </a:path>
              <a:path w="385544" h="516531" stroke="0" extrusionOk="0">
                <a:moveTo>
                  <a:pt x="0" y="516531"/>
                </a:moveTo>
                <a:cubicBezTo>
                  <a:pt x="26051" y="264124"/>
                  <a:pt x="162212" y="207102"/>
                  <a:pt x="192772" y="0"/>
                </a:cubicBezTo>
                <a:cubicBezTo>
                  <a:pt x="305376" y="118208"/>
                  <a:pt x="248979" y="280772"/>
                  <a:pt x="385544" y="516531"/>
                </a:cubicBezTo>
                <a:cubicBezTo>
                  <a:pt x="232105" y="537699"/>
                  <a:pt x="144065" y="479388"/>
                  <a:pt x="0" y="516531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219033472">
                  <a:prstGeom prst="triangl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B87CCEC-376D-9679-589B-18E72C2E2329}"/>
              </a:ext>
            </a:extLst>
          </p:cNvPr>
          <p:cNvCxnSpPr>
            <a:cxnSpLocks/>
          </p:cNvCxnSpPr>
          <p:nvPr/>
        </p:nvCxnSpPr>
        <p:spPr>
          <a:xfrm>
            <a:off x="1043873" y="5964964"/>
            <a:ext cx="10999288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D9A5D867-703E-60AE-0B28-04FAFC46D848}"/>
              </a:ext>
            </a:extLst>
          </p:cNvPr>
          <p:cNvSpPr/>
          <p:nvPr/>
        </p:nvSpPr>
        <p:spPr>
          <a:xfrm>
            <a:off x="1162228" y="4036896"/>
            <a:ext cx="1837346" cy="677102"/>
          </a:xfrm>
          <a:prstGeom prst="ellips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85ED0A-FF8B-DBE8-1AB4-2B867A06B617}"/>
              </a:ext>
            </a:extLst>
          </p:cNvPr>
          <p:cNvSpPr/>
          <p:nvPr/>
        </p:nvSpPr>
        <p:spPr>
          <a:xfrm>
            <a:off x="1162228" y="1956988"/>
            <a:ext cx="1837346" cy="2418459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899306B-C4EC-1E16-A4D3-C098AD322BF6}"/>
              </a:ext>
            </a:extLst>
          </p:cNvPr>
          <p:cNvSpPr/>
          <p:nvPr/>
        </p:nvSpPr>
        <p:spPr>
          <a:xfrm>
            <a:off x="1162228" y="1618437"/>
            <a:ext cx="1837346" cy="677102"/>
          </a:xfrm>
          <a:prstGeom prst="ellips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C2735DA-CCCD-BBC4-B59E-56E977EDBC5F}"/>
              </a:ext>
            </a:extLst>
          </p:cNvPr>
          <p:cNvCxnSpPr>
            <a:stCxn id="9" idx="6"/>
          </p:cNvCxnSpPr>
          <p:nvPr/>
        </p:nvCxnSpPr>
        <p:spPr>
          <a:xfrm>
            <a:off x="2999574" y="1956988"/>
            <a:ext cx="531026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3E553B0-F7BA-0B02-0511-3064EDF53F43}"/>
              </a:ext>
            </a:extLst>
          </p:cNvPr>
          <p:cNvCxnSpPr>
            <a:cxnSpLocks/>
          </p:cNvCxnSpPr>
          <p:nvPr/>
        </p:nvCxnSpPr>
        <p:spPr>
          <a:xfrm flipV="1">
            <a:off x="2988061" y="4371027"/>
            <a:ext cx="542539" cy="442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7C3AC49-0793-7768-3403-E4D9A0CA6F3B}"/>
              </a:ext>
            </a:extLst>
          </p:cNvPr>
          <p:cNvCxnSpPr>
            <a:cxnSpLocks/>
          </p:cNvCxnSpPr>
          <p:nvPr/>
        </p:nvCxnSpPr>
        <p:spPr>
          <a:xfrm>
            <a:off x="3431599" y="1956988"/>
            <a:ext cx="0" cy="2418459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D33E98D-929F-BB6F-11C8-59EF423FC44C}"/>
              </a:ext>
            </a:extLst>
          </p:cNvPr>
          <p:cNvSpPr txBox="1"/>
          <p:nvPr/>
        </p:nvSpPr>
        <p:spPr>
          <a:xfrm>
            <a:off x="2988061" y="2982401"/>
            <a:ext cx="500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 ft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0FC14E-55F6-C48C-3306-9479F2C0C8CE}"/>
              </a:ext>
            </a:extLst>
          </p:cNvPr>
          <p:cNvSpPr txBox="1"/>
          <p:nvPr/>
        </p:nvSpPr>
        <p:spPr>
          <a:xfrm>
            <a:off x="7657827" y="5973805"/>
            <a:ext cx="2878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Garden (assume flat plane)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0C25B50-67DC-07A8-6993-8013D01688A2}"/>
              </a:ext>
            </a:extLst>
          </p:cNvPr>
          <p:cNvCxnSpPr>
            <a:cxnSpLocks/>
          </p:cNvCxnSpPr>
          <p:nvPr/>
        </p:nvCxnSpPr>
        <p:spPr>
          <a:xfrm>
            <a:off x="813907" y="4371027"/>
            <a:ext cx="0" cy="1589517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8AF23A2-47AD-085D-11CA-0F0131FDBCC3}"/>
              </a:ext>
            </a:extLst>
          </p:cNvPr>
          <p:cNvCxnSpPr>
            <a:cxnSpLocks/>
          </p:cNvCxnSpPr>
          <p:nvPr/>
        </p:nvCxnSpPr>
        <p:spPr>
          <a:xfrm flipV="1">
            <a:off x="411896" y="5964964"/>
            <a:ext cx="620059" cy="8841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959B8D8F-EC35-9AC1-D1D9-CA3E1AF93758}"/>
              </a:ext>
            </a:extLst>
          </p:cNvPr>
          <p:cNvSpPr txBox="1"/>
          <p:nvPr/>
        </p:nvSpPr>
        <p:spPr>
          <a:xfrm>
            <a:off x="335484" y="4981119"/>
            <a:ext cx="500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 ft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E8906F7-FC63-4E8A-4390-C1D2302237F6}"/>
              </a:ext>
            </a:extLst>
          </p:cNvPr>
          <p:cNvSpPr txBox="1"/>
          <p:nvPr/>
        </p:nvSpPr>
        <p:spPr>
          <a:xfrm>
            <a:off x="790097" y="4954761"/>
            <a:ext cx="128482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Height between tank and garden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730D538-E697-0656-4731-7C362D819FD8}"/>
              </a:ext>
            </a:extLst>
          </p:cNvPr>
          <p:cNvSpPr txBox="1"/>
          <p:nvPr/>
        </p:nvSpPr>
        <p:spPr>
          <a:xfrm>
            <a:off x="3431599" y="3035412"/>
            <a:ext cx="12848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Height of tank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808449C-3904-E515-20FF-A0C0549E1860}"/>
              </a:ext>
            </a:extLst>
          </p:cNvPr>
          <p:cNvCxnSpPr>
            <a:cxnSpLocks/>
            <a:endCxn id="8" idx="2"/>
          </p:cNvCxnSpPr>
          <p:nvPr/>
        </p:nvCxnSpPr>
        <p:spPr>
          <a:xfrm>
            <a:off x="515255" y="4375447"/>
            <a:ext cx="646973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E72C14F-C9BA-550A-A95B-E38A251E516C}"/>
              </a:ext>
            </a:extLst>
          </p:cNvPr>
          <p:cNvCxnSpPr>
            <a:cxnSpLocks/>
            <a:stCxn id="2" idx="2"/>
          </p:cNvCxnSpPr>
          <p:nvPr/>
        </p:nvCxnSpPr>
        <p:spPr>
          <a:xfrm>
            <a:off x="3130210" y="4654072"/>
            <a:ext cx="583582" cy="772882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84CD1FEA-BDA3-264A-794C-E94AD5D067CE}"/>
              </a:ext>
            </a:extLst>
          </p:cNvPr>
          <p:cNvSpPr txBox="1"/>
          <p:nvPr/>
        </p:nvSpPr>
        <p:spPr>
          <a:xfrm>
            <a:off x="3632879" y="5292986"/>
            <a:ext cx="20951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2” Pipe</a:t>
            </a:r>
          </a:p>
        </p:txBody>
      </p:sp>
      <p:sp>
        <p:nvSpPr>
          <p:cNvPr id="48" name="Title 47">
            <a:extLst>
              <a:ext uri="{FF2B5EF4-FFF2-40B4-BE49-F238E27FC236}">
                <a16:creationId xmlns:a16="http://schemas.microsoft.com/office/drawing/2014/main" id="{7ABBD308-EECD-D113-A56E-2BFC95F84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40036"/>
          </a:xfrm>
        </p:spPr>
        <p:txBody>
          <a:bodyPr/>
          <a:lstStyle/>
          <a:p>
            <a:r>
              <a:rPr lang="en-US" dirty="0"/>
              <a:t>Grid Pump System</a:t>
            </a:r>
          </a:p>
        </p:txBody>
      </p:sp>
      <p:sp>
        <p:nvSpPr>
          <p:cNvPr id="49" name="Content Placeholder 48">
            <a:extLst>
              <a:ext uri="{FF2B5EF4-FFF2-40B4-BE49-F238E27FC236}">
                <a16:creationId xmlns:a16="http://schemas.microsoft.com/office/drawing/2014/main" id="{A1434EB9-9799-F4EE-6653-3C89D6981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0928" y="545360"/>
            <a:ext cx="3981331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Notes</a:t>
            </a:r>
          </a:p>
          <a:p>
            <a:pPr>
              <a:buFontTx/>
              <a:buChar char="-"/>
            </a:pPr>
            <a:r>
              <a:rPr lang="en-US" dirty="0"/>
              <a:t>More complex + $</a:t>
            </a:r>
          </a:p>
          <a:p>
            <a:pPr>
              <a:buFontTx/>
              <a:buChar char="-"/>
            </a:pPr>
            <a:r>
              <a:rPr lang="en-US" dirty="0"/>
              <a:t>Would have best flowrate/pressure</a:t>
            </a:r>
          </a:p>
          <a:p>
            <a:pPr>
              <a:buFontTx/>
              <a:buChar char="-"/>
            </a:pPr>
            <a:r>
              <a:rPr lang="en-US" dirty="0"/>
              <a:t>Cheaper than battery/solar</a:t>
            </a:r>
          </a:p>
          <a:p>
            <a:pPr>
              <a:buFontTx/>
              <a:buChar char="-"/>
            </a:pPr>
            <a:r>
              <a:rPr lang="en-US" dirty="0"/>
              <a:t>Not very sustainable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FE21A57-972B-A4E5-CA32-2E6BE924CBED}"/>
              </a:ext>
            </a:extLst>
          </p:cNvPr>
          <p:cNvSpPr txBox="1"/>
          <p:nvPr/>
        </p:nvSpPr>
        <p:spPr>
          <a:xfrm>
            <a:off x="515255" y="3082534"/>
            <a:ext cx="44787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3.03 PSI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3779D20A-D9A4-07C0-8AD6-A02E19020764}"/>
              </a:ext>
            </a:extLst>
          </p:cNvPr>
          <p:cNvCxnSpPr>
            <a:cxnSpLocks/>
            <a:endCxn id="56" idx="1"/>
          </p:cNvCxnSpPr>
          <p:nvPr/>
        </p:nvCxnSpPr>
        <p:spPr>
          <a:xfrm>
            <a:off x="4927983" y="5462492"/>
            <a:ext cx="449782" cy="166648"/>
          </a:xfrm>
          <a:prstGeom prst="line">
            <a:avLst/>
          </a:prstGeom>
          <a:ln>
            <a:solidFill>
              <a:schemeClr val="accent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4291BE62-ED28-7411-41D1-8D0823A01DC5}"/>
              </a:ext>
            </a:extLst>
          </p:cNvPr>
          <p:cNvSpPr txBox="1"/>
          <p:nvPr/>
        </p:nvSpPr>
        <p:spPr>
          <a:xfrm>
            <a:off x="5377765" y="5413696"/>
            <a:ext cx="9315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psi/gpm per pump spec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81E18DE-4620-7D34-E931-E29ABD30DCA8}"/>
              </a:ext>
            </a:extLst>
          </p:cNvPr>
          <p:cNvSpPr/>
          <p:nvPr/>
        </p:nvSpPr>
        <p:spPr>
          <a:xfrm>
            <a:off x="2074923" y="4525379"/>
            <a:ext cx="2110574" cy="1286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8DB428C-F79F-E4BA-C601-E203B81714CD}"/>
              </a:ext>
            </a:extLst>
          </p:cNvPr>
          <p:cNvSpPr/>
          <p:nvPr/>
        </p:nvSpPr>
        <p:spPr>
          <a:xfrm>
            <a:off x="2008883" y="4525379"/>
            <a:ext cx="132080" cy="12869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22C66FC-F16B-DD73-7585-C36341F2C87B}"/>
              </a:ext>
            </a:extLst>
          </p:cNvPr>
          <p:cNvSpPr/>
          <p:nvPr/>
        </p:nvSpPr>
        <p:spPr>
          <a:xfrm>
            <a:off x="2046760" y="4561136"/>
            <a:ext cx="56326" cy="57178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99A9C8CE-E99B-E553-25E1-EC17DAE2395F}"/>
              </a:ext>
            </a:extLst>
          </p:cNvPr>
          <p:cNvCxnSpPr>
            <a:cxnSpLocks/>
          </p:cNvCxnSpPr>
          <p:nvPr/>
        </p:nvCxnSpPr>
        <p:spPr>
          <a:xfrm flipH="1" flipV="1">
            <a:off x="956248" y="3297022"/>
            <a:ext cx="1094746" cy="1273528"/>
          </a:xfrm>
          <a:prstGeom prst="line">
            <a:avLst/>
          </a:prstGeom>
          <a:ln>
            <a:solidFill>
              <a:schemeClr val="accent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F895EB9B-327D-6865-DAE4-9E2FAF324C81}"/>
              </a:ext>
            </a:extLst>
          </p:cNvPr>
          <p:cNvSpPr/>
          <p:nvPr/>
        </p:nvSpPr>
        <p:spPr>
          <a:xfrm>
            <a:off x="4185496" y="4036896"/>
            <a:ext cx="1284817" cy="61717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Pump Apparatus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354B11-25A3-789A-A620-E042BD6C4D9D}"/>
              </a:ext>
            </a:extLst>
          </p:cNvPr>
          <p:cNvSpPr/>
          <p:nvPr/>
        </p:nvSpPr>
        <p:spPr>
          <a:xfrm rot="16200000">
            <a:off x="4413780" y="4997140"/>
            <a:ext cx="823184" cy="1370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73E553B-D5B6-B959-452A-4A940F660733}"/>
              </a:ext>
            </a:extLst>
          </p:cNvPr>
          <p:cNvSpPr/>
          <p:nvPr/>
        </p:nvSpPr>
        <p:spPr>
          <a:xfrm>
            <a:off x="4185495" y="3408851"/>
            <a:ext cx="1284817" cy="6171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Grid Energy</a:t>
            </a:r>
          </a:p>
        </p:txBody>
      </p:sp>
    </p:spTree>
    <p:extLst>
      <p:ext uri="{BB962C8B-B14F-4D97-AF65-F5344CB8AC3E}">
        <p14:creationId xmlns:p14="http://schemas.microsoft.com/office/powerpoint/2010/main" val="29329276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F924E-B001-9007-BA15-BCCF28CDA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AAD54573-1A0E-90E0-1416-F4D45663F688}"/>
              </a:ext>
            </a:extLst>
          </p:cNvPr>
          <p:cNvSpPr/>
          <p:nvPr/>
        </p:nvSpPr>
        <p:spPr>
          <a:xfrm>
            <a:off x="5321300" y="4305967"/>
            <a:ext cx="921184" cy="1405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53F343C-B322-7B07-849D-D4EEF4809229}"/>
              </a:ext>
            </a:extLst>
          </p:cNvPr>
          <p:cNvCxnSpPr>
            <a:cxnSpLocks/>
          </p:cNvCxnSpPr>
          <p:nvPr/>
        </p:nvCxnSpPr>
        <p:spPr>
          <a:xfrm>
            <a:off x="1043873" y="5964964"/>
            <a:ext cx="10999288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19D7E220-12D6-24ED-D82F-F3D286FE78C7}"/>
              </a:ext>
            </a:extLst>
          </p:cNvPr>
          <p:cNvSpPr/>
          <p:nvPr/>
        </p:nvSpPr>
        <p:spPr>
          <a:xfrm>
            <a:off x="1162228" y="4036896"/>
            <a:ext cx="1837346" cy="677102"/>
          </a:xfrm>
          <a:prstGeom prst="ellips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12CBB7-F236-D232-0067-45AAEE2819D1}"/>
              </a:ext>
            </a:extLst>
          </p:cNvPr>
          <p:cNvSpPr/>
          <p:nvPr/>
        </p:nvSpPr>
        <p:spPr>
          <a:xfrm>
            <a:off x="1162228" y="1956988"/>
            <a:ext cx="1837346" cy="2418459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F80D9E9-FE2E-0481-A06D-CCD335614703}"/>
              </a:ext>
            </a:extLst>
          </p:cNvPr>
          <p:cNvSpPr/>
          <p:nvPr/>
        </p:nvSpPr>
        <p:spPr>
          <a:xfrm>
            <a:off x="1162228" y="1618437"/>
            <a:ext cx="1837346" cy="677102"/>
          </a:xfrm>
          <a:prstGeom prst="ellips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C69F67-9905-365A-7A7C-541B42E37108}"/>
              </a:ext>
            </a:extLst>
          </p:cNvPr>
          <p:cNvCxnSpPr>
            <a:stCxn id="9" idx="6"/>
          </p:cNvCxnSpPr>
          <p:nvPr/>
        </p:nvCxnSpPr>
        <p:spPr>
          <a:xfrm>
            <a:off x="2999574" y="1956988"/>
            <a:ext cx="531026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F3AEE35-8F8D-41C9-6D58-D1CAEE67176E}"/>
              </a:ext>
            </a:extLst>
          </p:cNvPr>
          <p:cNvCxnSpPr>
            <a:cxnSpLocks/>
          </p:cNvCxnSpPr>
          <p:nvPr/>
        </p:nvCxnSpPr>
        <p:spPr>
          <a:xfrm flipV="1">
            <a:off x="2988061" y="4371027"/>
            <a:ext cx="542539" cy="442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753EAC1-9F95-BD79-AF4D-E441313B4F91}"/>
              </a:ext>
            </a:extLst>
          </p:cNvPr>
          <p:cNvCxnSpPr>
            <a:cxnSpLocks/>
          </p:cNvCxnSpPr>
          <p:nvPr/>
        </p:nvCxnSpPr>
        <p:spPr>
          <a:xfrm>
            <a:off x="3431599" y="1956988"/>
            <a:ext cx="0" cy="2418459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4668674-B915-A5D6-7AF5-77DE63BA498E}"/>
              </a:ext>
            </a:extLst>
          </p:cNvPr>
          <p:cNvSpPr txBox="1"/>
          <p:nvPr/>
        </p:nvSpPr>
        <p:spPr>
          <a:xfrm>
            <a:off x="2988061" y="2982401"/>
            <a:ext cx="500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 ft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AC743A-5620-91BF-7B4A-5385EF9B7224}"/>
              </a:ext>
            </a:extLst>
          </p:cNvPr>
          <p:cNvSpPr txBox="1"/>
          <p:nvPr/>
        </p:nvSpPr>
        <p:spPr>
          <a:xfrm>
            <a:off x="7657827" y="5973805"/>
            <a:ext cx="2878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Garden (assume flat plane)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8EC4892-2223-A3FF-A492-F033FDA25D9F}"/>
              </a:ext>
            </a:extLst>
          </p:cNvPr>
          <p:cNvCxnSpPr>
            <a:cxnSpLocks/>
          </p:cNvCxnSpPr>
          <p:nvPr/>
        </p:nvCxnSpPr>
        <p:spPr>
          <a:xfrm>
            <a:off x="813907" y="4371027"/>
            <a:ext cx="0" cy="1589517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5BFBF6E-5D3B-2884-7091-5D0D9F60C560}"/>
              </a:ext>
            </a:extLst>
          </p:cNvPr>
          <p:cNvCxnSpPr>
            <a:cxnSpLocks/>
          </p:cNvCxnSpPr>
          <p:nvPr/>
        </p:nvCxnSpPr>
        <p:spPr>
          <a:xfrm flipV="1">
            <a:off x="411896" y="5964964"/>
            <a:ext cx="620059" cy="8841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445B16B-C70E-2DE5-1761-249DEB4FEAEE}"/>
              </a:ext>
            </a:extLst>
          </p:cNvPr>
          <p:cNvSpPr txBox="1"/>
          <p:nvPr/>
        </p:nvSpPr>
        <p:spPr>
          <a:xfrm>
            <a:off x="335484" y="4981119"/>
            <a:ext cx="500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 ft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E5A9535-5A48-D19C-174A-CDCBEF795130}"/>
              </a:ext>
            </a:extLst>
          </p:cNvPr>
          <p:cNvSpPr txBox="1"/>
          <p:nvPr/>
        </p:nvSpPr>
        <p:spPr>
          <a:xfrm>
            <a:off x="790097" y="4954761"/>
            <a:ext cx="128482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Height between tank and garden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6AB9C09-5159-8F7C-DFB8-21F7FC2C97BD}"/>
              </a:ext>
            </a:extLst>
          </p:cNvPr>
          <p:cNvSpPr txBox="1"/>
          <p:nvPr/>
        </p:nvSpPr>
        <p:spPr>
          <a:xfrm>
            <a:off x="3431599" y="3035412"/>
            <a:ext cx="12848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Height of tank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393DF4A-2A6C-7ADA-C330-ADDC1A105D70}"/>
              </a:ext>
            </a:extLst>
          </p:cNvPr>
          <p:cNvCxnSpPr>
            <a:cxnSpLocks/>
            <a:endCxn id="8" idx="2"/>
          </p:cNvCxnSpPr>
          <p:nvPr/>
        </p:nvCxnSpPr>
        <p:spPr>
          <a:xfrm>
            <a:off x="515255" y="4375447"/>
            <a:ext cx="646973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D70B7E66-6D4C-58DC-6598-2B3C405C8C04}"/>
              </a:ext>
            </a:extLst>
          </p:cNvPr>
          <p:cNvCxnSpPr>
            <a:cxnSpLocks/>
            <a:stCxn id="2" idx="2"/>
          </p:cNvCxnSpPr>
          <p:nvPr/>
        </p:nvCxnSpPr>
        <p:spPr>
          <a:xfrm>
            <a:off x="3130210" y="4654072"/>
            <a:ext cx="583582" cy="772882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F23EF735-B761-D5D8-017A-2AE0230A8655}"/>
              </a:ext>
            </a:extLst>
          </p:cNvPr>
          <p:cNvSpPr txBox="1"/>
          <p:nvPr/>
        </p:nvSpPr>
        <p:spPr>
          <a:xfrm>
            <a:off x="3632879" y="5292986"/>
            <a:ext cx="20951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2” Pipe</a:t>
            </a:r>
          </a:p>
        </p:txBody>
      </p:sp>
      <p:sp>
        <p:nvSpPr>
          <p:cNvPr id="48" name="Title 47">
            <a:extLst>
              <a:ext uri="{FF2B5EF4-FFF2-40B4-BE49-F238E27FC236}">
                <a16:creationId xmlns:a16="http://schemas.microsoft.com/office/drawing/2014/main" id="{318B2A48-915A-0C39-78DC-1F601ADB7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40036"/>
          </a:xfrm>
        </p:spPr>
        <p:txBody>
          <a:bodyPr/>
          <a:lstStyle/>
          <a:p>
            <a:r>
              <a:rPr lang="en-US" dirty="0"/>
              <a:t>Grid + Pressure</a:t>
            </a:r>
          </a:p>
        </p:txBody>
      </p:sp>
      <p:sp>
        <p:nvSpPr>
          <p:cNvPr id="49" name="Content Placeholder 48">
            <a:extLst>
              <a:ext uri="{FF2B5EF4-FFF2-40B4-BE49-F238E27FC236}">
                <a16:creationId xmlns:a16="http://schemas.microsoft.com/office/drawing/2014/main" id="{1ECD34D9-B5C8-C836-8C70-C549C2C78D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0928" y="545360"/>
            <a:ext cx="3981331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Notes</a:t>
            </a:r>
          </a:p>
          <a:p>
            <a:pPr>
              <a:buFontTx/>
              <a:buChar char="-"/>
            </a:pPr>
            <a:r>
              <a:rPr lang="en-US" dirty="0"/>
              <a:t>Complex + $$$</a:t>
            </a:r>
          </a:p>
          <a:p>
            <a:pPr>
              <a:buFontTx/>
              <a:buChar char="-"/>
            </a:pPr>
            <a:r>
              <a:rPr lang="en-US" dirty="0"/>
              <a:t>Would have best flowrate/pressure</a:t>
            </a:r>
          </a:p>
          <a:p>
            <a:pPr>
              <a:buFontTx/>
              <a:buChar char="-"/>
            </a:pPr>
            <a:r>
              <a:rPr lang="en-US" dirty="0"/>
              <a:t>Not very sustainable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EAF0B5A-86A3-87FD-7732-EDFC2D601B46}"/>
              </a:ext>
            </a:extLst>
          </p:cNvPr>
          <p:cNvSpPr txBox="1"/>
          <p:nvPr/>
        </p:nvSpPr>
        <p:spPr>
          <a:xfrm>
            <a:off x="515255" y="3082534"/>
            <a:ext cx="44787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3.03 PSI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AD3035-34D6-779E-A6D1-EF901640755D}"/>
              </a:ext>
            </a:extLst>
          </p:cNvPr>
          <p:cNvSpPr/>
          <p:nvPr/>
        </p:nvSpPr>
        <p:spPr>
          <a:xfrm>
            <a:off x="2074923" y="4525379"/>
            <a:ext cx="2110574" cy="1286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7CAD983B-6E01-72EC-C58D-83370DDE8740}"/>
              </a:ext>
            </a:extLst>
          </p:cNvPr>
          <p:cNvSpPr/>
          <p:nvPr/>
        </p:nvSpPr>
        <p:spPr>
          <a:xfrm>
            <a:off x="2008883" y="4525379"/>
            <a:ext cx="132080" cy="12869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AC73C478-E208-C7A4-5DAD-0EDDCEE7411E}"/>
              </a:ext>
            </a:extLst>
          </p:cNvPr>
          <p:cNvSpPr/>
          <p:nvPr/>
        </p:nvSpPr>
        <p:spPr>
          <a:xfrm>
            <a:off x="2046760" y="4561136"/>
            <a:ext cx="56326" cy="57178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63CB39EA-5F80-6909-707E-4BA33C58F12C}"/>
              </a:ext>
            </a:extLst>
          </p:cNvPr>
          <p:cNvCxnSpPr>
            <a:cxnSpLocks/>
          </p:cNvCxnSpPr>
          <p:nvPr/>
        </p:nvCxnSpPr>
        <p:spPr>
          <a:xfrm flipH="1" flipV="1">
            <a:off x="956248" y="3297022"/>
            <a:ext cx="1094746" cy="1273528"/>
          </a:xfrm>
          <a:prstGeom prst="line">
            <a:avLst/>
          </a:prstGeom>
          <a:ln>
            <a:solidFill>
              <a:schemeClr val="accent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C91D644D-6716-E996-1D5D-197DC04ACD0F}"/>
              </a:ext>
            </a:extLst>
          </p:cNvPr>
          <p:cNvSpPr/>
          <p:nvPr/>
        </p:nvSpPr>
        <p:spPr>
          <a:xfrm>
            <a:off x="4185496" y="4036896"/>
            <a:ext cx="1284817" cy="61717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Pump Apparatus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FBC0B3B-94DE-590B-BAF8-E673404A864D}"/>
              </a:ext>
            </a:extLst>
          </p:cNvPr>
          <p:cNvSpPr/>
          <p:nvPr/>
        </p:nvSpPr>
        <p:spPr>
          <a:xfrm>
            <a:off x="4185495" y="3408851"/>
            <a:ext cx="1284817" cy="6171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Grid Energy</a:t>
            </a:r>
          </a:p>
        </p:txBody>
      </p:sp>
      <p:sp>
        <p:nvSpPr>
          <p:cNvPr id="3" name="Triangle 2">
            <a:extLst>
              <a:ext uri="{FF2B5EF4-FFF2-40B4-BE49-F238E27FC236}">
                <a16:creationId xmlns:a16="http://schemas.microsoft.com/office/drawing/2014/main" id="{5DABD2EF-3B7F-1E38-2882-41A79FEA9B87}"/>
              </a:ext>
            </a:extLst>
          </p:cNvPr>
          <p:cNvSpPr/>
          <p:nvPr/>
        </p:nvSpPr>
        <p:spPr>
          <a:xfrm>
            <a:off x="6466963" y="5377874"/>
            <a:ext cx="385544" cy="516531"/>
          </a:xfrm>
          <a:custGeom>
            <a:avLst/>
            <a:gdLst>
              <a:gd name="connsiteX0" fmla="*/ 0 w 385544"/>
              <a:gd name="connsiteY0" fmla="*/ 516531 h 516531"/>
              <a:gd name="connsiteX1" fmla="*/ 192772 w 385544"/>
              <a:gd name="connsiteY1" fmla="*/ 0 h 516531"/>
              <a:gd name="connsiteX2" fmla="*/ 385544 w 385544"/>
              <a:gd name="connsiteY2" fmla="*/ 516531 h 516531"/>
              <a:gd name="connsiteX3" fmla="*/ 0 w 385544"/>
              <a:gd name="connsiteY3" fmla="*/ 516531 h 516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544" h="516531" fill="none" extrusionOk="0">
                <a:moveTo>
                  <a:pt x="0" y="516531"/>
                </a:moveTo>
                <a:cubicBezTo>
                  <a:pt x="2792" y="388778"/>
                  <a:pt x="158078" y="254287"/>
                  <a:pt x="192772" y="0"/>
                </a:cubicBezTo>
                <a:cubicBezTo>
                  <a:pt x="284600" y="166386"/>
                  <a:pt x="298786" y="368680"/>
                  <a:pt x="385544" y="516531"/>
                </a:cubicBezTo>
                <a:cubicBezTo>
                  <a:pt x="244705" y="524223"/>
                  <a:pt x="172335" y="486899"/>
                  <a:pt x="0" y="516531"/>
                </a:cubicBezTo>
                <a:close/>
              </a:path>
              <a:path w="385544" h="516531" stroke="0" extrusionOk="0">
                <a:moveTo>
                  <a:pt x="0" y="516531"/>
                </a:moveTo>
                <a:cubicBezTo>
                  <a:pt x="26051" y="264124"/>
                  <a:pt x="162212" y="207102"/>
                  <a:pt x="192772" y="0"/>
                </a:cubicBezTo>
                <a:cubicBezTo>
                  <a:pt x="305376" y="118208"/>
                  <a:pt x="248979" y="280772"/>
                  <a:pt x="385544" y="516531"/>
                </a:cubicBezTo>
                <a:cubicBezTo>
                  <a:pt x="232105" y="537699"/>
                  <a:pt x="144065" y="479388"/>
                  <a:pt x="0" y="516531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219033472">
                  <a:prstGeom prst="triangl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7876B3A-A499-4C94-A379-5379AF74B7CE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6759814" y="5540206"/>
            <a:ext cx="449781" cy="166648"/>
          </a:xfrm>
          <a:prstGeom prst="line">
            <a:avLst/>
          </a:prstGeom>
          <a:ln>
            <a:solidFill>
              <a:schemeClr val="accent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25A1BBF-426E-E1C5-8E2A-CAC152E3F5BA}"/>
              </a:ext>
            </a:extLst>
          </p:cNvPr>
          <p:cNvSpPr txBox="1"/>
          <p:nvPr/>
        </p:nvSpPr>
        <p:spPr>
          <a:xfrm>
            <a:off x="7209595" y="5491410"/>
            <a:ext cx="10138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psi/gpm as design specs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8C08B3-A30B-B5FA-6C2C-8695D9C99047}"/>
              </a:ext>
            </a:extLst>
          </p:cNvPr>
          <p:cNvSpPr/>
          <p:nvPr/>
        </p:nvSpPr>
        <p:spPr>
          <a:xfrm rot="16200000">
            <a:off x="6120876" y="5002209"/>
            <a:ext cx="1103761" cy="1464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188BD7C-6685-0ADE-3BD4-C22B72388956}"/>
              </a:ext>
            </a:extLst>
          </p:cNvPr>
          <p:cNvGrpSpPr/>
          <p:nvPr/>
        </p:nvGrpSpPr>
        <p:grpSpPr>
          <a:xfrm>
            <a:off x="5858843" y="3266074"/>
            <a:ext cx="1183434" cy="1430665"/>
            <a:chOff x="5716156" y="1370516"/>
            <a:chExt cx="1837346" cy="3095561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331FFA1E-BC5A-B58D-DF0C-C209F5775DF3}"/>
                </a:ext>
              </a:extLst>
            </p:cNvPr>
            <p:cNvSpPr/>
            <p:nvPr/>
          </p:nvSpPr>
          <p:spPr>
            <a:xfrm>
              <a:off x="5716156" y="3788975"/>
              <a:ext cx="1837346" cy="677102"/>
            </a:xfrm>
            <a:prstGeom prst="ellipse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B451C22-7B94-E73A-26D4-EE5CBC1BBC5B}"/>
                </a:ext>
              </a:extLst>
            </p:cNvPr>
            <p:cNvSpPr/>
            <p:nvPr/>
          </p:nvSpPr>
          <p:spPr>
            <a:xfrm>
              <a:off x="5716156" y="1709067"/>
              <a:ext cx="1837346" cy="2418459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  <a:p>
              <a:pPr algn="ctr"/>
              <a:r>
                <a:rPr lang="en-US" dirty="0"/>
                <a:t>Pressure Tank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45FAD9E-8B77-7C20-6B62-DFA8CBC8EC2D}"/>
                </a:ext>
              </a:extLst>
            </p:cNvPr>
            <p:cNvSpPr/>
            <p:nvPr/>
          </p:nvSpPr>
          <p:spPr>
            <a:xfrm>
              <a:off x="5716156" y="1370516"/>
              <a:ext cx="1837346" cy="677102"/>
            </a:xfrm>
            <a:prstGeom prst="ellipse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663695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064AA-41FB-949A-DE15-0D9F4CF2E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riangle 13">
            <a:extLst>
              <a:ext uri="{FF2B5EF4-FFF2-40B4-BE49-F238E27FC236}">
                <a16:creationId xmlns:a16="http://schemas.microsoft.com/office/drawing/2014/main" id="{725EC9DE-A86F-83ED-F585-09E224C6492B}"/>
              </a:ext>
            </a:extLst>
          </p:cNvPr>
          <p:cNvSpPr/>
          <p:nvPr/>
        </p:nvSpPr>
        <p:spPr>
          <a:xfrm>
            <a:off x="6020590" y="5379714"/>
            <a:ext cx="385544" cy="516531"/>
          </a:xfrm>
          <a:custGeom>
            <a:avLst/>
            <a:gdLst>
              <a:gd name="connsiteX0" fmla="*/ 0 w 385544"/>
              <a:gd name="connsiteY0" fmla="*/ 516531 h 516531"/>
              <a:gd name="connsiteX1" fmla="*/ 192772 w 385544"/>
              <a:gd name="connsiteY1" fmla="*/ 0 h 516531"/>
              <a:gd name="connsiteX2" fmla="*/ 385544 w 385544"/>
              <a:gd name="connsiteY2" fmla="*/ 516531 h 516531"/>
              <a:gd name="connsiteX3" fmla="*/ 0 w 385544"/>
              <a:gd name="connsiteY3" fmla="*/ 516531 h 516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544" h="516531" fill="none" extrusionOk="0">
                <a:moveTo>
                  <a:pt x="0" y="516531"/>
                </a:moveTo>
                <a:cubicBezTo>
                  <a:pt x="2792" y="388778"/>
                  <a:pt x="158078" y="254287"/>
                  <a:pt x="192772" y="0"/>
                </a:cubicBezTo>
                <a:cubicBezTo>
                  <a:pt x="284600" y="166386"/>
                  <a:pt x="298786" y="368680"/>
                  <a:pt x="385544" y="516531"/>
                </a:cubicBezTo>
                <a:cubicBezTo>
                  <a:pt x="244705" y="524223"/>
                  <a:pt x="172335" y="486899"/>
                  <a:pt x="0" y="516531"/>
                </a:cubicBezTo>
                <a:close/>
              </a:path>
              <a:path w="385544" h="516531" stroke="0" extrusionOk="0">
                <a:moveTo>
                  <a:pt x="0" y="516531"/>
                </a:moveTo>
                <a:cubicBezTo>
                  <a:pt x="26051" y="264124"/>
                  <a:pt x="162212" y="207102"/>
                  <a:pt x="192772" y="0"/>
                </a:cubicBezTo>
                <a:cubicBezTo>
                  <a:pt x="305376" y="118208"/>
                  <a:pt x="248979" y="280772"/>
                  <a:pt x="385544" y="516531"/>
                </a:cubicBezTo>
                <a:cubicBezTo>
                  <a:pt x="232105" y="537699"/>
                  <a:pt x="144065" y="479388"/>
                  <a:pt x="0" y="516531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219033472">
                  <a:prstGeom prst="triangl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1E3A821-5031-B743-3BE3-DFCBF9B0EE29}"/>
              </a:ext>
            </a:extLst>
          </p:cNvPr>
          <p:cNvCxnSpPr>
            <a:cxnSpLocks/>
          </p:cNvCxnSpPr>
          <p:nvPr/>
        </p:nvCxnSpPr>
        <p:spPr>
          <a:xfrm>
            <a:off x="1043873" y="5964964"/>
            <a:ext cx="10999288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6871564B-632D-5652-708C-90E0E194088D}"/>
              </a:ext>
            </a:extLst>
          </p:cNvPr>
          <p:cNvSpPr/>
          <p:nvPr/>
        </p:nvSpPr>
        <p:spPr>
          <a:xfrm>
            <a:off x="1162228" y="4036896"/>
            <a:ext cx="1837346" cy="677102"/>
          </a:xfrm>
          <a:prstGeom prst="ellips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194645-CCCD-785D-56BD-7553A82556F4}"/>
              </a:ext>
            </a:extLst>
          </p:cNvPr>
          <p:cNvSpPr/>
          <p:nvPr/>
        </p:nvSpPr>
        <p:spPr>
          <a:xfrm>
            <a:off x="1162228" y="1956988"/>
            <a:ext cx="1837346" cy="2418459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29484CC-5670-ACF9-9AB6-634AC4536813}"/>
              </a:ext>
            </a:extLst>
          </p:cNvPr>
          <p:cNvSpPr/>
          <p:nvPr/>
        </p:nvSpPr>
        <p:spPr>
          <a:xfrm>
            <a:off x="1162228" y="1618437"/>
            <a:ext cx="1837346" cy="677102"/>
          </a:xfrm>
          <a:prstGeom prst="ellips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E316775-7648-E649-F057-3342D149B7C2}"/>
              </a:ext>
            </a:extLst>
          </p:cNvPr>
          <p:cNvCxnSpPr>
            <a:stCxn id="9" idx="6"/>
          </p:cNvCxnSpPr>
          <p:nvPr/>
        </p:nvCxnSpPr>
        <p:spPr>
          <a:xfrm>
            <a:off x="2999574" y="1956988"/>
            <a:ext cx="531026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E9F52A8-2B8A-2B1E-93FD-94563948489E}"/>
              </a:ext>
            </a:extLst>
          </p:cNvPr>
          <p:cNvCxnSpPr>
            <a:cxnSpLocks/>
          </p:cNvCxnSpPr>
          <p:nvPr/>
        </p:nvCxnSpPr>
        <p:spPr>
          <a:xfrm flipV="1">
            <a:off x="2988061" y="4371027"/>
            <a:ext cx="542539" cy="442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CEE2A7E-C91B-D265-87D4-78620577D564}"/>
              </a:ext>
            </a:extLst>
          </p:cNvPr>
          <p:cNvCxnSpPr>
            <a:cxnSpLocks/>
          </p:cNvCxnSpPr>
          <p:nvPr/>
        </p:nvCxnSpPr>
        <p:spPr>
          <a:xfrm>
            <a:off x="3431599" y="1956988"/>
            <a:ext cx="0" cy="2418459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AE7A68B-0D65-A730-325A-3D5535B3E334}"/>
              </a:ext>
            </a:extLst>
          </p:cNvPr>
          <p:cNvSpPr txBox="1"/>
          <p:nvPr/>
        </p:nvSpPr>
        <p:spPr>
          <a:xfrm>
            <a:off x="2988061" y="2982401"/>
            <a:ext cx="500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 ft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0AF237F-03F7-7892-404E-E63C3406BAB4}"/>
              </a:ext>
            </a:extLst>
          </p:cNvPr>
          <p:cNvSpPr txBox="1"/>
          <p:nvPr/>
        </p:nvSpPr>
        <p:spPr>
          <a:xfrm>
            <a:off x="7657827" y="5973805"/>
            <a:ext cx="2878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Garden (assume flat plane)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F4FB9AA-2D32-A2E5-D243-215E0D331FF6}"/>
              </a:ext>
            </a:extLst>
          </p:cNvPr>
          <p:cNvCxnSpPr>
            <a:cxnSpLocks/>
          </p:cNvCxnSpPr>
          <p:nvPr/>
        </p:nvCxnSpPr>
        <p:spPr>
          <a:xfrm>
            <a:off x="813907" y="4371027"/>
            <a:ext cx="0" cy="1589517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E8D0289-1444-AFA8-08CC-EBF9D61ADF09}"/>
              </a:ext>
            </a:extLst>
          </p:cNvPr>
          <p:cNvCxnSpPr>
            <a:cxnSpLocks/>
          </p:cNvCxnSpPr>
          <p:nvPr/>
        </p:nvCxnSpPr>
        <p:spPr>
          <a:xfrm flipV="1">
            <a:off x="411896" y="5964964"/>
            <a:ext cx="620059" cy="8841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6524AC0-B1D1-9102-B00E-E87AB3A67BCA}"/>
              </a:ext>
            </a:extLst>
          </p:cNvPr>
          <p:cNvSpPr txBox="1"/>
          <p:nvPr/>
        </p:nvSpPr>
        <p:spPr>
          <a:xfrm>
            <a:off x="335484" y="4981119"/>
            <a:ext cx="500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 ft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93209A3-E45E-4B27-DE27-EC99186EFB60}"/>
              </a:ext>
            </a:extLst>
          </p:cNvPr>
          <p:cNvSpPr txBox="1"/>
          <p:nvPr/>
        </p:nvSpPr>
        <p:spPr>
          <a:xfrm>
            <a:off x="790097" y="4954761"/>
            <a:ext cx="128482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Height between tank and garden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2BE0A8B-ECAC-776F-6C90-F2395E07F0D4}"/>
              </a:ext>
            </a:extLst>
          </p:cNvPr>
          <p:cNvSpPr txBox="1"/>
          <p:nvPr/>
        </p:nvSpPr>
        <p:spPr>
          <a:xfrm>
            <a:off x="3431599" y="3035412"/>
            <a:ext cx="12848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Height of tank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BCD3ABE-AB6C-045B-3B90-603C6EE6236C}"/>
              </a:ext>
            </a:extLst>
          </p:cNvPr>
          <p:cNvCxnSpPr>
            <a:cxnSpLocks/>
            <a:endCxn id="8" idx="2"/>
          </p:cNvCxnSpPr>
          <p:nvPr/>
        </p:nvCxnSpPr>
        <p:spPr>
          <a:xfrm>
            <a:off x="515255" y="4375447"/>
            <a:ext cx="646973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9D7D129-BD68-A50A-036D-574198FFC31B}"/>
              </a:ext>
            </a:extLst>
          </p:cNvPr>
          <p:cNvCxnSpPr>
            <a:cxnSpLocks/>
            <a:stCxn id="2" idx="2"/>
            <a:endCxn id="47" idx="0"/>
          </p:cNvCxnSpPr>
          <p:nvPr/>
        </p:nvCxnSpPr>
        <p:spPr>
          <a:xfrm>
            <a:off x="2830780" y="4654072"/>
            <a:ext cx="407382" cy="33413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213F6A65-E5DB-FA48-60D4-0EDDBD090E23}"/>
              </a:ext>
            </a:extLst>
          </p:cNvPr>
          <p:cNvSpPr txBox="1"/>
          <p:nvPr/>
        </p:nvSpPr>
        <p:spPr>
          <a:xfrm>
            <a:off x="2877567" y="4988202"/>
            <a:ext cx="72119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2” Pipe</a:t>
            </a:r>
          </a:p>
        </p:txBody>
      </p:sp>
      <p:sp>
        <p:nvSpPr>
          <p:cNvPr id="48" name="Title 47">
            <a:extLst>
              <a:ext uri="{FF2B5EF4-FFF2-40B4-BE49-F238E27FC236}">
                <a16:creationId xmlns:a16="http://schemas.microsoft.com/office/drawing/2014/main" id="{C19A7FF1-C58E-5D08-6111-763F939C6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40036"/>
          </a:xfrm>
        </p:spPr>
        <p:txBody>
          <a:bodyPr/>
          <a:lstStyle/>
          <a:p>
            <a:r>
              <a:rPr lang="en-US" dirty="0"/>
              <a:t>Grid + Raised</a:t>
            </a:r>
          </a:p>
        </p:txBody>
      </p:sp>
      <p:sp>
        <p:nvSpPr>
          <p:cNvPr id="49" name="Content Placeholder 48">
            <a:extLst>
              <a:ext uri="{FF2B5EF4-FFF2-40B4-BE49-F238E27FC236}">
                <a16:creationId xmlns:a16="http://schemas.microsoft.com/office/drawing/2014/main" id="{C7BE8EE4-ADA5-2A54-CF9C-8694CF665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0928" y="545360"/>
            <a:ext cx="3981331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Notes</a:t>
            </a:r>
          </a:p>
          <a:p>
            <a:pPr>
              <a:buFontTx/>
              <a:buChar char="-"/>
            </a:pPr>
            <a:r>
              <a:rPr lang="en-US" dirty="0"/>
              <a:t>Complex + $$$</a:t>
            </a:r>
          </a:p>
          <a:p>
            <a:pPr>
              <a:buFontTx/>
              <a:buChar char="-"/>
            </a:pPr>
            <a:r>
              <a:rPr lang="en-US" dirty="0"/>
              <a:t>Would have good flowrate/pressure</a:t>
            </a:r>
          </a:p>
          <a:p>
            <a:pPr>
              <a:buFontTx/>
              <a:buChar char="-"/>
            </a:pPr>
            <a:r>
              <a:rPr lang="en-US" dirty="0"/>
              <a:t>Not very sustainable</a:t>
            </a:r>
          </a:p>
          <a:p>
            <a:pPr>
              <a:buFontTx/>
              <a:buChar char="-"/>
            </a:pPr>
            <a:r>
              <a:rPr lang="en-US" dirty="0"/>
              <a:t>May be unsafe</a:t>
            </a:r>
          </a:p>
          <a:p>
            <a:pPr>
              <a:buFontTx/>
              <a:buChar char="-"/>
            </a:pPr>
            <a:r>
              <a:rPr lang="en-US" dirty="0"/>
              <a:t>Might be unsightly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F051266-C0D5-2A51-0499-4EC60C8AE497}"/>
              </a:ext>
            </a:extLst>
          </p:cNvPr>
          <p:cNvSpPr txBox="1"/>
          <p:nvPr/>
        </p:nvSpPr>
        <p:spPr>
          <a:xfrm>
            <a:off x="515255" y="3082534"/>
            <a:ext cx="44787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3.03 PSI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EE30B210-AAF7-FEEA-EED5-2E2CFD919A99}"/>
              </a:ext>
            </a:extLst>
          </p:cNvPr>
          <p:cNvCxnSpPr>
            <a:cxnSpLocks/>
            <a:endCxn id="56" idx="1"/>
          </p:cNvCxnSpPr>
          <p:nvPr/>
        </p:nvCxnSpPr>
        <p:spPr>
          <a:xfrm>
            <a:off x="6313441" y="5542046"/>
            <a:ext cx="449782" cy="166648"/>
          </a:xfrm>
          <a:prstGeom prst="line">
            <a:avLst/>
          </a:prstGeom>
          <a:ln>
            <a:solidFill>
              <a:schemeClr val="accent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F6DE634E-7DDD-3FEE-E2CA-475C2C9A63C6}"/>
              </a:ext>
            </a:extLst>
          </p:cNvPr>
          <p:cNvSpPr txBox="1"/>
          <p:nvPr/>
        </p:nvSpPr>
        <p:spPr>
          <a:xfrm>
            <a:off x="6763223" y="5493250"/>
            <a:ext cx="9315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psi/gpm per tank height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8E9AD4-6113-07FD-1E7D-CAD7F20481F5}"/>
              </a:ext>
            </a:extLst>
          </p:cNvPr>
          <p:cNvSpPr/>
          <p:nvPr/>
        </p:nvSpPr>
        <p:spPr>
          <a:xfrm>
            <a:off x="2074923" y="4525380"/>
            <a:ext cx="1511714" cy="1286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0CD408E-8316-98B1-7847-2B0B4F80BF4D}"/>
              </a:ext>
            </a:extLst>
          </p:cNvPr>
          <p:cNvSpPr/>
          <p:nvPr/>
        </p:nvSpPr>
        <p:spPr>
          <a:xfrm>
            <a:off x="2008883" y="4525379"/>
            <a:ext cx="132080" cy="12869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B4FDF878-273C-E62C-8499-44F510C3895D}"/>
              </a:ext>
            </a:extLst>
          </p:cNvPr>
          <p:cNvSpPr/>
          <p:nvPr/>
        </p:nvSpPr>
        <p:spPr>
          <a:xfrm>
            <a:off x="2046760" y="4561136"/>
            <a:ext cx="56326" cy="57178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BEB916D7-1F39-C02E-E0E2-504C25F5D54B}"/>
              </a:ext>
            </a:extLst>
          </p:cNvPr>
          <p:cNvCxnSpPr>
            <a:cxnSpLocks/>
          </p:cNvCxnSpPr>
          <p:nvPr/>
        </p:nvCxnSpPr>
        <p:spPr>
          <a:xfrm flipH="1" flipV="1">
            <a:off x="956248" y="3297022"/>
            <a:ext cx="1094746" cy="1273528"/>
          </a:xfrm>
          <a:prstGeom prst="line">
            <a:avLst/>
          </a:prstGeom>
          <a:ln>
            <a:solidFill>
              <a:schemeClr val="accent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2316E39C-925E-0092-859D-E22EBFDABF74}"/>
              </a:ext>
            </a:extLst>
          </p:cNvPr>
          <p:cNvSpPr/>
          <p:nvPr/>
        </p:nvSpPr>
        <p:spPr>
          <a:xfrm rot="16200000">
            <a:off x="4707897" y="4037443"/>
            <a:ext cx="3036974" cy="1464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B4687CA-9C8A-59E7-8944-71AF2BE13EBD}"/>
              </a:ext>
            </a:extLst>
          </p:cNvPr>
          <p:cNvSpPr/>
          <p:nvPr/>
        </p:nvSpPr>
        <p:spPr>
          <a:xfrm>
            <a:off x="4874927" y="4307807"/>
            <a:ext cx="921184" cy="1405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B682B2B-1B7A-7376-B79C-2DD21650BD7E}"/>
              </a:ext>
            </a:extLst>
          </p:cNvPr>
          <p:cNvSpPr/>
          <p:nvPr/>
        </p:nvSpPr>
        <p:spPr>
          <a:xfrm rot="5400000">
            <a:off x="4899973" y="3411696"/>
            <a:ext cx="1651678" cy="1405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EF74181-E2C7-BF12-BB89-EF235D61587B}"/>
              </a:ext>
            </a:extLst>
          </p:cNvPr>
          <p:cNvGrpSpPr/>
          <p:nvPr/>
        </p:nvGrpSpPr>
        <p:grpSpPr>
          <a:xfrm>
            <a:off x="5402360" y="1405162"/>
            <a:ext cx="1183434" cy="1430665"/>
            <a:chOff x="5716156" y="1370516"/>
            <a:chExt cx="1837346" cy="3095561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5AA6C42-EC2B-65FB-B29E-7B0F6426FC5E}"/>
                </a:ext>
              </a:extLst>
            </p:cNvPr>
            <p:cNvSpPr/>
            <p:nvPr/>
          </p:nvSpPr>
          <p:spPr>
            <a:xfrm>
              <a:off x="5716156" y="3788975"/>
              <a:ext cx="1837346" cy="677102"/>
            </a:xfrm>
            <a:prstGeom prst="ellipse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863785B-9E54-3D7B-ED50-47214DBBDCF8}"/>
                </a:ext>
              </a:extLst>
            </p:cNvPr>
            <p:cNvSpPr/>
            <p:nvPr/>
          </p:nvSpPr>
          <p:spPr>
            <a:xfrm>
              <a:off x="5716156" y="1709067"/>
              <a:ext cx="1837346" cy="2418459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  <a:p>
              <a:pPr algn="ctr"/>
              <a:r>
                <a:rPr lang="en-US" dirty="0"/>
                <a:t>Raised Tank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A4549D21-4937-DE7E-9518-EE1CF7D93B91}"/>
                </a:ext>
              </a:extLst>
            </p:cNvPr>
            <p:cNvSpPr/>
            <p:nvPr/>
          </p:nvSpPr>
          <p:spPr>
            <a:xfrm>
              <a:off x="5716156" y="1370516"/>
              <a:ext cx="1837346" cy="677102"/>
            </a:xfrm>
            <a:prstGeom prst="ellipse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F08AA04F-49F5-A065-2D8B-B3A7FB61BC2B}"/>
              </a:ext>
            </a:extLst>
          </p:cNvPr>
          <p:cNvSpPr/>
          <p:nvPr/>
        </p:nvSpPr>
        <p:spPr>
          <a:xfrm>
            <a:off x="3590085" y="4057045"/>
            <a:ext cx="1284817" cy="61717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Pump Apparatus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4693119-388F-F3B2-F085-A6480E7AA7EC}"/>
              </a:ext>
            </a:extLst>
          </p:cNvPr>
          <p:cNvSpPr/>
          <p:nvPr/>
        </p:nvSpPr>
        <p:spPr>
          <a:xfrm>
            <a:off x="3590084" y="3429000"/>
            <a:ext cx="1284817" cy="6171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Grid Energy</a:t>
            </a:r>
          </a:p>
        </p:txBody>
      </p:sp>
    </p:spTree>
    <p:extLst>
      <p:ext uri="{BB962C8B-B14F-4D97-AF65-F5344CB8AC3E}">
        <p14:creationId xmlns:p14="http://schemas.microsoft.com/office/powerpoint/2010/main" val="16100908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FE2F1-1D2F-3DBC-B87D-6A425DA99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riangle 13">
            <a:extLst>
              <a:ext uri="{FF2B5EF4-FFF2-40B4-BE49-F238E27FC236}">
                <a16:creationId xmlns:a16="http://schemas.microsoft.com/office/drawing/2014/main" id="{05F9FD54-0DF0-90EE-E93B-86285A737202}"/>
              </a:ext>
            </a:extLst>
          </p:cNvPr>
          <p:cNvSpPr/>
          <p:nvPr/>
        </p:nvSpPr>
        <p:spPr>
          <a:xfrm>
            <a:off x="3102719" y="5368147"/>
            <a:ext cx="385544" cy="516531"/>
          </a:xfrm>
          <a:custGeom>
            <a:avLst/>
            <a:gdLst>
              <a:gd name="connsiteX0" fmla="*/ 0 w 385544"/>
              <a:gd name="connsiteY0" fmla="*/ 516531 h 516531"/>
              <a:gd name="connsiteX1" fmla="*/ 192772 w 385544"/>
              <a:gd name="connsiteY1" fmla="*/ 0 h 516531"/>
              <a:gd name="connsiteX2" fmla="*/ 385544 w 385544"/>
              <a:gd name="connsiteY2" fmla="*/ 516531 h 516531"/>
              <a:gd name="connsiteX3" fmla="*/ 0 w 385544"/>
              <a:gd name="connsiteY3" fmla="*/ 516531 h 516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544" h="516531" fill="none" extrusionOk="0">
                <a:moveTo>
                  <a:pt x="0" y="516531"/>
                </a:moveTo>
                <a:cubicBezTo>
                  <a:pt x="2792" y="388778"/>
                  <a:pt x="158078" y="254287"/>
                  <a:pt x="192772" y="0"/>
                </a:cubicBezTo>
                <a:cubicBezTo>
                  <a:pt x="284600" y="166386"/>
                  <a:pt x="298786" y="368680"/>
                  <a:pt x="385544" y="516531"/>
                </a:cubicBezTo>
                <a:cubicBezTo>
                  <a:pt x="244705" y="524223"/>
                  <a:pt x="172335" y="486899"/>
                  <a:pt x="0" y="516531"/>
                </a:cubicBezTo>
                <a:close/>
              </a:path>
              <a:path w="385544" h="516531" stroke="0" extrusionOk="0">
                <a:moveTo>
                  <a:pt x="0" y="516531"/>
                </a:moveTo>
                <a:cubicBezTo>
                  <a:pt x="26051" y="264124"/>
                  <a:pt x="162212" y="207102"/>
                  <a:pt x="192772" y="0"/>
                </a:cubicBezTo>
                <a:cubicBezTo>
                  <a:pt x="305376" y="118208"/>
                  <a:pt x="248979" y="280772"/>
                  <a:pt x="385544" y="516531"/>
                </a:cubicBezTo>
                <a:cubicBezTo>
                  <a:pt x="232105" y="537699"/>
                  <a:pt x="144065" y="479388"/>
                  <a:pt x="0" y="516531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219033472">
                  <a:prstGeom prst="triangl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2D877AA-9E43-A716-7B25-DF164635E8D4}"/>
              </a:ext>
            </a:extLst>
          </p:cNvPr>
          <p:cNvCxnSpPr>
            <a:cxnSpLocks/>
          </p:cNvCxnSpPr>
          <p:nvPr/>
        </p:nvCxnSpPr>
        <p:spPr>
          <a:xfrm>
            <a:off x="1043873" y="5964964"/>
            <a:ext cx="10999288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D207DF63-32D7-3B0C-56B9-873838BEAEC8}"/>
              </a:ext>
            </a:extLst>
          </p:cNvPr>
          <p:cNvSpPr/>
          <p:nvPr/>
        </p:nvSpPr>
        <p:spPr>
          <a:xfrm>
            <a:off x="1162228" y="4036896"/>
            <a:ext cx="1837346" cy="677102"/>
          </a:xfrm>
          <a:prstGeom prst="ellips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5615C3-EE04-069E-9E94-32EB6760166A}"/>
              </a:ext>
            </a:extLst>
          </p:cNvPr>
          <p:cNvSpPr/>
          <p:nvPr/>
        </p:nvSpPr>
        <p:spPr>
          <a:xfrm>
            <a:off x="1162228" y="1956988"/>
            <a:ext cx="1837346" cy="2418459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2A755D1-81D6-1838-82A7-891AFCF1B498}"/>
              </a:ext>
            </a:extLst>
          </p:cNvPr>
          <p:cNvSpPr/>
          <p:nvPr/>
        </p:nvSpPr>
        <p:spPr>
          <a:xfrm>
            <a:off x="1162228" y="1618437"/>
            <a:ext cx="1837346" cy="677102"/>
          </a:xfrm>
          <a:prstGeom prst="ellips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AF80683-4D3A-BDEE-3934-437FF1FB0853}"/>
              </a:ext>
            </a:extLst>
          </p:cNvPr>
          <p:cNvCxnSpPr>
            <a:stCxn id="9" idx="6"/>
          </p:cNvCxnSpPr>
          <p:nvPr/>
        </p:nvCxnSpPr>
        <p:spPr>
          <a:xfrm>
            <a:off x="2999574" y="1956988"/>
            <a:ext cx="531026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824A6F0-2A2F-3DBA-3A65-C9FC2E24C7CC}"/>
              </a:ext>
            </a:extLst>
          </p:cNvPr>
          <p:cNvCxnSpPr>
            <a:cxnSpLocks/>
          </p:cNvCxnSpPr>
          <p:nvPr/>
        </p:nvCxnSpPr>
        <p:spPr>
          <a:xfrm flipV="1">
            <a:off x="2988061" y="4371027"/>
            <a:ext cx="542539" cy="442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816CF28-19DA-AD7C-A1AE-088189C5EFAD}"/>
              </a:ext>
            </a:extLst>
          </p:cNvPr>
          <p:cNvCxnSpPr>
            <a:cxnSpLocks/>
          </p:cNvCxnSpPr>
          <p:nvPr/>
        </p:nvCxnSpPr>
        <p:spPr>
          <a:xfrm>
            <a:off x="3431599" y="1956988"/>
            <a:ext cx="0" cy="2418459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EFCA233-C653-7A2D-7F92-89F9D416ECD2}"/>
              </a:ext>
            </a:extLst>
          </p:cNvPr>
          <p:cNvSpPr txBox="1"/>
          <p:nvPr/>
        </p:nvSpPr>
        <p:spPr>
          <a:xfrm>
            <a:off x="2988061" y="2982401"/>
            <a:ext cx="500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 ft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3464EA7-041B-FB45-A360-B88A3F0F7560}"/>
              </a:ext>
            </a:extLst>
          </p:cNvPr>
          <p:cNvSpPr txBox="1"/>
          <p:nvPr/>
        </p:nvSpPr>
        <p:spPr>
          <a:xfrm>
            <a:off x="7657827" y="5973805"/>
            <a:ext cx="2878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Garden (assume flat plane)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46F1315-1152-9329-49F0-6093CC049479}"/>
              </a:ext>
            </a:extLst>
          </p:cNvPr>
          <p:cNvCxnSpPr>
            <a:cxnSpLocks/>
          </p:cNvCxnSpPr>
          <p:nvPr/>
        </p:nvCxnSpPr>
        <p:spPr>
          <a:xfrm>
            <a:off x="813907" y="4371027"/>
            <a:ext cx="0" cy="1589517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F54B907-3910-4A83-5342-39725F1F34CD}"/>
              </a:ext>
            </a:extLst>
          </p:cNvPr>
          <p:cNvCxnSpPr>
            <a:cxnSpLocks/>
          </p:cNvCxnSpPr>
          <p:nvPr/>
        </p:nvCxnSpPr>
        <p:spPr>
          <a:xfrm flipV="1">
            <a:off x="411896" y="5964964"/>
            <a:ext cx="620059" cy="8841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5995843-8F1D-174B-E15B-76533A1B539A}"/>
              </a:ext>
            </a:extLst>
          </p:cNvPr>
          <p:cNvSpPr txBox="1"/>
          <p:nvPr/>
        </p:nvSpPr>
        <p:spPr>
          <a:xfrm>
            <a:off x="335484" y="4981119"/>
            <a:ext cx="500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 ft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8B81ED8-2DBD-4F8C-8336-CC007BBD2C9C}"/>
              </a:ext>
            </a:extLst>
          </p:cNvPr>
          <p:cNvSpPr txBox="1"/>
          <p:nvPr/>
        </p:nvSpPr>
        <p:spPr>
          <a:xfrm>
            <a:off x="790097" y="4954761"/>
            <a:ext cx="128482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Height between tank and garden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7D7C87C-DF4C-DCFA-B59B-B5BB83914A51}"/>
              </a:ext>
            </a:extLst>
          </p:cNvPr>
          <p:cNvSpPr txBox="1"/>
          <p:nvPr/>
        </p:nvSpPr>
        <p:spPr>
          <a:xfrm>
            <a:off x="3431599" y="3035412"/>
            <a:ext cx="12848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Height of tank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5DC7F27-50A5-43CB-26EF-34382454A6B3}"/>
              </a:ext>
            </a:extLst>
          </p:cNvPr>
          <p:cNvCxnSpPr>
            <a:cxnSpLocks/>
            <a:endCxn id="8" idx="2"/>
          </p:cNvCxnSpPr>
          <p:nvPr/>
        </p:nvCxnSpPr>
        <p:spPr>
          <a:xfrm>
            <a:off x="515255" y="4375447"/>
            <a:ext cx="646973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72C40B3-30EA-C124-F913-B92268D00867}"/>
              </a:ext>
            </a:extLst>
          </p:cNvPr>
          <p:cNvCxnSpPr>
            <a:cxnSpLocks/>
            <a:stCxn id="3" idx="2"/>
          </p:cNvCxnSpPr>
          <p:nvPr/>
        </p:nvCxnSpPr>
        <p:spPr>
          <a:xfrm flipV="1">
            <a:off x="3371392" y="4036896"/>
            <a:ext cx="1423192" cy="1003603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C6F986BE-9E58-42C1-4CA0-F169E6ED6763}"/>
              </a:ext>
            </a:extLst>
          </p:cNvPr>
          <p:cNvSpPr txBox="1"/>
          <p:nvPr/>
        </p:nvSpPr>
        <p:spPr>
          <a:xfrm>
            <a:off x="4713671" y="3902928"/>
            <a:ext cx="20951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2” Pipe</a:t>
            </a:r>
          </a:p>
        </p:txBody>
      </p:sp>
      <p:sp>
        <p:nvSpPr>
          <p:cNvPr id="48" name="Title 47">
            <a:extLst>
              <a:ext uri="{FF2B5EF4-FFF2-40B4-BE49-F238E27FC236}">
                <a16:creationId xmlns:a16="http://schemas.microsoft.com/office/drawing/2014/main" id="{085F9BA7-8547-E5C6-9F51-4779B1C71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40036"/>
          </a:xfrm>
        </p:spPr>
        <p:txBody>
          <a:bodyPr/>
          <a:lstStyle/>
          <a:p>
            <a:r>
              <a:rPr lang="en-US" dirty="0"/>
              <a:t>Modified System</a:t>
            </a:r>
          </a:p>
        </p:txBody>
      </p:sp>
      <p:sp>
        <p:nvSpPr>
          <p:cNvPr id="49" name="Content Placeholder 48">
            <a:extLst>
              <a:ext uri="{FF2B5EF4-FFF2-40B4-BE49-F238E27FC236}">
                <a16:creationId xmlns:a16="http://schemas.microsoft.com/office/drawing/2014/main" id="{2ACB65A4-470B-3AAF-63CE-6F453FA7C7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0928" y="545360"/>
            <a:ext cx="3981331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Notes</a:t>
            </a:r>
          </a:p>
          <a:p>
            <a:pPr>
              <a:buFontTx/>
              <a:buChar char="-"/>
            </a:pPr>
            <a:r>
              <a:rPr lang="en-US" dirty="0"/>
              <a:t>Minimal Cost</a:t>
            </a:r>
          </a:p>
          <a:p>
            <a:pPr>
              <a:buFontTx/>
              <a:buChar char="-"/>
            </a:pPr>
            <a:r>
              <a:rPr lang="en-US" dirty="0"/>
              <a:t>Increase in pressure</a:t>
            </a:r>
          </a:p>
          <a:p>
            <a:pPr>
              <a:buFontTx/>
              <a:buChar char="-"/>
            </a:pPr>
            <a:r>
              <a:rPr lang="en-US" dirty="0"/>
              <a:t>Can not use garden hose or sprinklers</a:t>
            </a:r>
          </a:p>
          <a:p>
            <a:pPr>
              <a:buFontTx/>
              <a:buChar char="-"/>
            </a:pPr>
            <a:r>
              <a:rPr lang="en-US" dirty="0"/>
              <a:t>Can fill can in 6 seconds </a:t>
            </a:r>
            <a:r>
              <a:rPr lang="en-US" sz="1800" dirty="0"/>
              <a:t>(hypothetically)</a:t>
            </a:r>
            <a:endParaRPr 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0DAFA65-8A18-0351-0BCF-1CAF74F0582C}"/>
              </a:ext>
            </a:extLst>
          </p:cNvPr>
          <p:cNvSpPr txBox="1"/>
          <p:nvPr/>
        </p:nvSpPr>
        <p:spPr>
          <a:xfrm>
            <a:off x="515255" y="3082534"/>
            <a:ext cx="44787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3.03 PSI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BC3BB5F2-0614-606A-D574-E53AA76025C5}"/>
              </a:ext>
            </a:extLst>
          </p:cNvPr>
          <p:cNvCxnSpPr>
            <a:cxnSpLocks/>
            <a:stCxn id="3" idx="1"/>
            <a:endCxn id="56" idx="1"/>
          </p:cNvCxnSpPr>
          <p:nvPr/>
        </p:nvCxnSpPr>
        <p:spPr>
          <a:xfrm>
            <a:off x="3307057" y="5555621"/>
            <a:ext cx="449782" cy="82009"/>
          </a:xfrm>
          <a:prstGeom prst="line">
            <a:avLst/>
          </a:prstGeom>
          <a:ln>
            <a:solidFill>
              <a:schemeClr val="accent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4E78517B-1C96-BD30-6FA0-8675DDCD579B}"/>
              </a:ext>
            </a:extLst>
          </p:cNvPr>
          <p:cNvSpPr txBox="1"/>
          <p:nvPr/>
        </p:nvSpPr>
        <p:spPr>
          <a:xfrm>
            <a:off x="3756839" y="5506825"/>
            <a:ext cx="117409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20+ GPM, ~4 psi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A2C106F-A422-1295-C295-6995216E4769}"/>
              </a:ext>
            </a:extLst>
          </p:cNvPr>
          <p:cNvSpPr/>
          <p:nvPr/>
        </p:nvSpPr>
        <p:spPr>
          <a:xfrm>
            <a:off x="2074923" y="4525379"/>
            <a:ext cx="1296491" cy="1286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D51B72-909C-DF96-8F54-5058AF03677E}"/>
              </a:ext>
            </a:extLst>
          </p:cNvPr>
          <p:cNvSpPr/>
          <p:nvPr/>
        </p:nvSpPr>
        <p:spPr>
          <a:xfrm rot="16200000">
            <a:off x="2791935" y="4976164"/>
            <a:ext cx="1030243" cy="1286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A554E27-15C2-E8CD-2659-381698CD7E3D}"/>
              </a:ext>
            </a:extLst>
          </p:cNvPr>
          <p:cNvSpPr/>
          <p:nvPr/>
        </p:nvSpPr>
        <p:spPr>
          <a:xfrm>
            <a:off x="2008883" y="4525379"/>
            <a:ext cx="132080" cy="12869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BE34FC31-C77C-4FEC-D9AE-8896163AC005}"/>
              </a:ext>
            </a:extLst>
          </p:cNvPr>
          <p:cNvSpPr/>
          <p:nvPr/>
        </p:nvSpPr>
        <p:spPr>
          <a:xfrm>
            <a:off x="2046760" y="4561136"/>
            <a:ext cx="56326" cy="57178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88FBEFA5-0AB9-8CB0-9A1C-1F8A0B855006}"/>
              </a:ext>
            </a:extLst>
          </p:cNvPr>
          <p:cNvCxnSpPr>
            <a:cxnSpLocks/>
          </p:cNvCxnSpPr>
          <p:nvPr/>
        </p:nvCxnSpPr>
        <p:spPr>
          <a:xfrm flipH="1" flipV="1">
            <a:off x="956248" y="3297022"/>
            <a:ext cx="1094746" cy="1273528"/>
          </a:xfrm>
          <a:prstGeom prst="line">
            <a:avLst/>
          </a:prstGeom>
          <a:ln>
            <a:solidFill>
              <a:schemeClr val="accent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52890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D7B5D-F5E3-88DA-64E7-E22C57D10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11506CA5-BA26-7CA2-8A38-6A06B10A6284}"/>
              </a:ext>
            </a:extLst>
          </p:cNvPr>
          <p:cNvSpPr/>
          <p:nvPr/>
        </p:nvSpPr>
        <p:spPr>
          <a:xfrm>
            <a:off x="5321300" y="4305967"/>
            <a:ext cx="921184" cy="1405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9185EC2-F7DA-D31E-0111-F067E9F2B247}"/>
              </a:ext>
            </a:extLst>
          </p:cNvPr>
          <p:cNvCxnSpPr>
            <a:cxnSpLocks/>
          </p:cNvCxnSpPr>
          <p:nvPr/>
        </p:nvCxnSpPr>
        <p:spPr>
          <a:xfrm>
            <a:off x="1043873" y="5964964"/>
            <a:ext cx="10999288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EB7681F7-5D3E-72B5-F4F3-3D5CF7A8AAF3}"/>
              </a:ext>
            </a:extLst>
          </p:cNvPr>
          <p:cNvSpPr/>
          <p:nvPr/>
        </p:nvSpPr>
        <p:spPr>
          <a:xfrm>
            <a:off x="1162228" y="4036896"/>
            <a:ext cx="1837346" cy="677102"/>
          </a:xfrm>
          <a:prstGeom prst="ellips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951D35-ADA9-6BC5-6878-9E2ECB629935}"/>
              </a:ext>
            </a:extLst>
          </p:cNvPr>
          <p:cNvSpPr/>
          <p:nvPr/>
        </p:nvSpPr>
        <p:spPr>
          <a:xfrm>
            <a:off x="1162228" y="1956988"/>
            <a:ext cx="1837346" cy="2418459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B147774-B9E1-2CC7-81B3-346E6A305C27}"/>
              </a:ext>
            </a:extLst>
          </p:cNvPr>
          <p:cNvSpPr/>
          <p:nvPr/>
        </p:nvSpPr>
        <p:spPr>
          <a:xfrm>
            <a:off x="1162228" y="1618437"/>
            <a:ext cx="1837346" cy="677102"/>
          </a:xfrm>
          <a:prstGeom prst="ellips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2430160-7FB7-CA30-032C-A0A13434B806}"/>
              </a:ext>
            </a:extLst>
          </p:cNvPr>
          <p:cNvCxnSpPr>
            <a:stCxn id="9" idx="6"/>
          </p:cNvCxnSpPr>
          <p:nvPr/>
        </p:nvCxnSpPr>
        <p:spPr>
          <a:xfrm>
            <a:off x="2999574" y="1956988"/>
            <a:ext cx="531026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5E53776-81E4-16A0-E55B-3575512C9592}"/>
              </a:ext>
            </a:extLst>
          </p:cNvPr>
          <p:cNvCxnSpPr>
            <a:cxnSpLocks/>
          </p:cNvCxnSpPr>
          <p:nvPr/>
        </p:nvCxnSpPr>
        <p:spPr>
          <a:xfrm flipV="1">
            <a:off x="2988061" y="4371027"/>
            <a:ext cx="542539" cy="442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EBEA9F8-688A-2716-006C-BEE47C50B9B2}"/>
              </a:ext>
            </a:extLst>
          </p:cNvPr>
          <p:cNvCxnSpPr>
            <a:cxnSpLocks/>
          </p:cNvCxnSpPr>
          <p:nvPr/>
        </p:nvCxnSpPr>
        <p:spPr>
          <a:xfrm>
            <a:off x="3431599" y="1956988"/>
            <a:ext cx="0" cy="2418459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B02E470-F268-DE13-3BE7-DD09070D6C38}"/>
              </a:ext>
            </a:extLst>
          </p:cNvPr>
          <p:cNvSpPr txBox="1"/>
          <p:nvPr/>
        </p:nvSpPr>
        <p:spPr>
          <a:xfrm>
            <a:off x="2988061" y="2982401"/>
            <a:ext cx="500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 ft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3D8434-2E96-6500-A703-2CF5D47EDF5A}"/>
              </a:ext>
            </a:extLst>
          </p:cNvPr>
          <p:cNvSpPr txBox="1"/>
          <p:nvPr/>
        </p:nvSpPr>
        <p:spPr>
          <a:xfrm>
            <a:off x="7657827" y="5973805"/>
            <a:ext cx="2878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Garden (assume flat plane)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6C5D243-2D50-FA98-5F09-85C11FDA3DA1}"/>
              </a:ext>
            </a:extLst>
          </p:cNvPr>
          <p:cNvCxnSpPr>
            <a:cxnSpLocks/>
          </p:cNvCxnSpPr>
          <p:nvPr/>
        </p:nvCxnSpPr>
        <p:spPr>
          <a:xfrm>
            <a:off x="813907" y="4371027"/>
            <a:ext cx="0" cy="1589517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97AD35D-F8C4-4DEC-F973-C8D67C86E6CC}"/>
              </a:ext>
            </a:extLst>
          </p:cNvPr>
          <p:cNvCxnSpPr>
            <a:cxnSpLocks/>
          </p:cNvCxnSpPr>
          <p:nvPr/>
        </p:nvCxnSpPr>
        <p:spPr>
          <a:xfrm flipV="1">
            <a:off x="411896" y="5964964"/>
            <a:ext cx="620059" cy="8841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B673CCC1-6EC4-CC59-40AF-A8887BC70EC7}"/>
              </a:ext>
            </a:extLst>
          </p:cNvPr>
          <p:cNvSpPr txBox="1"/>
          <p:nvPr/>
        </p:nvSpPr>
        <p:spPr>
          <a:xfrm>
            <a:off x="335484" y="4981119"/>
            <a:ext cx="500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 ft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91B3D04-C500-70B6-192E-9AD899A3366F}"/>
              </a:ext>
            </a:extLst>
          </p:cNvPr>
          <p:cNvSpPr txBox="1"/>
          <p:nvPr/>
        </p:nvSpPr>
        <p:spPr>
          <a:xfrm>
            <a:off x="790097" y="4954761"/>
            <a:ext cx="128482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Height between tank and garden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3E83B2E-32FD-154E-0460-F08C9791AA29}"/>
              </a:ext>
            </a:extLst>
          </p:cNvPr>
          <p:cNvSpPr txBox="1"/>
          <p:nvPr/>
        </p:nvSpPr>
        <p:spPr>
          <a:xfrm>
            <a:off x="3431599" y="3035412"/>
            <a:ext cx="12848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Height of tank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C8A1ADB-B37D-40F4-9142-27013C829133}"/>
              </a:ext>
            </a:extLst>
          </p:cNvPr>
          <p:cNvCxnSpPr>
            <a:cxnSpLocks/>
            <a:endCxn id="8" idx="2"/>
          </p:cNvCxnSpPr>
          <p:nvPr/>
        </p:nvCxnSpPr>
        <p:spPr>
          <a:xfrm>
            <a:off x="515255" y="4375447"/>
            <a:ext cx="646973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3CAC8DB-E651-4767-C4FD-4592A5F2E9E8}"/>
              </a:ext>
            </a:extLst>
          </p:cNvPr>
          <p:cNvCxnSpPr>
            <a:cxnSpLocks/>
            <a:stCxn id="2" idx="2"/>
          </p:cNvCxnSpPr>
          <p:nvPr/>
        </p:nvCxnSpPr>
        <p:spPr>
          <a:xfrm>
            <a:off x="3130210" y="4654072"/>
            <a:ext cx="583582" cy="772882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F881F35E-CC2D-C9AF-945B-2EAF58360CAB}"/>
              </a:ext>
            </a:extLst>
          </p:cNvPr>
          <p:cNvSpPr txBox="1"/>
          <p:nvPr/>
        </p:nvSpPr>
        <p:spPr>
          <a:xfrm>
            <a:off x="3632879" y="5292986"/>
            <a:ext cx="20951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2” Pipe</a:t>
            </a:r>
          </a:p>
        </p:txBody>
      </p:sp>
      <p:sp>
        <p:nvSpPr>
          <p:cNvPr id="48" name="Title 47">
            <a:extLst>
              <a:ext uri="{FF2B5EF4-FFF2-40B4-BE49-F238E27FC236}">
                <a16:creationId xmlns:a16="http://schemas.microsoft.com/office/drawing/2014/main" id="{CE9E5656-47B1-21D1-507A-448D00079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40036"/>
          </a:xfrm>
        </p:spPr>
        <p:txBody>
          <a:bodyPr/>
          <a:lstStyle/>
          <a:p>
            <a:r>
              <a:rPr lang="en-US" dirty="0"/>
              <a:t>Solar + Pressure</a:t>
            </a:r>
          </a:p>
        </p:txBody>
      </p:sp>
      <p:sp>
        <p:nvSpPr>
          <p:cNvPr id="49" name="Content Placeholder 48">
            <a:extLst>
              <a:ext uri="{FF2B5EF4-FFF2-40B4-BE49-F238E27FC236}">
                <a16:creationId xmlns:a16="http://schemas.microsoft.com/office/drawing/2014/main" id="{90250F47-9E5B-6B5A-BEE5-2AAA836886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0928" y="545360"/>
            <a:ext cx="3981331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Notes</a:t>
            </a:r>
          </a:p>
          <a:p>
            <a:pPr>
              <a:buFontTx/>
              <a:buChar char="-"/>
            </a:pPr>
            <a:r>
              <a:rPr lang="en-US" dirty="0"/>
              <a:t>Complex + $$$</a:t>
            </a:r>
          </a:p>
          <a:p>
            <a:pPr>
              <a:buFontTx/>
              <a:buChar char="-"/>
            </a:pPr>
            <a:r>
              <a:rPr lang="en-US" dirty="0"/>
              <a:t>Would have better flowrate/pressure</a:t>
            </a:r>
          </a:p>
          <a:p>
            <a:pPr>
              <a:buFontTx/>
              <a:buChar char="-"/>
            </a:pPr>
            <a:r>
              <a:rPr lang="en-US" dirty="0"/>
              <a:t>Would have spotty service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8F8C5CD-3600-35A6-2B1D-3364EE21D23F}"/>
              </a:ext>
            </a:extLst>
          </p:cNvPr>
          <p:cNvSpPr txBox="1"/>
          <p:nvPr/>
        </p:nvSpPr>
        <p:spPr>
          <a:xfrm>
            <a:off x="515255" y="3082534"/>
            <a:ext cx="44787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3.03 PSI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2B6B6F-7E84-48DA-065B-0E86B257F3D2}"/>
              </a:ext>
            </a:extLst>
          </p:cNvPr>
          <p:cNvSpPr/>
          <p:nvPr/>
        </p:nvSpPr>
        <p:spPr>
          <a:xfrm>
            <a:off x="2074923" y="4525379"/>
            <a:ext cx="2110574" cy="1286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F777AF9A-2ED9-F191-1082-60A864BEE4CF}"/>
              </a:ext>
            </a:extLst>
          </p:cNvPr>
          <p:cNvSpPr/>
          <p:nvPr/>
        </p:nvSpPr>
        <p:spPr>
          <a:xfrm>
            <a:off x="2008883" y="4525379"/>
            <a:ext cx="132080" cy="12869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9245284A-34FC-C2E8-2A78-2AF010D8439E}"/>
              </a:ext>
            </a:extLst>
          </p:cNvPr>
          <p:cNvSpPr/>
          <p:nvPr/>
        </p:nvSpPr>
        <p:spPr>
          <a:xfrm>
            <a:off x="2046760" y="4561136"/>
            <a:ext cx="56326" cy="57178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7146DF14-7A12-A2A5-BD9E-07779E24EC69}"/>
              </a:ext>
            </a:extLst>
          </p:cNvPr>
          <p:cNvCxnSpPr>
            <a:cxnSpLocks/>
          </p:cNvCxnSpPr>
          <p:nvPr/>
        </p:nvCxnSpPr>
        <p:spPr>
          <a:xfrm flipH="1" flipV="1">
            <a:off x="956248" y="3297022"/>
            <a:ext cx="1094746" cy="1273528"/>
          </a:xfrm>
          <a:prstGeom prst="line">
            <a:avLst/>
          </a:prstGeom>
          <a:ln>
            <a:solidFill>
              <a:schemeClr val="accent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8CCC7006-4871-D8B0-9989-297FCC76D82D}"/>
              </a:ext>
            </a:extLst>
          </p:cNvPr>
          <p:cNvSpPr/>
          <p:nvPr/>
        </p:nvSpPr>
        <p:spPr>
          <a:xfrm>
            <a:off x="4185496" y="4036896"/>
            <a:ext cx="1284817" cy="61717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Pump Apparatus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DEA13E8-22D6-956A-2BF8-E56A7FC63D6E}"/>
              </a:ext>
            </a:extLst>
          </p:cNvPr>
          <p:cNvSpPr/>
          <p:nvPr/>
        </p:nvSpPr>
        <p:spPr>
          <a:xfrm>
            <a:off x="4185495" y="3408851"/>
            <a:ext cx="1284817" cy="617176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Solar Energy</a:t>
            </a:r>
          </a:p>
        </p:txBody>
      </p:sp>
      <p:sp>
        <p:nvSpPr>
          <p:cNvPr id="3" name="Triangle 2">
            <a:extLst>
              <a:ext uri="{FF2B5EF4-FFF2-40B4-BE49-F238E27FC236}">
                <a16:creationId xmlns:a16="http://schemas.microsoft.com/office/drawing/2014/main" id="{186231B0-2BEC-5962-1028-7CA7E96968AC}"/>
              </a:ext>
            </a:extLst>
          </p:cNvPr>
          <p:cNvSpPr/>
          <p:nvPr/>
        </p:nvSpPr>
        <p:spPr>
          <a:xfrm>
            <a:off x="6466963" y="5377874"/>
            <a:ext cx="385544" cy="516531"/>
          </a:xfrm>
          <a:custGeom>
            <a:avLst/>
            <a:gdLst>
              <a:gd name="connsiteX0" fmla="*/ 0 w 385544"/>
              <a:gd name="connsiteY0" fmla="*/ 516531 h 516531"/>
              <a:gd name="connsiteX1" fmla="*/ 192772 w 385544"/>
              <a:gd name="connsiteY1" fmla="*/ 0 h 516531"/>
              <a:gd name="connsiteX2" fmla="*/ 385544 w 385544"/>
              <a:gd name="connsiteY2" fmla="*/ 516531 h 516531"/>
              <a:gd name="connsiteX3" fmla="*/ 0 w 385544"/>
              <a:gd name="connsiteY3" fmla="*/ 516531 h 516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544" h="516531" fill="none" extrusionOk="0">
                <a:moveTo>
                  <a:pt x="0" y="516531"/>
                </a:moveTo>
                <a:cubicBezTo>
                  <a:pt x="2792" y="388778"/>
                  <a:pt x="158078" y="254287"/>
                  <a:pt x="192772" y="0"/>
                </a:cubicBezTo>
                <a:cubicBezTo>
                  <a:pt x="284600" y="166386"/>
                  <a:pt x="298786" y="368680"/>
                  <a:pt x="385544" y="516531"/>
                </a:cubicBezTo>
                <a:cubicBezTo>
                  <a:pt x="244705" y="524223"/>
                  <a:pt x="172335" y="486899"/>
                  <a:pt x="0" y="516531"/>
                </a:cubicBezTo>
                <a:close/>
              </a:path>
              <a:path w="385544" h="516531" stroke="0" extrusionOk="0">
                <a:moveTo>
                  <a:pt x="0" y="516531"/>
                </a:moveTo>
                <a:cubicBezTo>
                  <a:pt x="26051" y="264124"/>
                  <a:pt x="162212" y="207102"/>
                  <a:pt x="192772" y="0"/>
                </a:cubicBezTo>
                <a:cubicBezTo>
                  <a:pt x="305376" y="118208"/>
                  <a:pt x="248979" y="280772"/>
                  <a:pt x="385544" y="516531"/>
                </a:cubicBezTo>
                <a:cubicBezTo>
                  <a:pt x="232105" y="537699"/>
                  <a:pt x="144065" y="479388"/>
                  <a:pt x="0" y="516531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219033472">
                  <a:prstGeom prst="triangl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D58D69E-85E0-4477-4932-CB953D5492F2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6759814" y="5540206"/>
            <a:ext cx="449781" cy="166648"/>
          </a:xfrm>
          <a:prstGeom prst="line">
            <a:avLst/>
          </a:prstGeom>
          <a:ln>
            <a:solidFill>
              <a:schemeClr val="accent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AD1AFA5-17F5-6ACD-C5FB-1F06E8259B71}"/>
              </a:ext>
            </a:extLst>
          </p:cNvPr>
          <p:cNvSpPr txBox="1"/>
          <p:nvPr/>
        </p:nvSpPr>
        <p:spPr>
          <a:xfrm>
            <a:off x="7209595" y="5491410"/>
            <a:ext cx="10138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psi/gpm as design specs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A7ED318-A5A4-713B-79DC-58B204D769F5}"/>
              </a:ext>
            </a:extLst>
          </p:cNvPr>
          <p:cNvSpPr/>
          <p:nvPr/>
        </p:nvSpPr>
        <p:spPr>
          <a:xfrm rot="16200000">
            <a:off x="6120876" y="5002209"/>
            <a:ext cx="1103761" cy="1464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3B444D4-5375-A64C-9360-ED372116E645}"/>
              </a:ext>
            </a:extLst>
          </p:cNvPr>
          <p:cNvGrpSpPr/>
          <p:nvPr/>
        </p:nvGrpSpPr>
        <p:grpSpPr>
          <a:xfrm>
            <a:off x="5858843" y="3266074"/>
            <a:ext cx="1183434" cy="1430665"/>
            <a:chOff x="5716156" y="1370516"/>
            <a:chExt cx="1837346" cy="3095561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477130F3-7FC7-AA69-B3CD-06F030174653}"/>
                </a:ext>
              </a:extLst>
            </p:cNvPr>
            <p:cNvSpPr/>
            <p:nvPr/>
          </p:nvSpPr>
          <p:spPr>
            <a:xfrm>
              <a:off x="5716156" y="3788975"/>
              <a:ext cx="1837346" cy="677102"/>
            </a:xfrm>
            <a:prstGeom prst="ellipse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5EEF3970-5CE8-E1DF-1AA4-A21E97AF0AE3}"/>
                </a:ext>
              </a:extLst>
            </p:cNvPr>
            <p:cNvSpPr/>
            <p:nvPr/>
          </p:nvSpPr>
          <p:spPr>
            <a:xfrm>
              <a:off x="5716156" y="1709067"/>
              <a:ext cx="1837346" cy="2418459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  <a:p>
              <a:pPr algn="ctr"/>
              <a:r>
                <a:rPr lang="en-US" dirty="0"/>
                <a:t>Pressure Tank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42E33868-6E66-175C-9B9B-E10AB044AF6F}"/>
                </a:ext>
              </a:extLst>
            </p:cNvPr>
            <p:cNvSpPr/>
            <p:nvPr/>
          </p:nvSpPr>
          <p:spPr>
            <a:xfrm>
              <a:off x="5716156" y="1370516"/>
              <a:ext cx="1837346" cy="677102"/>
            </a:xfrm>
            <a:prstGeom prst="ellipse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riangle 5">
            <a:extLst>
              <a:ext uri="{FF2B5EF4-FFF2-40B4-BE49-F238E27FC236}">
                <a16:creationId xmlns:a16="http://schemas.microsoft.com/office/drawing/2014/main" id="{1C1A9A28-B0DE-9360-4B7F-1727C7F83C57}"/>
              </a:ext>
            </a:extLst>
          </p:cNvPr>
          <p:cNvSpPr/>
          <p:nvPr/>
        </p:nvSpPr>
        <p:spPr>
          <a:xfrm>
            <a:off x="2589817" y="5373141"/>
            <a:ext cx="385544" cy="516531"/>
          </a:xfrm>
          <a:custGeom>
            <a:avLst/>
            <a:gdLst>
              <a:gd name="connsiteX0" fmla="*/ 0 w 385544"/>
              <a:gd name="connsiteY0" fmla="*/ 516531 h 516531"/>
              <a:gd name="connsiteX1" fmla="*/ 192772 w 385544"/>
              <a:gd name="connsiteY1" fmla="*/ 0 h 516531"/>
              <a:gd name="connsiteX2" fmla="*/ 385544 w 385544"/>
              <a:gd name="connsiteY2" fmla="*/ 516531 h 516531"/>
              <a:gd name="connsiteX3" fmla="*/ 0 w 385544"/>
              <a:gd name="connsiteY3" fmla="*/ 516531 h 516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544" h="516531" fill="none" extrusionOk="0">
                <a:moveTo>
                  <a:pt x="0" y="516531"/>
                </a:moveTo>
                <a:cubicBezTo>
                  <a:pt x="2792" y="388778"/>
                  <a:pt x="158078" y="254287"/>
                  <a:pt x="192772" y="0"/>
                </a:cubicBezTo>
                <a:cubicBezTo>
                  <a:pt x="284600" y="166386"/>
                  <a:pt x="298786" y="368680"/>
                  <a:pt x="385544" y="516531"/>
                </a:cubicBezTo>
                <a:cubicBezTo>
                  <a:pt x="244705" y="524223"/>
                  <a:pt x="172335" y="486899"/>
                  <a:pt x="0" y="516531"/>
                </a:cubicBezTo>
                <a:close/>
              </a:path>
              <a:path w="385544" h="516531" stroke="0" extrusionOk="0">
                <a:moveTo>
                  <a:pt x="0" y="516531"/>
                </a:moveTo>
                <a:cubicBezTo>
                  <a:pt x="26051" y="264124"/>
                  <a:pt x="162212" y="207102"/>
                  <a:pt x="192772" y="0"/>
                </a:cubicBezTo>
                <a:cubicBezTo>
                  <a:pt x="305376" y="118208"/>
                  <a:pt x="248979" y="280772"/>
                  <a:pt x="385544" y="516531"/>
                </a:cubicBezTo>
                <a:cubicBezTo>
                  <a:pt x="232105" y="537699"/>
                  <a:pt x="144065" y="479388"/>
                  <a:pt x="0" y="516531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219033472">
                  <a:prstGeom prst="triangl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AF59529-C314-F99F-31C5-C6F56083C81D}"/>
              </a:ext>
            </a:extLst>
          </p:cNvPr>
          <p:cNvCxnSpPr>
            <a:cxnSpLocks/>
            <a:stCxn id="32" idx="1"/>
            <a:endCxn id="31" idx="1"/>
          </p:cNvCxnSpPr>
          <p:nvPr/>
        </p:nvCxnSpPr>
        <p:spPr>
          <a:xfrm>
            <a:off x="2794155" y="5560615"/>
            <a:ext cx="962684" cy="77015"/>
          </a:xfrm>
          <a:prstGeom prst="line">
            <a:avLst/>
          </a:prstGeom>
          <a:ln>
            <a:solidFill>
              <a:schemeClr val="accent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B3E3C94A-473F-D1D6-F20F-2F6790A88EF6}"/>
              </a:ext>
            </a:extLst>
          </p:cNvPr>
          <p:cNvSpPr txBox="1"/>
          <p:nvPr/>
        </p:nvSpPr>
        <p:spPr>
          <a:xfrm>
            <a:off x="3756839" y="5506825"/>
            <a:ext cx="117409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20+ GPM, ~4 psi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C2937CB-BB01-1E70-7C6E-39EFDB0CFE6D}"/>
              </a:ext>
            </a:extLst>
          </p:cNvPr>
          <p:cNvSpPr/>
          <p:nvPr/>
        </p:nvSpPr>
        <p:spPr>
          <a:xfrm rot="16200000">
            <a:off x="2279033" y="4981158"/>
            <a:ext cx="1030243" cy="1286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8465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939AD-5702-42DA-5FC4-168C17037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riangle 13">
            <a:extLst>
              <a:ext uri="{FF2B5EF4-FFF2-40B4-BE49-F238E27FC236}">
                <a16:creationId xmlns:a16="http://schemas.microsoft.com/office/drawing/2014/main" id="{677D8EF2-5258-3C88-9171-D9D0F0574D9A}"/>
              </a:ext>
            </a:extLst>
          </p:cNvPr>
          <p:cNvSpPr/>
          <p:nvPr/>
        </p:nvSpPr>
        <p:spPr>
          <a:xfrm>
            <a:off x="6020590" y="5379714"/>
            <a:ext cx="385544" cy="516531"/>
          </a:xfrm>
          <a:custGeom>
            <a:avLst/>
            <a:gdLst>
              <a:gd name="connsiteX0" fmla="*/ 0 w 385544"/>
              <a:gd name="connsiteY0" fmla="*/ 516531 h 516531"/>
              <a:gd name="connsiteX1" fmla="*/ 192772 w 385544"/>
              <a:gd name="connsiteY1" fmla="*/ 0 h 516531"/>
              <a:gd name="connsiteX2" fmla="*/ 385544 w 385544"/>
              <a:gd name="connsiteY2" fmla="*/ 516531 h 516531"/>
              <a:gd name="connsiteX3" fmla="*/ 0 w 385544"/>
              <a:gd name="connsiteY3" fmla="*/ 516531 h 516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544" h="516531" fill="none" extrusionOk="0">
                <a:moveTo>
                  <a:pt x="0" y="516531"/>
                </a:moveTo>
                <a:cubicBezTo>
                  <a:pt x="2792" y="388778"/>
                  <a:pt x="158078" y="254287"/>
                  <a:pt x="192772" y="0"/>
                </a:cubicBezTo>
                <a:cubicBezTo>
                  <a:pt x="284600" y="166386"/>
                  <a:pt x="298786" y="368680"/>
                  <a:pt x="385544" y="516531"/>
                </a:cubicBezTo>
                <a:cubicBezTo>
                  <a:pt x="244705" y="524223"/>
                  <a:pt x="172335" y="486899"/>
                  <a:pt x="0" y="516531"/>
                </a:cubicBezTo>
                <a:close/>
              </a:path>
              <a:path w="385544" h="516531" stroke="0" extrusionOk="0">
                <a:moveTo>
                  <a:pt x="0" y="516531"/>
                </a:moveTo>
                <a:cubicBezTo>
                  <a:pt x="26051" y="264124"/>
                  <a:pt x="162212" y="207102"/>
                  <a:pt x="192772" y="0"/>
                </a:cubicBezTo>
                <a:cubicBezTo>
                  <a:pt x="305376" y="118208"/>
                  <a:pt x="248979" y="280772"/>
                  <a:pt x="385544" y="516531"/>
                </a:cubicBezTo>
                <a:cubicBezTo>
                  <a:pt x="232105" y="537699"/>
                  <a:pt x="144065" y="479388"/>
                  <a:pt x="0" y="516531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219033472">
                  <a:prstGeom prst="triangl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83DED54-9369-8570-2915-E3BE94A7EF5E}"/>
              </a:ext>
            </a:extLst>
          </p:cNvPr>
          <p:cNvCxnSpPr>
            <a:cxnSpLocks/>
          </p:cNvCxnSpPr>
          <p:nvPr/>
        </p:nvCxnSpPr>
        <p:spPr>
          <a:xfrm>
            <a:off x="1043873" y="5964964"/>
            <a:ext cx="10999288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5EF62830-C2B1-EB69-EB85-F8080E14BBD4}"/>
              </a:ext>
            </a:extLst>
          </p:cNvPr>
          <p:cNvSpPr/>
          <p:nvPr/>
        </p:nvSpPr>
        <p:spPr>
          <a:xfrm>
            <a:off x="1162228" y="4036896"/>
            <a:ext cx="1837346" cy="677102"/>
          </a:xfrm>
          <a:prstGeom prst="ellips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C5096A-FCA5-C92A-B0F5-A332C7B1CF56}"/>
              </a:ext>
            </a:extLst>
          </p:cNvPr>
          <p:cNvSpPr/>
          <p:nvPr/>
        </p:nvSpPr>
        <p:spPr>
          <a:xfrm>
            <a:off x="1162228" y="1956988"/>
            <a:ext cx="1837346" cy="2418459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ED1445E-41E7-EFD6-81D6-946FDC75A998}"/>
              </a:ext>
            </a:extLst>
          </p:cNvPr>
          <p:cNvSpPr/>
          <p:nvPr/>
        </p:nvSpPr>
        <p:spPr>
          <a:xfrm>
            <a:off x="1162228" y="1618437"/>
            <a:ext cx="1837346" cy="677102"/>
          </a:xfrm>
          <a:prstGeom prst="ellips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F0EABF5-9832-1A47-9C5B-FA800F3B1B51}"/>
              </a:ext>
            </a:extLst>
          </p:cNvPr>
          <p:cNvCxnSpPr>
            <a:stCxn id="9" idx="6"/>
          </p:cNvCxnSpPr>
          <p:nvPr/>
        </p:nvCxnSpPr>
        <p:spPr>
          <a:xfrm>
            <a:off x="2999574" y="1956988"/>
            <a:ext cx="531026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E2BB673-8011-2B21-1477-6FCA436EC32D}"/>
              </a:ext>
            </a:extLst>
          </p:cNvPr>
          <p:cNvCxnSpPr>
            <a:cxnSpLocks/>
          </p:cNvCxnSpPr>
          <p:nvPr/>
        </p:nvCxnSpPr>
        <p:spPr>
          <a:xfrm flipV="1">
            <a:off x="2988061" y="4371027"/>
            <a:ext cx="542539" cy="442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A4C2B04-F081-9BAD-F2C7-854FD514EB68}"/>
              </a:ext>
            </a:extLst>
          </p:cNvPr>
          <p:cNvCxnSpPr>
            <a:cxnSpLocks/>
          </p:cNvCxnSpPr>
          <p:nvPr/>
        </p:nvCxnSpPr>
        <p:spPr>
          <a:xfrm>
            <a:off x="3431599" y="1956988"/>
            <a:ext cx="0" cy="2418459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A9887BA-F1B6-253A-C32F-73A8317E69F7}"/>
              </a:ext>
            </a:extLst>
          </p:cNvPr>
          <p:cNvSpPr txBox="1"/>
          <p:nvPr/>
        </p:nvSpPr>
        <p:spPr>
          <a:xfrm>
            <a:off x="2988061" y="2982401"/>
            <a:ext cx="500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 ft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F79F2E3-AC40-2678-A671-A07853A9D360}"/>
              </a:ext>
            </a:extLst>
          </p:cNvPr>
          <p:cNvSpPr txBox="1"/>
          <p:nvPr/>
        </p:nvSpPr>
        <p:spPr>
          <a:xfrm>
            <a:off x="7657827" y="5973805"/>
            <a:ext cx="2878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Garden (assume flat plane)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89FF411-0064-6ED9-5158-2FBDEBBD3541}"/>
              </a:ext>
            </a:extLst>
          </p:cNvPr>
          <p:cNvCxnSpPr>
            <a:cxnSpLocks/>
          </p:cNvCxnSpPr>
          <p:nvPr/>
        </p:nvCxnSpPr>
        <p:spPr>
          <a:xfrm>
            <a:off x="813907" y="4371027"/>
            <a:ext cx="0" cy="1589517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2A3EA2B-7ADA-CF90-10B5-F22ECA0E9140}"/>
              </a:ext>
            </a:extLst>
          </p:cNvPr>
          <p:cNvCxnSpPr>
            <a:cxnSpLocks/>
          </p:cNvCxnSpPr>
          <p:nvPr/>
        </p:nvCxnSpPr>
        <p:spPr>
          <a:xfrm flipV="1">
            <a:off x="411896" y="5964964"/>
            <a:ext cx="620059" cy="8841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08F9047-B98A-2396-BCDC-1310C2C4ADB6}"/>
              </a:ext>
            </a:extLst>
          </p:cNvPr>
          <p:cNvSpPr txBox="1"/>
          <p:nvPr/>
        </p:nvSpPr>
        <p:spPr>
          <a:xfrm>
            <a:off x="335484" y="4981119"/>
            <a:ext cx="500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 ft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3721028-1FBF-39A2-DC4B-2490A9380FE2}"/>
              </a:ext>
            </a:extLst>
          </p:cNvPr>
          <p:cNvSpPr txBox="1"/>
          <p:nvPr/>
        </p:nvSpPr>
        <p:spPr>
          <a:xfrm>
            <a:off x="790097" y="4954761"/>
            <a:ext cx="128482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Height between tank and garden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E8540B6-25B0-1C41-D1F3-482D607937F4}"/>
              </a:ext>
            </a:extLst>
          </p:cNvPr>
          <p:cNvSpPr txBox="1"/>
          <p:nvPr/>
        </p:nvSpPr>
        <p:spPr>
          <a:xfrm>
            <a:off x="3431599" y="3035412"/>
            <a:ext cx="12848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Height of tank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D7B9516-4212-5923-0A56-EADBB0B86588}"/>
              </a:ext>
            </a:extLst>
          </p:cNvPr>
          <p:cNvCxnSpPr>
            <a:cxnSpLocks/>
            <a:endCxn id="8" idx="2"/>
          </p:cNvCxnSpPr>
          <p:nvPr/>
        </p:nvCxnSpPr>
        <p:spPr>
          <a:xfrm>
            <a:off x="515255" y="4375447"/>
            <a:ext cx="646973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7562A69-9761-FEE9-696D-748D243802CE}"/>
              </a:ext>
            </a:extLst>
          </p:cNvPr>
          <p:cNvCxnSpPr>
            <a:cxnSpLocks/>
            <a:stCxn id="2" idx="2"/>
            <a:endCxn id="47" idx="0"/>
          </p:cNvCxnSpPr>
          <p:nvPr/>
        </p:nvCxnSpPr>
        <p:spPr>
          <a:xfrm>
            <a:off x="2830780" y="4654072"/>
            <a:ext cx="407382" cy="33413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459DE316-4584-FC6D-A688-1C2F1EF9F8C8}"/>
              </a:ext>
            </a:extLst>
          </p:cNvPr>
          <p:cNvSpPr txBox="1"/>
          <p:nvPr/>
        </p:nvSpPr>
        <p:spPr>
          <a:xfrm>
            <a:off x="2877567" y="4988202"/>
            <a:ext cx="72119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2” Pipe</a:t>
            </a:r>
          </a:p>
        </p:txBody>
      </p:sp>
      <p:sp>
        <p:nvSpPr>
          <p:cNvPr id="48" name="Title 47">
            <a:extLst>
              <a:ext uri="{FF2B5EF4-FFF2-40B4-BE49-F238E27FC236}">
                <a16:creationId xmlns:a16="http://schemas.microsoft.com/office/drawing/2014/main" id="{538CF821-B3DA-D384-A228-6C94C1D2B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40036"/>
          </a:xfrm>
        </p:spPr>
        <p:txBody>
          <a:bodyPr/>
          <a:lstStyle/>
          <a:p>
            <a:r>
              <a:rPr lang="en-US" dirty="0"/>
              <a:t>Solar + Raised</a:t>
            </a:r>
          </a:p>
        </p:txBody>
      </p:sp>
      <p:sp>
        <p:nvSpPr>
          <p:cNvPr id="49" name="Content Placeholder 48">
            <a:extLst>
              <a:ext uri="{FF2B5EF4-FFF2-40B4-BE49-F238E27FC236}">
                <a16:creationId xmlns:a16="http://schemas.microsoft.com/office/drawing/2014/main" id="{E0D44EBD-9D2B-4028-0633-176BA4668C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0928" y="545360"/>
            <a:ext cx="3981331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Notes</a:t>
            </a:r>
          </a:p>
          <a:p>
            <a:pPr>
              <a:buFontTx/>
              <a:buChar char="-"/>
            </a:pPr>
            <a:r>
              <a:rPr lang="en-US" dirty="0"/>
              <a:t>Complex + $$$</a:t>
            </a:r>
          </a:p>
          <a:p>
            <a:pPr>
              <a:buFontTx/>
              <a:buChar char="-"/>
            </a:pPr>
            <a:r>
              <a:rPr lang="en-US" dirty="0"/>
              <a:t>Would have good flowrate/pressure</a:t>
            </a:r>
          </a:p>
          <a:p>
            <a:pPr>
              <a:buFontTx/>
              <a:buChar char="-"/>
            </a:pPr>
            <a:r>
              <a:rPr lang="en-US" dirty="0"/>
              <a:t>Not very sustainable</a:t>
            </a:r>
          </a:p>
          <a:p>
            <a:pPr>
              <a:buFontTx/>
              <a:buChar char="-"/>
            </a:pPr>
            <a:r>
              <a:rPr lang="en-US" dirty="0"/>
              <a:t>May be unsafe</a:t>
            </a:r>
          </a:p>
          <a:p>
            <a:pPr>
              <a:buFontTx/>
              <a:buChar char="-"/>
            </a:pPr>
            <a:r>
              <a:rPr lang="en-US" dirty="0"/>
              <a:t>Might be unsightly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8D4E178-A7B2-1F98-5D35-28F2694C6430}"/>
              </a:ext>
            </a:extLst>
          </p:cNvPr>
          <p:cNvSpPr txBox="1"/>
          <p:nvPr/>
        </p:nvSpPr>
        <p:spPr>
          <a:xfrm>
            <a:off x="515255" y="3082534"/>
            <a:ext cx="44787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3.03 PSI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7ACB19F4-895B-B971-D274-09DF96FD58E0}"/>
              </a:ext>
            </a:extLst>
          </p:cNvPr>
          <p:cNvCxnSpPr>
            <a:cxnSpLocks/>
            <a:endCxn id="56" idx="1"/>
          </p:cNvCxnSpPr>
          <p:nvPr/>
        </p:nvCxnSpPr>
        <p:spPr>
          <a:xfrm>
            <a:off x="6313441" y="5542046"/>
            <a:ext cx="449782" cy="166648"/>
          </a:xfrm>
          <a:prstGeom prst="line">
            <a:avLst/>
          </a:prstGeom>
          <a:ln>
            <a:solidFill>
              <a:schemeClr val="accent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599A8307-E33B-DE8D-550E-B458DF231555}"/>
              </a:ext>
            </a:extLst>
          </p:cNvPr>
          <p:cNvSpPr txBox="1"/>
          <p:nvPr/>
        </p:nvSpPr>
        <p:spPr>
          <a:xfrm>
            <a:off x="6763223" y="5493250"/>
            <a:ext cx="9315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psi/gpm per tank height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CABB80-1DE0-67AB-8412-7D85129E820D}"/>
              </a:ext>
            </a:extLst>
          </p:cNvPr>
          <p:cNvSpPr/>
          <p:nvPr/>
        </p:nvSpPr>
        <p:spPr>
          <a:xfrm>
            <a:off x="2074923" y="4525380"/>
            <a:ext cx="1511714" cy="1286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8B2AACDD-B95D-BA00-CCF8-C45ADBFE7EAA}"/>
              </a:ext>
            </a:extLst>
          </p:cNvPr>
          <p:cNvSpPr/>
          <p:nvPr/>
        </p:nvSpPr>
        <p:spPr>
          <a:xfrm>
            <a:off x="2008883" y="4525379"/>
            <a:ext cx="132080" cy="12869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02F71DAC-B955-8B01-6EB3-9705ADC1137A}"/>
              </a:ext>
            </a:extLst>
          </p:cNvPr>
          <p:cNvSpPr/>
          <p:nvPr/>
        </p:nvSpPr>
        <p:spPr>
          <a:xfrm>
            <a:off x="2046760" y="4561136"/>
            <a:ext cx="56326" cy="57178"/>
          </a:xfrm>
          <a:prstGeom prst="ellips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5D51081B-C9E9-9576-7F00-B0AE67CC8B64}"/>
              </a:ext>
            </a:extLst>
          </p:cNvPr>
          <p:cNvCxnSpPr>
            <a:cxnSpLocks/>
          </p:cNvCxnSpPr>
          <p:nvPr/>
        </p:nvCxnSpPr>
        <p:spPr>
          <a:xfrm flipH="1" flipV="1">
            <a:off x="956248" y="3297022"/>
            <a:ext cx="1094746" cy="1273528"/>
          </a:xfrm>
          <a:prstGeom prst="line">
            <a:avLst/>
          </a:prstGeom>
          <a:ln>
            <a:solidFill>
              <a:schemeClr val="accent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926E10A0-617F-0FB6-40BA-172AF61381B5}"/>
              </a:ext>
            </a:extLst>
          </p:cNvPr>
          <p:cNvSpPr/>
          <p:nvPr/>
        </p:nvSpPr>
        <p:spPr>
          <a:xfrm rot="16200000">
            <a:off x="4707897" y="4037443"/>
            <a:ext cx="3036974" cy="1464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A518A81-4D7F-71C4-C206-6CC7A0B35635}"/>
              </a:ext>
            </a:extLst>
          </p:cNvPr>
          <p:cNvSpPr/>
          <p:nvPr/>
        </p:nvSpPr>
        <p:spPr>
          <a:xfrm>
            <a:off x="4874927" y="4307807"/>
            <a:ext cx="921184" cy="1405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0F5C4EF-BBD1-73B5-E55C-03AD449F5F8E}"/>
              </a:ext>
            </a:extLst>
          </p:cNvPr>
          <p:cNvSpPr/>
          <p:nvPr/>
        </p:nvSpPr>
        <p:spPr>
          <a:xfrm rot="5400000">
            <a:off x="4899973" y="3411696"/>
            <a:ext cx="1651678" cy="1405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23C91E2-32AE-48A5-D5BC-2F15A74688E7}"/>
              </a:ext>
            </a:extLst>
          </p:cNvPr>
          <p:cNvGrpSpPr/>
          <p:nvPr/>
        </p:nvGrpSpPr>
        <p:grpSpPr>
          <a:xfrm>
            <a:off x="5402360" y="1405162"/>
            <a:ext cx="1183434" cy="1430665"/>
            <a:chOff x="5716156" y="1370516"/>
            <a:chExt cx="1837346" cy="3095561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C5D6435D-6AB3-2155-17AF-1E5C7962F476}"/>
                </a:ext>
              </a:extLst>
            </p:cNvPr>
            <p:cNvSpPr/>
            <p:nvPr/>
          </p:nvSpPr>
          <p:spPr>
            <a:xfrm>
              <a:off x="5716156" y="3788975"/>
              <a:ext cx="1837346" cy="677102"/>
            </a:xfrm>
            <a:prstGeom prst="ellipse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018DD16-90C5-D0F1-A838-B20E7B740F41}"/>
                </a:ext>
              </a:extLst>
            </p:cNvPr>
            <p:cNvSpPr/>
            <p:nvPr/>
          </p:nvSpPr>
          <p:spPr>
            <a:xfrm>
              <a:off x="5716156" y="1709067"/>
              <a:ext cx="1837346" cy="2418459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  <a:p>
              <a:pPr algn="ctr"/>
              <a:r>
                <a:rPr lang="en-US" dirty="0"/>
                <a:t>Raised Tank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296696BE-B3D1-E091-C0D9-4497733518CD}"/>
                </a:ext>
              </a:extLst>
            </p:cNvPr>
            <p:cNvSpPr/>
            <p:nvPr/>
          </p:nvSpPr>
          <p:spPr>
            <a:xfrm>
              <a:off x="5716156" y="1370516"/>
              <a:ext cx="1837346" cy="677102"/>
            </a:xfrm>
            <a:prstGeom prst="ellipse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B4ADCA63-B515-BED6-B877-326459AED83D}"/>
              </a:ext>
            </a:extLst>
          </p:cNvPr>
          <p:cNvSpPr/>
          <p:nvPr/>
        </p:nvSpPr>
        <p:spPr>
          <a:xfrm>
            <a:off x="3590085" y="4057045"/>
            <a:ext cx="1284817" cy="61717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Pump Apparatus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6E59252-2448-AFC4-6AA6-8B8133E4520D}"/>
              </a:ext>
            </a:extLst>
          </p:cNvPr>
          <p:cNvSpPr/>
          <p:nvPr/>
        </p:nvSpPr>
        <p:spPr>
          <a:xfrm>
            <a:off x="3590084" y="3429000"/>
            <a:ext cx="1284817" cy="617176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Solar Energy</a:t>
            </a:r>
          </a:p>
        </p:txBody>
      </p:sp>
      <p:sp>
        <p:nvSpPr>
          <p:cNvPr id="4" name="Triangle 3">
            <a:extLst>
              <a:ext uri="{FF2B5EF4-FFF2-40B4-BE49-F238E27FC236}">
                <a16:creationId xmlns:a16="http://schemas.microsoft.com/office/drawing/2014/main" id="{FDE35C14-3714-6C4D-BD6A-10E6452F78F9}"/>
              </a:ext>
            </a:extLst>
          </p:cNvPr>
          <p:cNvSpPr/>
          <p:nvPr/>
        </p:nvSpPr>
        <p:spPr>
          <a:xfrm>
            <a:off x="2163436" y="5374569"/>
            <a:ext cx="385544" cy="516531"/>
          </a:xfrm>
          <a:custGeom>
            <a:avLst/>
            <a:gdLst>
              <a:gd name="connsiteX0" fmla="*/ 0 w 385544"/>
              <a:gd name="connsiteY0" fmla="*/ 516531 h 516531"/>
              <a:gd name="connsiteX1" fmla="*/ 192772 w 385544"/>
              <a:gd name="connsiteY1" fmla="*/ 0 h 516531"/>
              <a:gd name="connsiteX2" fmla="*/ 385544 w 385544"/>
              <a:gd name="connsiteY2" fmla="*/ 516531 h 516531"/>
              <a:gd name="connsiteX3" fmla="*/ 0 w 385544"/>
              <a:gd name="connsiteY3" fmla="*/ 516531 h 516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5544" h="516531" fill="none" extrusionOk="0">
                <a:moveTo>
                  <a:pt x="0" y="516531"/>
                </a:moveTo>
                <a:cubicBezTo>
                  <a:pt x="2792" y="388778"/>
                  <a:pt x="158078" y="254287"/>
                  <a:pt x="192772" y="0"/>
                </a:cubicBezTo>
                <a:cubicBezTo>
                  <a:pt x="284600" y="166386"/>
                  <a:pt x="298786" y="368680"/>
                  <a:pt x="385544" y="516531"/>
                </a:cubicBezTo>
                <a:cubicBezTo>
                  <a:pt x="244705" y="524223"/>
                  <a:pt x="172335" y="486899"/>
                  <a:pt x="0" y="516531"/>
                </a:cubicBezTo>
                <a:close/>
              </a:path>
              <a:path w="385544" h="516531" stroke="0" extrusionOk="0">
                <a:moveTo>
                  <a:pt x="0" y="516531"/>
                </a:moveTo>
                <a:cubicBezTo>
                  <a:pt x="26051" y="264124"/>
                  <a:pt x="162212" y="207102"/>
                  <a:pt x="192772" y="0"/>
                </a:cubicBezTo>
                <a:cubicBezTo>
                  <a:pt x="305376" y="118208"/>
                  <a:pt x="248979" y="280772"/>
                  <a:pt x="385544" y="516531"/>
                </a:cubicBezTo>
                <a:cubicBezTo>
                  <a:pt x="232105" y="537699"/>
                  <a:pt x="144065" y="479388"/>
                  <a:pt x="0" y="516531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219033472">
                  <a:prstGeom prst="triangl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8C375D4-36D5-6B32-B65B-0529D3339243}"/>
              </a:ext>
            </a:extLst>
          </p:cNvPr>
          <p:cNvCxnSpPr>
            <a:cxnSpLocks/>
            <a:stCxn id="19" idx="1"/>
            <a:endCxn id="17" idx="1"/>
          </p:cNvCxnSpPr>
          <p:nvPr/>
        </p:nvCxnSpPr>
        <p:spPr>
          <a:xfrm>
            <a:off x="2367774" y="5562043"/>
            <a:ext cx="962684" cy="77015"/>
          </a:xfrm>
          <a:prstGeom prst="line">
            <a:avLst/>
          </a:prstGeom>
          <a:ln>
            <a:solidFill>
              <a:schemeClr val="accent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DD0384C-DF8E-54B7-9373-D685EDC94C40}"/>
              </a:ext>
            </a:extLst>
          </p:cNvPr>
          <p:cNvSpPr txBox="1"/>
          <p:nvPr/>
        </p:nvSpPr>
        <p:spPr>
          <a:xfrm>
            <a:off x="3330458" y="5508253"/>
            <a:ext cx="117409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20+ GPM, ~4 psi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3739273-FDC3-3EE3-8E20-A111EEAAE328}"/>
              </a:ext>
            </a:extLst>
          </p:cNvPr>
          <p:cNvSpPr/>
          <p:nvPr/>
        </p:nvSpPr>
        <p:spPr>
          <a:xfrm rot="16200000">
            <a:off x="1852652" y="4982586"/>
            <a:ext cx="1030243" cy="1286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6298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1696</TotalTime>
  <Words>1024</Words>
  <Application>Microsoft Macintosh PowerPoint</Application>
  <PresentationFormat>Widescreen</PresentationFormat>
  <Paragraphs>302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Current System</vt:lpstr>
      <vt:lpstr>Modified System</vt:lpstr>
      <vt:lpstr>Gravity System</vt:lpstr>
      <vt:lpstr>Manual Pump System</vt:lpstr>
      <vt:lpstr>Pump System with tank</vt:lpstr>
      <vt:lpstr>Pump System with pressure tank</vt:lpstr>
      <vt:lpstr>Solar Pump System</vt:lpstr>
      <vt:lpstr>Solar + Pressure</vt:lpstr>
      <vt:lpstr>Solar + Raised</vt:lpstr>
      <vt:lpstr>Battery Pump System</vt:lpstr>
      <vt:lpstr>Battery + Pressure</vt:lpstr>
      <vt:lpstr>Battery + Raised</vt:lpstr>
      <vt:lpstr>Grid Pump System</vt:lpstr>
      <vt:lpstr>Grid + Pressure</vt:lpstr>
      <vt:lpstr>Grid + Raised</vt:lpstr>
      <vt:lpstr>Modified System</vt:lpstr>
      <vt:lpstr>Solar + Pressure</vt:lpstr>
      <vt:lpstr>Solar + Raised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Vaught, Jacob</dc:creator>
  <cp:lastModifiedBy>Vaught, Jacob</cp:lastModifiedBy>
  <cp:revision>1</cp:revision>
  <dcterms:created xsi:type="dcterms:W3CDTF">2024-10-25T12:33:46Z</dcterms:created>
  <dcterms:modified xsi:type="dcterms:W3CDTF">2024-10-26T16:50:10Z</dcterms:modified>
</cp:coreProperties>
</file>