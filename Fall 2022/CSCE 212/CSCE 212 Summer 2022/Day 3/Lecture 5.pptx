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42" roundtripDataSignature="AMtx7mhJ0isvFYT1ZMoGa8gjeP1ILg5C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93E1E8-7240-4B43-9DCE-ED4266080417}">
  <a:tblStyle styleId="{1A93E1E8-7240-4B43-9DCE-ED426608041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/>
          <p:nvPr/>
        </p:nvSpPr>
        <p:spPr>
          <a:xfrm flipH="1" rot="10800000">
            <a:off x="0" y="3093235"/>
            <a:ext cx="8458200" cy="71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0"/>
          <p:cNvSpPr txBox="1"/>
          <p:nvPr>
            <p:ph type="ctrTitle"/>
          </p:nvPr>
        </p:nvSpPr>
        <p:spPr>
          <a:xfrm>
            <a:off x="685800" y="1300757"/>
            <a:ext cx="7772400" cy="16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40"/>
          <p:cNvSpPr txBox="1"/>
          <p:nvPr>
            <p:ph idx="1" type="subTitle"/>
          </p:nvPr>
        </p:nvSpPr>
        <p:spPr>
          <a:xfrm>
            <a:off x="685800" y="3093357"/>
            <a:ext cx="77724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40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1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" name="Google Shape;17;p4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8" name="Google Shape;18;p4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2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2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2" name="Google Shape;22;p42"/>
          <p:cNvSpPr txBox="1"/>
          <p:nvPr>
            <p:ph idx="1" type="body"/>
          </p:nvPr>
        </p:nvSpPr>
        <p:spPr>
          <a:xfrm>
            <a:off x="457200" y="1460499"/>
            <a:ext cx="40302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3" name="Google Shape;23;p42"/>
          <p:cNvSpPr txBox="1"/>
          <p:nvPr>
            <p:ph idx="2" type="body"/>
          </p:nvPr>
        </p:nvSpPr>
        <p:spPr>
          <a:xfrm>
            <a:off x="4656667" y="1461909"/>
            <a:ext cx="40302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p4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3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8" name="Google Shape;28;p4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4"/>
          <p:cNvSpPr/>
          <p:nvPr/>
        </p:nvSpPr>
        <p:spPr>
          <a:xfrm>
            <a:off x="0" y="4406309"/>
            <a:ext cx="8686800" cy="51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4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32" name="Google Shape;32;p4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9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9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9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"/>
          <p:cNvSpPr txBox="1"/>
          <p:nvPr>
            <p:ph type="ctrTitle"/>
          </p:nvPr>
        </p:nvSpPr>
        <p:spPr>
          <a:xfrm>
            <a:off x="685800" y="1300757"/>
            <a:ext cx="7772400" cy="16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/>
              <a:t>Lecture 5</a:t>
            </a:r>
            <a:endParaRPr/>
          </a:p>
        </p:txBody>
      </p:sp>
      <p:sp>
        <p:nvSpPr>
          <p:cNvPr id="40" name="Google Shape;40;p1"/>
          <p:cNvSpPr txBox="1"/>
          <p:nvPr>
            <p:ph idx="1" type="subTitle"/>
          </p:nvPr>
        </p:nvSpPr>
        <p:spPr>
          <a:xfrm>
            <a:off x="685800" y="3093357"/>
            <a:ext cx="77724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CSCE 212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Other Load Instructions</a:t>
            </a:r>
            <a:endParaRPr/>
          </a:p>
        </p:txBody>
      </p:sp>
      <p:sp>
        <p:nvSpPr>
          <p:cNvPr id="46" name="Google Shape;46;p2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lb - Load Byte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lb $t0, 3($t1)</a:t>
            </a:r>
            <a:endParaRPr/>
          </a:p>
          <a:p>
            <a:pPr indent="-3810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$t0 = MEM($t1 + 3)</a:t>
            </a:r>
            <a:endParaRPr/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lbu = Load Byte Unsigned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lbu $t0, 3($t1)</a:t>
            </a:r>
            <a:endParaRPr/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We have to do sign extension for lb, but not for lbu (since it is unsigned)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52" name="Google Shape;52;p3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$t0 contains 0xaabbccdd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lb $t1, 2($t0)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what is $t1?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lbu $t1, 2($t0)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what is $t1?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Answer</a:t>
            </a:r>
            <a:endParaRPr/>
          </a:p>
        </p:txBody>
      </p:sp>
      <p:sp>
        <p:nvSpPr>
          <p:cNvPr id="58" name="Google Shape;58;p4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0xaabbccdd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Big Endian: 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MEM[0] = 0xaa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MEM[1] = 0xbb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MEM[2] = 0xcc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MEM[3] = 0xdd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Answer cont.</a:t>
            </a:r>
            <a:endParaRPr/>
          </a:p>
        </p:txBody>
      </p:sp>
      <p:sp>
        <p:nvSpPr>
          <p:cNvPr id="64" name="Google Shape;64;p5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lb $t1, 2($t0)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MEM[2] = 0xcc = 1100 1100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$t1 = 0xffffffcc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lbu $t1, 2($t0)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$t1 = 0x000000cc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More!</a:t>
            </a:r>
            <a:endParaRPr/>
          </a:p>
        </p:txBody>
      </p:sp>
      <p:sp>
        <p:nvSpPr>
          <p:cNvPr id="70" name="Google Shape;70;p7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lh - load half word</a:t>
            </a:r>
            <a:endParaRPr/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lhu - load half word unsigned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More store instructions!</a:t>
            </a:r>
            <a:endParaRPr/>
          </a:p>
        </p:txBody>
      </p:sp>
      <p:sp>
        <p:nvSpPr>
          <p:cNvPr id="76" name="Google Shape;76;p8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sb - store byte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Least significant byte will be stored in specified location</a:t>
            </a:r>
            <a:endParaRPr/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sh - store half word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Least significant half word will be stored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Logical operations</a:t>
            </a:r>
            <a:endParaRPr/>
          </a:p>
        </p:txBody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AND: and, andi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OR: or, ori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NOT: nor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Shift left logical: sll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Shift right logical: srl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Bitwise operations (and ex)</a:t>
            </a:r>
            <a:endParaRPr/>
          </a:p>
        </p:txBody>
      </p:sp>
      <p:sp>
        <p:nvSpPr>
          <p:cNvPr id="88" name="Google Shape;88;p12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AND: and, andi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and $t0, $t1, $t2	# $t0 = $t1 &amp; $t2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andi $t0, $t1, 4		# $t0 = $t1 &amp; 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OR: or, ori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or $t0, $t1, $t2		# $t0 = $t1 | $t2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ori $t0, $t1, 4		# $t0 = $t1 | 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More Bitwise</a:t>
            </a:r>
            <a:endParaRPr/>
          </a:p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NOT: nor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nor $t0, $t1, $t2		# $t0 = ~($t1 | $t2)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What can we do to NOT $t1 and store it in $t0?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More Bitwise</a:t>
            </a:r>
            <a:endParaRPr/>
          </a:p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NOT: nor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nor $t0, $t1, $t2		# $t0 = ~($t1 | $t2)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What can we do to NOT $t1 and store it in $t0?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$t0 = ~($t1 | $t1)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Shifts</a:t>
            </a:r>
            <a:endParaRPr/>
          </a:p>
        </p:txBody>
      </p:sp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Shift left logical: sll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sll $t2, $s0, 4		# $t2 = $s0 &lt;&lt; 4 bits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	00001101 by 4 = 11010000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	00001101 = 13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	11010000 = 208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	208 = 13 * 2</a:t>
            </a:r>
            <a:r>
              <a:rPr baseline="30000" lang="en"/>
              <a:t>4 </a:t>
            </a:r>
            <a:r>
              <a:rPr lang="en"/>
              <a:t>(4 comes from shift amount)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Shifts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Shift right logical: srl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srl $t2, $s0, 4	# $t2 = $s0 &gt;&gt; 4 bits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	00101001 by 4 = 00000010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	00101001 = 41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	00000010 =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	2 = 41/2</a:t>
            </a:r>
            <a:r>
              <a:rPr baseline="30000" lang="en"/>
              <a:t>4 </a:t>
            </a:r>
            <a:r>
              <a:rPr lang="en"/>
              <a:t>(rounded down)(41/16 = 2.5625)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Shifts</a:t>
            </a:r>
            <a:endParaRPr/>
          </a:p>
        </p:txBody>
      </p:sp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Shift right-arithmetic: SRA (keep the sign)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sra $t2, $s0, 2 # $t2 = $s0 &gt;&gt; 2 bits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	11110101 by 2 = 11111101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	11110101 = -11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	11111101 = -3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	-11/2</a:t>
            </a:r>
            <a:r>
              <a:rPr baseline="30000" lang="en"/>
              <a:t>2</a:t>
            </a:r>
            <a:r>
              <a:rPr lang="en"/>
              <a:t> = -3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	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More shifts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SLLV, SRLV, SRAV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These are for if the shift amount is in a register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Branching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We will use branching to implement if statements, loops, and procedure calls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Branching</a:t>
            </a:r>
            <a:endParaRPr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2 types of branches, unconditional and conditional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Unconditional: j &lt;label&gt; # jump to this spot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Conditional: beq, bgez, bgezal, bgtz, blez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Branch targets are 16 bit immediate offset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if-else</a:t>
            </a:r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C-code: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if(i==j)	f = g+h;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else f = g-h;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f,g,h,i, and j are in $s0-$s4 respectively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if-else MIPS</a:t>
            </a:r>
            <a:endParaRPr/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if(i==j)			# we will do this line by line	</a:t>
            </a:r>
            <a:endParaRPr/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 = g+h;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else </a:t>
            </a:r>
            <a:endParaRPr/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 = g-h;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if-else MIPS (secondary)</a:t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if(i==j)			# we will do this line by line	</a:t>
            </a:r>
            <a:endParaRPr/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f = g+h;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else </a:t>
            </a:r>
            <a:endParaRPr/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f = g-h;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Answers</a:t>
            </a:r>
            <a:endParaRPr/>
          </a:p>
        </p:txBody>
      </p:sp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First one: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	beq $s3, $s4, L1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	sub $s0, $s1, $s2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	j Exit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L1:	add $s0, $s1, $s2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Exit:	...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Answers</a:t>
            </a:r>
            <a:endParaRPr/>
          </a:p>
        </p:txBody>
      </p:sp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First one: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	bne $s3, $s4, L1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	add $s0, $s1, $s2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	j Exit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L1:	sub $s0, $s1, $s2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Exit:	...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Loops</a:t>
            </a:r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C code: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while (save[i] == k) i += 1;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	i in $s3, k in $s5, save starts $s6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Loops MIPS</a:t>
            </a:r>
            <a:endParaRPr/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while (save[i] == k) i += 1;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Loop: 	sll 		$t1, $s3, 2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		add 		$t1, $t1, $s6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		lw		$t0, 0($t1)</a:t>
            </a:r>
            <a:endParaRPr sz="1800"/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bne		$t0, $s5, Exit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		addi		$s3, $s3, 1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		j		Loop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Exit:		...</a:t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More Conditional Ops</a:t>
            </a:r>
            <a:endParaRPr/>
          </a:p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800"/>
              <a:t>slt rd, rs, rt		# set on less than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800"/>
              <a:t>	if(rs &lt; rt) rd = 1; else rd = 0;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800"/>
              <a:t>slti rt, rs, constant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800"/>
              <a:t>	if(rs &lt; constant) rt = 1; else rt = 0;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800"/>
              <a:t>Use in combination with beq, bne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800"/>
              <a:t>	slt $t0, $s1, $s2			# if ($s1 &lt; $s2)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800"/>
              <a:t>	bne $t0, $zero, L		#branch to L</a:t>
            </a:r>
            <a:endParaRPr sz="2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What if...</a:t>
            </a:r>
            <a:endParaRPr/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What do we do if we want to get user input? Can we do that?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Using syscall</a:t>
            </a:r>
            <a:endParaRPr/>
          </a:p>
        </p:txBody>
      </p:sp>
      <p:sp>
        <p:nvSpPr>
          <p:cNvPr id="196" name="Google Shape;196;p30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Load the service number into register $v0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Load argument values, if any, into $a0, $a1, $a2, or $f12 (specified in chart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Make SYSCALL instruction call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Retrieve any return values from result registers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syscall</a:t>
            </a:r>
            <a:endParaRPr/>
          </a:p>
        </p:txBody>
      </p:sp>
      <p:graphicFrame>
        <p:nvGraphicFramePr>
          <p:cNvPr id="202" name="Google Shape;202;p31"/>
          <p:cNvGraphicFramePr/>
          <p:nvPr/>
        </p:nvGraphicFramePr>
        <p:xfrm>
          <a:off x="303125" y="130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{1A93E1E8-7240-4B43-9DCE-ED4266080417}</a:tableStyleId>
              </a:tblPr>
              <a:tblGrid>
                <a:gridCol w="2069675"/>
                <a:gridCol w="2069675"/>
                <a:gridCol w="2069675"/>
                <a:gridCol w="2069675"/>
              </a:tblGrid>
              <a:tr h="32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Service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$v0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Arguments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Result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2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print_int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$a0 = int to print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2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print_float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2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$f12 = float to print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2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print_double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3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$f12 = double to print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2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print_string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4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$a0 = add. of string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2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read_int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5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int returned in $v0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2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read_float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6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float returned in $v0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2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read_double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7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double returned in $v0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466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read_string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8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$a0 = add of string input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$a1 = length of buffer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2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sbrk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9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$a0 = amount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address in $v0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2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exit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10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08" name="Google Shape;208;p32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We want to add 2 ints</a:t>
            </a:r>
            <a:endParaRPr/>
          </a:p>
          <a:p>
            <a: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We will take input from the user</a:t>
            </a:r>
            <a:endParaRPr/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Add the inputs</a:t>
            </a:r>
            <a:endParaRPr/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Output the sum</a:t>
            </a:r>
            <a:endParaRPr/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Exit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/>
          </a:p>
        </p:txBody>
      </p:sp>
      <p:sp>
        <p:nvSpPr>
          <p:cNvPr id="214" name="Google Shape;214;p33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.text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main: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li $v0, 5 # load syscall read_int into $v0.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syscall # make the syscall.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move $t0, $v0 # pseudo instruction, move the number read into $t0.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li $v0, 5 # load syscall read_int into $v0.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syscall # make the syscall.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move $t1, $v0 # move the number read into $t1.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add $t2, $t1, $t0 # add and store into $t2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move $a0, $t2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li $v0,1 # prints integer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syscall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li $v0, 10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syscall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Loop example 2</a:t>
            </a:r>
            <a:endParaRPr/>
          </a:p>
        </p:txBody>
      </p:sp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while(i &lt; j) i++;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while(i &lt; 5) i++;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Loops</a:t>
            </a:r>
            <a:endParaRPr/>
          </a:p>
        </p:txBody>
      </p:sp>
      <p:sp>
        <p:nvSpPr>
          <p:cNvPr id="226" name="Google Shape;226;p35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while(i &lt; j) i++;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$s1 = 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$s2 = j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while(i &lt; 5) i++;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$s1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Loops</a:t>
            </a:r>
            <a:endParaRPr/>
          </a:p>
        </p:txBody>
      </p:sp>
      <p:sp>
        <p:nvSpPr>
          <p:cNvPr id="232" name="Google Shape;232;p36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We have a command that we briefly discussed in class last time for doing less than stuff.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slt and slti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Which of these should be used for each loop?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Loops</a:t>
            </a:r>
            <a:endParaRPr/>
          </a:p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Let’s deal with the first one first: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while(i &lt; j) i++;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800"/>
              <a:t>Loop:	slt $t0, $s0, $s1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800"/>
              <a:t>		beq $t0, $zero, Exit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800"/>
              <a:t>		addi $s0, $s0, 1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800"/>
              <a:t>		j Loop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800"/>
              <a:t>Exit</a:t>
            </a:r>
            <a:endParaRPr sz="2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Now for the next one</a:t>
            </a:r>
            <a:endParaRPr/>
          </a:p>
        </p:txBody>
      </p:sp>
      <p:sp>
        <p:nvSpPr>
          <p:cNvPr id="244" name="Google Shape;244;p38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while(i &lt; 5) i++;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Loop:	slti $t0, $s0, 5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		beq $t0, $zero, Exit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		addi $s0, $s0, 1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		j Loop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Exit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">
  <a:themeElements>
    <a:clrScheme name="Custom 348">
      <a:dk1>
        <a:srgbClr val="000000"/>
      </a:dk1>
      <a:lt1>
        <a:srgbClr val="FFFFFF"/>
      </a:lt1>
      <a:dk2>
        <a:srgbClr val="191919"/>
      </a:dk2>
      <a:lt2>
        <a:srgbClr val="CCCCCC"/>
      </a:lt2>
      <a:accent1>
        <a:srgbClr val="7E5554"/>
      </a:accent1>
      <a:accent2>
        <a:srgbClr val="910A10"/>
      </a:accent2>
      <a:accent3>
        <a:srgbClr val="84294D"/>
      </a:accent3>
      <a:accent4>
        <a:srgbClr val="DA823B"/>
      </a:accent4>
      <a:accent5>
        <a:srgbClr val="625D3C"/>
      </a:accent5>
      <a:accent6>
        <a:srgbClr val="00384A"/>
      </a:accent6>
      <a:hlink>
        <a:srgbClr val="227A78"/>
      </a:hlink>
      <a:folHlink>
        <a:srgbClr val="39474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