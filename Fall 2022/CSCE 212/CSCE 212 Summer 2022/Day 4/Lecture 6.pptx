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55F32E99-D1B8-4A11-A0B0-27D42A81FF67}">
  <a:tblStyle styleId="{55F32E99-D1B8-4A11-A0B0-27D42A81FF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882e04f8da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882e04f8d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882e04f8da_0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882e04f8d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882e04f8da_0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882e04f8d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882e04f8da_0_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882e04f8d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82e04f8da_0_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82e04f8d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882e04f8da_0_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882e04f8d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882e04f8da_0_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882e04f8d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882e04f8da_0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882e04f8d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82e04f8da_0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82e04f8d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882e04f8da_0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882e04f8d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882e04f8da_0_8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882e04f8d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82e04f8da_0_8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882e04f8d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82e04f8da_0_9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82e04f8d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882e04f8d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882e04f8d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882e04f8da_0_1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882e04f8d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882e04f8da_0_1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882e04f8d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82e04f8da_0_1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82e04f8d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82e04f8da_0_1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82e04f8d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82e04f8da_0_1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82e04f8da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882e04f8da_0_1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882e04f8da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82e04f8da_0_1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82e04f8da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882e04f8da_0_18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882e04f8da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882e04f8da_0_18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882e04f8da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882e04f8da_0_19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882e04f8da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882e04f8da_0_19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882e04f8da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882e04f8da_0_20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882e04f8da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882e04f8da_0_2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882e04f8da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82e04f8da_0_2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82e04f8da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882e04f8da_0_2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882e04f8da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882e04f8da_0_2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882e04f8da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82e04f8da_0_2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82e04f8da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 rot="10800000">
            <a:off x="0" y="3093235"/>
            <a:ext cx="8458200" cy="71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1300757"/>
            <a:ext cx="7772400" cy="16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685800" y="3093357"/>
            <a:ext cx="77724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57200" y="1460499"/>
            <a:ext cx="40302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656667" y="1461909"/>
            <a:ext cx="40302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0" y="4406309"/>
            <a:ext cx="8686800" cy="5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odern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ctrTitle"/>
          </p:nvPr>
        </p:nvSpPr>
        <p:spPr>
          <a:xfrm>
            <a:off x="685800" y="1300757"/>
            <a:ext cx="7772400" cy="168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6</a:t>
            </a:r>
            <a:endParaRPr/>
          </a:p>
        </p:txBody>
      </p:sp>
      <p:sp>
        <p:nvSpPr>
          <p:cNvPr id="40" name="Google Shape;40;p8"/>
          <p:cNvSpPr txBox="1"/>
          <p:nvPr>
            <p:ph idx="1" type="subTitle"/>
          </p:nvPr>
        </p:nvSpPr>
        <p:spPr>
          <a:xfrm>
            <a:off x="685800" y="3093357"/>
            <a:ext cx="7772400" cy="71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CSCE 212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Assembly Language Paradigm</a:t>
            </a:r>
            <a:endParaRPr sz="4000"/>
          </a:p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Now we are going to discuss everything that goes into a MIPS assembly file to make it “assemble-able”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Assembly</a:t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Parts of your code: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Comments (denoted by “#”)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Algorithm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	Basically your code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Other essentials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	Assembler directives: .data, .text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	Labels: main, user defined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	syscall: suspends execution of program and transfers control to the OS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			The OS looks for contents in $v0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.data</a:t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var1: .word 23 		# declare storage for var1; initial value is 23</a:t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The .data section of your program tells the assembler “Hey, I want to store stuff into memory”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Part by Part breakdown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	var1 = address that we are storing stuff into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	.word = what type of data is coming next (other ex. .byte...)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	23 = value we are storing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cont.</a:t>
            </a:r>
            <a:endParaRPr/>
          </a:p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.text</a:t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start:</a:t>
            </a:r>
            <a:endParaRPr sz="22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lw $t0, var1 	# load contents $t0 = var1</a:t>
            </a:r>
            <a:endParaRPr sz="22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li $t1, 5 		# $t1 = 5 ("load immediate")</a:t>
            </a:r>
            <a:endParaRPr sz="22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sw $t1, var1 	# store contents into RAM: var1 = $t1</a:t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.text portion tells the assembler “Hey, the next part contains instructions”</a:t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example</a:t>
            </a:r>
            <a:endParaRPr/>
          </a:p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la $t0, var1 # load address of var1 to $t0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lw $t2, ($t0) # load content $t2 = var1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sw $t2, ($t0) # store content var1 = $t2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li and la?</a:t>
            </a:r>
            <a:endParaRPr/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PseudoInstructions!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 recall, MIPS is a RISC architecture, meaning it has a more simpler instructions set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this seemed to work fine for a while, programs kept getting bigger and assembly code longer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PseudoInstructions!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Memory was no longer an issue, so why limit the instructions?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Well, we don’t want to just put everything in there, but we do want to make the code more readable, and faster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PseudoInstructions!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developers of the instruction set decided that it would make more sense to benchmark instructions and decide if they belong based on their speed.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That’s where PseudoInstructions come in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PseudoInstructions!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Basically, a pseudoinstruction is a fake instruction. It is taken in by the assembler, converted to whatever assembly it corresponds to, and then the program is created from that.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allows us to more easily read the code, but also ended up making the code faster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How would we create an array in MIPS?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.data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array1: .space 12 # declare 12 bytes of storage to hold array of 3 integers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.text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start: 	la $t0, array1 # load base address of array into register $t0</a:t>
            </a:r>
            <a:endParaRPr sz="1800"/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li $t1, 5 # $t1 = 5 ("load immediate")</a:t>
            </a:r>
            <a:endParaRPr sz="1800"/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sw $t1, ($t0) # first array element set to 5; indirect addressing</a:t>
            </a:r>
            <a:endParaRPr sz="1800"/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li $t1, 13 # $t1 = 13</a:t>
            </a:r>
            <a:endParaRPr sz="1800"/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sw $t1, 4($t0) # second array element set to 13</a:t>
            </a:r>
            <a:endParaRPr sz="1800"/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li $t1, -7 # $t1 = -7</a:t>
            </a:r>
            <a:endParaRPr sz="1800"/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sw $t1, 8($t0) # third array element set to -7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Printing Strings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We have a print string function in our syscall, let’s look at how to use that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Printing String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.data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teststring: .asciiz “Hello!”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.text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</a:t>
            </a:r>
            <a:r>
              <a:rPr lang="en"/>
              <a:t>l</a:t>
            </a:r>
            <a:r>
              <a:rPr lang="en"/>
              <a:t>i $v0, 4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</a:t>
            </a:r>
            <a:r>
              <a:rPr lang="en"/>
              <a:t>l</a:t>
            </a:r>
            <a:r>
              <a:rPr lang="en"/>
              <a:t>a $a0, teststring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syscall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examples (If)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if ((a&gt;b)&amp;&amp;(c==d)) e=0; else e=f;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a, b, c, d, e, f in $s0, $s1, $s2, $s3, $s4, $s5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Loop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for (i=0;i&lt;a;i++) b[i]=i;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a in $s0, i in $s1, and base address of b[] in $s2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Pre-Test While Loop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while (a&lt;b) { a++;}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 and b in $s0 and $s1.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Addressing Example</a:t>
            </a:r>
            <a:endParaRPr/>
          </a:p>
        </p:txBody>
      </p:sp>
      <p:graphicFrame>
        <p:nvGraphicFramePr>
          <p:cNvPr id="148" name="Google Shape;148;p26"/>
          <p:cNvGraphicFramePr/>
          <p:nvPr/>
        </p:nvGraphicFramePr>
        <p:xfrm>
          <a:off x="130850" y="203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{55F32E99-D1B8-4A11-A0B0-27D42A81FF67}</a:tableStyleId>
              </a:tblPr>
              <a:tblGrid>
                <a:gridCol w="2098850"/>
                <a:gridCol w="767425"/>
                <a:gridCol w="992725"/>
                <a:gridCol w="992725"/>
                <a:gridCol w="992725"/>
                <a:gridCol w="992725"/>
                <a:gridCol w="992725"/>
                <a:gridCol w="9927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Loop: sll $t1, $s3,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add $t1, $t1, $s6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80004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lw $t0, 0($t1)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80008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bne $t0, $s5, Exit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80012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addi $s3, $s3.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80016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j Loop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80020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?????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Exit: ...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80024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9" name="Google Shape;149;p26"/>
          <p:cNvSpPr txBox="1"/>
          <p:nvPr/>
        </p:nvSpPr>
        <p:spPr>
          <a:xfrm>
            <a:off x="1285450" y="1461425"/>
            <a:ext cx="4452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 location starts at 80000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Addressing Example</a:t>
            </a:r>
            <a:endParaRPr/>
          </a:p>
        </p:txBody>
      </p:sp>
      <p:graphicFrame>
        <p:nvGraphicFramePr>
          <p:cNvPr id="155" name="Google Shape;155;p27"/>
          <p:cNvGraphicFramePr/>
          <p:nvPr/>
        </p:nvGraphicFramePr>
        <p:xfrm>
          <a:off x="130850" y="203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{55F32E99-D1B8-4A11-A0B0-27D42A81FF67}</a:tableStyleId>
              </a:tblPr>
              <a:tblGrid>
                <a:gridCol w="2098850"/>
                <a:gridCol w="767425"/>
                <a:gridCol w="992725"/>
                <a:gridCol w="992725"/>
                <a:gridCol w="992725"/>
                <a:gridCol w="992725"/>
                <a:gridCol w="992725"/>
                <a:gridCol w="9927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Loop: sll $t1, $s3,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add $t1, $t1, $s6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80004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lw $t0, 0($t1)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80008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bne $t0, $s5, Exit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80012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addi $s3, $s3.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80016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j Loop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80020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??????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Exit: ...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80024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56" name="Google Shape;156;p27"/>
          <p:cNvCxnSpPr/>
          <p:nvPr/>
        </p:nvCxnSpPr>
        <p:spPr>
          <a:xfrm rot="10800000">
            <a:off x="2875700" y="2305775"/>
            <a:ext cx="3273300" cy="188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27"/>
          <p:cNvCxnSpPr/>
          <p:nvPr/>
        </p:nvCxnSpPr>
        <p:spPr>
          <a:xfrm flipH="1">
            <a:off x="2889075" y="3419050"/>
            <a:ext cx="4518900" cy="116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these work</a:t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Branch tells it “I want to go forward this many words”, so it goes to the next instruction space, then goes forward X number of words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if...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the branch destination is further away than we can represent in 16 bits?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assembler helps us!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				beq $s0, $s1, L1</a:t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becomes</a:t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				bne $s0, $s1, L2</a:t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				j	L1</a:t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	L2: ...</a:t>
            </a:r>
            <a:endParaRPr sz="2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Functions/Procedures</a:t>
            </a:r>
            <a:endParaRPr/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Functions in HLL (High Level Programming language) provide abstraction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Mapping actual params to formal params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Allocation and initialization of temporary local storage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 of a Function</a:t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Parameters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Value of all of the local variables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Statement being executed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Functions/Procedures</a:t>
            </a:r>
            <a:endParaRPr/>
          </a:p>
        </p:txBody>
      </p:sp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Before function A calls function B it pushes its environment onto the stack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Jumps to function B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When B returns function A restores its environment by popping its environment from the stack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Instructions for Accessing Procedures</a:t>
            </a:r>
            <a:endParaRPr sz="3000"/>
          </a:p>
        </p:txBody>
      </p:sp>
      <p:sp>
        <p:nvSpPr>
          <p:cNvPr id="193" name="Google Shape;193;p3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MIPS procedure call instruction: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	jal ProcedureAddress		#Jump and link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Saves Program Counter (PC) + 4 to $ra to have a link to the next instruction after the procedure returns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Return with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	jr $ra		#return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steps in Execution</a:t>
            </a:r>
            <a:endParaRPr/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Main routine (caller) places params in a place where the procedure (callee) can access them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	$a0 - $a3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Caller transfers control to the callee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Callee acquires the storage resources needed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Callee performs the desired task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5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Callee places the result value in a place where the caller can access it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	$v0-$v1: 2 value registers for result values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Callee returns control to the caller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	$ra: one return address register to return to the point of origin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Spilling registers</a:t>
            </a:r>
            <a:endParaRPr/>
          </a:p>
        </p:txBody>
      </p:sp>
      <p:sp>
        <p:nvSpPr>
          <p:cNvPr id="211" name="Google Shape;211;p36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/>
              <a:t>What if the callee needs more registers than allocated?</a:t>
            </a:r>
            <a:endParaRPr sz="2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/>
              <a:t>	callee uses a stack (last in-first out)</a:t>
            </a:r>
            <a:endParaRPr sz="2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/>
              <a:t>One of the general registers, $sp, is used to address the stack which grows from high address to low address</a:t>
            </a:r>
            <a:endParaRPr sz="2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/>
              <a:t>Add to stack? $sp = $sp - 4 then put data on</a:t>
            </a:r>
            <a:endParaRPr sz="2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/>
              <a:t>remove from stack? take data out then $sp = $sp + 4</a:t>
            </a:r>
            <a:endParaRPr sz="2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Leaf Procedure Example</a:t>
            </a:r>
            <a:endParaRPr/>
          </a:p>
        </p:txBody>
      </p:sp>
      <p:sp>
        <p:nvSpPr>
          <p:cNvPr id="217" name="Google Shape;217;p37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C code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int leaf_example (int g, h, i, j) 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{ </a:t>
            </a:r>
            <a:endParaRPr sz="18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int f; 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f = (g + h) - (i + j); 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return f; 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}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Arguments g, …, j in $a0, …, $a3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f in $s0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g+h in $t0, i+j in $t1, result in $v0</a:t>
            </a:r>
            <a:endParaRPr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23" name="Google Shape;223;p38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leaf_example: </a:t>
            </a:r>
            <a:endParaRPr sz="12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addi $sp,$sp,-12 # push $s0,$t0,$t1 on stack </a:t>
            </a:r>
            <a:endParaRPr sz="12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sw $s0, 0($sp)</a:t>
            </a:r>
            <a:endParaRPr sz="12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sw $t0, 4($sp)</a:t>
            </a:r>
            <a:endParaRPr sz="12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sw $t1, 8($sp)</a:t>
            </a:r>
            <a:endParaRPr sz="12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add $t0, $a0, $a1 # procedure </a:t>
            </a:r>
            <a:endParaRPr sz="12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add $t1, $a2, $a3 </a:t>
            </a:r>
            <a:endParaRPr sz="12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sub $s0, $t0, $t1 </a:t>
            </a:r>
            <a:endParaRPr sz="12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add $v0, $s0, $zero # result</a:t>
            </a:r>
            <a:endParaRPr sz="12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lw $s0, 0($sp) # restore $s0</a:t>
            </a:r>
            <a:endParaRPr sz="12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lw $t0, 4($sp)</a:t>
            </a:r>
            <a:endParaRPr sz="12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lw $t1, 8($sp) </a:t>
            </a:r>
            <a:endParaRPr sz="12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addi $sp, $sp, 12</a:t>
            </a:r>
            <a:endParaRPr sz="12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jr $ra # return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a procedure</a:t>
            </a:r>
            <a:endParaRPr/>
          </a:p>
        </p:txBody>
      </p:sp>
      <p:sp>
        <p:nvSpPr>
          <p:cNvPr id="229" name="Google Shape;229;p3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leaf_example(1,2,3,4)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</a:t>
            </a:r>
            <a:r>
              <a:rPr lang="en" sz="2800"/>
              <a:t>li $a0, 1</a:t>
            </a:r>
            <a:endParaRPr sz="28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li $a1, 2</a:t>
            </a:r>
            <a:endParaRPr sz="28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li $a2, 3</a:t>
            </a:r>
            <a:endParaRPr sz="28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li $a3, 4</a:t>
            </a:r>
            <a:endParaRPr sz="28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jal leaf_example</a:t>
            </a:r>
            <a:endParaRPr sz="28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move $t0, $v0</a:t>
            </a:r>
            <a:endParaRPr sz="2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">
  <a:themeElements>
    <a:clrScheme name="Custom 348">
      <a:dk1>
        <a:srgbClr val="000000"/>
      </a:dk1>
      <a:lt1>
        <a:srgbClr val="FFFFFF"/>
      </a:lt1>
      <a:dk2>
        <a:srgbClr val="191919"/>
      </a:dk2>
      <a:lt2>
        <a:srgbClr val="CCCCCC"/>
      </a:lt2>
      <a:accent1>
        <a:srgbClr val="7E5554"/>
      </a:accent1>
      <a:accent2>
        <a:srgbClr val="910A10"/>
      </a:accent2>
      <a:accent3>
        <a:srgbClr val="84294D"/>
      </a:accent3>
      <a:accent4>
        <a:srgbClr val="DA823B"/>
      </a:accent4>
      <a:accent5>
        <a:srgbClr val="625D3C"/>
      </a:accent5>
      <a:accent6>
        <a:srgbClr val="00384A"/>
      </a:accent6>
      <a:hlink>
        <a:srgbClr val="227A78"/>
      </a:hlink>
      <a:folHlink>
        <a:srgbClr val="3947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