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strictFirstAndLastChars="0" saveSubsetFonts="1">
  <p:sldMasterIdLst>
    <p:sldMasterId id="214748365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tableStyles.xml><?xml version="1.0" encoding="utf-8"?>
<a:tblStyleLst xmlns:a="http://schemas.openxmlformats.org/drawingml/2006/main" xmlns:r="http://schemas.openxmlformats.org/officeDocument/2006/relationships" def="{1FBBA5AE-C6A2-4AD6-ADC6-EA6AD5132FF7}">
  <a:tblStyle styleId="{1FBBA5AE-C6A2-4AD6-ADC6-EA6AD5132FF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" name="Google Shape;3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8806413116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8806413116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8806413116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g8806413116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8806413116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8806413116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8806413116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8806413116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8806413116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8806413116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8806413116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8806413116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8806413116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8806413116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8806413116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8806413116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8806413116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8806413116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8806413116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8806413116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8806413116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8806413116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8806413116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8806413116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8806413116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8806413116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8806413116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8806413116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8806413116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8806413116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8806413116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8806413116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8806413116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8806413116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8806413116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8806413116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8806413116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8806413116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8806413116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8806413116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8806413116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8806413116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8806413116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8806413116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8806413116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8806413116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 rot="10800000">
            <a:off x="0" y="3093235"/>
            <a:ext cx="8458200" cy="712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685800" y="1300757"/>
            <a:ext cx="7772400" cy="168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sz="7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sz="7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sz="7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sz="7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sz="7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sz="7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sz="7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sz="7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sz="7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685800" y="3093357"/>
            <a:ext cx="7772400" cy="71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b="1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b="1" sz="30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b="1" sz="30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b="1" sz="30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b="1" sz="30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b="1" sz="30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b="1" sz="30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b="1" sz="30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b="1" sz="3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205977"/>
            <a:ext cx="8686800" cy="1165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205977"/>
            <a:ext cx="8686800" cy="1165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57200" y="1460499"/>
            <a:ext cx="40302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2" type="body"/>
          </p:nvPr>
        </p:nvSpPr>
        <p:spPr>
          <a:xfrm>
            <a:off x="4656667" y="1461909"/>
            <a:ext cx="40302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/>
          <p:nvPr/>
        </p:nvSpPr>
        <p:spPr>
          <a:xfrm>
            <a:off x="0" y="205977"/>
            <a:ext cx="8686800" cy="1165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/>
          <p:nvPr/>
        </p:nvSpPr>
        <p:spPr>
          <a:xfrm>
            <a:off x="0" y="4406309"/>
            <a:ext cx="8686800" cy="519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457200" y="4406309"/>
            <a:ext cx="8229600" cy="51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modern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b="1"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b="1"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b="1"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b="1"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b="1"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b="1"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b="1"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b="1"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b="1"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3000"/>
              <a:buChar char="●"/>
              <a:defRPr sz="3000">
                <a:solidFill>
                  <a:schemeClr val="dk2"/>
                </a:solidFill>
              </a:defRPr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○"/>
              <a:defRPr sz="2400">
                <a:solidFill>
                  <a:schemeClr val="dk2"/>
                </a:solidFill>
              </a:defRPr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■"/>
              <a:defRPr sz="2400">
                <a:solidFill>
                  <a:schemeClr val="dk2"/>
                </a:solidFill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 sz="1800">
                <a:solidFill>
                  <a:schemeClr val="dk2"/>
                </a:solidFill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 sz="1800">
                <a:solidFill>
                  <a:schemeClr val="dk2"/>
                </a:solidFill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 sz="1800">
                <a:solidFill>
                  <a:schemeClr val="dk2"/>
                </a:solidFill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ctrTitle"/>
          </p:nvPr>
        </p:nvSpPr>
        <p:spPr>
          <a:xfrm>
            <a:off x="685800" y="1300757"/>
            <a:ext cx="7772400" cy="168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Lecture 3</a:t>
            </a:r>
            <a:endParaRPr/>
          </a:p>
        </p:txBody>
      </p:sp>
      <p:sp>
        <p:nvSpPr>
          <p:cNvPr id="40" name="Google Shape;40;p8"/>
          <p:cNvSpPr txBox="1"/>
          <p:nvPr>
            <p:ph idx="1" type="subTitle"/>
          </p:nvPr>
        </p:nvSpPr>
        <p:spPr>
          <a:xfrm>
            <a:off x="685800" y="3093357"/>
            <a:ext cx="7772400" cy="71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CSCE 212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Computer Architecture</a:t>
            </a:r>
            <a:endParaRPr/>
          </a:p>
        </p:txBody>
      </p:sp>
      <p:sp>
        <p:nvSpPr>
          <p:cNvPr id="46" name="Google Shape;46;p9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So far we have briefly</a:t>
            </a:r>
            <a:r>
              <a:rPr lang="en"/>
              <a:t> discussed how the CPU works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We will be learning how to program for the GBA soon, but before that, we need to learn about it’s hardware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ARM7TDMI</a:t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This is the processor used in the GBA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32 Bits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GBA version is 16.78 MHz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RISC vs CISC</a:t>
            </a:r>
            <a:endParaRPr/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We discussed this before, but as a recap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RISC instructions are less complex, can be run quickly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CISC instructions are more complex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2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use CISC then?</a:t>
            </a:r>
            <a:endParaRPr/>
          </a:p>
        </p:txBody>
      </p:sp>
      <p:sp>
        <p:nvSpPr>
          <p:cNvPr id="64" name="Google Shape;64;p12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RISC requires more memory to store the program, 1 CISC instruction can correspond to 3 or more RISC instructions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Thumb Instructions</a:t>
            </a:r>
            <a:endParaRPr/>
          </a:p>
        </p:txBody>
      </p:sp>
      <p:sp>
        <p:nvSpPr>
          <p:cNvPr id="70" name="Google Shape;70;p13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To combat this memory problem, ARM created Thumb Instructions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Thumb instructions are a 16 bit shorthand for a subset of 32 bit instructions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When in Thumb mode, the processor converts the 16 bit instructions into their 32 bit counterpart and runs that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Thumb Instructions</a:t>
            </a:r>
            <a:endParaRPr/>
          </a:p>
        </p:txBody>
      </p:sp>
      <p:sp>
        <p:nvSpPr>
          <p:cNvPr id="76" name="Google Shape;76;p14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This conversion is done with a dedicated piece of hardware so it doesn’t change execution time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This was important for machines where memory was expensive, creating programs that are smaller makes things cheaper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John Von Neumann</a:t>
            </a:r>
            <a:endParaRPr/>
          </a:p>
        </p:txBody>
      </p:sp>
      <p:sp>
        <p:nvSpPr>
          <p:cNvPr id="82" name="Google Shape;82;p15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Von Neumann was a Hungarian mathematician that contributed greatly to our development of CPUs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1903-1957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Von Neumann Architecture</a:t>
            </a:r>
            <a:endParaRPr/>
          </a:p>
        </p:txBody>
      </p:sp>
      <p:sp>
        <p:nvSpPr>
          <p:cNvPr id="88" name="Google Shape;88;p16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This idea was published in 1945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His design contained many ideas that are still used today: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CPU that has an ALU and Registers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A Control unit (CU)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Memory that stores data and instructions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External Storage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Input and Output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Von Neumann Architecture</a:t>
            </a:r>
            <a:endParaRPr/>
          </a:p>
        </p:txBody>
      </p:sp>
      <p:sp>
        <p:nvSpPr>
          <p:cNvPr id="94" name="Google Shape;94;p17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This is the model that most computers use today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CPU</a:t>
            </a:r>
            <a:endParaRPr/>
          </a:p>
        </p:txBody>
      </p:sp>
      <p:sp>
        <p:nvSpPr>
          <p:cNvPr id="100" name="Google Shape;100;p18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This is the part of the computer that is responsible for running instructions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Contains ALU, CU, and registers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ALU</a:t>
            </a:r>
            <a:endParaRPr/>
          </a:p>
        </p:txBody>
      </p:sp>
      <p:sp>
        <p:nvSpPr>
          <p:cNvPr id="106" name="Google Shape;106;p19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The Arithmetic and Logic Unit runs any arithmetic (basic math) or logic (logic gates) that the CPU needs to run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</a:t>
            </a:r>
            <a:endParaRPr/>
          </a:p>
        </p:txBody>
      </p:sp>
      <p:sp>
        <p:nvSpPr>
          <p:cNvPr id="112" name="Google Shape;112;p20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The Control Unit controls the operation of everything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It reads the instructions and sends commands to the other units (ALU, memory, IO)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Registers</a:t>
            </a:r>
            <a:endParaRPr/>
          </a:p>
        </p:txBody>
      </p:sp>
      <p:sp>
        <p:nvSpPr>
          <p:cNvPr id="118" name="Google Shape;118;p21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We have dealt with registers quite a bit, so this shouldn’t be new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Registers are fast storage in the CPU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Before something is processed it needs to be moved to a register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parts</a:t>
            </a:r>
            <a:endParaRPr/>
          </a:p>
        </p:txBody>
      </p:sp>
      <p:sp>
        <p:nvSpPr>
          <p:cNvPr id="124" name="Google Shape;124;p22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Memory Unit: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Controls RAM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Buses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How the computer transmits data between components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3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Pipelining</a:t>
            </a:r>
            <a:endParaRPr/>
          </a:p>
        </p:txBody>
      </p:sp>
      <p:sp>
        <p:nvSpPr>
          <p:cNvPr id="130" name="Google Shape;130;p23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I am going to explain this for x86 (standard processor)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Pipelining</a:t>
            </a:r>
            <a:endParaRPr/>
          </a:p>
        </p:txBody>
      </p:sp>
      <p:sp>
        <p:nvSpPr>
          <p:cNvPr id="136" name="Google Shape;136;p24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Pipelining is a way for us to run multiple instructions at the same time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Instruction-Level Parallelism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The core idea here is that we are attempting to keep the entire processor busy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Without pipelining Steps</a:t>
            </a:r>
            <a:endParaRPr/>
          </a:p>
        </p:txBody>
      </p:sp>
      <p:sp>
        <p:nvSpPr>
          <p:cNvPr id="142" name="Google Shape;142;p25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Read an instruction in from memory (Fetch)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Figure out what to do with this instruction (Decode)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Execute that instruction (Execute)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Access Memory (Memory Access)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Write to registers (Register Write-Back)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6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Pipelining</a:t>
            </a:r>
            <a:endParaRPr/>
          </a:p>
        </p:txBody>
      </p:sp>
      <p:sp>
        <p:nvSpPr>
          <p:cNvPr id="148" name="Google Shape;148;p26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Each of these steps is handled by a different part of the CPU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Because of this, we can overlap different parts of the instruction execution 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7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Pipelining steps</a:t>
            </a:r>
            <a:endParaRPr/>
          </a:p>
        </p:txBody>
      </p:sp>
      <p:graphicFrame>
        <p:nvGraphicFramePr>
          <p:cNvPr id="154" name="Google Shape;154;p27"/>
          <p:cNvGraphicFramePr/>
          <p:nvPr/>
        </p:nvGraphicFramePr>
        <p:xfrm>
          <a:off x="628200" y="146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{1FBBA5AE-C6A2-4AD6-ADC6-EA6AD5132FF7}</a:tableStyleId>
              </a:tblPr>
              <a:tblGrid>
                <a:gridCol w="1126800"/>
                <a:gridCol w="1126800"/>
                <a:gridCol w="1126800"/>
                <a:gridCol w="1126800"/>
                <a:gridCol w="1126800"/>
                <a:gridCol w="1126800"/>
                <a:gridCol w="1126800"/>
              </a:tblGrid>
              <a:tr h="408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Cycle 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Cycle 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Cycle 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Cycle 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Cycle 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Cycle 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08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Instr. 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Fetch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Decode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Execute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Mem Acc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Write Back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8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Instr. 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Fetch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Decode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Execute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Mem Acc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Write Back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8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Instr. 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Fetch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Decode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Execute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Mem Acc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8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Instr. 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Fetch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Decode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Execute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8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Instr. 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Fetch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Decode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8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Instr. 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Fetch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5" name="Google Shape;155;p27"/>
          <p:cNvSpPr txBox="1"/>
          <p:nvPr/>
        </p:nvSpPr>
        <p:spPr>
          <a:xfrm>
            <a:off x="681150" y="4479125"/>
            <a:ext cx="75753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#Note that instructions 3-6 are cut off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8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Pipelining problems</a:t>
            </a:r>
            <a:endParaRPr/>
          </a:p>
        </p:txBody>
      </p:sp>
      <p:sp>
        <p:nvSpPr>
          <p:cNvPr id="161" name="Google Shape;161;p28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There are a handful of problems that can arise from pipelining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The most common is what if the next instruction needs the previous instructions result?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To handle this we use what is called a ‘bubble’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9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Bubbles</a:t>
            </a:r>
            <a:endParaRPr/>
          </a:p>
        </p:txBody>
      </p:sp>
      <p:sp>
        <p:nvSpPr>
          <p:cNvPr id="167" name="Google Shape;167;p29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Think of a bubble as a ‘sleep’ type command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We have delay an instruction so that when it runs when the one that it needs data from is finished running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On the next slide we will see what this looks like if Inst. 2 needs the data from Inst. 1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0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Bubble</a:t>
            </a:r>
            <a:endParaRPr/>
          </a:p>
        </p:txBody>
      </p:sp>
      <p:graphicFrame>
        <p:nvGraphicFramePr>
          <p:cNvPr id="173" name="Google Shape;173;p30"/>
          <p:cNvGraphicFramePr/>
          <p:nvPr/>
        </p:nvGraphicFramePr>
        <p:xfrm>
          <a:off x="0" y="1471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{1FBBA5AE-C6A2-4AD6-ADC6-EA6AD5132FF7}</a:tableStyleId>
              </a:tblPr>
              <a:tblGrid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</a:tblGrid>
              <a:tr h="408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Cycle 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Cycle 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Cycle 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Cycle 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Cycle 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Cycle 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Cycle 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08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Instr. 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Fetch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Decode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Execute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Mem Acc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Write Back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8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Instr. 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Fetch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Decode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*wait*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Execute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Mem Acc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Write Back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8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Instr. 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Fetch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Decode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Execute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Mem Acc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8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Instr. 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Fetch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Decode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Execute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8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Instr. 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Fetch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Decode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8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Instr. 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Fetch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4" name="Google Shape;174;p30"/>
          <p:cNvSpPr txBox="1"/>
          <p:nvPr/>
        </p:nvSpPr>
        <p:spPr>
          <a:xfrm>
            <a:off x="371550" y="4561675"/>
            <a:ext cx="82296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#Here we see instruction 2 wait for instruction 1 to write back, then it executes 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1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Quiz</a:t>
            </a:r>
            <a:endParaRPr/>
          </a:p>
        </p:txBody>
      </p:sp>
      <p:sp>
        <p:nvSpPr>
          <p:cNvPr id="180" name="Google Shape;180;p31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Submit a paragraph summary of this lecture, be sure to describe the Von Neumann Architecture, RISC vs CISC, etc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dern">
  <a:themeElements>
    <a:clrScheme name="Custom 348">
      <a:dk1>
        <a:srgbClr val="000000"/>
      </a:dk1>
      <a:lt1>
        <a:srgbClr val="FFFFFF"/>
      </a:lt1>
      <a:dk2>
        <a:srgbClr val="191919"/>
      </a:dk2>
      <a:lt2>
        <a:srgbClr val="CCCCCC"/>
      </a:lt2>
      <a:accent1>
        <a:srgbClr val="7E5554"/>
      </a:accent1>
      <a:accent2>
        <a:srgbClr val="910A10"/>
      </a:accent2>
      <a:accent3>
        <a:srgbClr val="84294D"/>
      </a:accent3>
      <a:accent4>
        <a:srgbClr val="DA823B"/>
      </a:accent4>
      <a:accent5>
        <a:srgbClr val="625D3C"/>
      </a:accent5>
      <a:accent6>
        <a:srgbClr val="00384A"/>
      </a:accent6>
      <a:hlink>
        <a:srgbClr val="227A78"/>
      </a:hlink>
      <a:folHlink>
        <a:srgbClr val="39474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